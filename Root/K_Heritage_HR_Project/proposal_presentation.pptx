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국가문화유산진흥원 인사평가 제도 개선 및 운영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제안서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I. 제안 개요 (Executive Summary)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제안 배경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</a:p>
          <a:p>
            <a:pPr>
              <a:defRPr sz="1800"/>
            </a:pPr>
            <a:r>
              <a:t>국가문화유산진흥원은 급변하는 대내외 환경 속에서 조직의 지속 가능한 성장을 견인할 인재 육성과 공정한 성과 관리가 그 어느 때보다 중요한 시점입니다. 본 제안은 진흥원의 인사평가 제도를 **'공정성(Fairness)', '수용성(Acceptability)', '효율성(Efficiency)'**의 3대 핵심 가치를 중심으로 혁신하고, 이를 뒷받침할 **최첨단 온라인 평가 시스템**을 구축하는 것을 목적으로 합니다.</a:t>
            </a:r>
          </a:p>
          <a:p>
            <a:pPr>
              <a:defRPr sz="1800"/>
            </a:pPr>
            <a:r>
              <a:t>우리는 단순한 시스템 도입을 넘어, 진흥원의 조직 문화를 반영한 맞춤형 평가 모델을 정립하고, 2025년~2026년에 걸친 역량평가 및 다면평가를 성공적으로 완수하여 **'신뢰받는 인사 행정'**을 구현하겠습니다.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제안의 특징 및 장점 (Key Selling 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KOstrar 기반 맞춤형 전략**: 진흥원의 Context(맥락)를 정확히 이해하고, Objective(목표)를 달성하기 위한 최적의 Style(방식)을 제안합니다.</a:t>
            </a:r>
          </a:p>
          <a:p>
            <a:pPr>
              <a:defRPr sz="1800"/>
            </a:pPr>
            <a:r>
              <a:t>Apple-Style Premium UX**: 기존의 딱딱하고 복잡한 공공기관 시스템에서 탈피하여, 직관적이고 아름다운 'Apple Style' UI를 적용, 사용자 경험(UX)을 극대화하고 평가 피로도를 획기적으로 낮춥니다.</a:t>
            </a:r>
          </a:p>
          <a:p>
            <a:pPr>
              <a:defRPr sz="1800"/>
            </a:pPr>
            <a:r>
              <a:t>데이터 기반 인사이트**: 단순 점수 산출을 넘어, 개인별/조직별 역량 강점과 약점을 시각적으로 분석하는 'HR Analytics Dashboard'를 제공합니다.</a:t>
            </a:r>
          </a:p>
          <a:p>
            <a:pPr>
              <a:defRPr sz="1800"/>
            </a:pPr>
            <a:r>
              <a:t>무결점 보안 및 안정성**: 민감한 인사 데이터를 다루는 만큼, 금융권 수준의 보안 아키텍처와 이중화된 백업 시스템을 통해 데이터 무결성을 보장합니다.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평가 공정성 확보**: 데이터 기반의 객관적 평가와 정교한 점수 보정 알고리즘(표준편차 일치법 등) 적용.</a:t>
            </a:r>
          </a:p>
          <a:p>
            <a:pPr>
              <a:defRPr sz="1800"/>
            </a:pPr>
            <a:r>
              <a:t>행정 효율성 증대**: 수기 작업 최소화 및 자동화된 집계/리포팅으로 인사 담당자의 업무 부담 90% 감소.</a:t>
            </a:r>
          </a:p>
          <a:p>
            <a:pPr>
              <a:defRPr sz="1800"/>
            </a:pPr>
            <a:r>
              <a:t>조직 역량 강화**: 상세한 피드백 리포트를 통해 구성원 개개인의 자기 주도적 역량 개발 유도.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II. 제안 업체 일반 (Company Profile)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일반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(업체명)*은 공공 및 민간 분야의 HR 솔루션 구축과 컨설팅을 선도하는 전문 기업입니다. 우리는 기술(Tech)과 사람(People)을 잇는 혁신적인 솔루션을 통해 고객의 가치를 창출합니다.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주요 연혁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2024: 차세대 AI 기반 HR 분석 플랫폼 런칭</a:t>
            </a:r>
          </a:p>
          <a:p>
            <a:pPr>
              <a:defRPr sz="1800"/>
            </a:pPr>
            <a:r>
              <a:t>2023: 공공기관 경영평가 지원 시스템 특허 출원</a:t>
            </a:r>
          </a:p>
          <a:p>
            <a:pPr>
              <a:defRPr sz="1800"/>
            </a:pPr>
            <a:r>
              <a:t>2022: 주요 공공기관(A공사, B재단 등) 인사시스템 구축 수행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조직 및 인원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본 사업의 성공적인 수행을 위해 HR 컨설팅 전문가, 시스템 아키텍트, UI/UX 디자이너, 고급 개발자로 구성된 최정예 전담팀을 구성하였습니다.</a:t>
            </a:r>
          </a:p>
          <a:p>
            <a:pPr>
              <a:defRPr sz="1800"/>
            </a:pPr>
            <a:r>
              <a:t>PM (총괄)**: 공공기관 HR 프로젝트 10년 이상 경력</a:t>
            </a:r>
          </a:p>
          <a:p>
            <a:pPr>
              <a:defRPr sz="1800"/>
            </a:pPr>
            <a:r>
              <a:t>PL (제도/설계)**: 인사조직학 석/박사급 컨설턴트</a:t>
            </a:r>
          </a:p>
          <a:p>
            <a:pPr>
              <a:defRPr sz="1800"/>
            </a:pPr>
            <a:r>
              <a:t>PL (개발)**: 대용량 트래픽 처리 및 보안 전문가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III. 기술 부문 (Technical Solution)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시스템 구축 목표 및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우리의 시스템 구축 전략은 **"User-Centric &amp; Data-Driven"**입니다. 평가자가 시스템 사용법을 익히는 데 시간을 낭비하지 않도록 직관적인 인터페이스를 제공하고, 관리자는 실시간으로 데이터를 모니터링하고 의사결정을 내릴 수 있어야 합니다.</a:t>
            </a:r>
          </a:p>
          <a:p>
            <a:pPr>
              <a:defRPr sz="1800"/>
            </a:pPr>
            <a:r>
              <a:t>핵심 전략: Apple-Style Aesthetics &amp; Usability</a:t>
            </a:r>
          </a:p>
          <a:p>
            <a:pPr>
              <a:defRPr sz="1800"/>
            </a:pPr>
            <a:r>
              <a:t>Liquid Glass Design**: 최신 트렌드인 글래스모피즘(Glassmorphism)을 적용하여 투명하고 깊이감 있는 UI를 제공합니다.</a:t>
            </a:r>
          </a:p>
          <a:p>
            <a:pPr>
              <a:defRPr sz="1800"/>
            </a:pPr>
            <a:r>
              <a:t>Micro-Interactions**: 버튼 클릭, 항목 선택 시 부드러운 애니메이션을 적용하여 사용자의 조작감을 향상시킵니다.</a:t>
            </a:r>
          </a:p>
          <a:p>
            <a:pPr>
              <a:defRPr sz="1800"/>
            </a:pPr>
            <a:r>
              <a:t>Responsive Web**: PC, 태블릿, 모바일 등 어떤 환경에서도 완벽하게 작동하는 반응형 웹을 구현합니다.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시스템 아키텍처 (System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안정적이고 확장 가능한 클라우드 네이티브 아키텍처를 제안합니다.</a:t>
            </a:r>
          </a:p>
          <a:p>
            <a:pPr>
              <a:defRPr sz="1800"/>
            </a:pPr>
            <a:r>
              <a:t>Frontend**: React/Next.js 기반의 SPA(Single Page Application)로 빠른 응답 속도 보장.</a:t>
            </a:r>
          </a:p>
          <a:p>
            <a:pPr>
              <a:defRPr sz="1800"/>
            </a:pPr>
            <a:r>
              <a:t>Backend**: Python (FastAPI/Django) 기반의 RESTful API로 유연한 데이터 처리.</a:t>
            </a:r>
          </a:p>
          <a:p>
            <a:pPr>
              <a:defRPr sz="1800"/>
            </a:pPr>
            <a:r>
              <a:t>Database**: PostgreSQL을 사용하여 복잡한 계층형 조직 구조와 대용량 평가 데이터를 효율적으로 관리.</a:t>
            </a:r>
          </a:p>
          <a:p>
            <a:pPr>
              <a:defRPr sz="1800"/>
            </a:pPr>
            <a:r>
              <a:t>Security**: SSL/TLS 암호화, DB 암호화, 2-Factor 인증(2FA) 적용.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주요 기능 명세 (Functional Requirements)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가. 평가자/피평가자 관리 (User Management)</a:t>
            </a:r>
          </a:p>
          <a:p>
            <a:pPr>
              <a:defRPr sz="1800"/>
            </a:pPr>
            <a:r>
              <a:t>조직도 연동**: 인사 DB와 연동하여 실시간 조직도 반영.</a:t>
            </a:r>
          </a:p>
          <a:p>
            <a:pPr>
              <a:defRPr sz="1800"/>
            </a:pPr>
            <a:r>
              <a:t>평가 매핑**: 드래그 앤 드롭(Drag &amp; Drop) 방식의 직관적인 평가자-피평가자 매핑 UI 제공.</a:t>
            </a:r>
          </a:p>
          <a:p>
            <a:pPr>
              <a:defRPr sz="1800"/>
            </a:pPr>
            <a:r>
              <a:t>제척 관리**: 이해관계 상충 시 평가자가 스스로 회피하거나 관리자가 제척할 수 있는 기능.</a:t>
            </a:r>
          </a:p>
          <a:p>
            <a:pPr>
              <a:defRPr sz="1800"/>
            </a:pPr>
            <a:r>
              <a:t>나. 온라인 평가 수행 (Evaluation Execution)</a:t>
            </a:r>
          </a:p>
          <a:p>
            <a:pPr>
              <a:defRPr sz="1800"/>
            </a:pPr>
            <a:r>
              <a:t>자기신고서 작성**: 이전 실적 불러오기, 임시 저장, 증빙 자료 첨부 기능.</a:t>
            </a:r>
          </a:p>
          <a:p>
            <a:pPr>
              <a:defRPr sz="1800"/>
            </a:pPr>
            <a:r>
              <a:t>역량 평가**:</a:t>
            </a:r>
          </a:p>
          <a:p>
            <a:pPr>
              <a:defRPr sz="1800"/>
            </a:pPr>
            <a:r>
              <a:t>10단계 척도(Likert Scale)의 직관적인 선택 UI.</a:t>
            </a:r>
          </a:p>
          <a:p>
            <a:pPr>
              <a:defRPr sz="1800"/>
            </a:pPr>
            <a:r>
              <a:t>평가 항목별 정의 및 행동 지표 툴팁 제공.</a:t>
            </a:r>
          </a:p>
          <a:p>
            <a:pPr>
              <a:defRPr sz="1800"/>
            </a:pPr>
            <a:r>
              <a:t>동점 방지 로직 및 점수 분포 가이드라인 제시.</a:t>
            </a:r>
          </a:p>
          <a:p>
            <a:pPr>
              <a:defRPr sz="1800"/>
            </a:pPr>
            <a:r>
              <a:t>다면 평가**: 익명성 보장을 위한 철저한 데이터 분리 및 암호화.</a:t>
            </a:r>
          </a:p>
          <a:p>
            <a:pPr>
              <a:defRPr sz="1800"/>
            </a:pPr>
            <a:r>
              <a:t>다. 결과 집계 및 분석 (Analysis &amp; Reporting)</a:t>
            </a:r>
          </a:p>
          <a:p>
            <a:pPr>
              <a:defRPr sz="1800"/>
            </a:pPr>
            <a:r>
              <a:t>자동 집계**: 평가 종료 즉시 실시간 점수 산출.</a:t>
            </a:r>
          </a:p>
          <a:p>
            <a:pPr>
              <a:defRPr sz="1800"/>
            </a:pPr>
            <a:r>
              <a:t>점수 조정**: 평균 및 표준편차 일치법 등 통계적 기법을 적용한 자동 보정.</a:t>
            </a:r>
          </a:p>
          <a:p>
            <a:pPr>
              <a:defRPr sz="1800"/>
            </a:pPr>
            <a:r>
              <a:t>대시보드**: 부서별, 직급별, 역량별 점수 현황을 시각화한 대시보드 제공.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UI/UX 디자인 시안 (Wireframes)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[화면 1] HR Analytics Dashboard (관리자용)</a:t>
            </a:r>
          </a:p>
          <a:p>
            <a:pPr>
              <a:defRPr sz="1800"/>
            </a:pPr>
            <a:r>
              <a:t>&gt; *(Placeholder for Image: hr_system_dashboard)*</a:t>
            </a:r>
          </a:p>
          <a:p>
            <a:pPr>
              <a:defRPr sz="1800"/>
            </a:pPr>
            <a:r>
              <a:t>&gt; **설명**: 관리자 메인 화면입니다. 좌측의 세련된 사이드바를 통해 메뉴 이동이 가능하며, 상단에는 '총 대상자', '평가 진행률', '미완료 건수'가 카드 형태로 표시됩니다. 중앙에는 부서별 평가 진행 현황이 바 차트로, 전사 역량 평균 추이가 라인 차트로 시각화되어 있어 한눈에 현황을 파악할 수 있습니다. 전체적인 톤은 신뢰감을 주는 딥 블루와 화이트를 사용했습니다.</a:t>
            </a:r>
          </a:p>
          <a:p>
            <a:pPr>
              <a:defRPr sz="1800"/>
            </a:pPr>
            <a:r>
              <a:t>[화면 2] 온라인 평가 수행 화면 (사용자용)</a:t>
            </a:r>
          </a:p>
          <a:p>
            <a:pPr>
              <a:defRPr sz="1800"/>
            </a:pPr>
            <a:r>
              <a:t>&gt; *(Placeholder for Image: evaluation_interface_ui)*</a:t>
            </a:r>
          </a:p>
          <a:p>
            <a:pPr>
              <a:defRPr sz="1800"/>
            </a:pPr>
            <a:r>
              <a:t>&gt; **설명**: 평가자가 실제 평가를 수행하는 화면입니다. 상단에는 피평가자의 기본 정보와 사진이 표시되어 대상을 명확히 인지할 수 있습니다. 좌측에는 평가해야 할 역량 항목 리스트가 있고, 우측 메인 영역에는 각 항목에 대한 정의와 10점 척도 선택 버튼이 배치됩니다. 복잡한 표 형태가 아닌, 카드 뉴스 형태의 디자인을 적용하여 가독성을 높였습니다.</a:t>
            </a:r>
          </a:p>
          <a:p>
            <a:pPr>
              <a:defRPr sz="1800"/>
            </a:pPr>
            <a:r>
              <a:t>[화면 3] 개인별 역량 분석 리포트 (결과물)</a:t>
            </a:r>
          </a:p>
          <a:p>
            <a:pPr>
              <a:defRPr sz="1800"/>
            </a:pPr>
            <a:r>
              <a:t>&gt; *(Placeholder for Image: competency_report_card)*</a:t>
            </a:r>
          </a:p>
          <a:p>
            <a:pPr>
              <a:defRPr sz="1800"/>
            </a:pPr>
            <a:r>
              <a:t>&gt; **설명**: 평가 완료 후 개인에게 제공되는 피드백 리포트입니다. 본인 점수와 타인(상사/동료) 평가 점수를 비교한 'Radar Chart(방사형 차트)'가 핵심입니다. 하단에는 강점 역량과 보완 필요 역량이 키워드 형태로 추출되어 제시되며, 향후 개발 가이드까지 포함된 종합 리포트입니다.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IV. 사업 수행 부문 (Project Execution)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인사평가 제도 분석 및 개선 (Phase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현황 진단**: 정부의 직무 중심 인사관리 지침과 진흥원 내부 규정을 정밀 분석합니다.</a:t>
            </a:r>
          </a:p>
          <a:p>
            <a:pPr>
              <a:defRPr sz="1800"/>
            </a:pPr>
            <a:r>
              <a:t>인식 조사**: 전 직원 대상 설문조사 및 FGI(Focus Group Interview)를 통해 현행 제도의 문제점을 바텀업(Bottom-up) 방식으로 도출합니다.</a:t>
            </a:r>
          </a:p>
          <a:p>
            <a:pPr>
              <a:defRPr sz="1800"/>
            </a:pPr>
            <a:r>
              <a:t>개선안 도출**:</a:t>
            </a:r>
          </a:p>
          <a:p>
            <a:pPr>
              <a:defRPr sz="1800"/>
            </a:pPr>
            <a:r>
              <a:t>근무평정**: 역량평가와 성과평가의 비중 및 연계성 재설계.</a:t>
            </a:r>
          </a:p>
          <a:p>
            <a:pPr>
              <a:defRPr sz="1800"/>
            </a:pPr>
            <a:r>
              <a:t>역량모델**: 직급별(관리자/실무자), 직무별(행정/연구/기술) 특성을 반영한 역량 모델 고도화.</a:t>
            </a:r>
          </a:p>
          <a:p>
            <a:pPr>
              <a:defRPr sz="1800"/>
            </a:pPr>
            <a:r>
              <a:t>보직자 평가**: 리더십 역량을 구체화하고, AC(Assessment Center) 기법 도입을 위한 평가 지표 개발.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평가 운영 방안 (Phase 2 &amp;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가. 2025년 하반기 및 2026년 상반기 역량평가</a:t>
            </a:r>
          </a:p>
          <a:p>
            <a:pPr>
              <a:defRPr sz="1800"/>
            </a:pPr>
            <a:r>
              <a:t>대상**: 전 직원 390명 내외.</a:t>
            </a:r>
          </a:p>
          <a:p>
            <a:pPr>
              <a:defRPr sz="1800"/>
            </a:pPr>
            <a:r>
              <a:t>일정**: 2026년 1월(25년 하반기분), 2026년 7월(26년 상반기분).</a:t>
            </a:r>
          </a:p>
          <a:p>
            <a:pPr>
              <a:defRPr sz="1800"/>
            </a:pPr>
            <a:r>
              <a:t>운영 포인트**: 시스템 접속 부하 분산, 모바일 접속 지원으로 참여율 제고, 헬프데스크 운영을 통한 즉각적인 민원 응대.</a:t>
            </a:r>
          </a:p>
          <a:p>
            <a:pPr>
              <a:defRPr sz="1800"/>
            </a:pPr>
            <a:r>
              <a:t>나. 2025년 다면평가</a:t>
            </a:r>
          </a:p>
          <a:p>
            <a:pPr>
              <a:defRPr sz="1800"/>
            </a:pPr>
            <a:r>
              <a:t>대상**: 전 직원 (평가그룹 1, 2, 3그룹).</a:t>
            </a:r>
          </a:p>
          <a:p>
            <a:pPr>
              <a:defRPr sz="1800"/>
            </a:pPr>
            <a:r>
              <a:t>일정**: 2026년 2월.</a:t>
            </a:r>
          </a:p>
          <a:p>
            <a:pPr>
              <a:defRPr sz="1800"/>
            </a:pPr>
            <a:r>
              <a:t>운영 포인트**: **'익명성 보장'**을 최우선 가치로 둡니다. 상호 평가 시 감정적 평가를 배제하기 위한 사전 교육(온라인)을 필수 이수하도록 시스템을 구성합니다. 평가 그룹별(전사지원, 수익사업, 연구사업) 특성에 맞는 문항 구성을 지원합니다.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보직 대상자 역량평가 (Phase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대상**: 부서장 및 팀장 후보자 20명.</a:t>
            </a:r>
          </a:p>
          <a:p>
            <a:pPr>
              <a:defRPr sz="1800"/>
            </a:pPr>
            <a:r>
              <a:t>방식**: 오프라인 집합 평가 (Assessment Center).</a:t>
            </a:r>
          </a:p>
          <a:p>
            <a:pPr>
              <a:defRPr sz="1800"/>
            </a:pPr>
            <a:r>
              <a:t>과제 개발**:</a:t>
            </a:r>
          </a:p>
          <a:p>
            <a:pPr>
              <a:defRPr sz="1800"/>
            </a:pPr>
            <a:r>
              <a:t>서류함 기법 (In-Basket)**: 실제 업무 상황과 유사한 메일/결재 처리를 통해 우선순위 판단 및 문제 해결력 측정.</a:t>
            </a:r>
          </a:p>
          <a:p>
            <a:pPr>
              <a:defRPr sz="1800"/>
            </a:pPr>
            <a:r>
              <a:t>역할 연기 (Role-Play)**: 부하 직원 코칭, 악성 민원 응대 등 대인 관계 역량 측정.</a:t>
            </a:r>
          </a:p>
          <a:p>
            <a:pPr>
              <a:defRPr sz="1800"/>
            </a:pPr>
            <a:r>
              <a:t>그룹 토론 (Group Discussion)**: 조직 내 갈등 상황에 대한 합의 도출 과정 관찰.</a:t>
            </a:r>
          </a:p>
          <a:p>
            <a:pPr>
              <a:defRPr sz="1800"/>
            </a:pPr>
            <a:r>
              <a:t>운영**: 외부 전문 평가위원(교수, HR 전문가) 2인 1조 매칭을 통해 평가의 객관성 확보. 사전 모의 실습을 통해 대상자의 불안감 해소.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추진 일정 (Schedule)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| 구분 | 1월 | 2월 | 3월 | 4월 | 5월 | 6월 | 7월 | 8월 | 9월 |</a:t>
            </a:r>
          </a:p>
          <a:p>
            <a:pPr>
              <a:defRPr sz="1800"/>
            </a:pPr>
            <a:r>
              <a:t>| :--- | :-: | :-: | :-: | :-: | :-: | :-: | :-: | :-: | :-: |</a:t>
            </a:r>
          </a:p>
          <a:p>
            <a:pPr>
              <a:defRPr sz="1800"/>
            </a:pPr>
            <a:r>
              <a:t>| **제도개선** | 분석 | 설계 | 확정 | | | | | | |</a:t>
            </a:r>
          </a:p>
          <a:p>
            <a:pPr>
              <a:defRPr sz="1800"/>
            </a:pPr>
            <a:r>
              <a:t>| **시스템구축**| 개발 | 테스트 | 오픈 | 안정화 | | | | | |</a:t>
            </a:r>
          </a:p>
          <a:p>
            <a:pPr>
              <a:defRPr sz="1800"/>
            </a:pPr>
            <a:r>
              <a:t>| **역량평가(25H)**| 운영 | 결과 | | | | | | | |</a:t>
            </a:r>
          </a:p>
          <a:p>
            <a:pPr>
              <a:defRPr sz="1800"/>
            </a:pPr>
            <a:r>
              <a:t>| **다면평가** | | 운영 | 결과 | | | | | | |</a:t>
            </a:r>
          </a:p>
          <a:p>
            <a:pPr>
              <a:defRPr sz="1800"/>
            </a:pPr>
            <a:r>
              <a:t>| **보직자평가** | | | 준비 | **운영** | 결과 | | | | |</a:t>
            </a:r>
          </a:p>
          <a:p>
            <a:pPr>
              <a:defRPr sz="1800"/>
            </a:pPr>
            <a:r>
              <a:t>| **역량평가(26H)**| | | | | | 준비 | **운영** | 결과 | |</a:t>
            </a:r>
          </a:p>
          <a:p>
            <a:pPr>
              <a:defRPr sz="1800"/>
            </a:pPr>
            <a:r>
              <a:t>| **최종보고** | | | | | | | | | **보고** |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&lt;!-- PAGE BREAK --&gt;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V. 사업 관리 부문 (Project Management)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품질 보증 계획 (Quality Assurance)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단위 테스트**: 기능 단위의 결함 사전 제거.</a:t>
            </a:r>
          </a:p>
          <a:p>
            <a:pPr>
              <a:defRPr sz="1800"/>
            </a:pPr>
            <a:r>
              <a:t>통합 테스트**: 시나리오 기반의 전 프로세스 점검.</a:t>
            </a:r>
          </a:p>
          <a:p>
            <a:pPr>
              <a:defRPr sz="1800"/>
            </a:pPr>
            <a:r>
              <a:t>사용자 테스트 (UAT)**: 진흥원 담당자가 직접 참여하여 요구사항 반영 여부 최종 확인.</a:t>
            </a:r>
          </a:p>
          <a:p>
            <a:pPr>
              <a:defRPr sz="1800"/>
            </a:pPr>
            <a:r>
              <a:t>SLA 준수**: 시스템 가동률 99.9% 목표, 장애 발생 시 1시간 이내 복구 체계 가동.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보안 관리 계획 (Security)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개인정보보호**: 모든 개인정보(주민번호, 평가점수 등)는 DB 저장 시 암호화(AES-256) 처리.</a:t>
            </a:r>
          </a:p>
          <a:p>
            <a:pPr>
              <a:defRPr sz="1800"/>
            </a:pPr>
            <a:r>
              <a:t>접근 통제**: 관리자 페이지 접속 로그 기록 및 IP 접근 제어.</a:t>
            </a:r>
          </a:p>
          <a:p>
            <a:pPr>
              <a:defRPr sz="1800"/>
            </a:pPr>
            <a:r>
              <a:t>보안 서약**: 투입 인력 전원 보안 서약서 징구 및 정기 보안 교육 실시.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기술 이전 및 교육 훈련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관리자 교육**: 시스템 운영, 코드 관리, 평가 설정 방법 등 매뉴얼 제공 및 실습 교육.</a:t>
            </a:r>
          </a:p>
          <a:p>
            <a:pPr>
              <a:defRPr sz="1800"/>
            </a:pPr>
            <a:r>
              <a:t>사용자 매뉴얼**: 동영상 가이드 및 카드 뉴스 형태의 쉬운 매뉴얼 배포.</a:t>
            </a:r>
          </a:p>
          <a:p>
            <a:pPr>
              <a:defRPr sz="1800"/>
            </a:pPr>
            <a:r>
              <a:t>기술 지원**: 사업 종료 후 1년간 무상 하자 보수 지원.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VI. 결론 (Conclusion)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