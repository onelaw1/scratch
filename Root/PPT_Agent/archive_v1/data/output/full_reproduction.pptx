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2030 중장기 전략경영계획 수립 용역</a:t>
            </a:r>
          </a:p>
        </p:txBody>
      </p:sp>
      <p:sp>
        <p:nvSpPr>
          <p:cNvPr id="3" name="TextBox 2"/>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This report is solely for the use of client personnel. No part of it may be circulated, quoted, or reproduced for distribution outside the client organization without prior written approval. | Page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Table of Contents</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Strategic Alignment through Comprehensive Review</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I. 프로젝트 개요</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1. 프로젝트 목적 및 범위</a:t>
            </a:r>
          </a:p>
        </p:txBody>
      </p:sp>
      <p:sp>
        <p:nvSpPr>
          <p:cNvPr id="6" name="TextBox 5"/>
          <p:cNvSpPr txBox="1"/>
          <p:nvPr/>
        </p:nvSpPr>
        <p:spPr>
          <a:xfrm>
            <a:off x="457200" y="2148840"/>
            <a:ext cx="8229600" cy="228600"/>
          </a:xfrm>
          <a:prstGeom prst="rect">
            <a:avLst/>
          </a:prstGeom>
          <a:noFill/>
        </p:spPr>
        <p:txBody>
          <a:bodyPr wrap="square">
            <a:spAutoFit/>
          </a:bodyPr>
          <a:lstStyle/>
          <a:p>
            <a:pPr algn="l">
              <a:defRPr sz="1000" b="0">
                <a:latin typeface="Malgun Gothic"/>
              </a:defRPr>
            </a:pPr>
            <a:r>
              <a:t>2. 주요 과업 및 업무수행 내역</a:t>
            </a:r>
          </a:p>
        </p:txBody>
      </p:sp>
      <p:sp>
        <p:nvSpPr>
          <p:cNvPr id="7" name="TextBox 6"/>
          <p:cNvSpPr txBox="1"/>
          <p:nvPr/>
        </p:nvSpPr>
        <p:spPr>
          <a:xfrm>
            <a:off x="457200" y="2468880"/>
            <a:ext cx="8229600" cy="228600"/>
          </a:xfrm>
          <a:prstGeom prst="rect">
            <a:avLst/>
          </a:prstGeom>
          <a:noFill/>
        </p:spPr>
        <p:txBody>
          <a:bodyPr wrap="square">
            <a:spAutoFit/>
          </a:bodyPr>
          <a:lstStyle/>
          <a:p>
            <a:pPr algn="l">
              <a:defRPr sz="1000" b="0">
                <a:latin typeface="Malgun Gothic"/>
              </a:defRPr>
            </a:pPr>
            <a:r>
              <a:t>3. 프로젝트 진행 일정</a:t>
            </a:r>
          </a:p>
        </p:txBody>
      </p:sp>
      <p:sp>
        <p:nvSpPr>
          <p:cNvPr id="8" name="TextBox 7"/>
          <p:cNvSpPr txBox="1"/>
          <p:nvPr/>
        </p:nvSpPr>
        <p:spPr>
          <a:xfrm>
            <a:off x="457200" y="2788920"/>
            <a:ext cx="8229600" cy="228600"/>
          </a:xfrm>
          <a:prstGeom prst="rect">
            <a:avLst/>
          </a:prstGeom>
          <a:noFill/>
        </p:spPr>
        <p:txBody>
          <a:bodyPr wrap="square">
            <a:spAutoFit/>
          </a:bodyPr>
          <a:lstStyle/>
          <a:p>
            <a:pPr algn="l">
              <a:defRPr sz="1000" b="0">
                <a:latin typeface="Malgun Gothic"/>
              </a:defRPr>
            </a:pPr>
            <a:r>
              <a:t>03</a:t>
            </a:r>
          </a:p>
        </p:txBody>
      </p:sp>
      <p:sp>
        <p:nvSpPr>
          <p:cNvPr id="9" name="TextBox 8"/>
          <p:cNvSpPr txBox="1"/>
          <p:nvPr/>
        </p:nvSpPr>
        <p:spPr>
          <a:xfrm>
            <a:off x="457200" y="3108960"/>
            <a:ext cx="8229600" cy="228600"/>
          </a:xfrm>
          <a:prstGeom prst="rect">
            <a:avLst/>
          </a:prstGeom>
          <a:noFill/>
        </p:spPr>
        <p:txBody>
          <a:bodyPr wrap="square">
            <a:spAutoFit/>
          </a:bodyPr>
          <a:lstStyle/>
          <a:p>
            <a:pPr algn="l">
              <a:defRPr sz="1000" b="0">
                <a:latin typeface="Malgun Gothic"/>
              </a:defRPr>
            </a:pPr>
            <a:r>
              <a:t>04</a:t>
            </a:r>
          </a:p>
        </p:txBody>
      </p:sp>
      <p:sp>
        <p:nvSpPr>
          <p:cNvPr id="10" name="TextBox 9"/>
          <p:cNvSpPr txBox="1"/>
          <p:nvPr/>
        </p:nvSpPr>
        <p:spPr>
          <a:xfrm>
            <a:off x="457200" y="3429000"/>
            <a:ext cx="8229600" cy="228600"/>
          </a:xfrm>
          <a:prstGeom prst="rect">
            <a:avLst/>
          </a:prstGeom>
          <a:noFill/>
        </p:spPr>
        <p:txBody>
          <a:bodyPr wrap="square">
            <a:spAutoFit/>
          </a:bodyPr>
          <a:lstStyle/>
          <a:p>
            <a:pPr algn="l">
              <a:defRPr sz="1000" b="0">
                <a:latin typeface="Malgun Gothic"/>
              </a:defRPr>
            </a:pPr>
            <a:r>
              <a:t>05</a:t>
            </a:r>
          </a:p>
        </p:txBody>
      </p:sp>
      <p:sp>
        <p:nvSpPr>
          <p:cNvPr id="11" name="TextBox 10"/>
          <p:cNvSpPr txBox="1"/>
          <p:nvPr/>
        </p:nvSpPr>
        <p:spPr>
          <a:xfrm>
            <a:off x="457200" y="3749040"/>
            <a:ext cx="8229600" cy="274320"/>
          </a:xfrm>
          <a:prstGeom prst="rect">
            <a:avLst/>
          </a:prstGeom>
          <a:noFill/>
        </p:spPr>
        <p:txBody>
          <a:bodyPr wrap="square">
            <a:spAutoFit/>
          </a:bodyPr>
          <a:lstStyle/>
          <a:p>
            <a:pPr algn="l">
              <a:defRPr sz="1200" b="1">
                <a:solidFill>
                  <a:srgbClr val="003366"/>
                </a:solidFill>
                <a:latin typeface="Malgun Gothic"/>
              </a:defRPr>
            </a:pPr>
            <a:r>
              <a:t>II. 내·외부 환경 분석</a:t>
            </a:r>
          </a:p>
        </p:txBody>
      </p:sp>
      <p:sp>
        <p:nvSpPr>
          <p:cNvPr id="12" name="TextBox 11"/>
          <p:cNvSpPr txBox="1"/>
          <p:nvPr/>
        </p:nvSpPr>
        <p:spPr>
          <a:xfrm>
            <a:off x="457200" y="4114800"/>
            <a:ext cx="8229600" cy="228600"/>
          </a:xfrm>
          <a:prstGeom prst="rect">
            <a:avLst/>
          </a:prstGeom>
          <a:noFill/>
        </p:spPr>
        <p:txBody>
          <a:bodyPr wrap="square">
            <a:spAutoFit/>
          </a:bodyPr>
          <a:lstStyle/>
          <a:p>
            <a:pPr algn="l">
              <a:defRPr sz="1000" b="0">
                <a:latin typeface="Malgun Gothic"/>
              </a:defRPr>
            </a:pPr>
            <a:r>
              <a:t>1. 외부 환경분석</a:t>
            </a:r>
          </a:p>
        </p:txBody>
      </p:sp>
      <p:sp>
        <p:nvSpPr>
          <p:cNvPr id="13" name="TextBox 12"/>
          <p:cNvSpPr txBox="1"/>
          <p:nvPr/>
        </p:nvSpPr>
        <p:spPr>
          <a:xfrm>
            <a:off x="457200" y="4434840"/>
            <a:ext cx="8229600" cy="228600"/>
          </a:xfrm>
          <a:prstGeom prst="rect">
            <a:avLst/>
          </a:prstGeom>
          <a:noFill/>
        </p:spPr>
        <p:txBody>
          <a:bodyPr wrap="square">
            <a:spAutoFit/>
          </a:bodyPr>
          <a:lstStyle/>
          <a:p>
            <a:pPr algn="l">
              <a:defRPr sz="1000" b="0">
                <a:latin typeface="Malgun Gothic"/>
              </a:defRPr>
            </a:pPr>
            <a:r>
              <a:t>2. 내부 환경·역량 분석</a:t>
            </a:r>
          </a:p>
        </p:txBody>
      </p:sp>
      <p:sp>
        <p:nvSpPr>
          <p:cNvPr id="14" name="TextBox 13"/>
          <p:cNvSpPr txBox="1"/>
          <p:nvPr/>
        </p:nvSpPr>
        <p:spPr>
          <a:xfrm>
            <a:off x="457200" y="4754880"/>
            <a:ext cx="8229600" cy="228600"/>
          </a:xfrm>
          <a:prstGeom prst="rect">
            <a:avLst/>
          </a:prstGeom>
          <a:noFill/>
        </p:spPr>
        <p:txBody>
          <a:bodyPr wrap="square">
            <a:spAutoFit/>
          </a:bodyPr>
          <a:lstStyle/>
          <a:p>
            <a:pPr algn="l">
              <a:defRPr sz="1000" b="0">
                <a:latin typeface="Malgun Gothic"/>
              </a:defRPr>
            </a:pPr>
            <a:r>
              <a:t>3. 이해관계자 분석</a:t>
            </a:r>
          </a:p>
        </p:txBody>
      </p:sp>
      <p:sp>
        <p:nvSpPr>
          <p:cNvPr id="15" name="TextBox 14"/>
          <p:cNvSpPr txBox="1"/>
          <p:nvPr/>
        </p:nvSpPr>
        <p:spPr>
          <a:xfrm>
            <a:off x="457200" y="5074920"/>
            <a:ext cx="8229600" cy="228600"/>
          </a:xfrm>
          <a:prstGeom prst="rect">
            <a:avLst/>
          </a:prstGeom>
          <a:noFill/>
        </p:spPr>
        <p:txBody>
          <a:bodyPr wrap="square">
            <a:spAutoFit/>
          </a:bodyPr>
          <a:lstStyle/>
          <a:p>
            <a:pPr algn="l">
              <a:defRPr sz="1000" b="0">
                <a:latin typeface="Malgun Gothic"/>
              </a:defRPr>
            </a:pPr>
            <a:r>
              <a:t>4. 벤치마킹</a:t>
            </a:r>
          </a:p>
        </p:txBody>
      </p:sp>
      <p:sp>
        <p:nvSpPr>
          <p:cNvPr id="16" name="TextBox 15"/>
          <p:cNvSpPr txBox="1"/>
          <p:nvPr/>
        </p:nvSpPr>
        <p:spPr>
          <a:xfrm>
            <a:off x="457200" y="5394960"/>
            <a:ext cx="8229600" cy="228600"/>
          </a:xfrm>
          <a:prstGeom prst="rect">
            <a:avLst/>
          </a:prstGeom>
          <a:noFill/>
        </p:spPr>
        <p:txBody>
          <a:bodyPr wrap="square">
            <a:spAutoFit/>
          </a:bodyPr>
          <a:lstStyle/>
          <a:p>
            <a:pPr algn="l">
              <a:defRPr sz="1000" b="0">
                <a:latin typeface="Malgun Gothic"/>
              </a:defRPr>
            </a:pPr>
            <a:r>
              <a:t>08</a:t>
            </a:r>
          </a:p>
        </p:txBody>
      </p:sp>
      <p:sp>
        <p:nvSpPr>
          <p:cNvPr id="17" name="TextBox 16"/>
          <p:cNvSpPr txBox="1"/>
          <p:nvPr/>
        </p:nvSpPr>
        <p:spPr>
          <a:xfrm>
            <a:off x="457200" y="5715000"/>
            <a:ext cx="8229600" cy="228600"/>
          </a:xfrm>
          <a:prstGeom prst="rect">
            <a:avLst/>
          </a:prstGeom>
          <a:noFill/>
        </p:spPr>
        <p:txBody>
          <a:bodyPr wrap="square">
            <a:spAutoFit/>
          </a:bodyPr>
          <a:lstStyle/>
          <a:p>
            <a:pPr algn="l">
              <a:defRPr sz="1000" b="0">
                <a:latin typeface="Malgun Gothic"/>
              </a:defRPr>
            </a:pPr>
            <a:r>
              <a:t>50</a:t>
            </a:r>
          </a:p>
        </p:txBody>
      </p:sp>
      <p:sp>
        <p:nvSpPr>
          <p:cNvPr id="18" name="TextBox 17"/>
          <p:cNvSpPr txBox="1"/>
          <p:nvPr/>
        </p:nvSpPr>
        <p:spPr>
          <a:xfrm>
            <a:off x="457200" y="6035040"/>
            <a:ext cx="8229600" cy="228600"/>
          </a:xfrm>
          <a:prstGeom prst="rect">
            <a:avLst/>
          </a:prstGeom>
          <a:noFill/>
        </p:spPr>
        <p:txBody>
          <a:bodyPr wrap="square">
            <a:spAutoFit/>
          </a:bodyPr>
          <a:lstStyle/>
          <a:p>
            <a:pPr algn="l">
              <a:defRPr sz="1000" b="0">
                <a:latin typeface="Malgun Gothic"/>
              </a:defRPr>
            </a:pPr>
            <a:r>
              <a:t>75</a:t>
            </a:r>
          </a:p>
        </p:txBody>
      </p:sp>
      <p:sp>
        <p:nvSpPr>
          <p:cNvPr id="19" name="TextBox 18"/>
          <p:cNvSpPr txBox="1"/>
          <p:nvPr/>
        </p:nvSpPr>
        <p:spPr>
          <a:xfrm>
            <a:off x="457200" y="6355080"/>
            <a:ext cx="8229600" cy="228600"/>
          </a:xfrm>
          <a:prstGeom prst="rect">
            <a:avLst/>
          </a:prstGeom>
          <a:noFill/>
        </p:spPr>
        <p:txBody>
          <a:bodyPr wrap="square">
            <a:spAutoFit/>
          </a:bodyPr>
          <a:lstStyle/>
          <a:p>
            <a:pPr algn="l">
              <a:defRPr sz="1000" b="0">
                <a:latin typeface="Malgun Gothic"/>
              </a:defRPr>
            </a:pPr>
            <a:r>
              <a:t>89</a:t>
            </a:r>
          </a:p>
        </p:txBody>
      </p:sp>
      <p:sp>
        <p:nvSpPr>
          <p:cNvPr id="20" name="TextBox 19"/>
          <p:cNvSpPr txBox="1"/>
          <p:nvPr/>
        </p:nvSpPr>
        <p:spPr>
          <a:xfrm>
            <a:off x="457200" y="6675120"/>
            <a:ext cx="8229600" cy="274320"/>
          </a:xfrm>
          <a:prstGeom prst="rect">
            <a:avLst/>
          </a:prstGeom>
          <a:noFill/>
        </p:spPr>
        <p:txBody>
          <a:bodyPr wrap="square">
            <a:spAutoFit/>
          </a:bodyPr>
          <a:lstStyle/>
          <a:p>
            <a:pPr algn="l">
              <a:defRPr sz="1200" b="1">
                <a:solidFill>
                  <a:srgbClr val="003366"/>
                </a:solidFill>
                <a:latin typeface="Malgun Gothic"/>
              </a:defRPr>
            </a:pPr>
            <a:r>
              <a:t>III. 가치체계·전략체계 재정립</a:t>
            </a:r>
          </a:p>
        </p:txBody>
      </p:sp>
      <p:sp>
        <p:nvSpPr>
          <p:cNvPr id="21" name="TextBox 20"/>
          <p:cNvSpPr txBox="1"/>
          <p:nvPr/>
        </p:nvSpPr>
        <p:spPr>
          <a:xfrm>
            <a:off x="457200" y="7040880"/>
            <a:ext cx="8229600" cy="228600"/>
          </a:xfrm>
          <a:prstGeom prst="rect">
            <a:avLst/>
          </a:prstGeom>
          <a:noFill/>
        </p:spPr>
        <p:txBody>
          <a:bodyPr wrap="square">
            <a:spAutoFit/>
          </a:bodyPr>
          <a:lstStyle/>
          <a:p>
            <a:pPr algn="l">
              <a:defRPr sz="1000" b="0">
                <a:latin typeface="Malgun Gothic"/>
              </a:defRPr>
            </a:pPr>
            <a:r>
              <a:t>1. 전략수립 방향성</a:t>
            </a:r>
          </a:p>
        </p:txBody>
      </p:sp>
      <p:sp>
        <p:nvSpPr>
          <p:cNvPr id="22" name="TextBox 21"/>
          <p:cNvSpPr txBox="1"/>
          <p:nvPr/>
        </p:nvSpPr>
        <p:spPr>
          <a:xfrm>
            <a:off x="457200" y="7360920"/>
            <a:ext cx="8229600" cy="228600"/>
          </a:xfrm>
          <a:prstGeom prst="rect">
            <a:avLst/>
          </a:prstGeom>
          <a:noFill/>
        </p:spPr>
        <p:txBody>
          <a:bodyPr wrap="square">
            <a:spAutoFit/>
          </a:bodyPr>
          <a:lstStyle/>
          <a:p>
            <a:pPr algn="l">
              <a:defRPr sz="1000" b="0">
                <a:latin typeface="Malgun Gothic"/>
              </a:defRPr>
            </a:pPr>
            <a:r>
              <a:t>2. 가치체계·전략체계 재정립</a:t>
            </a:r>
          </a:p>
        </p:txBody>
      </p:sp>
      <p:sp>
        <p:nvSpPr>
          <p:cNvPr id="23" name="TextBox 22"/>
          <p:cNvSpPr txBox="1"/>
          <p:nvPr/>
        </p:nvSpPr>
        <p:spPr>
          <a:xfrm>
            <a:off x="457200" y="7680960"/>
            <a:ext cx="8229600" cy="228600"/>
          </a:xfrm>
          <a:prstGeom prst="rect">
            <a:avLst/>
          </a:prstGeom>
          <a:noFill/>
        </p:spPr>
        <p:txBody>
          <a:bodyPr wrap="square">
            <a:spAutoFit/>
          </a:bodyPr>
          <a:lstStyle/>
          <a:p>
            <a:pPr algn="l">
              <a:defRPr sz="1000" b="0">
                <a:latin typeface="Malgun Gothic"/>
              </a:defRPr>
            </a:pPr>
            <a:r>
              <a:t>3. 전략목표·전략과제 수립</a:t>
            </a:r>
          </a:p>
        </p:txBody>
      </p:sp>
      <p:sp>
        <p:nvSpPr>
          <p:cNvPr id="24" name="TextBox 23"/>
          <p:cNvSpPr txBox="1"/>
          <p:nvPr/>
        </p:nvSpPr>
        <p:spPr>
          <a:xfrm>
            <a:off x="457200" y="8001000"/>
            <a:ext cx="8229600" cy="228600"/>
          </a:xfrm>
          <a:prstGeom prst="rect">
            <a:avLst/>
          </a:prstGeom>
          <a:noFill/>
        </p:spPr>
        <p:txBody>
          <a:bodyPr wrap="square">
            <a:spAutoFit/>
          </a:bodyPr>
          <a:lstStyle/>
          <a:p>
            <a:pPr algn="l">
              <a:defRPr sz="1000" b="0">
                <a:latin typeface="Malgun Gothic"/>
              </a:defRPr>
            </a:pPr>
            <a:r>
              <a:t>4. 경영목표 수립</a:t>
            </a:r>
          </a:p>
        </p:txBody>
      </p:sp>
      <p:sp>
        <p:nvSpPr>
          <p:cNvPr id="25" name="TextBox 24"/>
          <p:cNvSpPr txBox="1"/>
          <p:nvPr/>
        </p:nvSpPr>
        <p:spPr>
          <a:xfrm>
            <a:off x="457200" y="8321040"/>
            <a:ext cx="8229600" cy="228600"/>
          </a:xfrm>
          <a:prstGeom prst="rect">
            <a:avLst/>
          </a:prstGeom>
          <a:noFill/>
        </p:spPr>
        <p:txBody>
          <a:bodyPr wrap="square">
            <a:spAutoFit/>
          </a:bodyPr>
          <a:lstStyle/>
          <a:p>
            <a:pPr algn="l">
              <a:defRPr sz="1000" b="0">
                <a:latin typeface="Malgun Gothic"/>
              </a:defRPr>
            </a:pPr>
            <a:r>
              <a:t>102</a:t>
            </a:r>
          </a:p>
        </p:txBody>
      </p:sp>
      <p:sp>
        <p:nvSpPr>
          <p:cNvPr id="26" name="TextBox 25"/>
          <p:cNvSpPr txBox="1"/>
          <p:nvPr/>
        </p:nvSpPr>
        <p:spPr>
          <a:xfrm>
            <a:off x="457200" y="8641080"/>
            <a:ext cx="8229600" cy="228600"/>
          </a:xfrm>
          <a:prstGeom prst="rect">
            <a:avLst/>
          </a:prstGeom>
          <a:noFill/>
        </p:spPr>
        <p:txBody>
          <a:bodyPr wrap="square">
            <a:spAutoFit/>
          </a:bodyPr>
          <a:lstStyle/>
          <a:p>
            <a:pPr algn="l">
              <a:defRPr sz="1000" b="0">
                <a:latin typeface="Malgun Gothic"/>
              </a:defRPr>
            </a:pPr>
            <a:r>
              <a:t>120</a:t>
            </a:r>
          </a:p>
        </p:txBody>
      </p:sp>
      <p:sp>
        <p:nvSpPr>
          <p:cNvPr id="27" name="TextBox 26"/>
          <p:cNvSpPr txBox="1"/>
          <p:nvPr/>
        </p:nvSpPr>
        <p:spPr>
          <a:xfrm>
            <a:off x="457200" y="8961120"/>
            <a:ext cx="8229600" cy="228600"/>
          </a:xfrm>
          <a:prstGeom prst="rect">
            <a:avLst/>
          </a:prstGeom>
          <a:noFill/>
        </p:spPr>
        <p:txBody>
          <a:bodyPr wrap="square">
            <a:spAutoFit/>
          </a:bodyPr>
          <a:lstStyle/>
          <a:p>
            <a:pPr algn="l">
              <a:defRPr sz="1000" b="0">
                <a:latin typeface="Malgun Gothic"/>
              </a:defRPr>
            </a:pPr>
            <a:r>
              <a:t>148</a:t>
            </a:r>
          </a:p>
        </p:txBody>
      </p:sp>
      <p:sp>
        <p:nvSpPr>
          <p:cNvPr id="28" name="TextBox 27"/>
          <p:cNvSpPr txBox="1"/>
          <p:nvPr/>
        </p:nvSpPr>
        <p:spPr>
          <a:xfrm>
            <a:off x="457200" y="9281160"/>
            <a:ext cx="8229600" cy="228600"/>
          </a:xfrm>
          <a:prstGeom prst="rect">
            <a:avLst/>
          </a:prstGeom>
          <a:noFill/>
        </p:spPr>
        <p:txBody>
          <a:bodyPr wrap="square">
            <a:spAutoFit/>
          </a:bodyPr>
          <a:lstStyle/>
          <a:p>
            <a:pPr algn="l">
              <a:defRPr sz="1000" b="0">
                <a:latin typeface="Malgun Gothic"/>
              </a:defRPr>
            </a:pPr>
            <a:r>
              <a:t>167</a:t>
            </a:r>
          </a:p>
        </p:txBody>
      </p:sp>
      <p:sp>
        <p:nvSpPr>
          <p:cNvPr id="29" name="TextBox 28"/>
          <p:cNvSpPr txBox="1"/>
          <p:nvPr/>
        </p:nvSpPr>
        <p:spPr>
          <a:xfrm>
            <a:off x="457200" y="9601200"/>
            <a:ext cx="8229600" cy="274320"/>
          </a:xfrm>
          <a:prstGeom prst="rect">
            <a:avLst/>
          </a:prstGeom>
          <a:noFill/>
        </p:spPr>
        <p:txBody>
          <a:bodyPr wrap="square">
            <a:spAutoFit/>
          </a:bodyPr>
          <a:lstStyle/>
          <a:p>
            <a:pPr algn="l">
              <a:defRPr sz="1200" b="1">
                <a:solidFill>
                  <a:srgbClr val="003366"/>
                </a:solidFill>
                <a:latin typeface="Malgun Gothic"/>
              </a:defRPr>
            </a:pPr>
            <a:r>
              <a:t>IV. 조직·인력운영 방안</a:t>
            </a:r>
          </a:p>
        </p:txBody>
      </p:sp>
      <p:sp>
        <p:nvSpPr>
          <p:cNvPr id="30" name="TextBox 29"/>
          <p:cNvSpPr txBox="1"/>
          <p:nvPr/>
        </p:nvSpPr>
        <p:spPr>
          <a:xfrm>
            <a:off x="457200" y="9966960"/>
            <a:ext cx="8229600" cy="228600"/>
          </a:xfrm>
          <a:prstGeom prst="rect">
            <a:avLst/>
          </a:prstGeom>
          <a:noFill/>
        </p:spPr>
        <p:txBody>
          <a:bodyPr wrap="square">
            <a:spAutoFit/>
          </a:bodyPr>
          <a:lstStyle/>
          <a:p>
            <a:pPr algn="l">
              <a:defRPr sz="1000" b="0">
                <a:latin typeface="Malgun Gothic"/>
              </a:defRPr>
            </a:pPr>
            <a:r>
              <a:t>1. 조직진단 및 이슈분석</a:t>
            </a:r>
          </a:p>
        </p:txBody>
      </p:sp>
      <p:sp>
        <p:nvSpPr>
          <p:cNvPr id="31" name="TextBox 30"/>
          <p:cNvSpPr txBox="1"/>
          <p:nvPr/>
        </p:nvSpPr>
        <p:spPr>
          <a:xfrm>
            <a:off x="457200" y="10287000"/>
            <a:ext cx="8229600" cy="228600"/>
          </a:xfrm>
          <a:prstGeom prst="rect">
            <a:avLst/>
          </a:prstGeom>
          <a:noFill/>
        </p:spPr>
        <p:txBody>
          <a:bodyPr wrap="square">
            <a:spAutoFit/>
          </a:bodyPr>
          <a:lstStyle/>
          <a:p>
            <a:pPr algn="l">
              <a:defRPr sz="1000" b="0">
                <a:latin typeface="Malgun Gothic"/>
              </a:defRPr>
            </a:pPr>
            <a:r>
              <a:t>2.조직·인력운영 방향성</a:t>
            </a:r>
          </a:p>
        </p:txBody>
      </p:sp>
      <p:sp>
        <p:nvSpPr>
          <p:cNvPr id="32" name="TextBox 31"/>
          <p:cNvSpPr txBox="1"/>
          <p:nvPr/>
        </p:nvSpPr>
        <p:spPr>
          <a:xfrm>
            <a:off x="457200" y="10607040"/>
            <a:ext cx="8229600" cy="228600"/>
          </a:xfrm>
          <a:prstGeom prst="rect">
            <a:avLst/>
          </a:prstGeom>
          <a:noFill/>
        </p:spPr>
        <p:txBody>
          <a:bodyPr wrap="square">
            <a:spAutoFit/>
          </a:bodyPr>
          <a:lstStyle/>
          <a:p>
            <a:pPr algn="l">
              <a:defRPr sz="1000" b="0">
                <a:latin typeface="Malgun Gothic"/>
              </a:defRPr>
            </a:pPr>
            <a:r>
              <a:t>3. 조직 재설계 방안</a:t>
            </a:r>
          </a:p>
        </p:txBody>
      </p:sp>
      <p:sp>
        <p:nvSpPr>
          <p:cNvPr id="33" name="TextBox 32"/>
          <p:cNvSpPr txBox="1"/>
          <p:nvPr/>
        </p:nvSpPr>
        <p:spPr>
          <a:xfrm>
            <a:off x="457200" y="10927080"/>
            <a:ext cx="8229600" cy="228600"/>
          </a:xfrm>
          <a:prstGeom prst="rect">
            <a:avLst/>
          </a:prstGeom>
          <a:noFill/>
        </p:spPr>
        <p:txBody>
          <a:bodyPr wrap="square">
            <a:spAutoFit/>
          </a:bodyPr>
          <a:lstStyle/>
          <a:p>
            <a:pPr algn="l">
              <a:defRPr sz="1000" b="0">
                <a:latin typeface="Malgun Gothic"/>
              </a:defRPr>
            </a:pPr>
            <a:r>
              <a:t>4. 중장기 자원·인력 운영계획</a:t>
            </a:r>
          </a:p>
        </p:txBody>
      </p:sp>
      <p:sp>
        <p:nvSpPr>
          <p:cNvPr id="34" name="TextBox 33"/>
          <p:cNvSpPr txBox="1"/>
          <p:nvPr/>
        </p:nvSpPr>
        <p:spPr>
          <a:xfrm>
            <a:off x="457200" y="11247120"/>
            <a:ext cx="8229600" cy="228600"/>
          </a:xfrm>
          <a:prstGeom prst="rect">
            <a:avLst/>
          </a:prstGeom>
          <a:noFill/>
        </p:spPr>
        <p:txBody>
          <a:bodyPr wrap="square">
            <a:spAutoFit/>
          </a:bodyPr>
          <a:lstStyle/>
          <a:p>
            <a:pPr algn="l">
              <a:defRPr sz="1000" b="0">
                <a:latin typeface="Malgun Gothic"/>
              </a:defRPr>
            </a:pPr>
            <a:r>
              <a:t>203</a:t>
            </a:r>
          </a:p>
        </p:txBody>
      </p:sp>
      <p:sp>
        <p:nvSpPr>
          <p:cNvPr id="35" name="TextBox 34"/>
          <p:cNvSpPr txBox="1"/>
          <p:nvPr/>
        </p:nvSpPr>
        <p:spPr>
          <a:xfrm>
            <a:off x="457200" y="11567160"/>
            <a:ext cx="8229600" cy="228600"/>
          </a:xfrm>
          <a:prstGeom prst="rect">
            <a:avLst/>
          </a:prstGeom>
          <a:noFill/>
        </p:spPr>
        <p:txBody>
          <a:bodyPr wrap="square">
            <a:spAutoFit/>
          </a:bodyPr>
          <a:lstStyle/>
          <a:p>
            <a:pPr algn="l">
              <a:defRPr sz="1000" b="0">
                <a:latin typeface="Malgun Gothic"/>
              </a:defRPr>
            </a:pPr>
            <a:r>
              <a:t>218</a:t>
            </a:r>
          </a:p>
        </p:txBody>
      </p:sp>
      <p:sp>
        <p:nvSpPr>
          <p:cNvPr id="36" name="TextBox 35"/>
          <p:cNvSpPr txBox="1"/>
          <p:nvPr/>
        </p:nvSpPr>
        <p:spPr>
          <a:xfrm>
            <a:off x="457200" y="11887200"/>
            <a:ext cx="8229600" cy="228600"/>
          </a:xfrm>
          <a:prstGeom prst="rect">
            <a:avLst/>
          </a:prstGeom>
          <a:noFill/>
        </p:spPr>
        <p:txBody>
          <a:bodyPr wrap="square">
            <a:spAutoFit/>
          </a:bodyPr>
          <a:lstStyle/>
          <a:p>
            <a:pPr algn="l">
              <a:defRPr sz="1000" b="0">
                <a:latin typeface="Malgun Gothic"/>
              </a:defRPr>
            </a:pPr>
            <a:r>
              <a:t>238</a:t>
            </a:r>
          </a:p>
        </p:txBody>
      </p:sp>
      <p:sp>
        <p:nvSpPr>
          <p:cNvPr id="37" name="TextBox 36"/>
          <p:cNvSpPr txBox="1"/>
          <p:nvPr/>
        </p:nvSpPr>
        <p:spPr>
          <a:xfrm>
            <a:off x="457200" y="12207240"/>
            <a:ext cx="8229600" cy="228600"/>
          </a:xfrm>
          <a:prstGeom prst="rect">
            <a:avLst/>
          </a:prstGeom>
          <a:noFill/>
        </p:spPr>
        <p:txBody>
          <a:bodyPr wrap="square">
            <a:spAutoFit/>
          </a:bodyPr>
          <a:lstStyle/>
          <a:p>
            <a:pPr algn="l">
              <a:defRPr sz="1000" b="0">
                <a:latin typeface="Malgun Gothic"/>
              </a:defRPr>
            </a:pPr>
            <a:r>
              <a:t>261</a:t>
            </a:r>
          </a:p>
        </p:txBody>
      </p:sp>
      <p:sp>
        <p:nvSpPr>
          <p:cNvPr id="38" name="TextBox 37"/>
          <p:cNvSpPr txBox="1"/>
          <p:nvPr/>
        </p:nvSpPr>
        <p:spPr>
          <a:xfrm>
            <a:off x="457200" y="12527280"/>
            <a:ext cx="8229600" cy="274320"/>
          </a:xfrm>
          <a:prstGeom prst="rect">
            <a:avLst/>
          </a:prstGeom>
          <a:noFill/>
        </p:spPr>
        <p:txBody>
          <a:bodyPr wrap="square">
            <a:spAutoFit/>
          </a:bodyPr>
          <a:lstStyle/>
          <a:p>
            <a:pPr algn="l">
              <a:defRPr sz="1200" b="1">
                <a:solidFill>
                  <a:srgbClr val="003366"/>
                </a:solidFill>
                <a:latin typeface="Malgun Gothic"/>
              </a:defRPr>
            </a:pPr>
            <a:r>
              <a:t>V. 미래성장사업 검토·발굴</a:t>
            </a:r>
          </a:p>
        </p:txBody>
      </p:sp>
      <p:sp>
        <p:nvSpPr>
          <p:cNvPr id="39" name="TextBox 38"/>
          <p:cNvSpPr txBox="1"/>
          <p:nvPr/>
        </p:nvSpPr>
        <p:spPr>
          <a:xfrm>
            <a:off x="457200" y="12893040"/>
            <a:ext cx="8229600" cy="228600"/>
          </a:xfrm>
          <a:prstGeom prst="rect">
            <a:avLst/>
          </a:prstGeom>
          <a:noFill/>
        </p:spPr>
        <p:txBody>
          <a:bodyPr wrap="square">
            <a:spAutoFit/>
          </a:bodyPr>
          <a:lstStyle/>
          <a:p>
            <a:pPr algn="l">
              <a:defRPr sz="1000" b="0">
                <a:latin typeface="Malgun Gothic"/>
              </a:defRPr>
            </a:pPr>
            <a:r>
              <a:t>1. 미래성장사업 기준 재정비</a:t>
            </a:r>
          </a:p>
        </p:txBody>
      </p:sp>
      <p:sp>
        <p:nvSpPr>
          <p:cNvPr id="40" name="TextBox 39"/>
          <p:cNvSpPr txBox="1"/>
          <p:nvPr/>
        </p:nvSpPr>
        <p:spPr>
          <a:xfrm>
            <a:off x="457200" y="13213080"/>
            <a:ext cx="8229600" cy="228600"/>
          </a:xfrm>
          <a:prstGeom prst="rect">
            <a:avLst/>
          </a:prstGeom>
          <a:noFill/>
        </p:spPr>
        <p:txBody>
          <a:bodyPr wrap="square">
            <a:spAutoFit/>
          </a:bodyPr>
          <a:lstStyle/>
          <a:p>
            <a:pPr algn="l">
              <a:defRPr sz="1000" b="0">
                <a:latin typeface="Malgun Gothic"/>
              </a:defRPr>
            </a:pPr>
            <a:r>
              <a:t>2. 미래성장사업 검토</a:t>
            </a:r>
          </a:p>
        </p:txBody>
      </p:sp>
      <p:sp>
        <p:nvSpPr>
          <p:cNvPr id="41" name="TextBox 40"/>
          <p:cNvSpPr txBox="1"/>
          <p:nvPr/>
        </p:nvSpPr>
        <p:spPr>
          <a:xfrm>
            <a:off x="457200" y="13533120"/>
            <a:ext cx="8229600" cy="228600"/>
          </a:xfrm>
          <a:prstGeom prst="rect">
            <a:avLst/>
          </a:prstGeom>
          <a:noFill/>
        </p:spPr>
        <p:txBody>
          <a:bodyPr wrap="square">
            <a:spAutoFit/>
          </a:bodyPr>
          <a:lstStyle/>
          <a:p>
            <a:pPr algn="l">
              <a:defRPr sz="1000" b="0">
                <a:latin typeface="Malgun Gothic"/>
              </a:defRPr>
            </a:pPr>
            <a:r>
              <a:t>3. 신규 미래성장사업 발굴</a:t>
            </a:r>
          </a:p>
        </p:txBody>
      </p:sp>
      <p:sp>
        <p:nvSpPr>
          <p:cNvPr id="42" name="TextBox 41"/>
          <p:cNvSpPr txBox="1"/>
          <p:nvPr/>
        </p:nvSpPr>
        <p:spPr>
          <a:xfrm>
            <a:off x="457200" y="13853160"/>
            <a:ext cx="8229600" cy="228600"/>
          </a:xfrm>
          <a:prstGeom prst="rect">
            <a:avLst/>
          </a:prstGeom>
          <a:noFill/>
        </p:spPr>
        <p:txBody>
          <a:bodyPr wrap="square">
            <a:spAutoFit/>
          </a:bodyPr>
          <a:lstStyle/>
          <a:p>
            <a:pPr algn="l">
              <a:defRPr sz="1000" b="0">
                <a:latin typeface="Malgun Gothic"/>
              </a:defRPr>
            </a:pPr>
            <a:r>
              <a:t>4. 미래성장사업 추진전략</a:t>
            </a:r>
          </a:p>
        </p:txBody>
      </p:sp>
      <p:sp>
        <p:nvSpPr>
          <p:cNvPr id="43" name="TextBox 42"/>
          <p:cNvSpPr txBox="1"/>
          <p:nvPr/>
        </p:nvSpPr>
        <p:spPr>
          <a:xfrm>
            <a:off x="457200" y="14173200"/>
            <a:ext cx="8229600" cy="228600"/>
          </a:xfrm>
          <a:prstGeom prst="rect">
            <a:avLst/>
          </a:prstGeom>
          <a:noFill/>
        </p:spPr>
        <p:txBody>
          <a:bodyPr wrap="square">
            <a:spAutoFit/>
          </a:bodyPr>
          <a:lstStyle/>
          <a:p>
            <a:pPr algn="l">
              <a:defRPr sz="1000" b="0">
                <a:latin typeface="Malgun Gothic"/>
              </a:defRPr>
            </a:pPr>
            <a:r>
              <a:t>274</a:t>
            </a:r>
          </a:p>
        </p:txBody>
      </p:sp>
      <p:sp>
        <p:nvSpPr>
          <p:cNvPr id="44" name="TextBox 43"/>
          <p:cNvSpPr txBox="1"/>
          <p:nvPr/>
        </p:nvSpPr>
        <p:spPr>
          <a:xfrm>
            <a:off x="457200" y="14493240"/>
            <a:ext cx="8229600" cy="228600"/>
          </a:xfrm>
          <a:prstGeom prst="rect">
            <a:avLst/>
          </a:prstGeom>
          <a:noFill/>
        </p:spPr>
        <p:txBody>
          <a:bodyPr wrap="square">
            <a:spAutoFit/>
          </a:bodyPr>
          <a:lstStyle/>
          <a:p>
            <a:pPr algn="l">
              <a:defRPr sz="1000" b="0">
                <a:latin typeface="Malgun Gothic"/>
              </a:defRPr>
            </a:pPr>
            <a:r>
              <a:t>283</a:t>
            </a:r>
          </a:p>
        </p:txBody>
      </p:sp>
      <p:sp>
        <p:nvSpPr>
          <p:cNvPr id="45" name="TextBox 44"/>
          <p:cNvSpPr txBox="1"/>
          <p:nvPr/>
        </p:nvSpPr>
        <p:spPr>
          <a:xfrm>
            <a:off x="457200" y="14813280"/>
            <a:ext cx="8229600" cy="228600"/>
          </a:xfrm>
          <a:prstGeom prst="rect">
            <a:avLst/>
          </a:prstGeom>
          <a:noFill/>
        </p:spPr>
        <p:txBody>
          <a:bodyPr wrap="square">
            <a:spAutoFit/>
          </a:bodyPr>
          <a:lstStyle/>
          <a:p>
            <a:pPr algn="l">
              <a:defRPr sz="1000" b="0">
                <a:latin typeface="Malgun Gothic"/>
              </a:defRPr>
            </a:pPr>
            <a:r>
              <a:t>300</a:t>
            </a:r>
          </a:p>
        </p:txBody>
      </p:sp>
      <p:sp>
        <p:nvSpPr>
          <p:cNvPr id="46" name="TextBox 45"/>
          <p:cNvSpPr txBox="1"/>
          <p:nvPr/>
        </p:nvSpPr>
        <p:spPr>
          <a:xfrm>
            <a:off x="457200" y="15133320"/>
            <a:ext cx="8229600" cy="228600"/>
          </a:xfrm>
          <a:prstGeom prst="rect">
            <a:avLst/>
          </a:prstGeom>
          <a:noFill/>
        </p:spPr>
        <p:txBody>
          <a:bodyPr wrap="square">
            <a:spAutoFit/>
          </a:bodyPr>
          <a:lstStyle/>
          <a:p>
            <a:pPr algn="l">
              <a:defRPr sz="1000" b="0">
                <a:latin typeface="Malgun Gothic"/>
              </a:defRPr>
            </a:pPr>
            <a:r>
              <a:t>306</a:t>
            </a:r>
          </a:p>
        </p:txBody>
      </p:sp>
      <p:sp>
        <p:nvSpPr>
          <p:cNvPr id="47" name="TextBox 46"/>
          <p:cNvSpPr txBox="1"/>
          <p:nvPr/>
        </p:nvSpPr>
        <p:spPr>
          <a:xfrm>
            <a:off x="457200" y="15453360"/>
            <a:ext cx="8229600" cy="274320"/>
          </a:xfrm>
          <a:prstGeom prst="rect">
            <a:avLst/>
          </a:prstGeom>
          <a:noFill/>
        </p:spPr>
        <p:txBody>
          <a:bodyPr wrap="square">
            <a:spAutoFit/>
          </a:bodyPr>
          <a:lstStyle/>
          <a:p>
            <a:pPr algn="l">
              <a:defRPr sz="1200" b="1">
                <a:solidFill>
                  <a:srgbClr val="003366"/>
                </a:solidFill>
                <a:latin typeface="Malgun Gothic"/>
              </a:defRPr>
            </a:pPr>
            <a:r>
              <a:t>VI. 추진체계 및 실행력 강화</a:t>
            </a:r>
          </a:p>
        </p:txBody>
      </p:sp>
      <p:sp>
        <p:nvSpPr>
          <p:cNvPr id="48" name="TextBox 47"/>
          <p:cNvSpPr txBox="1"/>
          <p:nvPr/>
        </p:nvSpPr>
        <p:spPr>
          <a:xfrm>
            <a:off x="457200" y="15819120"/>
            <a:ext cx="8229600" cy="228600"/>
          </a:xfrm>
          <a:prstGeom prst="rect">
            <a:avLst/>
          </a:prstGeom>
          <a:noFill/>
        </p:spPr>
        <p:txBody>
          <a:bodyPr wrap="square">
            <a:spAutoFit/>
          </a:bodyPr>
          <a:lstStyle/>
          <a:p>
            <a:pPr algn="l">
              <a:defRPr sz="1000" b="0">
                <a:latin typeface="Malgun Gothic"/>
              </a:defRPr>
            </a:pPr>
            <a:r>
              <a:t>1. 전략과제 추진 관리</a:t>
            </a:r>
          </a:p>
        </p:txBody>
      </p:sp>
      <p:sp>
        <p:nvSpPr>
          <p:cNvPr id="49" name="TextBox 48"/>
          <p:cNvSpPr txBox="1"/>
          <p:nvPr/>
        </p:nvSpPr>
        <p:spPr>
          <a:xfrm>
            <a:off x="457200" y="16139160"/>
            <a:ext cx="8229600" cy="228600"/>
          </a:xfrm>
          <a:prstGeom prst="rect">
            <a:avLst/>
          </a:prstGeom>
          <a:noFill/>
        </p:spPr>
        <p:txBody>
          <a:bodyPr wrap="square">
            <a:spAutoFit/>
          </a:bodyPr>
          <a:lstStyle/>
          <a:p>
            <a:pPr algn="l">
              <a:defRPr sz="1000" b="0">
                <a:latin typeface="Malgun Gothic"/>
              </a:defRPr>
            </a:pPr>
            <a:r>
              <a:t>2. 중장기 로드맵 수립</a:t>
            </a:r>
          </a:p>
        </p:txBody>
      </p:sp>
      <p:sp>
        <p:nvSpPr>
          <p:cNvPr id="50" name="TextBox 49"/>
          <p:cNvSpPr txBox="1"/>
          <p:nvPr/>
        </p:nvSpPr>
        <p:spPr>
          <a:xfrm>
            <a:off x="457200" y="16459200"/>
            <a:ext cx="8229600" cy="228600"/>
          </a:xfrm>
          <a:prstGeom prst="rect">
            <a:avLst/>
          </a:prstGeom>
          <a:noFill/>
        </p:spPr>
        <p:txBody>
          <a:bodyPr wrap="square">
            <a:spAutoFit/>
          </a:bodyPr>
          <a:lstStyle/>
          <a:p>
            <a:pPr algn="l">
              <a:defRPr sz="1000" b="0">
                <a:latin typeface="Malgun Gothic"/>
              </a:defRPr>
            </a:pPr>
            <a:r>
              <a:t>3. 전략 실행력 강화</a:t>
            </a:r>
          </a:p>
        </p:txBody>
      </p:sp>
      <p:sp>
        <p:nvSpPr>
          <p:cNvPr id="51" name="TextBox 50"/>
          <p:cNvSpPr txBox="1"/>
          <p:nvPr/>
        </p:nvSpPr>
        <p:spPr>
          <a:xfrm>
            <a:off x="457200" y="16779240"/>
            <a:ext cx="8229600" cy="228600"/>
          </a:xfrm>
          <a:prstGeom prst="rect">
            <a:avLst/>
          </a:prstGeom>
          <a:noFill/>
        </p:spPr>
        <p:txBody>
          <a:bodyPr wrap="square">
            <a:spAutoFit/>
          </a:bodyPr>
          <a:lstStyle/>
          <a:p>
            <a:pPr algn="l">
              <a:defRPr sz="1000" b="0">
                <a:latin typeface="Malgun Gothic"/>
              </a:defRPr>
            </a:pPr>
            <a:r>
              <a:t>313</a:t>
            </a:r>
          </a:p>
        </p:txBody>
      </p:sp>
      <p:sp>
        <p:nvSpPr>
          <p:cNvPr id="52" name="TextBox 51"/>
          <p:cNvSpPr txBox="1"/>
          <p:nvPr/>
        </p:nvSpPr>
        <p:spPr>
          <a:xfrm>
            <a:off x="457200" y="17099280"/>
            <a:ext cx="8229600" cy="228600"/>
          </a:xfrm>
          <a:prstGeom prst="rect">
            <a:avLst/>
          </a:prstGeom>
          <a:noFill/>
        </p:spPr>
        <p:txBody>
          <a:bodyPr wrap="square">
            <a:spAutoFit/>
          </a:bodyPr>
          <a:lstStyle/>
          <a:p>
            <a:pPr algn="l">
              <a:defRPr sz="1000" b="0">
                <a:latin typeface="Malgun Gothic"/>
              </a:defRPr>
            </a:pPr>
            <a:r>
              <a:t>323</a:t>
            </a:r>
          </a:p>
        </p:txBody>
      </p:sp>
      <p:sp>
        <p:nvSpPr>
          <p:cNvPr id="53" name="TextBox 52"/>
          <p:cNvSpPr txBox="1"/>
          <p:nvPr/>
        </p:nvSpPr>
        <p:spPr>
          <a:xfrm>
            <a:off x="457200" y="17419320"/>
            <a:ext cx="8229600" cy="228600"/>
          </a:xfrm>
          <a:prstGeom prst="rect">
            <a:avLst/>
          </a:prstGeom>
          <a:noFill/>
        </p:spPr>
        <p:txBody>
          <a:bodyPr wrap="square">
            <a:spAutoFit/>
          </a:bodyPr>
          <a:lstStyle/>
          <a:p>
            <a:pPr algn="l">
              <a:defRPr sz="1000" b="0">
                <a:latin typeface="Malgun Gothic"/>
              </a:defRPr>
            </a:pPr>
            <a:r>
              <a:t>330</a:t>
            </a:r>
          </a:p>
        </p:txBody>
      </p:sp>
      <p:sp>
        <p:nvSpPr>
          <p:cNvPr id="54" name="TextBox 53"/>
          <p:cNvSpPr txBox="1"/>
          <p:nvPr/>
        </p:nvSpPr>
        <p:spPr>
          <a:xfrm>
            <a:off x="457200" y="17739360"/>
            <a:ext cx="8229600" cy="274320"/>
          </a:xfrm>
          <a:prstGeom prst="rect">
            <a:avLst/>
          </a:prstGeom>
          <a:noFill/>
        </p:spPr>
        <p:txBody>
          <a:bodyPr wrap="square">
            <a:spAutoFit/>
          </a:bodyPr>
          <a:lstStyle/>
          <a:p>
            <a:pPr algn="l">
              <a:defRPr sz="1200" b="1">
                <a:solidFill>
                  <a:srgbClr val="003366"/>
                </a:solidFill>
                <a:latin typeface="Malgun Gothic"/>
              </a:defRPr>
            </a:pPr>
            <a:r>
              <a:t>[첨부] 세부실행과제</a:t>
            </a:r>
          </a:p>
        </p:txBody>
      </p:sp>
      <p:sp>
        <p:nvSpPr>
          <p:cNvPr id="55" name="TextBox 54"/>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None | Page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I. 프로젝트 개요</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Strategic Alignment and Optimization of Project Scope</a:t>
            </a:r>
          </a:p>
        </p:txBody>
      </p:sp>
      <p:sp>
        <p:nvSpPr>
          <p:cNvPr id="4" name="TextBox 3"/>
          <p:cNvSpPr txBox="1"/>
          <p:nvPr/>
        </p:nvSpPr>
        <p:spPr>
          <a:xfrm>
            <a:off x="457200" y="1463040"/>
            <a:ext cx="8229600" cy="228600"/>
          </a:xfrm>
          <a:prstGeom prst="rect">
            <a:avLst/>
          </a:prstGeom>
          <a:noFill/>
        </p:spPr>
        <p:txBody>
          <a:bodyPr wrap="square">
            <a:spAutoFit/>
          </a:bodyPr>
          <a:lstStyle/>
          <a:p>
            <a:pPr algn="l">
              <a:defRPr sz="1000" b="0">
                <a:latin typeface="Malgun Gothic"/>
              </a:defRPr>
            </a:pPr>
            <a:r>
              <a:t>1. 프로젝트 목적 및 범위</a:t>
            </a:r>
          </a:p>
        </p:txBody>
      </p:sp>
      <p:sp>
        <p:nvSpPr>
          <p:cNvPr id="5" name="TextBox 4"/>
          <p:cNvSpPr txBox="1"/>
          <p:nvPr/>
        </p:nvSpPr>
        <p:spPr>
          <a:xfrm>
            <a:off x="457200" y="1783080"/>
            <a:ext cx="8229600" cy="228600"/>
          </a:xfrm>
          <a:prstGeom prst="rect">
            <a:avLst/>
          </a:prstGeom>
          <a:noFill/>
        </p:spPr>
        <p:txBody>
          <a:bodyPr wrap="square">
            <a:spAutoFit/>
          </a:bodyPr>
          <a:lstStyle/>
          <a:p>
            <a:pPr algn="l">
              <a:defRPr sz="1000" b="0">
                <a:latin typeface="Malgun Gothic"/>
              </a:defRPr>
            </a:pPr>
            <a:r>
              <a:t>2. 주요 과업 및 업무수행 내역</a:t>
            </a:r>
          </a:p>
        </p:txBody>
      </p:sp>
      <p:sp>
        <p:nvSpPr>
          <p:cNvPr id="6" name="TextBox 5"/>
          <p:cNvSpPr txBox="1"/>
          <p:nvPr/>
        </p:nvSpPr>
        <p:spPr>
          <a:xfrm>
            <a:off x="457200" y="2103120"/>
            <a:ext cx="8229600" cy="228600"/>
          </a:xfrm>
          <a:prstGeom prst="rect">
            <a:avLst/>
          </a:prstGeom>
          <a:noFill/>
        </p:spPr>
        <p:txBody>
          <a:bodyPr wrap="square">
            <a:spAutoFit/>
          </a:bodyPr>
          <a:lstStyle/>
          <a:p>
            <a:pPr algn="l">
              <a:defRPr sz="1000" b="0">
                <a:latin typeface="Malgun Gothic"/>
              </a:defRPr>
            </a:pPr>
            <a:r>
              <a:t>3. 프로젝트 진행 일정</a:t>
            </a:r>
          </a:p>
        </p:txBody>
      </p:sp>
      <p:sp>
        <p:nvSpPr>
          <p:cNvPr id="7" name="TextBox 6"/>
          <p:cNvSpPr txBox="1"/>
          <p:nvPr/>
        </p:nvSpPr>
        <p:spPr>
          <a:xfrm>
            <a:off x="457200" y="2423160"/>
            <a:ext cx="8229600" cy="228600"/>
          </a:xfrm>
          <a:prstGeom prst="rect">
            <a:avLst/>
          </a:prstGeom>
          <a:noFill/>
        </p:spPr>
        <p:txBody>
          <a:bodyPr wrap="square">
            <a:spAutoFit/>
          </a:bodyPr>
          <a:lstStyle/>
          <a:p>
            <a:pPr algn="l">
              <a:defRPr sz="1000" b="0">
                <a:latin typeface="Malgun Gothic"/>
              </a:defRPr>
            </a:pPr>
            <a:r>
              <a:t>Ⅱ. 내·외부 환경분석</a:t>
            </a:r>
          </a:p>
        </p:txBody>
      </p:sp>
      <p:sp>
        <p:nvSpPr>
          <p:cNvPr id="8" name="TextBox 7"/>
          <p:cNvSpPr txBox="1"/>
          <p:nvPr/>
        </p:nvSpPr>
        <p:spPr>
          <a:xfrm>
            <a:off x="457200" y="2743200"/>
            <a:ext cx="8229600" cy="228600"/>
          </a:xfrm>
          <a:prstGeom prst="rect">
            <a:avLst/>
          </a:prstGeom>
          <a:noFill/>
        </p:spPr>
        <p:txBody>
          <a:bodyPr wrap="square">
            <a:spAutoFit/>
          </a:bodyPr>
          <a:lstStyle/>
          <a:p>
            <a:pPr algn="l">
              <a:defRPr sz="1000" b="0">
                <a:latin typeface="Malgun Gothic"/>
              </a:defRPr>
            </a:pPr>
            <a:r>
              <a:t>Ⅲ. 가치체계·전략체계 재정립</a:t>
            </a:r>
          </a:p>
        </p:txBody>
      </p:sp>
      <p:sp>
        <p:nvSpPr>
          <p:cNvPr id="9" name="TextBox 8"/>
          <p:cNvSpPr txBox="1"/>
          <p:nvPr/>
        </p:nvSpPr>
        <p:spPr>
          <a:xfrm>
            <a:off x="457200" y="3063240"/>
            <a:ext cx="8229600" cy="228600"/>
          </a:xfrm>
          <a:prstGeom prst="rect">
            <a:avLst/>
          </a:prstGeom>
          <a:noFill/>
        </p:spPr>
        <p:txBody>
          <a:bodyPr wrap="square">
            <a:spAutoFit/>
          </a:bodyPr>
          <a:lstStyle/>
          <a:p>
            <a:pPr algn="l">
              <a:defRPr sz="1000" b="0">
                <a:latin typeface="Malgun Gothic"/>
              </a:defRPr>
            </a:pPr>
            <a:r>
              <a:t>IV. 조직·인력운영 방안</a:t>
            </a:r>
          </a:p>
        </p:txBody>
      </p:sp>
      <p:sp>
        <p:nvSpPr>
          <p:cNvPr id="10" name="TextBox 9"/>
          <p:cNvSpPr txBox="1"/>
          <p:nvPr/>
        </p:nvSpPr>
        <p:spPr>
          <a:xfrm>
            <a:off x="457200" y="3383280"/>
            <a:ext cx="8229600" cy="228600"/>
          </a:xfrm>
          <a:prstGeom prst="rect">
            <a:avLst/>
          </a:prstGeom>
          <a:noFill/>
        </p:spPr>
        <p:txBody>
          <a:bodyPr wrap="square">
            <a:spAutoFit/>
          </a:bodyPr>
          <a:lstStyle/>
          <a:p>
            <a:pPr algn="l">
              <a:defRPr sz="1000" b="0">
                <a:latin typeface="Malgun Gothic"/>
              </a:defRPr>
            </a:pPr>
            <a:r>
              <a:t>V. 미래성장사업 검토·발굴</a:t>
            </a:r>
          </a:p>
        </p:txBody>
      </p:sp>
      <p:sp>
        <p:nvSpPr>
          <p:cNvPr id="11" name="TextBox 10"/>
          <p:cNvSpPr txBox="1"/>
          <p:nvPr/>
        </p:nvSpPr>
        <p:spPr>
          <a:xfrm>
            <a:off x="457200" y="3703320"/>
            <a:ext cx="8229600" cy="228600"/>
          </a:xfrm>
          <a:prstGeom prst="rect">
            <a:avLst/>
          </a:prstGeom>
          <a:noFill/>
        </p:spPr>
        <p:txBody>
          <a:bodyPr wrap="square">
            <a:spAutoFit/>
          </a:bodyPr>
          <a:lstStyle/>
          <a:p>
            <a:pPr algn="l">
              <a:defRPr sz="1000" b="0">
                <a:latin typeface="Malgun Gothic"/>
              </a:defRPr>
            </a:pPr>
            <a:r>
              <a:t>VI. 추진체계 및 실행력 강화</a:t>
            </a:r>
          </a:p>
        </p:txBody>
      </p:sp>
      <p:sp>
        <p:nvSpPr>
          <p:cNvPr id="12" name="TextBox 11"/>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 | Page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프로젝트 목적 및 범위</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환경과 정책의 급격한 변화에 대응하여 해양환경공단(이하 '공단'이라 한다)의 지속가능 성장을 위한 중장기 전략경영 계획 및 이에 따른 자원배분 계획을 수립하는 것을 본 프로젝트의 목적으로 함</a:t>
            </a:r>
          </a:p>
        </p:txBody>
      </p:sp>
      <p:sp>
        <p:nvSpPr>
          <p:cNvPr id="4" name="Rectangle 3"/>
          <p:cNvSpPr/>
          <p:nvPr/>
        </p:nvSpPr>
        <p:spPr>
          <a:xfrm>
            <a:off x="45720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5" name="TextBox 4"/>
          <p:cNvSpPr txBox="1"/>
          <p:nvPr/>
        </p:nvSpPr>
        <p:spPr>
          <a:xfrm>
            <a:off x="54864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6" name="Rectangle 5"/>
          <p:cNvSpPr/>
          <p:nvPr/>
        </p:nvSpPr>
        <p:spPr>
          <a:xfrm>
            <a:off x="323088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7" name="TextBox 6"/>
          <p:cNvSpPr txBox="1"/>
          <p:nvPr/>
        </p:nvSpPr>
        <p:spPr>
          <a:xfrm>
            <a:off x="332232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8" name="Rectangle 7"/>
          <p:cNvSpPr/>
          <p:nvPr/>
        </p:nvSpPr>
        <p:spPr>
          <a:xfrm>
            <a:off x="600456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9" name="TextBox 8"/>
          <p:cNvSpPr txBox="1"/>
          <p:nvPr/>
        </p:nvSpPr>
        <p:spPr>
          <a:xfrm>
            <a:off x="609600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0" name="TextBox 9"/>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프로젝트 범위</a:t>
            </a:r>
          </a:p>
        </p:txBody>
      </p:sp>
      <p:sp>
        <p:nvSpPr>
          <p:cNvPr id="11" name="TextBox 10"/>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외부 경영환경 및</a:t>
            </a:r>
            <a:br/>
            <a:r>
              <a:t>내부 역량분석</a:t>
            </a:r>
          </a:p>
        </p:txBody>
      </p:sp>
      <p:sp>
        <p:nvSpPr>
          <p:cNvPr id="12" name="TextBox 11"/>
          <p:cNvSpPr txBox="1"/>
          <p:nvPr/>
        </p:nvSpPr>
        <p:spPr>
          <a:xfrm>
            <a:off x="457200" y="2148840"/>
            <a:ext cx="8229600" cy="1143000"/>
          </a:xfrm>
          <a:prstGeom prst="rect">
            <a:avLst/>
          </a:prstGeom>
          <a:noFill/>
        </p:spPr>
        <p:txBody>
          <a:bodyPr wrap="square">
            <a:spAutoFit/>
          </a:bodyPr>
          <a:lstStyle/>
          <a:p>
            <a:pPr algn="l">
              <a:defRPr sz="1000" b="0">
                <a:latin typeface="Malgun Gothic"/>
              </a:defRPr>
            </a:pPr>
            <a:r>
              <a:t>외부환경 분석</a:t>
            </a:r>
            <a:br/>
            <a:r>
              <a:t>• 정부 신규 정책방향 및 경제,</a:t>
            </a:r>
            <a:br/>
            <a:r>
              <a:t>사회, 기술 등 거시환경 분석</a:t>
            </a:r>
            <a:br/>
            <a:r>
              <a:t>• 국내외 해양환경분야 변화</a:t>
            </a:r>
            <a:br/>
            <a:r>
              <a:t>트렌드 등 산업생태계 분석</a:t>
            </a:r>
            <a:br/>
            <a:r>
              <a:t>내부역량 분석</a:t>
            </a:r>
            <a:br/>
            <a:r>
              <a:t>경영전략 및 핵심역량 등 내부</a:t>
            </a:r>
            <a:br/>
            <a:r>
              <a:t>경영환경 분석</a:t>
            </a:r>
            <a:br/>
            <a:r>
              <a:t>·경영인프라(재무, 조직,</a:t>
            </a:r>
            <a:br/>
            <a:r>
              <a:t>인력운영, 조직문화 등) 분석</a:t>
            </a:r>
            <a:br/>
            <a:r>
              <a:t>이해관계자 및 경쟁자 분석</a:t>
            </a:r>
            <a:br/>
            <a:r>
              <a:t>• 이해관계자별(고객, 국민, 정부,</a:t>
            </a:r>
            <a:br/>
            <a:r>
              <a:t>유관기관, 내부직원 등) 정의,</a:t>
            </a:r>
            <a:br/>
            <a:r>
              <a:t>요구사항 및 이슈 분석,</a:t>
            </a:r>
            <a:br/>
            <a:r>
              <a:t>대응전략 도출</a:t>
            </a:r>
            <a:br/>
            <a:r>
              <a:t>• 경쟁자 분석, 국내외 선진기관</a:t>
            </a:r>
            <a:br/>
            <a:r>
              <a:t>벤치마킹 및 시사점 도출</a:t>
            </a:r>
          </a:p>
        </p:txBody>
      </p:sp>
      <p:sp>
        <p:nvSpPr>
          <p:cNvPr id="13" name="TextBox 12"/>
          <p:cNvSpPr txBox="1"/>
          <p:nvPr/>
        </p:nvSpPr>
        <p:spPr>
          <a:xfrm>
            <a:off x="457200" y="3383280"/>
            <a:ext cx="8229600" cy="228600"/>
          </a:xfrm>
          <a:prstGeom prst="rect">
            <a:avLst/>
          </a:prstGeom>
          <a:noFill/>
        </p:spPr>
        <p:txBody>
          <a:bodyPr wrap="square">
            <a:spAutoFit/>
          </a:bodyPr>
          <a:lstStyle/>
          <a:p>
            <a:pPr algn="l">
              <a:defRPr sz="1000" b="0">
                <a:latin typeface="Malgun Gothic"/>
              </a:defRPr>
            </a:pPr>
            <a:r>
              <a:t>전략부문 분석 및 제안</a:t>
            </a:r>
          </a:p>
        </p:txBody>
      </p:sp>
      <p:sp>
        <p:nvSpPr>
          <p:cNvPr id="14" name="TextBox 13"/>
          <p:cNvSpPr txBox="1"/>
          <p:nvPr/>
        </p:nvSpPr>
        <p:spPr>
          <a:xfrm>
            <a:off x="457200" y="3703320"/>
            <a:ext cx="8229600" cy="1371600"/>
          </a:xfrm>
          <a:prstGeom prst="rect">
            <a:avLst/>
          </a:prstGeom>
          <a:noFill/>
        </p:spPr>
        <p:txBody>
          <a:bodyPr wrap="square">
            <a:spAutoFit/>
          </a:bodyPr>
          <a:lstStyle/>
          <a:p>
            <a:pPr algn="l">
              <a:defRPr sz="1000" b="0">
                <a:latin typeface="Malgun Gothic"/>
              </a:defRPr>
            </a:pPr>
            <a:r>
              <a:t>현 전략체계 분석 및 진단</a:t>
            </a:r>
            <a:br/>
            <a:r>
              <a:t>• 현 가치체계(미션, 비전, 핵심가치,</a:t>
            </a:r>
            <a:br/>
            <a:r>
              <a:t>경영방침) 적정성 검증</a:t>
            </a:r>
            <a:br/>
            <a:r>
              <a:t>• 중장기 경영목표, 전략목표,</a:t>
            </a:r>
            <a:br/>
            <a:r>
              <a:t>전략과제, 실행과제 재설정</a:t>
            </a:r>
            <a:br/>
            <a:r>
              <a:t>중장기(5개년) 경영목표 재수립</a:t>
            </a:r>
            <a:br/>
            <a:r>
              <a:t>전략체계 개선 결과 등을 반영,</a:t>
            </a:r>
            <a:br/>
            <a:r>
              <a:t>중장기 경영목표 분석</a:t>
            </a:r>
            <a:br/>
            <a:r>
              <a:t>• 전략과제 재정립 및 과제별</a:t>
            </a:r>
            <a:br/>
            <a:r>
              <a:t>성과지표(KPI) 도출</a:t>
            </a:r>
            <a:br/>
            <a:r>
              <a:t>전략과제별 성과지표,</a:t>
            </a:r>
            <a:br/>
            <a:r>
              <a:t>경영평가지표, 부서평가지표</a:t>
            </a:r>
            <a:br/>
            <a:r>
              <a:t>간 연계체계 마련</a:t>
            </a:r>
            <a:br/>
            <a:r>
              <a:t>전략실행 모니터링 체계</a:t>
            </a:r>
            <a:br/>
            <a:r>
              <a:t>및 전략실행 체계 구축</a:t>
            </a:r>
            <a:br/>
            <a:r>
              <a:t>장애요인 극복방안,</a:t>
            </a:r>
            <a:br/>
            <a:r>
              <a:t>사업·기능조정, 성과관리</a:t>
            </a:r>
            <a:br/>
            <a:r>
              <a:t>연계방안 등</a:t>
            </a:r>
          </a:p>
        </p:txBody>
      </p:sp>
      <p:sp>
        <p:nvSpPr>
          <p:cNvPr id="15" name="TextBox 14"/>
          <p:cNvSpPr txBox="1"/>
          <p:nvPr/>
        </p:nvSpPr>
        <p:spPr>
          <a:xfrm>
            <a:off x="457200" y="5166360"/>
            <a:ext cx="8229600" cy="228600"/>
          </a:xfrm>
          <a:prstGeom prst="rect">
            <a:avLst/>
          </a:prstGeom>
          <a:noFill/>
        </p:spPr>
        <p:txBody>
          <a:bodyPr wrap="square">
            <a:spAutoFit/>
          </a:bodyPr>
          <a:lstStyle/>
          <a:p>
            <a:pPr algn="l">
              <a:defRPr sz="1000" b="0">
                <a:latin typeface="Malgun Gothic"/>
              </a:defRPr>
            </a:pPr>
            <a:r>
              <a:t>조직재설계 및 중장기</a:t>
            </a:r>
            <a:br/>
            <a:r>
              <a:t>자원배분 계획 도출</a:t>
            </a:r>
          </a:p>
        </p:txBody>
      </p:sp>
      <p:sp>
        <p:nvSpPr>
          <p:cNvPr id="16" name="TextBox 15"/>
          <p:cNvSpPr txBox="1"/>
          <p:nvPr/>
        </p:nvSpPr>
        <p:spPr>
          <a:xfrm>
            <a:off x="457200" y="5486400"/>
            <a:ext cx="8229600" cy="1143000"/>
          </a:xfrm>
          <a:prstGeom prst="rect">
            <a:avLst/>
          </a:prstGeom>
          <a:noFill/>
        </p:spPr>
        <p:txBody>
          <a:bodyPr wrap="square">
            <a:spAutoFit/>
          </a:bodyPr>
          <a:lstStyle/>
          <a:p>
            <a:pPr algn="l">
              <a:defRPr sz="1000" b="0">
                <a:latin typeface="Malgun Gothic"/>
              </a:defRPr>
            </a:pPr>
            <a:r>
              <a:t>조직진단 및 조직재설계</a:t>
            </a:r>
            <a:br/>
            <a:r>
              <a:t>• 현행 조직체계 진단을 통한</a:t>
            </a:r>
            <a:br/>
            <a:r>
              <a:t>조직체계 개선이슈 도출</a:t>
            </a:r>
            <a:br/>
            <a:r>
              <a:t>• 중장기 전략경영계획과 연계한</a:t>
            </a:r>
            <a:br/>
            <a:r>
              <a:t>조직재설계 방안 수립</a:t>
            </a:r>
            <a:br/>
            <a:r>
              <a:t>중장기 추정재무제표 도출</a:t>
            </a:r>
            <a:br/>
            <a:r>
              <a:t>미래전략방향 및 사업변화를</a:t>
            </a:r>
            <a:br/>
            <a:r>
              <a:t>고려한 시나리오별(낙관, 중립,</a:t>
            </a:r>
            <a:br/>
            <a:r>
              <a:t>비관) 추정재무제표 도출</a:t>
            </a:r>
            <a:br/>
            <a:r>
              <a:t>기능별 조정방안 도출</a:t>
            </a:r>
            <a:br/>
            <a:r>
              <a:t>핵심업무 우선순위 도출</a:t>
            </a:r>
            <a:br/>
            <a:r>
              <a:t>(인터뷰 등) 및 기능별</a:t>
            </a:r>
            <a:br/>
            <a:r>
              <a:t>조정방안 도출</a:t>
            </a:r>
            <a:br/>
            <a:r>
              <a:t>중장기 인력운영계획 수립</a:t>
            </a:r>
            <a:br/>
            <a:r>
              <a:t>사업별 인력변동 요인 파악 및</a:t>
            </a:r>
            <a:br/>
            <a:r>
              <a:t>중장기 인력 운영계획 수립</a:t>
            </a:r>
          </a:p>
        </p:txBody>
      </p:sp>
      <p:sp>
        <p:nvSpPr>
          <p:cNvPr id="17" name="TextBox 16"/>
          <p:cNvSpPr txBox="1"/>
          <p:nvPr/>
        </p:nvSpPr>
        <p:spPr>
          <a:xfrm>
            <a:off x="457200" y="6720840"/>
            <a:ext cx="8229600" cy="228600"/>
          </a:xfrm>
          <a:prstGeom prst="rect">
            <a:avLst/>
          </a:prstGeom>
          <a:noFill/>
        </p:spPr>
        <p:txBody>
          <a:bodyPr wrap="square">
            <a:spAutoFit/>
          </a:bodyPr>
          <a:lstStyle/>
          <a:p>
            <a:pPr algn="l">
              <a:defRPr sz="1000" b="0">
                <a:latin typeface="Malgun Gothic"/>
              </a:defRPr>
            </a:pPr>
            <a:r>
              <a:t>미래사업 발굴</a:t>
            </a:r>
            <a:br/>
            <a:r>
              <a:t>및 추진체계 수립</a:t>
            </a:r>
          </a:p>
        </p:txBody>
      </p:sp>
      <p:sp>
        <p:nvSpPr>
          <p:cNvPr id="18" name="TextBox 17"/>
          <p:cNvSpPr txBox="1"/>
          <p:nvPr/>
        </p:nvSpPr>
        <p:spPr>
          <a:xfrm>
            <a:off x="457200" y="7040880"/>
            <a:ext cx="8229600" cy="914400"/>
          </a:xfrm>
          <a:prstGeom prst="rect">
            <a:avLst/>
          </a:prstGeom>
          <a:noFill/>
        </p:spPr>
        <p:txBody>
          <a:bodyPr wrap="square">
            <a:spAutoFit/>
          </a:bodyPr>
          <a:lstStyle/>
          <a:p>
            <a:pPr algn="l">
              <a:defRPr sz="1000" b="0">
                <a:latin typeface="Malgun Gothic"/>
              </a:defRPr>
            </a:pPr>
            <a:r>
              <a:t>미래성장사업 발굴</a:t>
            </a:r>
            <a:br/>
            <a:r>
              <a:t>및 추진전략 수립</a:t>
            </a:r>
            <a:br/>
            <a:r>
              <a:t>• 기존 미래성장사업 문제점 및</a:t>
            </a:r>
            <a:br/>
            <a:r>
              <a:t>타당성 검토</a:t>
            </a:r>
            <a:br/>
            <a:r>
              <a:t>• 실행력 강화를 위한 중장기</a:t>
            </a:r>
            <a:br/>
            <a:r>
              <a:t>자원 배분 방안</a:t>
            </a:r>
            <a:br/>
            <a:r>
              <a:t>·정책과 산업 트렌드 분석을</a:t>
            </a:r>
            <a:br/>
            <a:r>
              <a:t>통한 신규 사업모델 제시 및</a:t>
            </a:r>
            <a:br/>
            <a:r>
              <a:t>투자계획 설계</a:t>
            </a:r>
            <a:br/>
            <a:r>
              <a:t>• 기존 추진 사업과 신규 검토</a:t>
            </a:r>
            <a:br/>
            <a:r>
              <a:t>사업을 통합한 추진 우선순위</a:t>
            </a:r>
            <a:br/>
            <a:r>
              <a:t>및 중장기 추진 로드맵 도출</a:t>
            </a:r>
          </a:p>
        </p:txBody>
      </p:sp>
      <p:sp>
        <p:nvSpPr>
          <p:cNvPr id="19" name="TextBox 18"/>
          <p:cNvSpPr txBox="1"/>
          <p:nvPr/>
        </p:nvSpPr>
        <p:spPr>
          <a:xfrm>
            <a:off x="457200" y="8046720"/>
            <a:ext cx="8229600" cy="228600"/>
          </a:xfrm>
          <a:prstGeom prst="rect">
            <a:avLst/>
          </a:prstGeom>
          <a:noFill/>
        </p:spPr>
        <p:txBody>
          <a:bodyPr wrap="square">
            <a:spAutoFit/>
          </a:bodyPr>
          <a:lstStyle/>
          <a:p>
            <a:pPr algn="l">
              <a:defRPr sz="1000" b="0">
                <a:latin typeface="Malgun Gothic"/>
              </a:defRPr>
            </a:pPr>
            <a:r>
              <a:t>기타사항</a:t>
            </a:r>
          </a:p>
        </p:txBody>
      </p:sp>
      <p:sp>
        <p:nvSpPr>
          <p:cNvPr id="20" name="TextBox 19"/>
          <p:cNvSpPr txBox="1"/>
          <p:nvPr/>
        </p:nvSpPr>
        <p:spPr>
          <a:xfrm>
            <a:off x="457200" y="8366760"/>
            <a:ext cx="8229600" cy="457200"/>
          </a:xfrm>
          <a:prstGeom prst="rect">
            <a:avLst/>
          </a:prstGeom>
          <a:noFill/>
        </p:spPr>
        <p:txBody>
          <a:bodyPr wrap="square">
            <a:spAutoFit/>
          </a:bodyPr>
          <a:lstStyle/>
          <a:p>
            <a:pPr algn="l">
              <a:defRPr sz="1000" b="0">
                <a:latin typeface="Malgun Gothic"/>
              </a:defRPr>
            </a:pPr>
            <a:r>
              <a:t>현안 및 미래과제</a:t>
            </a:r>
            <a:br/>
            <a:r>
              <a:t>설정 추진체계 확립</a:t>
            </a:r>
            <a:br/>
            <a:r>
              <a:t>• 경영전략 기반 기관의</a:t>
            </a:r>
            <a:br/>
            <a:r>
              <a:t>현안과제, 미래과제 발굴·점검</a:t>
            </a:r>
            <a:br/>
            <a:r>
              <a:t>프로세스 구축</a:t>
            </a:r>
            <a:br/>
            <a:r>
              <a:t>• 추진체계 확립 및 해결</a:t>
            </a:r>
            <a:br/>
            <a:r>
              <a:t>프로세스 정립</a:t>
            </a:r>
          </a:p>
        </p:txBody>
      </p:sp>
      <p:sp>
        <p:nvSpPr>
          <p:cNvPr id="21" name="TextBox 20"/>
          <p:cNvSpPr txBox="1"/>
          <p:nvPr/>
        </p:nvSpPr>
        <p:spPr>
          <a:xfrm>
            <a:off x="457200" y="8915400"/>
            <a:ext cx="8229600" cy="1143000"/>
          </a:xfrm>
          <a:prstGeom prst="rect">
            <a:avLst/>
          </a:prstGeom>
          <a:noFill/>
        </p:spPr>
        <p:txBody>
          <a:bodyPr wrap="square">
            <a:spAutoFit/>
          </a:bodyPr>
          <a:lstStyle/>
          <a:p>
            <a:pPr algn="l">
              <a:defRPr sz="1000" b="0">
                <a:latin typeface="Malgun Gothic"/>
              </a:defRPr>
            </a:pPr>
            <a:r>
              <a:t>전략체계 내재화·실행력</a:t>
            </a:r>
            <a:br/>
            <a:r>
              <a:t>강화 방안 마련</a:t>
            </a:r>
            <a:br/>
            <a:r>
              <a:t>전략 및 가치체계 공유·확산 및</a:t>
            </a:r>
            <a:br/>
            <a:r>
              <a:t>실행력 강화를 위한 CEO역할</a:t>
            </a:r>
            <a:br/>
            <a:r>
              <a:t>강화 방안</a:t>
            </a:r>
            <a:br/>
            <a:r>
              <a:t>• 과업결과 품질 제고를 위한</a:t>
            </a:r>
            <a:br/>
            <a:r>
              <a:t>전문가 자문 실시</a:t>
            </a:r>
            <a:br/>
            <a:r>
              <a:t>설명회 자료 및</a:t>
            </a:r>
            <a:br/>
            <a:r>
              <a:t>롤링 매뉴얼 제작</a:t>
            </a:r>
            <a:br/>
            <a:r>
              <a:t>·본사 및 소속기관 설명회 자료</a:t>
            </a:r>
            <a:br/>
            <a:r>
              <a:t>제작 및 설명회 지원</a:t>
            </a:r>
            <a:br/>
            <a:r>
              <a:t>• 중장기 전략 수립 및 롤링</a:t>
            </a:r>
            <a:br/>
            <a:r>
              <a:t>매뉴얼 작성</a:t>
            </a:r>
            <a:br/>
            <a:r>
              <a:t>·기재부 경영평가에 대비하여</a:t>
            </a:r>
            <a:br/>
            <a:r>
              <a:t>전략체계 대응논리 교육</a:t>
            </a:r>
            <a:br/>
            <a:r>
              <a:t>(정부정책, 공단여건 등</a:t>
            </a:r>
            <a:br/>
            <a:r>
              <a:t>사업환경 변화에 따라</a:t>
            </a:r>
            <a:br/>
            <a:r>
              <a:t>상호협의 후 일부 세부과제</a:t>
            </a:r>
            <a:br/>
            <a:r>
              <a:t>추가, 변경 가능)</a:t>
            </a:r>
          </a:p>
        </p:txBody>
      </p:sp>
      <p:sp>
        <p:nvSpPr>
          <p:cNvPr id="22" name="TextBox 21"/>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None | Page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주요 과업 추진 내역</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프로젝트 진행과 관련하여 아래와 같이 주요 과업을 수행함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프로젝트 주요 과업 추진 경과</a:t>
            </a:r>
          </a:p>
        </p:txBody>
      </p:sp>
      <p:sp>
        <p:nvSpPr>
          <p:cNvPr id="5" name="TextBox 4"/>
          <p:cNvSpPr txBox="1"/>
          <p:nvPr/>
        </p:nvSpPr>
        <p:spPr>
          <a:xfrm>
            <a:off x="457200" y="1828800"/>
            <a:ext cx="4023360" cy="228600"/>
          </a:xfrm>
          <a:prstGeom prst="rect">
            <a:avLst/>
          </a:prstGeom>
          <a:noFill/>
        </p:spPr>
        <p:txBody>
          <a:bodyPr wrap="square">
            <a:spAutoFit/>
          </a:bodyPr>
          <a:lstStyle/>
          <a:p>
            <a:pPr algn="l">
              <a:defRPr sz="1000" b="0">
                <a:latin typeface="Malgun Gothic"/>
              </a:defRPr>
            </a:pPr>
            <a:r>
              <a:t>STEP 1</a:t>
            </a:r>
          </a:p>
        </p:txBody>
      </p:sp>
      <p:sp>
        <p:nvSpPr>
          <p:cNvPr id="6" name="TextBox 5"/>
          <p:cNvSpPr txBox="1"/>
          <p:nvPr/>
        </p:nvSpPr>
        <p:spPr>
          <a:xfrm>
            <a:off x="457200" y="2148840"/>
            <a:ext cx="4023360" cy="228600"/>
          </a:xfrm>
          <a:prstGeom prst="rect">
            <a:avLst/>
          </a:prstGeom>
          <a:noFill/>
        </p:spPr>
        <p:txBody>
          <a:bodyPr wrap="square">
            <a:spAutoFit/>
          </a:bodyPr>
          <a:lstStyle/>
          <a:p>
            <a:pPr algn="l">
              <a:defRPr sz="1000" b="0">
                <a:latin typeface="Malgun Gothic"/>
              </a:defRPr>
            </a:pPr>
            <a:r>
              <a:t>03/02</a:t>
            </a:r>
          </a:p>
        </p:txBody>
      </p:sp>
      <p:sp>
        <p:nvSpPr>
          <p:cNvPr id="7" name="TextBox 6"/>
          <p:cNvSpPr txBox="1"/>
          <p:nvPr/>
        </p:nvSpPr>
        <p:spPr>
          <a:xfrm>
            <a:off x="457200" y="2468880"/>
            <a:ext cx="4023360" cy="228600"/>
          </a:xfrm>
          <a:prstGeom prst="rect">
            <a:avLst/>
          </a:prstGeom>
          <a:noFill/>
        </p:spPr>
        <p:txBody>
          <a:bodyPr wrap="square">
            <a:spAutoFit/>
          </a:bodyPr>
          <a:lstStyle/>
          <a:p>
            <a:pPr algn="l">
              <a:defRPr sz="1000" b="0">
                <a:latin typeface="Malgun Gothic"/>
              </a:defRPr>
            </a:pPr>
            <a:r>
              <a:t>과업착수</a:t>
            </a:r>
          </a:p>
        </p:txBody>
      </p:sp>
      <p:sp>
        <p:nvSpPr>
          <p:cNvPr id="8" name="TextBox 7"/>
          <p:cNvSpPr txBox="1"/>
          <p:nvPr/>
        </p:nvSpPr>
        <p:spPr>
          <a:xfrm>
            <a:off x="457200" y="2788920"/>
            <a:ext cx="4023360" cy="228600"/>
          </a:xfrm>
          <a:prstGeom prst="rect">
            <a:avLst/>
          </a:prstGeom>
          <a:noFill/>
        </p:spPr>
        <p:txBody>
          <a:bodyPr wrap="square">
            <a:spAutoFit/>
          </a:bodyPr>
          <a:lstStyle/>
          <a:p>
            <a:pPr algn="l">
              <a:defRPr sz="1000" b="0">
                <a:latin typeface="Malgun Gothic"/>
              </a:defRPr>
            </a:pPr>
            <a:r>
              <a:t>착수보고회 (3/8)</a:t>
            </a:r>
          </a:p>
        </p:txBody>
      </p:sp>
      <p:sp>
        <p:nvSpPr>
          <p:cNvPr id="9" name="TextBox 8"/>
          <p:cNvSpPr txBox="1"/>
          <p:nvPr/>
        </p:nvSpPr>
        <p:spPr>
          <a:xfrm>
            <a:off x="457200" y="3108960"/>
            <a:ext cx="4023360" cy="228600"/>
          </a:xfrm>
          <a:prstGeom prst="rect">
            <a:avLst/>
          </a:prstGeom>
          <a:noFill/>
        </p:spPr>
        <p:txBody>
          <a:bodyPr wrap="square">
            <a:spAutoFit/>
          </a:bodyPr>
          <a:lstStyle/>
          <a:p>
            <a:pPr algn="l">
              <a:defRPr sz="1000" b="0">
                <a:latin typeface="Malgun Gothic"/>
              </a:defRPr>
            </a:pPr>
            <a:r>
              <a:t>STEP 2</a:t>
            </a:r>
          </a:p>
        </p:txBody>
      </p:sp>
      <p:sp>
        <p:nvSpPr>
          <p:cNvPr id="10" name="TextBox 9"/>
          <p:cNvSpPr txBox="1"/>
          <p:nvPr/>
        </p:nvSpPr>
        <p:spPr>
          <a:xfrm>
            <a:off x="457200" y="3429000"/>
            <a:ext cx="4023360" cy="228600"/>
          </a:xfrm>
          <a:prstGeom prst="rect">
            <a:avLst/>
          </a:prstGeom>
          <a:noFill/>
        </p:spPr>
        <p:txBody>
          <a:bodyPr wrap="square">
            <a:spAutoFit/>
          </a:bodyPr>
          <a:lstStyle/>
          <a:p>
            <a:pPr algn="l">
              <a:defRPr sz="1000" b="0">
                <a:latin typeface="Malgun Gothic"/>
              </a:defRPr>
            </a:pPr>
            <a:r>
              <a:t>03/10</a:t>
            </a:r>
            <a:br/>
            <a:r>
              <a:t>~</a:t>
            </a:r>
            <a:br/>
            <a:r>
              <a:t>03/31</a:t>
            </a:r>
          </a:p>
        </p:txBody>
      </p:sp>
      <p:sp>
        <p:nvSpPr>
          <p:cNvPr id="11" name="TextBox 10"/>
          <p:cNvSpPr txBox="1"/>
          <p:nvPr/>
        </p:nvSpPr>
        <p:spPr>
          <a:xfrm>
            <a:off x="457200" y="3749040"/>
            <a:ext cx="4023360" cy="228600"/>
          </a:xfrm>
          <a:prstGeom prst="rect">
            <a:avLst/>
          </a:prstGeom>
          <a:noFill/>
        </p:spPr>
        <p:txBody>
          <a:bodyPr wrap="square">
            <a:spAutoFit/>
          </a:bodyPr>
          <a:lstStyle/>
          <a:p>
            <a:pPr algn="l">
              <a:defRPr sz="1000" b="0">
                <a:latin typeface="Malgun Gothic"/>
              </a:defRPr>
            </a:pPr>
            <a:r>
              <a:t>부서 실무인력 인터뷰</a:t>
            </a:r>
          </a:p>
        </p:txBody>
      </p:sp>
      <p:sp>
        <p:nvSpPr>
          <p:cNvPr id="12" name="TextBox 11"/>
          <p:cNvSpPr txBox="1"/>
          <p:nvPr/>
        </p:nvSpPr>
        <p:spPr>
          <a:xfrm>
            <a:off x="457200" y="4069080"/>
            <a:ext cx="4023360" cy="228600"/>
          </a:xfrm>
          <a:prstGeom prst="rect">
            <a:avLst/>
          </a:prstGeom>
          <a:noFill/>
        </p:spPr>
        <p:txBody>
          <a:bodyPr wrap="square">
            <a:spAutoFit/>
          </a:bodyPr>
          <a:lstStyle/>
          <a:p>
            <a:pPr algn="l">
              <a:defRPr sz="1000" b="0">
                <a:latin typeface="Malgun Gothic"/>
              </a:defRPr>
            </a:pPr>
            <a:r>
              <a:t>주요 이해관계자 FGI (해수부, 학계 등)</a:t>
            </a:r>
          </a:p>
        </p:txBody>
      </p:sp>
      <p:sp>
        <p:nvSpPr>
          <p:cNvPr id="13" name="TextBox 12"/>
          <p:cNvSpPr txBox="1"/>
          <p:nvPr/>
        </p:nvSpPr>
        <p:spPr>
          <a:xfrm>
            <a:off x="457200" y="4389120"/>
            <a:ext cx="4023360" cy="228600"/>
          </a:xfrm>
          <a:prstGeom prst="rect">
            <a:avLst/>
          </a:prstGeom>
          <a:noFill/>
        </p:spPr>
        <p:txBody>
          <a:bodyPr wrap="square">
            <a:spAutoFit/>
          </a:bodyPr>
          <a:lstStyle/>
          <a:p>
            <a:pPr algn="l">
              <a:defRPr sz="1000" b="0">
                <a:latin typeface="Malgun Gothic"/>
              </a:defRPr>
            </a:pPr>
            <a:r>
              <a:t>STEP 3</a:t>
            </a:r>
          </a:p>
        </p:txBody>
      </p:sp>
      <p:sp>
        <p:nvSpPr>
          <p:cNvPr id="14" name="TextBox 13"/>
          <p:cNvSpPr txBox="1"/>
          <p:nvPr/>
        </p:nvSpPr>
        <p:spPr>
          <a:xfrm>
            <a:off x="457200" y="4709160"/>
            <a:ext cx="4023360" cy="228600"/>
          </a:xfrm>
          <a:prstGeom prst="rect">
            <a:avLst/>
          </a:prstGeom>
          <a:noFill/>
        </p:spPr>
        <p:txBody>
          <a:bodyPr wrap="square">
            <a:spAutoFit/>
          </a:bodyPr>
          <a:lstStyle/>
          <a:p>
            <a:pPr algn="l">
              <a:defRPr sz="1000" b="0">
                <a:latin typeface="Malgun Gothic"/>
              </a:defRPr>
            </a:pPr>
            <a:r>
              <a:t>03/29</a:t>
            </a:r>
            <a:br/>
            <a:r>
              <a:t>~</a:t>
            </a:r>
            <a:br/>
            <a:r>
              <a:t>04/15</a:t>
            </a:r>
          </a:p>
        </p:txBody>
      </p:sp>
      <p:sp>
        <p:nvSpPr>
          <p:cNvPr id="15" name="TextBox 14"/>
          <p:cNvSpPr txBox="1"/>
          <p:nvPr/>
        </p:nvSpPr>
        <p:spPr>
          <a:xfrm>
            <a:off x="457200" y="5029200"/>
            <a:ext cx="4023360" cy="228600"/>
          </a:xfrm>
          <a:prstGeom prst="rect">
            <a:avLst/>
          </a:prstGeom>
          <a:noFill/>
        </p:spPr>
        <p:txBody>
          <a:bodyPr wrap="square">
            <a:spAutoFit/>
          </a:bodyPr>
          <a:lstStyle/>
          <a:p>
            <a:pPr algn="l">
              <a:defRPr sz="1000" b="0">
                <a:latin typeface="Malgun Gothic"/>
              </a:defRPr>
            </a:pPr>
            <a:r>
              <a:t>임원(이사장, 본부장) 인터뷰</a:t>
            </a:r>
          </a:p>
        </p:txBody>
      </p:sp>
      <p:sp>
        <p:nvSpPr>
          <p:cNvPr id="16" name="TextBox 15"/>
          <p:cNvSpPr txBox="1"/>
          <p:nvPr/>
        </p:nvSpPr>
        <p:spPr>
          <a:xfrm>
            <a:off x="457200" y="5349240"/>
            <a:ext cx="4023360" cy="228600"/>
          </a:xfrm>
          <a:prstGeom prst="rect">
            <a:avLst/>
          </a:prstGeom>
          <a:noFill/>
        </p:spPr>
        <p:txBody>
          <a:bodyPr wrap="square">
            <a:spAutoFit/>
          </a:bodyPr>
          <a:lstStyle/>
          <a:p>
            <a:pPr algn="l">
              <a:defRPr sz="1000" b="0">
                <a:latin typeface="Malgun Gothic"/>
              </a:defRPr>
            </a:pPr>
            <a:r>
              <a:t>분야 전문가 인터뷰</a:t>
            </a:r>
          </a:p>
        </p:txBody>
      </p:sp>
      <p:sp>
        <p:nvSpPr>
          <p:cNvPr id="17" name="TextBox 16"/>
          <p:cNvSpPr txBox="1"/>
          <p:nvPr/>
        </p:nvSpPr>
        <p:spPr>
          <a:xfrm>
            <a:off x="457200" y="5669280"/>
            <a:ext cx="4023360" cy="228600"/>
          </a:xfrm>
          <a:prstGeom prst="rect">
            <a:avLst/>
          </a:prstGeom>
          <a:noFill/>
        </p:spPr>
        <p:txBody>
          <a:bodyPr wrap="square">
            <a:spAutoFit/>
          </a:bodyPr>
          <a:lstStyle/>
          <a:p>
            <a:pPr algn="l">
              <a:defRPr sz="1000" b="0">
                <a:latin typeface="Malgun Gothic"/>
              </a:defRPr>
            </a:pPr>
            <a:r>
              <a:t>STEP 4</a:t>
            </a:r>
          </a:p>
        </p:txBody>
      </p:sp>
      <p:sp>
        <p:nvSpPr>
          <p:cNvPr id="18" name="TextBox 17"/>
          <p:cNvSpPr txBox="1"/>
          <p:nvPr/>
        </p:nvSpPr>
        <p:spPr>
          <a:xfrm>
            <a:off x="457200" y="5989320"/>
            <a:ext cx="4023360" cy="228600"/>
          </a:xfrm>
          <a:prstGeom prst="rect">
            <a:avLst/>
          </a:prstGeom>
          <a:noFill/>
        </p:spPr>
        <p:txBody>
          <a:bodyPr wrap="square">
            <a:spAutoFit/>
          </a:bodyPr>
          <a:lstStyle/>
          <a:p>
            <a:pPr algn="l">
              <a:defRPr sz="1000" b="0">
                <a:latin typeface="Malgun Gothic"/>
              </a:defRPr>
            </a:pPr>
            <a:r>
              <a:t>04/28</a:t>
            </a:r>
            <a:br/>
            <a:r>
              <a:t>~</a:t>
            </a:r>
            <a:br/>
            <a:r>
              <a:t>05/06</a:t>
            </a:r>
          </a:p>
        </p:txBody>
      </p:sp>
      <p:sp>
        <p:nvSpPr>
          <p:cNvPr id="19" name="TextBox 18"/>
          <p:cNvSpPr txBox="1"/>
          <p:nvPr/>
        </p:nvSpPr>
        <p:spPr>
          <a:xfrm>
            <a:off x="457200" y="6309360"/>
            <a:ext cx="4023360" cy="228600"/>
          </a:xfrm>
          <a:prstGeom prst="rect">
            <a:avLst/>
          </a:prstGeom>
          <a:noFill/>
        </p:spPr>
        <p:txBody>
          <a:bodyPr wrap="square">
            <a:spAutoFit/>
          </a:bodyPr>
          <a:lstStyle/>
          <a:p>
            <a:pPr algn="l">
              <a:defRPr sz="1000" b="0">
                <a:latin typeface="Malgun Gothic"/>
              </a:defRPr>
            </a:pPr>
            <a:r>
              <a:t>임직원 설문 및 의견수렴 (4/28~5/6)</a:t>
            </a:r>
          </a:p>
        </p:txBody>
      </p:sp>
      <p:sp>
        <p:nvSpPr>
          <p:cNvPr id="20" name="TextBox 19"/>
          <p:cNvSpPr txBox="1"/>
          <p:nvPr/>
        </p:nvSpPr>
        <p:spPr>
          <a:xfrm>
            <a:off x="457200" y="6629400"/>
            <a:ext cx="4023360" cy="228600"/>
          </a:xfrm>
          <a:prstGeom prst="rect">
            <a:avLst/>
          </a:prstGeom>
          <a:noFill/>
        </p:spPr>
        <p:txBody>
          <a:bodyPr wrap="square">
            <a:spAutoFit/>
          </a:bodyPr>
          <a:lstStyle/>
          <a:p>
            <a:pPr algn="l">
              <a:defRPr sz="1000" b="0">
                <a:latin typeface="Malgun Gothic"/>
              </a:defRPr>
            </a:pPr>
            <a:r>
              <a:t>- 가치체계, 전략체계 Renewal</a:t>
            </a:r>
          </a:p>
        </p:txBody>
      </p:sp>
      <p:sp>
        <p:nvSpPr>
          <p:cNvPr id="21" name="TextBox 20"/>
          <p:cNvSpPr txBox="1"/>
          <p:nvPr/>
        </p:nvSpPr>
        <p:spPr>
          <a:xfrm>
            <a:off x="457200" y="6949440"/>
            <a:ext cx="4023360" cy="228600"/>
          </a:xfrm>
          <a:prstGeom prst="rect">
            <a:avLst/>
          </a:prstGeom>
          <a:noFill/>
        </p:spPr>
        <p:txBody>
          <a:bodyPr wrap="square">
            <a:spAutoFit/>
          </a:bodyPr>
          <a:lstStyle/>
          <a:p>
            <a:pPr algn="l">
              <a:defRPr sz="1000" b="0">
                <a:latin typeface="Malgun Gothic"/>
              </a:defRPr>
            </a:pPr>
            <a:r>
              <a:t>STEP 5</a:t>
            </a:r>
          </a:p>
        </p:txBody>
      </p:sp>
      <p:sp>
        <p:nvSpPr>
          <p:cNvPr id="22" name="TextBox 21"/>
          <p:cNvSpPr txBox="1"/>
          <p:nvPr/>
        </p:nvSpPr>
        <p:spPr>
          <a:xfrm>
            <a:off x="457200" y="7269480"/>
            <a:ext cx="4023360" cy="228600"/>
          </a:xfrm>
          <a:prstGeom prst="rect">
            <a:avLst/>
          </a:prstGeom>
          <a:noFill/>
        </p:spPr>
        <p:txBody>
          <a:bodyPr wrap="square">
            <a:spAutoFit/>
          </a:bodyPr>
          <a:lstStyle/>
          <a:p>
            <a:pPr algn="l">
              <a:defRPr sz="1000" b="0">
                <a:latin typeface="Malgun Gothic"/>
              </a:defRPr>
            </a:pPr>
            <a:r>
              <a:t>05/03</a:t>
            </a:r>
            <a:br/>
            <a:r>
              <a:t>~</a:t>
            </a:r>
            <a:br/>
            <a:r>
              <a:t>05/17</a:t>
            </a:r>
          </a:p>
        </p:txBody>
      </p:sp>
      <p:sp>
        <p:nvSpPr>
          <p:cNvPr id="23" name="TextBox 22"/>
          <p:cNvSpPr txBox="1"/>
          <p:nvPr/>
        </p:nvSpPr>
        <p:spPr>
          <a:xfrm>
            <a:off x="457200" y="7589520"/>
            <a:ext cx="4023360" cy="228600"/>
          </a:xfrm>
          <a:prstGeom prst="rect">
            <a:avLst/>
          </a:prstGeom>
          <a:noFill/>
        </p:spPr>
        <p:txBody>
          <a:bodyPr wrap="square">
            <a:spAutoFit/>
          </a:bodyPr>
          <a:lstStyle/>
          <a:p>
            <a:pPr algn="l">
              <a:defRPr sz="1000" b="0">
                <a:latin typeface="Malgun Gothic"/>
              </a:defRPr>
            </a:pPr>
            <a:r>
              <a:t>조직진단 및 조직개편계획</a:t>
            </a:r>
          </a:p>
        </p:txBody>
      </p:sp>
      <p:sp>
        <p:nvSpPr>
          <p:cNvPr id="24" name="TextBox 23"/>
          <p:cNvSpPr txBox="1"/>
          <p:nvPr/>
        </p:nvSpPr>
        <p:spPr>
          <a:xfrm>
            <a:off x="457200" y="7909560"/>
            <a:ext cx="4023360" cy="228600"/>
          </a:xfrm>
          <a:prstGeom prst="rect">
            <a:avLst/>
          </a:prstGeom>
          <a:noFill/>
        </p:spPr>
        <p:txBody>
          <a:bodyPr wrap="square">
            <a:spAutoFit/>
          </a:bodyPr>
          <a:lstStyle/>
          <a:p>
            <a:pPr algn="l">
              <a:defRPr sz="1000" b="0">
                <a:latin typeface="Malgun Gothic"/>
              </a:defRPr>
            </a:pPr>
            <a:r>
              <a:t>- 부서별 협의, 단기 조직개편안 수립</a:t>
            </a:r>
          </a:p>
        </p:txBody>
      </p:sp>
      <p:sp>
        <p:nvSpPr>
          <p:cNvPr id="25" name="TextBox 24"/>
          <p:cNvSpPr txBox="1"/>
          <p:nvPr/>
        </p:nvSpPr>
        <p:spPr>
          <a:xfrm>
            <a:off x="457200" y="8229600"/>
            <a:ext cx="4023360" cy="228600"/>
          </a:xfrm>
          <a:prstGeom prst="rect">
            <a:avLst/>
          </a:prstGeom>
          <a:noFill/>
        </p:spPr>
        <p:txBody>
          <a:bodyPr wrap="square">
            <a:spAutoFit/>
          </a:bodyPr>
          <a:lstStyle/>
          <a:p>
            <a:pPr algn="l">
              <a:defRPr sz="1000" b="0">
                <a:latin typeface="Malgun Gothic"/>
              </a:defRPr>
            </a:pPr>
            <a:r>
              <a:t>STEP 6</a:t>
            </a:r>
          </a:p>
        </p:txBody>
      </p:sp>
      <p:sp>
        <p:nvSpPr>
          <p:cNvPr id="26" name="TextBox 25"/>
          <p:cNvSpPr txBox="1"/>
          <p:nvPr/>
        </p:nvSpPr>
        <p:spPr>
          <a:xfrm>
            <a:off x="457200" y="8549640"/>
            <a:ext cx="4023360" cy="228600"/>
          </a:xfrm>
          <a:prstGeom prst="rect">
            <a:avLst/>
          </a:prstGeom>
          <a:noFill/>
        </p:spPr>
        <p:txBody>
          <a:bodyPr wrap="square">
            <a:spAutoFit/>
          </a:bodyPr>
          <a:lstStyle/>
          <a:p>
            <a:pPr algn="l">
              <a:defRPr sz="1000" b="0">
                <a:latin typeface="Malgun Gothic"/>
              </a:defRPr>
            </a:pPr>
            <a:r>
              <a:t>05/10</a:t>
            </a:r>
            <a:br/>
            <a:r>
              <a:t>~</a:t>
            </a:r>
            <a:br/>
            <a:r>
              <a:t>05/20</a:t>
            </a:r>
          </a:p>
        </p:txBody>
      </p:sp>
      <p:sp>
        <p:nvSpPr>
          <p:cNvPr id="27" name="TextBox 26"/>
          <p:cNvSpPr txBox="1"/>
          <p:nvPr/>
        </p:nvSpPr>
        <p:spPr>
          <a:xfrm>
            <a:off x="457200" y="8869680"/>
            <a:ext cx="4023360" cy="228600"/>
          </a:xfrm>
          <a:prstGeom prst="rect">
            <a:avLst/>
          </a:prstGeom>
          <a:noFill/>
        </p:spPr>
        <p:txBody>
          <a:bodyPr wrap="square">
            <a:spAutoFit/>
          </a:bodyPr>
          <a:lstStyle/>
          <a:p>
            <a:pPr algn="l">
              <a:defRPr sz="1000" b="0">
                <a:latin typeface="Malgun Gothic"/>
              </a:defRPr>
            </a:pPr>
            <a:r>
              <a:t>중간보고(가치체계 수립 설명자료 대체)</a:t>
            </a:r>
          </a:p>
        </p:txBody>
      </p:sp>
      <p:sp>
        <p:nvSpPr>
          <p:cNvPr id="28" name="TextBox 27"/>
          <p:cNvSpPr txBox="1"/>
          <p:nvPr/>
        </p:nvSpPr>
        <p:spPr>
          <a:xfrm>
            <a:off x="457200" y="9189720"/>
            <a:ext cx="4023360" cy="228600"/>
          </a:xfrm>
          <a:prstGeom prst="rect">
            <a:avLst/>
          </a:prstGeom>
          <a:noFill/>
        </p:spPr>
        <p:txBody>
          <a:bodyPr wrap="square">
            <a:spAutoFit/>
          </a:bodyPr>
          <a:lstStyle/>
          <a:p>
            <a:pPr algn="l">
              <a:defRPr sz="1000" b="0">
                <a:latin typeface="Malgun Gothic"/>
              </a:defRPr>
            </a:pPr>
            <a:r>
              <a:t>- 실무부서 피드백 및 설명회 (5/20)</a:t>
            </a:r>
          </a:p>
        </p:txBody>
      </p:sp>
      <p:sp>
        <p:nvSpPr>
          <p:cNvPr id="29" name="TextBox 28"/>
          <p:cNvSpPr txBox="1"/>
          <p:nvPr/>
        </p:nvSpPr>
        <p:spPr>
          <a:xfrm>
            <a:off x="457200" y="9509760"/>
            <a:ext cx="4023360" cy="228600"/>
          </a:xfrm>
          <a:prstGeom prst="rect">
            <a:avLst/>
          </a:prstGeom>
          <a:noFill/>
        </p:spPr>
        <p:txBody>
          <a:bodyPr wrap="square">
            <a:spAutoFit/>
          </a:bodyPr>
          <a:lstStyle/>
          <a:p>
            <a:pPr algn="l">
              <a:defRPr sz="1000" b="0">
                <a:latin typeface="Malgun Gothic"/>
              </a:defRPr>
            </a:pPr>
            <a:r>
              <a:t>STEP 7</a:t>
            </a:r>
          </a:p>
        </p:txBody>
      </p:sp>
      <p:sp>
        <p:nvSpPr>
          <p:cNvPr id="30" name="TextBox 29"/>
          <p:cNvSpPr txBox="1"/>
          <p:nvPr/>
        </p:nvSpPr>
        <p:spPr>
          <a:xfrm>
            <a:off x="457200" y="9829800"/>
            <a:ext cx="4023360" cy="228600"/>
          </a:xfrm>
          <a:prstGeom prst="rect">
            <a:avLst/>
          </a:prstGeom>
          <a:noFill/>
        </p:spPr>
        <p:txBody>
          <a:bodyPr wrap="square">
            <a:spAutoFit/>
          </a:bodyPr>
          <a:lstStyle/>
          <a:p>
            <a:pPr algn="l">
              <a:defRPr sz="1000" b="0">
                <a:latin typeface="Malgun Gothic"/>
              </a:defRPr>
            </a:pPr>
            <a:r>
              <a:t>05/10</a:t>
            </a:r>
            <a:br/>
            <a:r>
              <a:t>~</a:t>
            </a:r>
            <a:br/>
            <a:r>
              <a:t>06/05</a:t>
            </a:r>
          </a:p>
        </p:txBody>
      </p:sp>
      <p:sp>
        <p:nvSpPr>
          <p:cNvPr id="31" name="TextBox 30"/>
          <p:cNvSpPr txBox="1"/>
          <p:nvPr/>
        </p:nvSpPr>
        <p:spPr>
          <a:xfrm>
            <a:off x="457200" y="10149840"/>
            <a:ext cx="4023360" cy="228600"/>
          </a:xfrm>
          <a:prstGeom prst="rect">
            <a:avLst/>
          </a:prstGeom>
          <a:noFill/>
        </p:spPr>
        <p:txBody>
          <a:bodyPr wrap="square">
            <a:spAutoFit/>
          </a:bodyPr>
          <a:lstStyle/>
          <a:p>
            <a:pPr algn="l">
              <a:defRPr sz="1000" b="0">
                <a:latin typeface="Malgun Gothic"/>
              </a:defRPr>
            </a:pPr>
            <a:r>
              <a:t>전략과제, 세부실행과제 추진계획 수립</a:t>
            </a:r>
          </a:p>
        </p:txBody>
      </p:sp>
      <p:sp>
        <p:nvSpPr>
          <p:cNvPr id="32" name="TextBox 31"/>
          <p:cNvSpPr txBox="1"/>
          <p:nvPr/>
        </p:nvSpPr>
        <p:spPr>
          <a:xfrm>
            <a:off x="457200" y="10469880"/>
            <a:ext cx="4023360" cy="228600"/>
          </a:xfrm>
          <a:prstGeom prst="rect">
            <a:avLst/>
          </a:prstGeom>
          <a:noFill/>
        </p:spPr>
        <p:txBody>
          <a:bodyPr wrap="square">
            <a:spAutoFit/>
          </a:bodyPr>
          <a:lstStyle/>
          <a:p>
            <a:pPr algn="l">
              <a:defRPr sz="1000" b="0">
                <a:latin typeface="Malgun Gothic"/>
              </a:defRPr>
            </a:pPr>
            <a:r>
              <a:t>미래성장사업 점검, 신규사업 발굴</a:t>
            </a:r>
          </a:p>
        </p:txBody>
      </p:sp>
      <p:sp>
        <p:nvSpPr>
          <p:cNvPr id="33" name="TextBox 32"/>
          <p:cNvSpPr txBox="1"/>
          <p:nvPr/>
        </p:nvSpPr>
        <p:spPr>
          <a:xfrm>
            <a:off x="457200" y="10789920"/>
            <a:ext cx="4023360" cy="228600"/>
          </a:xfrm>
          <a:prstGeom prst="rect">
            <a:avLst/>
          </a:prstGeom>
          <a:noFill/>
        </p:spPr>
        <p:txBody>
          <a:bodyPr wrap="square">
            <a:spAutoFit/>
          </a:bodyPr>
          <a:lstStyle/>
          <a:p>
            <a:pPr algn="l">
              <a:defRPr sz="1000" b="0">
                <a:latin typeface="Malgun Gothic"/>
              </a:defRPr>
            </a:pPr>
            <a:r>
              <a:t>STEP 8</a:t>
            </a:r>
          </a:p>
        </p:txBody>
      </p:sp>
      <p:sp>
        <p:nvSpPr>
          <p:cNvPr id="34" name="TextBox 33"/>
          <p:cNvSpPr txBox="1"/>
          <p:nvPr/>
        </p:nvSpPr>
        <p:spPr>
          <a:xfrm>
            <a:off x="457200" y="11109960"/>
            <a:ext cx="4023360" cy="228600"/>
          </a:xfrm>
          <a:prstGeom prst="rect">
            <a:avLst/>
          </a:prstGeom>
          <a:noFill/>
        </p:spPr>
        <p:txBody>
          <a:bodyPr wrap="square">
            <a:spAutoFit/>
          </a:bodyPr>
          <a:lstStyle/>
          <a:p>
            <a:pPr algn="l">
              <a:defRPr sz="1000" b="0">
                <a:latin typeface="Malgun Gothic"/>
              </a:defRPr>
            </a:pPr>
            <a:r>
              <a:t>06/21</a:t>
            </a:r>
          </a:p>
        </p:txBody>
      </p:sp>
      <p:sp>
        <p:nvSpPr>
          <p:cNvPr id="35" name="TextBox 34"/>
          <p:cNvSpPr txBox="1"/>
          <p:nvPr/>
        </p:nvSpPr>
        <p:spPr>
          <a:xfrm>
            <a:off x="457200" y="11430000"/>
            <a:ext cx="4023360" cy="228600"/>
          </a:xfrm>
          <a:prstGeom prst="rect">
            <a:avLst/>
          </a:prstGeom>
          <a:noFill/>
        </p:spPr>
        <p:txBody>
          <a:bodyPr wrap="square">
            <a:spAutoFit/>
          </a:bodyPr>
          <a:lstStyle/>
          <a:p>
            <a:pPr algn="l">
              <a:defRPr sz="1000" b="0">
                <a:latin typeface="Malgun Gothic"/>
              </a:defRPr>
            </a:pPr>
            <a:r>
              <a:t>최종보고회 (6/10~6/15)</a:t>
            </a:r>
          </a:p>
        </p:txBody>
      </p:sp>
      <p:sp>
        <p:nvSpPr>
          <p:cNvPr id="36" name="TextBox 35"/>
          <p:cNvSpPr txBox="1"/>
          <p:nvPr/>
        </p:nvSpPr>
        <p:spPr>
          <a:xfrm>
            <a:off x="457200" y="11750040"/>
            <a:ext cx="4023360" cy="228600"/>
          </a:xfrm>
          <a:prstGeom prst="rect">
            <a:avLst/>
          </a:prstGeom>
          <a:noFill/>
        </p:spPr>
        <p:txBody>
          <a:bodyPr wrap="square">
            <a:spAutoFit/>
          </a:bodyPr>
          <a:lstStyle/>
          <a:p>
            <a:pPr algn="l">
              <a:defRPr sz="1000" b="0">
                <a:latin typeface="Malgun Gothic"/>
              </a:defRPr>
            </a:pPr>
            <a:r>
              <a:t>최종보고 피드백 (~6/18)</a:t>
            </a:r>
          </a:p>
        </p:txBody>
      </p:sp>
      <p:sp>
        <p:nvSpPr>
          <p:cNvPr id="37" name="TextBox 36"/>
          <p:cNvSpPr txBox="1"/>
          <p:nvPr/>
        </p:nvSpPr>
        <p:spPr>
          <a:xfrm>
            <a:off x="457200" y="12070080"/>
            <a:ext cx="8229600" cy="274320"/>
          </a:xfrm>
          <a:prstGeom prst="rect">
            <a:avLst/>
          </a:prstGeom>
          <a:noFill/>
        </p:spPr>
        <p:txBody>
          <a:bodyPr wrap="square">
            <a:spAutoFit/>
          </a:bodyPr>
          <a:lstStyle/>
          <a:p>
            <a:pPr algn="l">
              <a:defRPr sz="1200" b="1">
                <a:solidFill>
                  <a:srgbClr val="003366"/>
                </a:solidFill>
                <a:latin typeface="Malgun Gothic"/>
              </a:defRPr>
            </a:pPr>
            <a:r>
              <a:t>핵심 활동 (Key Activities)</a:t>
            </a:r>
          </a:p>
        </p:txBody>
      </p:sp>
      <p:sp>
        <p:nvSpPr>
          <p:cNvPr id="38" name="TextBox 37"/>
          <p:cNvSpPr txBox="1"/>
          <p:nvPr/>
        </p:nvSpPr>
        <p:spPr>
          <a:xfrm>
            <a:off x="4663440" y="2194560"/>
            <a:ext cx="4023360" cy="685800"/>
          </a:xfrm>
          <a:prstGeom prst="rect">
            <a:avLst/>
          </a:prstGeom>
          <a:noFill/>
        </p:spPr>
        <p:txBody>
          <a:bodyPr wrap="square">
            <a:spAutoFit/>
          </a:bodyPr>
          <a:lstStyle/>
          <a:p>
            <a:pPr algn="l">
              <a:defRPr sz="1000" b="0">
                <a:latin typeface="Malgun Gothic"/>
              </a:defRPr>
            </a:pPr>
            <a:r>
              <a:t>• 프로젝트 추진 목적과 프로젝트를 통해 달성하고자 하는 목표 정의</a:t>
            </a:r>
            <a:br/>
            <a:r>
              <a:t>• 프로젝트 추진 관련 주요 일정계획 사전 공유 및 협조 요청</a:t>
            </a:r>
            <a:br/>
            <a:r>
              <a:t>• 프로젝트 목표와 프로젝트 방향성, 주안점에 대한 의견수렴</a:t>
            </a:r>
          </a:p>
        </p:txBody>
      </p:sp>
      <p:sp>
        <p:nvSpPr>
          <p:cNvPr id="39" name="TextBox 38"/>
          <p:cNvSpPr txBox="1"/>
          <p:nvPr/>
        </p:nvSpPr>
        <p:spPr>
          <a:xfrm>
            <a:off x="4663440" y="2971800"/>
            <a:ext cx="4023360" cy="685800"/>
          </a:xfrm>
          <a:prstGeom prst="rect">
            <a:avLst/>
          </a:prstGeom>
          <a:noFill/>
        </p:spPr>
        <p:txBody>
          <a:bodyPr wrap="square">
            <a:spAutoFit/>
          </a:bodyPr>
          <a:lstStyle/>
          <a:p>
            <a:pPr algn="l">
              <a:defRPr sz="1000" b="0">
                <a:latin typeface="Malgun Gothic"/>
              </a:defRPr>
            </a:pPr>
            <a:r>
              <a:t>• 제5차 해양환경종합계획, 한국판 뉴딜 등 변화에 따른 공단 기능, 위상 변화</a:t>
            </a:r>
            <a:br/>
            <a:r>
              <a:t>• 사업 부문별 추진계획 및 장기 발전계획(비전) 수렴</a:t>
            </a:r>
            <a:br/>
            <a:r>
              <a:t>• 해양환경보전에서 공단에 대한 기대와 요구, 발전상에 대한 의견수렴</a:t>
            </a:r>
          </a:p>
        </p:txBody>
      </p:sp>
      <p:sp>
        <p:nvSpPr>
          <p:cNvPr id="40" name="TextBox 39"/>
          <p:cNvSpPr txBox="1"/>
          <p:nvPr/>
        </p:nvSpPr>
        <p:spPr>
          <a:xfrm>
            <a:off x="4663440" y="3749040"/>
            <a:ext cx="4023360" cy="685800"/>
          </a:xfrm>
          <a:prstGeom prst="rect">
            <a:avLst/>
          </a:prstGeom>
          <a:noFill/>
        </p:spPr>
        <p:txBody>
          <a:bodyPr wrap="square">
            <a:spAutoFit/>
          </a:bodyPr>
          <a:lstStyle/>
          <a:p>
            <a:pPr algn="l">
              <a:defRPr sz="1000" b="0">
                <a:latin typeface="Malgun Gothic"/>
              </a:defRPr>
            </a:pPr>
            <a:r>
              <a:t>• 주요부서, 이해관계자 인터뷰에 기반한 전략체계 방향성 의견수렴</a:t>
            </a:r>
            <a:br/>
            <a:r>
              <a:t>• 해양환경, 해양방제 및 해양수산 정책분야 전문가(KMI, KIOST) 인터뷰</a:t>
            </a:r>
            <a:br/>
            <a:r>
              <a:t>• 가치체계, 전략체계 수립 관련 의견 수렴</a:t>
            </a:r>
          </a:p>
        </p:txBody>
      </p:sp>
      <p:sp>
        <p:nvSpPr>
          <p:cNvPr id="41" name="TextBox 40"/>
          <p:cNvSpPr txBox="1"/>
          <p:nvPr/>
        </p:nvSpPr>
        <p:spPr>
          <a:xfrm>
            <a:off x="4663440" y="4526280"/>
            <a:ext cx="4023360" cy="457200"/>
          </a:xfrm>
          <a:prstGeom prst="rect">
            <a:avLst/>
          </a:prstGeom>
          <a:noFill/>
        </p:spPr>
        <p:txBody>
          <a:bodyPr wrap="square">
            <a:spAutoFit/>
          </a:bodyPr>
          <a:lstStyle/>
          <a:p>
            <a:pPr algn="l">
              <a:defRPr sz="1000" b="0">
                <a:latin typeface="Malgun Gothic"/>
              </a:defRPr>
            </a:pPr>
            <a:r>
              <a:t>• 미션, 비전, 핵심가치 등 공단 가치체계 개편 복수 안에 대한 의견 수렴</a:t>
            </a:r>
            <a:br/>
            <a:r>
              <a:t>• 경영방침, 전략목표, 전략과제 등 전략체계에 대한 임직원 의견 수렴</a:t>
            </a:r>
            <a:br/>
            <a:r>
              <a:t>■ 가치체계, 전략체계 선정</a:t>
            </a:r>
          </a:p>
        </p:txBody>
      </p:sp>
      <p:sp>
        <p:nvSpPr>
          <p:cNvPr id="42" name="TextBox 41"/>
          <p:cNvSpPr txBox="1"/>
          <p:nvPr/>
        </p:nvSpPr>
        <p:spPr>
          <a:xfrm>
            <a:off x="4663440" y="5074920"/>
            <a:ext cx="4023360" cy="457200"/>
          </a:xfrm>
          <a:prstGeom prst="rect">
            <a:avLst/>
          </a:prstGeom>
          <a:noFill/>
        </p:spPr>
        <p:txBody>
          <a:bodyPr wrap="square">
            <a:spAutoFit/>
          </a:bodyPr>
          <a:lstStyle/>
          <a:p>
            <a:pPr algn="l">
              <a:defRPr sz="1000" b="0">
                <a:latin typeface="Malgun Gothic"/>
              </a:defRPr>
            </a:pPr>
            <a:r>
              <a:t>• 조직 현안이슈 및 인력운영 현황 진단</a:t>
            </a:r>
            <a:br/>
            <a:r>
              <a:t>• 조직개편계획 수립 : 인력운영 효율성 제고, 실행력 강화</a:t>
            </a:r>
            <a:br/>
            <a:r>
              <a:t>• 중장기 자원배분계획 수립</a:t>
            </a:r>
          </a:p>
        </p:txBody>
      </p:sp>
      <p:sp>
        <p:nvSpPr>
          <p:cNvPr id="43" name="TextBox 42"/>
          <p:cNvSpPr txBox="1"/>
          <p:nvPr/>
        </p:nvSpPr>
        <p:spPr>
          <a:xfrm>
            <a:off x="4663440" y="5623560"/>
            <a:ext cx="4023360" cy="685800"/>
          </a:xfrm>
          <a:prstGeom prst="rect">
            <a:avLst/>
          </a:prstGeom>
          <a:noFill/>
        </p:spPr>
        <p:txBody>
          <a:bodyPr wrap="square">
            <a:spAutoFit/>
          </a:bodyPr>
          <a:lstStyle/>
          <a:p>
            <a:pPr algn="l">
              <a:defRPr sz="1000" b="0">
                <a:latin typeface="Malgun Gothic"/>
              </a:defRPr>
            </a:pPr>
            <a:r>
              <a:t>• 가치체계 및 전략체계 Renewal 방향성과 도출과정 설명자료 배포</a:t>
            </a:r>
            <a:br/>
            <a:r>
              <a:t>• 신규 가치체계, 전략체계에 따른 전략과제, 전략목표 수립 보고</a:t>
            </a:r>
            <a:br/>
            <a:r>
              <a:t>• 조직개편계획 및 New 가치체계·전략체계 직원설명회</a:t>
            </a:r>
          </a:p>
        </p:txBody>
      </p:sp>
      <p:sp>
        <p:nvSpPr>
          <p:cNvPr id="44" name="TextBox 43"/>
          <p:cNvSpPr txBox="1"/>
          <p:nvPr/>
        </p:nvSpPr>
        <p:spPr>
          <a:xfrm>
            <a:off x="4663440" y="6400800"/>
            <a:ext cx="4023360" cy="685800"/>
          </a:xfrm>
          <a:prstGeom prst="rect">
            <a:avLst/>
          </a:prstGeom>
          <a:noFill/>
        </p:spPr>
        <p:txBody>
          <a:bodyPr wrap="square">
            <a:spAutoFit/>
          </a:bodyPr>
          <a:lstStyle/>
          <a:p>
            <a:pPr algn="l">
              <a:defRPr sz="1000" b="0">
                <a:latin typeface="Malgun Gothic"/>
              </a:defRPr>
            </a:pPr>
            <a:r>
              <a:t>• 전략체계 개편 수립에 따른 세부실행과제, 실행계획 및 성과목표 수립</a:t>
            </a:r>
            <a:br/>
            <a:r>
              <a:t>• 기존 미래성장사업에 대한 점검 및 신규 사업 발굴</a:t>
            </a:r>
            <a:br/>
            <a:r>
              <a:t>■ 전략체계 Renewal에 따른 조직구조 개편 및 인력운영계획 수립</a:t>
            </a:r>
          </a:p>
        </p:txBody>
      </p:sp>
      <p:sp>
        <p:nvSpPr>
          <p:cNvPr id="45" name="TextBox 44"/>
          <p:cNvSpPr txBox="1"/>
          <p:nvPr/>
        </p:nvSpPr>
        <p:spPr>
          <a:xfrm>
            <a:off x="4663440" y="7178040"/>
            <a:ext cx="4023360" cy="457200"/>
          </a:xfrm>
          <a:prstGeom prst="rect">
            <a:avLst/>
          </a:prstGeom>
          <a:noFill/>
        </p:spPr>
        <p:txBody>
          <a:bodyPr wrap="square">
            <a:spAutoFit/>
          </a:bodyPr>
          <a:lstStyle/>
          <a:p>
            <a:pPr algn="l">
              <a:defRPr sz="1000" b="0">
                <a:latin typeface="Malgun Gothic"/>
              </a:defRPr>
            </a:pPr>
            <a:r>
              <a:t>• 전략체계 개편에 따른 실행계획 및 중장기 로드맵 수립 보고</a:t>
            </a:r>
            <a:br/>
            <a:r>
              <a:t>• 가치체계, 전략체계 설명회 및 롤링 매뉴얼 제작</a:t>
            </a:r>
            <a:br/>
            <a:r>
              <a:t>• 최종보고서 작성, 제출</a:t>
            </a:r>
          </a:p>
        </p:txBody>
      </p:sp>
      <p:sp>
        <p:nvSpPr>
          <p:cNvPr id="46" name="TextBox 45"/>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프로젝트 진행 일정</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본 프로젝트는 총 15주 동안 수행될 것이며, 프로젝트 기간 내 착수보고, 중간보고(서면) 및 최종보고의 총 3회 보고를 진행하며 가치체계·전략체계 및 조직개편에 대한 직원 설명회를 시행함</a:t>
            </a:r>
          </a:p>
        </p:txBody>
      </p:sp>
      <p:sp>
        <p:nvSpPr>
          <p:cNvPr id="4" name="TextBox 3"/>
          <p:cNvSpPr txBox="1"/>
          <p:nvPr/>
        </p:nvSpPr>
        <p:spPr>
          <a:xfrm>
            <a:off x="457200" y="1463040"/>
            <a:ext cx="8229600" cy="1828800"/>
          </a:xfrm>
          <a:prstGeom prst="rect">
            <a:avLst/>
          </a:prstGeom>
          <a:noFill/>
        </p:spPr>
        <p:txBody>
          <a:bodyPr wrap="square">
            <a:spAutoFit/>
          </a:bodyPr>
          <a:lstStyle/>
          <a:p>
            <a:pPr algn="l">
              <a:defRPr sz="900" b="0">
                <a:latin typeface="Malgun Gothic"/>
              </a:defRPr>
            </a:pPr>
            <a:r>
              <a:t>[TABLE]</a:t>
            </a:r>
            <a:br/>
            <a:r>
              <a:t>Table depicting project phases, modules, key activities, and timeline (W1-W15). Phases include Planning, Phase I (경영환경 및 역량분석), Phase II (가치체계·전략체계 재수립), Phase III (조직, 인력 및 자원배분계획 도출), Phase IV (미래사업 발굴 및 추진체계 수립), and Phase V (기타사항). Key activities are listed for each phase, with a timeline showing start and end points for each activity across weeks W1-W15.</a:t>
            </a:r>
          </a:p>
        </p:txBody>
      </p:sp>
      <p:sp>
        <p:nvSpPr>
          <p:cNvPr id="5" name="TextBox 4"/>
          <p:cNvSpPr txBox="1"/>
          <p:nvPr/>
        </p:nvSpPr>
        <p:spPr>
          <a:xfrm>
            <a:off x="457200" y="3383280"/>
            <a:ext cx="8229600" cy="914400"/>
          </a:xfrm>
          <a:prstGeom prst="rect">
            <a:avLst/>
          </a:prstGeom>
          <a:noFill/>
        </p:spPr>
        <p:txBody>
          <a:bodyPr wrap="square">
            <a:spAutoFit/>
          </a:bodyPr>
          <a:lstStyle/>
          <a:p>
            <a:pPr algn="l">
              <a:defRPr sz="1000" b="0">
                <a:latin typeface="Malgun Gothic"/>
              </a:defRPr>
            </a:pPr>
            <a:r>
              <a:t>*F.G.I - Focus Group Interview - 임직원을 대상으로 한 인터뷰를 통하여 조직·정원에 대한 Employer-Side Opinion 조사 - Focus Group을 대상으로 조직·정원의 전반적인 이슈에 대한 Employee-Side Opinion 조사</a:t>
            </a:r>
          </a:p>
        </p:txBody>
      </p:sp>
      <p:sp>
        <p:nvSpPr>
          <p:cNvPr id="6" name="TextBox 5"/>
          <p:cNvSpPr txBox="1"/>
          <p:nvPr/>
        </p:nvSpPr>
        <p:spPr>
          <a:xfrm>
            <a:off x="457200" y="4389120"/>
            <a:ext cx="8229600" cy="685800"/>
          </a:xfrm>
          <a:prstGeom prst="rect">
            <a:avLst/>
          </a:prstGeom>
          <a:noFill/>
        </p:spPr>
        <p:txBody>
          <a:bodyPr wrap="square">
            <a:spAutoFit/>
          </a:bodyPr>
          <a:lstStyle/>
          <a:p>
            <a:pPr algn="l">
              <a:defRPr sz="1000" b="0">
                <a:latin typeface="Malgun Gothic"/>
              </a:defRPr>
            </a:pPr>
            <a:r>
              <a:t>**E.O.S - Employee Opinion Survey - 전직원 대상 설문조사(기관 인트라넷 혹은 온라인 사이트를 활용) - 표본추출방법 및 표본크기는 TFT와의 협의를 통해 결정 - SPSS를 통한 통계분석 실시</a:t>
            </a:r>
          </a:p>
        </p:txBody>
      </p:sp>
      <p:sp>
        <p:nvSpPr>
          <p:cNvPr id="7" name="TextBox 6"/>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5 | Page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Strategic Alignment</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Key Areas for Optimization</a:t>
            </a:r>
          </a:p>
        </p:txBody>
      </p:sp>
      <p:sp>
        <p:nvSpPr>
          <p:cNvPr id="4" name="TextBox 3"/>
          <p:cNvSpPr txBox="1"/>
          <p:nvPr/>
        </p:nvSpPr>
        <p:spPr>
          <a:xfrm>
            <a:off x="457200" y="1463040"/>
            <a:ext cx="8229600" cy="228600"/>
          </a:xfrm>
          <a:prstGeom prst="rect">
            <a:avLst/>
          </a:prstGeom>
          <a:noFill/>
        </p:spPr>
        <p:txBody>
          <a:bodyPr wrap="square">
            <a:spAutoFit/>
          </a:bodyPr>
          <a:lstStyle/>
          <a:p>
            <a:pPr algn="l">
              <a:defRPr sz="1000" b="0">
                <a:latin typeface="Malgun Gothic"/>
              </a:defRPr>
            </a:pPr>
            <a:r>
              <a:t>I. 프로젝트 개요</a:t>
            </a:r>
          </a:p>
        </p:txBody>
      </p:sp>
      <p:sp>
        <p:nvSpPr>
          <p:cNvPr id="5" name="TextBox 4"/>
          <p:cNvSpPr txBox="1"/>
          <p:nvPr/>
        </p:nvSpPr>
        <p:spPr>
          <a:xfrm>
            <a:off x="457200" y="1783080"/>
            <a:ext cx="8229600" cy="228600"/>
          </a:xfrm>
          <a:prstGeom prst="rect">
            <a:avLst/>
          </a:prstGeom>
          <a:noFill/>
        </p:spPr>
        <p:txBody>
          <a:bodyPr wrap="square">
            <a:spAutoFit/>
          </a:bodyPr>
          <a:lstStyle/>
          <a:p>
            <a:pPr algn="l">
              <a:defRPr sz="1000" b="0">
                <a:latin typeface="Malgun Gothic"/>
              </a:defRPr>
            </a:pPr>
            <a:r>
              <a:t>Ⅱ. 내·외부 환경분석</a:t>
            </a:r>
          </a:p>
        </p:txBody>
      </p:sp>
      <p:sp>
        <p:nvSpPr>
          <p:cNvPr id="6" name="TextBox 5"/>
          <p:cNvSpPr txBox="1"/>
          <p:nvPr/>
        </p:nvSpPr>
        <p:spPr>
          <a:xfrm>
            <a:off x="457200" y="2103120"/>
            <a:ext cx="8229600" cy="228600"/>
          </a:xfrm>
          <a:prstGeom prst="rect">
            <a:avLst/>
          </a:prstGeom>
          <a:noFill/>
        </p:spPr>
        <p:txBody>
          <a:bodyPr wrap="square">
            <a:spAutoFit/>
          </a:bodyPr>
          <a:lstStyle/>
          <a:p>
            <a:pPr algn="l">
              <a:defRPr sz="1000" b="0">
                <a:latin typeface="Malgun Gothic"/>
              </a:defRPr>
            </a:pPr>
            <a:r>
              <a:t>1. 외부 환경분석</a:t>
            </a:r>
          </a:p>
        </p:txBody>
      </p:sp>
      <p:sp>
        <p:nvSpPr>
          <p:cNvPr id="7" name="TextBox 6"/>
          <p:cNvSpPr txBox="1"/>
          <p:nvPr/>
        </p:nvSpPr>
        <p:spPr>
          <a:xfrm>
            <a:off x="457200" y="2423160"/>
            <a:ext cx="8229600" cy="228600"/>
          </a:xfrm>
          <a:prstGeom prst="rect">
            <a:avLst/>
          </a:prstGeom>
          <a:noFill/>
        </p:spPr>
        <p:txBody>
          <a:bodyPr wrap="square">
            <a:spAutoFit/>
          </a:bodyPr>
          <a:lstStyle/>
          <a:p>
            <a:pPr algn="l">
              <a:defRPr sz="1000" b="0">
                <a:latin typeface="Malgun Gothic"/>
              </a:defRPr>
            </a:pPr>
            <a:r>
              <a:t>2. 내부 환경·역량 분석</a:t>
            </a:r>
          </a:p>
        </p:txBody>
      </p:sp>
      <p:sp>
        <p:nvSpPr>
          <p:cNvPr id="8" name="TextBox 7"/>
          <p:cNvSpPr txBox="1"/>
          <p:nvPr/>
        </p:nvSpPr>
        <p:spPr>
          <a:xfrm>
            <a:off x="457200" y="2743200"/>
            <a:ext cx="8229600" cy="228600"/>
          </a:xfrm>
          <a:prstGeom prst="rect">
            <a:avLst/>
          </a:prstGeom>
          <a:noFill/>
        </p:spPr>
        <p:txBody>
          <a:bodyPr wrap="square">
            <a:spAutoFit/>
          </a:bodyPr>
          <a:lstStyle/>
          <a:p>
            <a:pPr algn="l">
              <a:defRPr sz="1000" b="0">
                <a:latin typeface="Malgun Gothic"/>
              </a:defRPr>
            </a:pPr>
            <a:r>
              <a:t>3. 이해관계자 분석</a:t>
            </a:r>
          </a:p>
        </p:txBody>
      </p:sp>
      <p:sp>
        <p:nvSpPr>
          <p:cNvPr id="9" name="TextBox 8"/>
          <p:cNvSpPr txBox="1"/>
          <p:nvPr/>
        </p:nvSpPr>
        <p:spPr>
          <a:xfrm>
            <a:off x="457200" y="3063240"/>
            <a:ext cx="8229600" cy="228600"/>
          </a:xfrm>
          <a:prstGeom prst="rect">
            <a:avLst/>
          </a:prstGeom>
          <a:noFill/>
        </p:spPr>
        <p:txBody>
          <a:bodyPr wrap="square">
            <a:spAutoFit/>
          </a:bodyPr>
          <a:lstStyle/>
          <a:p>
            <a:pPr algn="l">
              <a:defRPr sz="1000" b="0">
                <a:latin typeface="Malgun Gothic"/>
              </a:defRPr>
            </a:pPr>
            <a:r>
              <a:t>4. 벤치마킹</a:t>
            </a:r>
          </a:p>
        </p:txBody>
      </p:sp>
      <p:sp>
        <p:nvSpPr>
          <p:cNvPr id="10" name="TextBox 9"/>
          <p:cNvSpPr txBox="1"/>
          <p:nvPr/>
        </p:nvSpPr>
        <p:spPr>
          <a:xfrm>
            <a:off x="457200" y="3383280"/>
            <a:ext cx="8229600" cy="228600"/>
          </a:xfrm>
          <a:prstGeom prst="rect">
            <a:avLst/>
          </a:prstGeom>
          <a:noFill/>
        </p:spPr>
        <p:txBody>
          <a:bodyPr wrap="square">
            <a:spAutoFit/>
          </a:bodyPr>
          <a:lstStyle/>
          <a:p>
            <a:pPr algn="l">
              <a:defRPr sz="1000" b="0">
                <a:latin typeface="Malgun Gothic"/>
              </a:defRPr>
            </a:pPr>
            <a:r>
              <a:t>Ⅲ. 가치체계·전략체계 재정립</a:t>
            </a:r>
          </a:p>
        </p:txBody>
      </p:sp>
      <p:sp>
        <p:nvSpPr>
          <p:cNvPr id="11" name="TextBox 10"/>
          <p:cNvSpPr txBox="1"/>
          <p:nvPr/>
        </p:nvSpPr>
        <p:spPr>
          <a:xfrm>
            <a:off x="457200" y="3703320"/>
            <a:ext cx="8229600" cy="228600"/>
          </a:xfrm>
          <a:prstGeom prst="rect">
            <a:avLst/>
          </a:prstGeom>
          <a:noFill/>
        </p:spPr>
        <p:txBody>
          <a:bodyPr wrap="square">
            <a:spAutoFit/>
          </a:bodyPr>
          <a:lstStyle/>
          <a:p>
            <a:pPr algn="l">
              <a:defRPr sz="1000" b="0">
                <a:latin typeface="Malgun Gothic"/>
              </a:defRPr>
            </a:pPr>
            <a:r>
              <a:t>IV. 조직·인력운영 방안</a:t>
            </a:r>
          </a:p>
        </p:txBody>
      </p:sp>
      <p:sp>
        <p:nvSpPr>
          <p:cNvPr id="12" name="TextBox 11"/>
          <p:cNvSpPr txBox="1"/>
          <p:nvPr/>
        </p:nvSpPr>
        <p:spPr>
          <a:xfrm>
            <a:off x="457200" y="4023360"/>
            <a:ext cx="8229600" cy="228600"/>
          </a:xfrm>
          <a:prstGeom prst="rect">
            <a:avLst/>
          </a:prstGeom>
          <a:noFill/>
        </p:spPr>
        <p:txBody>
          <a:bodyPr wrap="square">
            <a:spAutoFit/>
          </a:bodyPr>
          <a:lstStyle/>
          <a:p>
            <a:pPr algn="l">
              <a:defRPr sz="1000" b="0">
                <a:latin typeface="Malgun Gothic"/>
              </a:defRPr>
            </a:pPr>
            <a:r>
              <a:t>V. 미래성장사업 검토·발굴</a:t>
            </a:r>
          </a:p>
        </p:txBody>
      </p:sp>
      <p:sp>
        <p:nvSpPr>
          <p:cNvPr id="13" name="TextBox 12"/>
          <p:cNvSpPr txBox="1"/>
          <p:nvPr/>
        </p:nvSpPr>
        <p:spPr>
          <a:xfrm>
            <a:off x="457200" y="4343400"/>
            <a:ext cx="8229600" cy="228600"/>
          </a:xfrm>
          <a:prstGeom prst="rect">
            <a:avLst/>
          </a:prstGeom>
          <a:noFill/>
        </p:spPr>
        <p:txBody>
          <a:bodyPr wrap="square">
            <a:spAutoFit/>
          </a:bodyPr>
          <a:lstStyle/>
          <a:p>
            <a:pPr algn="l">
              <a:defRPr sz="1000" b="0">
                <a:latin typeface="Malgun Gothic"/>
              </a:defRPr>
            </a:pPr>
            <a:r>
              <a:t>VI. 추진체계 및 실행력 강화</a:t>
            </a:r>
          </a:p>
        </p:txBody>
      </p:sp>
      <p:sp>
        <p:nvSpPr>
          <p:cNvPr id="14" name="TextBox 1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None | Page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외부환경 분석</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Strategic Alignment of External Environment Analysis</a:t>
            </a:r>
          </a:p>
        </p:txBody>
      </p:sp>
      <p:sp>
        <p:nvSpPr>
          <p:cNvPr id="4" name="TextBox 3"/>
          <p:cNvSpPr txBox="1"/>
          <p:nvPr/>
        </p:nvSpPr>
        <p:spPr>
          <a:xfrm>
            <a:off x="457200" y="1463040"/>
            <a:ext cx="8229600" cy="228600"/>
          </a:xfrm>
          <a:prstGeom prst="rect">
            <a:avLst/>
          </a:prstGeom>
          <a:noFill/>
        </p:spPr>
        <p:txBody>
          <a:bodyPr wrap="square">
            <a:spAutoFit/>
          </a:bodyPr>
          <a:lstStyle/>
          <a:p>
            <a:pPr algn="l">
              <a:defRPr sz="1000" b="0">
                <a:latin typeface="Malgun Gothic"/>
              </a:defRPr>
            </a:pPr>
            <a:r>
              <a:t>KOEM 해양환경공단</a:t>
            </a:r>
          </a:p>
        </p:txBody>
      </p:sp>
      <p:sp>
        <p:nvSpPr>
          <p:cNvPr id="5" name="TextBox 4"/>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None | Page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해양수산부 비전과 목표</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해양수산부는 글로벌 해양강국을 비전으로, 해양산업의 성장, 해양 이용의 확대, 해양환경과 생태계 보전을 목표로 국가 해양수산 정책을 추진하고 있음</a:t>
            </a:r>
          </a:p>
        </p:txBody>
      </p:sp>
      <p:sp>
        <p:nvSpPr>
          <p:cNvPr id="4" name="TextBox 3"/>
          <p:cNvSpPr txBox="1"/>
          <p:nvPr/>
        </p:nvSpPr>
        <p:spPr>
          <a:xfrm>
            <a:off x="457200" y="1463040"/>
            <a:ext cx="8229600" cy="228600"/>
          </a:xfrm>
          <a:prstGeom prst="rect">
            <a:avLst/>
          </a:prstGeom>
          <a:noFill/>
        </p:spPr>
        <p:txBody>
          <a:bodyPr wrap="square">
            <a:spAutoFit/>
          </a:bodyPr>
          <a:lstStyle/>
          <a:p>
            <a:pPr algn="l">
              <a:defRPr sz="1000" b="0">
                <a:latin typeface="Malgun Gothic"/>
              </a:defRPr>
            </a:pPr>
            <a:r>
              <a:t>해양수산부 비전과 목표 : 성장, 이용, 보전</a:t>
            </a:r>
          </a:p>
        </p:txBody>
      </p:sp>
      <p:sp>
        <p:nvSpPr>
          <p:cNvPr id="5" name="TextBox 4"/>
          <p:cNvSpPr txBox="1"/>
          <p:nvPr/>
        </p:nvSpPr>
        <p:spPr>
          <a:xfrm>
            <a:off x="457200" y="1783080"/>
            <a:ext cx="8229600" cy="228600"/>
          </a:xfrm>
          <a:prstGeom prst="rect">
            <a:avLst/>
          </a:prstGeom>
          <a:noFill/>
        </p:spPr>
        <p:txBody>
          <a:bodyPr wrap="square">
            <a:spAutoFit/>
          </a:bodyPr>
          <a:lstStyle/>
          <a:p>
            <a:pPr algn="l">
              <a:defRPr sz="1000" b="0">
                <a:latin typeface="Malgun Gothic"/>
              </a:defRPr>
            </a:pPr>
            <a:r>
              <a:t>비전</a:t>
            </a:r>
          </a:p>
        </p:txBody>
      </p:sp>
      <p:sp>
        <p:nvSpPr>
          <p:cNvPr id="6" name="TextBox 5"/>
          <p:cNvSpPr txBox="1"/>
          <p:nvPr/>
        </p:nvSpPr>
        <p:spPr>
          <a:xfrm>
            <a:off x="457200" y="2103120"/>
            <a:ext cx="8229600" cy="228600"/>
          </a:xfrm>
          <a:prstGeom prst="rect">
            <a:avLst/>
          </a:prstGeom>
          <a:noFill/>
        </p:spPr>
        <p:txBody>
          <a:bodyPr wrap="square">
            <a:spAutoFit/>
          </a:bodyPr>
          <a:lstStyle/>
          <a:p>
            <a:pPr algn="l">
              <a:defRPr sz="1000" b="0">
                <a:latin typeface="Malgun Gothic"/>
              </a:defRPr>
            </a:pPr>
            <a:r>
              <a:t>글로벌 해양강국, 대한민국</a:t>
            </a:r>
          </a:p>
        </p:txBody>
      </p:sp>
      <p:sp>
        <p:nvSpPr>
          <p:cNvPr id="7" name="Rectangle 6"/>
          <p:cNvSpPr/>
          <p:nvPr/>
        </p:nvSpPr>
        <p:spPr>
          <a:xfrm>
            <a:off x="45720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8" name="TextBox 7"/>
          <p:cNvSpPr txBox="1"/>
          <p:nvPr/>
        </p:nvSpPr>
        <p:spPr>
          <a:xfrm>
            <a:off x="54864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9" name="Rectangle 8"/>
          <p:cNvSpPr/>
          <p:nvPr/>
        </p:nvSpPr>
        <p:spPr>
          <a:xfrm>
            <a:off x="323088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0" name="TextBox 9"/>
          <p:cNvSpPr txBox="1"/>
          <p:nvPr/>
        </p:nvSpPr>
        <p:spPr>
          <a:xfrm>
            <a:off x="332232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1" name="Rectangle 10"/>
          <p:cNvSpPr/>
          <p:nvPr/>
        </p:nvSpPr>
        <p:spPr>
          <a:xfrm>
            <a:off x="600456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2" name="TextBox 11"/>
          <p:cNvSpPr txBox="1"/>
          <p:nvPr/>
        </p:nvSpPr>
        <p:spPr>
          <a:xfrm>
            <a:off x="609600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3" name="Rectangle 12"/>
          <p:cNvSpPr/>
          <p:nvPr/>
        </p:nvSpPr>
        <p:spPr>
          <a:xfrm>
            <a:off x="457200" y="384048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4" name="TextBox 13"/>
          <p:cNvSpPr txBox="1"/>
          <p:nvPr/>
        </p:nvSpPr>
        <p:spPr>
          <a:xfrm>
            <a:off x="548640" y="393192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5" name="Rectangle 14"/>
          <p:cNvSpPr/>
          <p:nvPr/>
        </p:nvSpPr>
        <p:spPr>
          <a:xfrm>
            <a:off x="3230880" y="384048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6" name="TextBox 15"/>
          <p:cNvSpPr txBox="1"/>
          <p:nvPr/>
        </p:nvSpPr>
        <p:spPr>
          <a:xfrm>
            <a:off x="3322320" y="393192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7" name="Rectangle 16"/>
          <p:cNvSpPr/>
          <p:nvPr/>
        </p:nvSpPr>
        <p:spPr>
          <a:xfrm>
            <a:off x="6004560" y="384048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8" name="TextBox 17"/>
          <p:cNvSpPr txBox="1"/>
          <p:nvPr/>
        </p:nvSpPr>
        <p:spPr>
          <a:xfrm>
            <a:off x="6096000" y="393192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9" name="TextBox 18"/>
          <p:cNvSpPr txBox="1"/>
          <p:nvPr/>
        </p:nvSpPr>
        <p:spPr>
          <a:xfrm>
            <a:off x="457200" y="2423160"/>
            <a:ext cx="8229600" cy="228600"/>
          </a:xfrm>
          <a:prstGeom prst="rect">
            <a:avLst/>
          </a:prstGeom>
          <a:noFill/>
        </p:spPr>
        <p:txBody>
          <a:bodyPr wrap="square">
            <a:spAutoFit/>
          </a:bodyPr>
          <a:lstStyle/>
          <a:p>
            <a:pPr algn="l">
              <a:defRPr sz="1000" b="0">
                <a:latin typeface="Malgun Gothic"/>
              </a:defRPr>
            </a:pPr>
            <a:r>
              <a:t>해운매출액 50조원 회복, 항만물동량 17억톤</a:t>
            </a:r>
            <a:br/>
            <a:r>
              <a:t>달성 (~'22)</a:t>
            </a:r>
          </a:p>
        </p:txBody>
      </p:sp>
      <p:sp>
        <p:nvSpPr>
          <p:cNvPr id="20" name="TextBox 19"/>
          <p:cNvSpPr txBox="1"/>
          <p:nvPr/>
        </p:nvSpPr>
        <p:spPr>
          <a:xfrm>
            <a:off x="457200" y="2743200"/>
            <a:ext cx="8229600" cy="228600"/>
          </a:xfrm>
          <a:prstGeom prst="rect">
            <a:avLst/>
          </a:prstGeom>
          <a:noFill/>
        </p:spPr>
        <p:txBody>
          <a:bodyPr wrap="square">
            <a:spAutoFit/>
          </a:bodyPr>
          <a:lstStyle/>
          <a:p>
            <a:pPr algn="l">
              <a:defRPr sz="1000" b="0">
                <a:latin typeface="Malgun Gothic"/>
              </a:defRPr>
            </a:pPr>
            <a:r>
              <a:t>수산물 생산량 400만톤, 수산식품 수출 40억</a:t>
            </a:r>
            <a:br/>
            <a:r>
              <a:t>불 달성 (~'22)</a:t>
            </a:r>
          </a:p>
        </p:txBody>
      </p:sp>
      <p:sp>
        <p:nvSpPr>
          <p:cNvPr id="21" name="TextBox 20"/>
          <p:cNvSpPr txBox="1"/>
          <p:nvPr/>
        </p:nvSpPr>
        <p:spPr>
          <a:xfrm>
            <a:off x="457200" y="3063240"/>
            <a:ext cx="8229600" cy="228600"/>
          </a:xfrm>
          <a:prstGeom prst="rect">
            <a:avLst/>
          </a:prstGeom>
          <a:noFill/>
        </p:spPr>
        <p:txBody>
          <a:bodyPr wrap="square">
            <a:spAutoFit/>
          </a:bodyPr>
          <a:lstStyle/>
          <a:p>
            <a:pPr algn="l">
              <a:defRPr sz="1000" b="0">
                <a:latin typeface="Malgun Gothic"/>
              </a:defRPr>
            </a:pPr>
            <a:r>
              <a:t>해양레저·관광 활성화와 해양수산</a:t>
            </a:r>
            <a:br/>
            <a:r>
              <a:t>창업·투자 생태계 조성</a:t>
            </a:r>
          </a:p>
        </p:txBody>
      </p:sp>
      <p:sp>
        <p:nvSpPr>
          <p:cNvPr id="22" name="TextBox 21"/>
          <p:cNvSpPr txBox="1"/>
          <p:nvPr/>
        </p:nvSpPr>
        <p:spPr>
          <a:xfrm>
            <a:off x="457200" y="3383280"/>
            <a:ext cx="8229600" cy="228600"/>
          </a:xfrm>
          <a:prstGeom prst="rect">
            <a:avLst/>
          </a:prstGeom>
          <a:noFill/>
        </p:spPr>
        <p:txBody>
          <a:bodyPr wrap="square">
            <a:spAutoFit/>
          </a:bodyPr>
          <a:lstStyle/>
          <a:p>
            <a:pPr algn="l">
              <a:defRPr sz="1000" b="0">
                <a:latin typeface="Malgun Gothic"/>
              </a:defRPr>
            </a:pPr>
            <a:r>
              <a:t>건강한 해양환경 보전과 해양안전</a:t>
            </a:r>
            <a:br/>
            <a:r>
              <a:t>관리강화</a:t>
            </a:r>
          </a:p>
        </p:txBody>
      </p:sp>
      <p:sp>
        <p:nvSpPr>
          <p:cNvPr id="23" name="TextBox 22"/>
          <p:cNvSpPr txBox="1"/>
          <p:nvPr/>
        </p:nvSpPr>
        <p:spPr>
          <a:xfrm>
            <a:off x="457200" y="3703320"/>
            <a:ext cx="8229600" cy="228600"/>
          </a:xfrm>
          <a:prstGeom prst="rect">
            <a:avLst/>
          </a:prstGeom>
          <a:noFill/>
        </p:spPr>
        <p:txBody>
          <a:bodyPr wrap="square">
            <a:spAutoFit/>
          </a:bodyPr>
          <a:lstStyle/>
          <a:p>
            <a:pPr algn="l">
              <a:defRPr sz="1000" b="0">
                <a:latin typeface="Malgun Gothic"/>
              </a:defRPr>
            </a:pPr>
            <a:r>
              <a:t>해양레저관광객 1,000만명 달성, 해양수산</a:t>
            </a:r>
            <a:br/>
            <a:r>
              <a:t>스타트업 200개 육성 (~'22)</a:t>
            </a:r>
          </a:p>
        </p:txBody>
      </p:sp>
      <p:sp>
        <p:nvSpPr>
          <p:cNvPr id="24" name="TextBox 23"/>
          <p:cNvSpPr txBox="1"/>
          <p:nvPr/>
        </p:nvSpPr>
        <p:spPr>
          <a:xfrm>
            <a:off x="457200" y="4023360"/>
            <a:ext cx="8229600" cy="228600"/>
          </a:xfrm>
          <a:prstGeom prst="rect">
            <a:avLst/>
          </a:prstGeom>
          <a:noFill/>
        </p:spPr>
        <p:txBody>
          <a:bodyPr wrap="square">
            <a:spAutoFit/>
          </a:bodyPr>
          <a:lstStyle/>
          <a:p>
            <a:pPr algn="l">
              <a:defRPr sz="1000" b="0">
                <a:latin typeface="Malgun Gothic"/>
              </a:defRPr>
            </a:pPr>
            <a:r>
              <a:t>해양환경에 기반한 해양공간계획 수립, 대형</a:t>
            </a:r>
            <a:br/>
            <a:r>
              <a:t>해양사고 Zero화 (~'22)</a:t>
            </a:r>
          </a:p>
        </p:txBody>
      </p:sp>
      <p:sp>
        <p:nvSpPr>
          <p:cNvPr id="25" name="TextBox 24"/>
          <p:cNvSpPr txBox="1"/>
          <p:nvPr/>
        </p:nvSpPr>
        <p:spPr>
          <a:xfrm>
            <a:off x="457200" y="4343400"/>
            <a:ext cx="8229600" cy="228600"/>
          </a:xfrm>
          <a:prstGeom prst="rect">
            <a:avLst/>
          </a:prstGeom>
          <a:noFill/>
        </p:spPr>
        <p:txBody>
          <a:bodyPr wrap="square">
            <a:spAutoFit/>
          </a:bodyPr>
          <a:lstStyle/>
          <a:p>
            <a:pPr algn="l">
              <a:defRPr sz="1000" b="0">
                <a:latin typeface="Malgun Gothic"/>
              </a:defRPr>
            </a:pPr>
            <a:r>
              <a:t>살기 좋고 활력 넘치는 어촌 조성과</a:t>
            </a:r>
            <a:br/>
            <a:r>
              <a:t>연안지역 경제 활성화</a:t>
            </a:r>
          </a:p>
        </p:txBody>
      </p:sp>
      <p:sp>
        <p:nvSpPr>
          <p:cNvPr id="26" name="TextBox 25"/>
          <p:cNvSpPr txBox="1"/>
          <p:nvPr/>
        </p:nvSpPr>
        <p:spPr>
          <a:xfrm>
            <a:off x="457200" y="4663440"/>
            <a:ext cx="8229600" cy="228600"/>
          </a:xfrm>
          <a:prstGeom prst="rect">
            <a:avLst/>
          </a:prstGeom>
          <a:noFill/>
        </p:spPr>
        <p:txBody>
          <a:bodyPr wrap="square">
            <a:spAutoFit/>
          </a:bodyPr>
          <a:lstStyle/>
          <a:p>
            <a:pPr algn="l">
              <a:defRPr sz="1000" b="0">
                <a:latin typeface="Malgun Gothic"/>
              </a:defRPr>
            </a:pPr>
            <a:r>
              <a:t>해양영토 수호와 글로벌 해양리더</a:t>
            </a:r>
            <a:br/>
            <a:r>
              <a:t>국가로 위상 강화</a:t>
            </a:r>
          </a:p>
        </p:txBody>
      </p:sp>
      <p:sp>
        <p:nvSpPr>
          <p:cNvPr id="27" name="TextBox 26"/>
          <p:cNvSpPr txBox="1"/>
          <p:nvPr/>
        </p:nvSpPr>
        <p:spPr>
          <a:xfrm>
            <a:off x="457200" y="4983480"/>
            <a:ext cx="8229600" cy="228600"/>
          </a:xfrm>
          <a:prstGeom prst="rect">
            <a:avLst/>
          </a:prstGeom>
          <a:noFill/>
        </p:spPr>
        <p:txBody>
          <a:bodyPr wrap="square">
            <a:spAutoFit/>
          </a:bodyPr>
          <a:lstStyle/>
          <a:p>
            <a:pPr algn="l">
              <a:defRPr sz="1000" b="0">
                <a:latin typeface="Malgun Gothic"/>
              </a:defRPr>
            </a:pPr>
            <a:r>
              <a:t>어촌뉴딜 300사업 추진, 부산·인천 등 항만</a:t>
            </a:r>
            <a:br/>
            <a:r>
              <a:t>재개발 본격화 (~'22)</a:t>
            </a:r>
          </a:p>
        </p:txBody>
      </p:sp>
      <p:sp>
        <p:nvSpPr>
          <p:cNvPr id="28" name="TextBox 27"/>
          <p:cNvSpPr txBox="1"/>
          <p:nvPr/>
        </p:nvSpPr>
        <p:spPr>
          <a:xfrm>
            <a:off x="457200" y="5303520"/>
            <a:ext cx="8229600" cy="228600"/>
          </a:xfrm>
          <a:prstGeom prst="rect">
            <a:avLst/>
          </a:prstGeom>
          <a:noFill/>
        </p:spPr>
        <p:txBody>
          <a:bodyPr wrap="square">
            <a:spAutoFit/>
          </a:bodyPr>
          <a:lstStyle/>
          <a:p>
            <a:pPr algn="l">
              <a:defRPr sz="1000" b="0">
                <a:latin typeface="Malgun Gothic"/>
              </a:defRPr>
            </a:pPr>
            <a:r>
              <a:t>"성장"</a:t>
            </a:r>
          </a:p>
        </p:txBody>
      </p:sp>
      <p:sp>
        <p:nvSpPr>
          <p:cNvPr id="29" name="TextBox 28"/>
          <p:cNvSpPr txBox="1"/>
          <p:nvPr/>
        </p:nvSpPr>
        <p:spPr>
          <a:xfrm>
            <a:off x="457200" y="5623560"/>
            <a:ext cx="8229600" cy="228600"/>
          </a:xfrm>
          <a:prstGeom prst="rect">
            <a:avLst/>
          </a:prstGeom>
          <a:noFill/>
        </p:spPr>
        <p:txBody>
          <a:bodyPr wrap="square">
            <a:spAutoFit/>
          </a:bodyPr>
          <a:lstStyle/>
          <a:p>
            <a:pPr algn="l">
              <a:defRPr sz="1000" b="0">
                <a:latin typeface="Malgun Gothic"/>
              </a:defRPr>
            </a:pPr>
            <a:r>
              <a:t>해운, 항만, 수산업 및 해양수산</a:t>
            </a:r>
            <a:br/>
            <a:r>
              <a:t>신산업 육성</a:t>
            </a:r>
          </a:p>
        </p:txBody>
      </p:sp>
      <p:sp>
        <p:nvSpPr>
          <p:cNvPr id="30" name="TextBox 29"/>
          <p:cNvSpPr txBox="1"/>
          <p:nvPr/>
        </p:nvSpPr>
        <p:spPr>
          <a:xfrm>
            <a:off x="457200" y="5943600"/>
            <a:ext cx="8229600" cy="228600"/>
          </a:xfrm>
          <a:prstGeom prst="rect">
            <a:avLst/>
          </a:prstGeom>
          <a:noFill/>
        </p:spPr>
        <p:txBody>
          <a:bodyPr wrap="square">
            <a:spAutoFit/>
          </a:bodyPr>
          <a:lstStyle/>
          <a:p>
            <a:pPr algn="l">
              <a:defRPr sz="1000" b="0">
                <a:latin typeface="Malgun Gothic"/>
              </a:defRPr>
            </a:pPr>
            <a:r>
              <a:t>“이용”</a:t>
            </a:r>
          </a:p>
        </p:txBody>
      </p:sp>
      <p:sp>
        <p:nvSpPr>
          <p:cNvPr id="31" name="TextBox 30"/>
          <p:cNvSpPr txBox="1"/>
          <p:nvPr/>
        </p:nvSpPr>
        <p:spPr>
          <a:xfrm>
            <a:off x="457200" y="6263640"/>
            <a:ext cx="8229600" cy="228600"/>
          </a:xfrm>
          <a:prstGeom prst="rect">
            <a:avLst/>
          </a:prstGeom>
          <a:noFill/>
        </p:spPr>
        <p:txBody>
          <a:bodyPr wrap="square">
            <a:spAutoFit/>
          </a:bodyPr>
          <a:lstStyle/>
          <a:p>
            <a:pPr algn="l">
              <a:defRPr sz="1000" b="0">
                <a:latin typeface="Malgun Gothic"/>
              </a:defRPr>
            </a:pPr>
            <a:r>
              <a:t>해양레저·관광 활성화, 어촌개발,</a:t>
            </a:r>
            <a:br/>
            <a:r>
              <a:t>항만재개발 등 해양 이용 확대</a:t>
            </a:r>
          </a:p>
        </p:txBody>
      </p:sp>
      <p:sp>
        <p:nvSpPr>
          <p:cNvPr id="32" name="TextBox 31"/>
          <p:cNvSpPr txBox="1"/>
          <p:nvPr/>
        </p:nvSpPr>
        <p:spPr>
          <a:xfrm>
            <a:off x="457200" y="6583680"/>
            <a:ext cx="8229600" cy="228600"/>
          </a:xfrm>
          <a:prstGeom prst="rect">
            <a:avLst/>
          </a:prstGeom>
          <a:noFill/>
        </p:spPr>
        <p:txBody>
          <a:bodyPr wrap="square">
            <a:spAutoFit/>
          </a:bodyPr>
          <a:lstStyle/>
          <a:p>
            <a:pPr algn="l">
              <a:defRPr sz="1000" b="0">
                <a:latin typeface="Malgun Gothic"/>
              </a:defRPr>
            </a:pPr>
            <a:r>
              <a:t>“보전"</a:t>
            </a:r>
          </a:p>
        </p:txBody>
      </p:sp>
      <p:sp>
        <p:nvSpPr>
          <p:cNvPr id="33" name="TextBox 32"/>
          <p:cNvSpPr txBox="1"/>
          <p:nvPr/>
        </p:nvSpPr>
        <p:spPr>
          <a:xfrm>
            <a:off x="457200" y="6903720"/>
            <a:ext cx="8229600" cy="228600"/>
          </a:xfrm>
          <a:prstGeom prst="rect">
            <a:avLst/>
          </a:prstGeom>
          <a:noFill/>
        </p:spPr>
        <p:txBody>
          <a:bodyPr wrap="square">
            <a:spAutoFit/>
          </a:bodyPr>
          <a:lstStyle/>
          <a:p>
            <a:pPr algn="l">
              <a:defRPr sz="1000" b="0">
                <a:latin typeface="Malgun Gothic"/>
              </a:defRPr>
            </a:pPr>
            <a:r>
              <a:t>해양사고 예방, 해양생태계 복원</a:t>
            </a:r>
            <a:br/>
            <a:r>
              <a:t>등 해양환경 관리·보전 강화</a:t>
            </a:r>
          </a:p>
        </p:txBody>
      </p:sp>
      <p:sp>
        <p:nvSpPr>
          <p:cNvPr id="34" name="TextBox 33"/>
          <p:cNvSpPr txBox="1"/>
          <p:nvPr/>
        </p:nvSpPr>
        <p:spPr>
          <a:xfrm>
            <a:off x="457200" y="7223760"/>
            <a:ext cx="8229600" cy="228600"/>
          </a:xfrm>
          <a:prstGeom prst="rect">
            <a:avLst/>
          </a:prstGeom>
          <a:noFill/>
        </p:spPr>
        <p:txBody>
          <a:bodyPr wrap="square">
            <a:spAutoFit/>
          </a:bodyPr>
          <a:lstStyle/>
          <a:p>
            <a:pPr algn="l">
              <a:defRPr sz="1000" b="0">
                <a:latin typeface="Malgun Gothic"/>
              </a:defRPr>
            </a:pPr>
            <a:r>
              <a:t>Key</a:t>
            </a:r>
            <a:br/>
            <a:r>
              <a:t>Findings</a:t>
            </a:r>
          </a:p>
        </p:txBody>
      </p:sp>
      <p:sp>
        <p:nvSpPr>
          <p:cNvPr id="35" name="TextBox 34"/>
          <p:cNvSpPr txBox="1"/>
          <p:nvPr/>
        </p:nvSpPr>
        <p:spPr>
          <a:xfrm>
            <a:off x="457200" y="7543800"/>
            <a:ext cx="8229600" cy="685800"/>
          </a:xfrm>
          <a:prstGeom prst="rect">
            <a:avLst/>
          </a:prstGeom>
          <a:noFill/>
        </p:spPr>
        <p:txBody>
          <a:bodyPr wrap="square">
            <a:spAutoFit/>
          </a:bodyPr>
          <a:lstStyle/>
          <a:p>
            <a:pPr algn="l">
              <a:defRPr sz="1000" b="0">
                <a:latin typeface="Malgun Gothic"/>
              </a:defRPr>
            </a:pPr>
            <a:r>
              <a:t>✓ 해양수산부는 글로벌 해양강국을</a:t>
            </a:r>
            <a:br/>
            <a:r>
              <a:t>비전으로, 해운, 항만, 수산업 등</a:t>
            </a:r>
            <a:br/>
            <a:r>
              <a:t>산업 성장, 해양레저·관광 및 어촌</a:t>
            </a:r>
            <a:br/>
            <a:r>
              <a:t>등해양 이용, 해양사고 예방 및</a:t>
            </a:r>
            <a:br/>
            <a:r>
              <a:t>해양생태계·해양환경 보전을 정책</a:t>
            </a:r>
            <a:br/>
            <a:r>
              <a:t>및 목표로 추진하고 있음</a:t>
            </a:r>
          </a:p>
        </p:txBody>
      </p:sp>
      <p:sp>
        <p:nvSpPr>
          <p:cNvPr id="36" name="TextBox 35"/>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None | Page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해양수산부 해양환경 예산 구성</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해양수산부의 2021년 예산을 확인해보면, 해양환경이 2,684 억 원(4.4%), 수산어촌이 2.7조 원 (43.4%), 해운항만이 3.0 조 원(48.9%), 기술 및 R&amp;D가 2,093 억 원(3.4%)로 해양환경분야 예산은 꾸준히 증가되고 있으나, 구성비는 5% 이하에서 크게 변화되지 않았음</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해양수산부 분야별 예산 내역 (2014~2021) : 해양환경 분야 5% 이하 구성</a:t>
            </a:r>
          </a:p>
        </p:txBody>
      </p:sp>
      <p:sp>
        <p:nvSpPr>
          <p:cNvPr id="5" name="TextBox 4"/>
          <p:cNvSpPr txBox="1"/>
          <p:nvPr/>
        </p:nvSpPr>
        <p:spPr>
          <a:xfrm>
            <a:off x="457200" y="1828800"/>
            <a:ext cx="4023360" cy="457200"/>
          </a:xfrm>
          <a:prstGeom prst="rect">
            <a:avLst/>
          </a:prstGeom>
          <a:noFill/>
        </p:spPr>
        <p:txBody>
          <a:bodyPr wrap="square">
            <a:spAutoFit/>
          </a:bodyPr>
          <a:lstStyle/>
          <a:p>
            <a:pPr algn="l">
              <a:defRPr sz="1000" b="0">
                <a:latin typeface="Malgun Gothic"/>
              </a:defRPr>
            </a:pPr>
            <a:r>
              <a:t>Stacked column chart of budget allocation by sector (2014-2021)</a:t>
            </a:r>
          </a:p>
        </p:txBody>
      </p:sp>
      <p:sp>
        <p:nvSpPr>
          <p:cNvPr id="6" name="TextBox 5"/>
          <p:cNvSpPr txBox="1"/>
          <p:nvPr/>
        </p:nvSpPr>
        <p:spPr>
          <a:xfrm>
            <a:off x="457200" y="2377440"/>
            <a:ext cx="8229600" cy="274320"/>
          </a:xfrm>
          <a:prstGeom prst="rect">
            <a:avLst/>
          </a:prstGeom>
          <a:noFill/>
        </p:spPr>
        <p:txBody>
          <a:bodyPr wrap="square">
            <a:spAutoFit/>
          </a:bodyPr>
          <a:lstStyle/>
          <a:p>
            <a:pPr algn="l">
              <a:defRPr sz="1200" b="1">
                <a:solidFill>
                  <a:srgbClr val="003366"/>
                </a:solidFill>
                <a:latin typeface="Malgun Gothic"/>
              </a:defRPr>
            </a:pPr>
            <a:r>
              <a:t>2021년 사업부문별 해양수산부 예산내역</a:t>
            </a:r>
          </a:p>
        </p:txBody>
      </p:sp>
      <p:sp>
        <p:nvSpPr>
          <p:cNvPr id="7" name="TextBox 6"/>
          <p:cNvSpPr txBox="1"/>
          <p:nvPr/>
        </p:nvSpPr>
        <p:spPr>
          <a:xfrm>
            <a:off x="4663440" y="2194560"/>
            <a:ext cx="4023360" cy="457200"/>
          </a:xfrm>
          <a:prstGeom prst="rect">
            <a:avLst/>
          </a:prstGeom>
          <a:noFill/>
        </p:spPr>
        <p:txBody>
          <a:bodyPr wrap="square">
            <a:spAutoFit/>
          </a:bodyPr>
          <a:lstStyle/>
          <a:p>
            <a:pPr algn="l">
              <a:defRPr sz="1000" b="0">
                <a:latin typeface="Malgun Gothic"/>
              </a:defRPr>
            </a:pPr>
            <a:r>
              <a:t>Pie chart showing budget allocation by sector in 2021</a:t>
            </a:r>
          </a:p>
        </p:txBody>
      </p:sp>
      <p:sp>
        <p:nvSpPr>
          <p:cNvPr id="8" name="TextBox 7"/>
          <p:cNvSpPr txBox="1"/>
          <p:nvPr/>
        </p:nvSpPr>
        <p:spPr>
          <a:xfrm>
            <a:off x="457200" y="2743200"/>
            <a:ext cx="8229600" cy="274320"/>
          </a:xfrm>
          <a:prstGeom prst="rect">
            <a:avLst/>
          </a:prstGeom>
          <a:noFill/>
        </p:spPr>
        <p:txBody>
          <a:bodyPr wrap="square">
            <a:spAutoFit/>
          </a:bodyPr>
          <a:lstStyle/>
          <a:p>
            <a:pPr algn="l">
              <a:defRPr sz="1200" b="1">
                <a:solidFill>
                  <a:srgbClr val="003366"/>
                </a:solidFill>
                <a:latin typeface="Malgun Gothic"/>
              </a:defRPr>
            </a:pPr>
            <a:r>
              <a:t>Key Findings</a:t>
            </a:r>
          </a:p>
        </p:txBody>
      </p:sp>
      <p:sp>
        <p:nvSpPr>
          <p:cNvPr id="9" name="TextBox 8"/>
          <p:cNvSpPr txBox="1"/>
          <p:nvPr/>
        </p:nvSpPr>
        <p:spPr>
          <a:xfrm>
            <a:off x="4663440" y="3108960"/>
            <a:ext cx="4023360" cy="457200"/>
          </a:xfrm>
          <a:prstGeom prst="rect">
            <a:avLst/>
          </a:prstGeom>
          <a:noFill/>
        </p:spPr>
        <p:txBody>
          <a:bodyPr wrap="square">
            <a:spAutoFit/>
          </a:bodyPr>
          <a:lstStyle/>
          <a:p>
            <a:pPr algn="l">
              <a:defRPr sz="1000" b="0">
                <a:latin typeface="Malgun Gothic"/>
              </a:defRPr>
            </a:pPr>
            <a:r>
              <a:t>✓ 해양수산부 예산의 4.4%, 2,684억원 수준으로 금액은 증가했으나, 수산어촌, 해운항만 부문에 비해 상대적으로 적은 규모의 예산이 배정되어 있음</a:t>
            </a:r>
          </a:p>
        </p:txBody>
      </p:sp>
      <p:sp>
        <p:nvSpPr>
          <p:cNvPr id="10" name="TextBox 9"/>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Source: 해양수산부 연도별 업무계획(2014-2021) | Page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해양수산부 핵심과제 분석</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해양수산부 2021 핵심과제를 분석해보면, 탄소중립과 해양오염정화 분야의 공단이 직접 수행하거나 주도하여 추진할 과제의 구성과, 기후협약에 따른 탄소중립 실현과 관련된 과제의 높아진 비중을 확인할 수 있음</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해양수산부 핵심과제 : 탄소중립, 해양플라스틱 제로화 등 현안 공단 주관 추진과제</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해양수산부 2021 핵심과제 추진체계</a:t>
            </a:r>
          </a:p>
        </p:txBody>
      </p:sp>
      <p:sp>
        <p:nvSpPr>
          <p:cNvPr id="6" name="TextBox 5"/>
          <p:cNvSpPr txBox="1"/>
          <p:nvPr/>
        </p:nvSpPr>
        <p:spPr>
          <a:xfrm>
            <a:off x="457200" y="2148840"/>
            <a:ext cx="8229600" cy="228600"/>
          </a:xfrm>
          <a:prstGeom prst="rect">
            <a:avLst/>
          </a:prstGeom>
          <a:noFill/>
        </p:spPr>
        <p:txBody>
          <a:bodyPr wrap="square">
            <a:spAutoFit/>
          </a:bodyPr>
          <a:lstStyle/>
          <a:p>
            <a:pPr algn="l">
              <a:defRPr sz="1000" b="0">
                <a:latin typeface="Malgun Gothic"/>
              </a:defRPr>
            </a:pPr>
            <a:r>
              <a:t>2021 비전</a:t>
            </a:r>
          </a:p>
        </p:txBody>
      </p:sp>
      <p:sp>
        <p:nvSpPr>
          <p:cNvPr id="7" name="TextBox 6"/>
          <p:cNvSpPr txBox="1"/>
          <p:nvPr/>
        </p:nvSpPr>
        <p:spPr>
          <a:xfrm>
            <a:off x="457200" y="2468880"/>
            <a:ext cx="8229600" cy="228600"/>
          </a:xfrm>
          <a:prstGeom prst="rect">
            <a:avLst/>
          </a:prstGeom>
          <a:noFill/>
        </p:spPr>
        <p:txBody>
          <a:bodyPr wrap="square">
            <a:spAutoFit/>
          </a:bodyPr>
          <a:lstStyle/>
          <a:p>
            <a:pPr algn="l">
              <a:defRPr sz="1000" b="0">
                <a:latin typeface="Malgun Gothic"/>
              </a:defRPr>
            </a:pPr>
            <a:r>
              <a:t>굳건하고 지속가능한 해양부국실현</a:t>
            </a:r>
          </a:p>
        </p:txBody>
      </p:sp>
      <p:sp>
        <p:nvSpPr>
          <p:cNvPr id="8" name="TextBox 7"/>
          <p:cNvSpPr txBox="1"/>
          <p:nvPr/>
        </p:nvSpPr>
        <p:spPr>
          <a:xfrm>
            <a:off x="457200" y="2788920"/>
            <a:ext cx="8229600" cy="228600"/>
          </a:xfrm>
          <a:prstGeom prst="rect">
            <a:avLst/>
          </a:prstGeom>
          <a:noFill/>
        </p:spPr>
        <p:txBody>
          <a:bodyPr wrap="square">
            <a:spAutoFit/>
          </a:bodyPr>
          <a:lstStyle/>
          <a:p>
            <a:pPr algn="l">
              <a:defRPr sz="1000" b="0">
                <a:latin typeface="Malgun Gothic"/>
              </a:defRPr>
            </a:pPr>
            <a:r>
              <a:t>경제를 뒷받침하는 해양수산</a:t>
            </a:r>
          </a:p>
        </p:txBody>
      </p:sp>
      <p:sp>
        <p:nvSpPr>
          <p:cNvPr id="9" name="TextBox 8"/>
          <p:cNvSpPr txBox="1"/>
          <p:nvPr/>
        </p:nvSpPr>
        <p:spPr>
          <a:xfrm>
            <a:off x="457200" y="3108960"/>
            <a:ext cx="8229600" cy="228600"/>
          </a:xfrm>
          <a:prstGeom prst="rect">
            <a:avLst/>
          </a:prstGeom>
          <a:noFill/>
        </p:spPr>
        <p:txBody>
          <a:bodyPr wrap="square">
            <a:spAutoFit/>
          </a:bodyPr>
          <a:lstStyle/>
          <a:p>
            <a:pPr algn="l">
              <a:defRPr sz="1000" b="0">
                <a:latin typeface="Malgun Gothic"/>
              </a:defRPr>
            </a:pPr>
            <a:r>
              <a:t>1</a:t>
            </a:r>
          </a:p>
        </p:txBody>
      </p:sp>
      <p:sp>
        <p:nvSpPr>
          <p:cNvPr id="10" name="TextBox 9"/>
          <p:cNvSpPr txBox="1"/>
          <p:nvPr/>
        </p:nvSpPr>
        <p:spPr>
          <a:xfrm>
            <a:off x="457200" y="3429000"/>
            <a:ext cx="8229600" cy="228600"/>
          </a:xfrm>
          <a:prstGeom prst="rect">
            <a:avLst/>
          </a:prstGeom>
          <a:noFill/>
        </p:spPr>
        <p:txBody>
          <a:bodyPr wrap="square">
            <a:spAutoFit/>
          </a:bodyPr>
          <a:lstStyle/>
          <a:p>
            <a:pPr algn="l">
              <a:defRPr sz="1000" b="0">
                <a:latin typeface="Malgun Gothic"/>
              </a:defRPr>
            </a:pPr>
            <a:r>
              <a:t>수출물류 지원 및 차질없는 해운재건</a:t>
            </a:r>
          </a:p>
        </p:txBody>
      </p:sp>
      <p:sp>
        <p:nvSpPr>
          <p:cNvPr id="11" name="TextBox 10"/>
          <p:cNvSpPr txBox="1"/>
          <p:nvPr/>
        </p:nvSpPr>
        <p:spPr>
          <a:xfrm>
            <a:off x="457200" y="3749040"/>
            <a:ext cx="8229600" cy="228600"/>
          </a:xfrm>
          <a:prstGeom prst="rect">
            <a:avLst/>
          </a:prstGeom>
          <a:noFill/>
        </p:spPr>
        <p:txBody>
          <a:bodyPr wrap="square">
            <a:spAutoFit/>
          </a:bodyPr>
          <a:lstStyle/>
          <a:p>
            <a:pPr algn="l">
              <a:defRPr sz="1000" b="0">
                <a:latin typeface="Malgun Gothic"/>
              </a:defRPr>
            </a:pPr>
            <a:r>
              <a:t>1) 수출기업 물류애로 해소</a:t>
            </a:r>
            <a:br/>
            <a:r>
              <a:t>2) 해운재건 및 연관산업 혁신</a:t>
            </a:r>
          </a:p>
        </p:txBody>
      </p:sp>
      <p:sp>
        <p:nvSpPr>
          <p:cNvPr id="12" name="TextBox 11"/>
          <p:cNvSpPr txBox="1"/>
          <p:nvPr/>
        </p:nvSpPr>
        <p:spPr>
          <a:xfrm>
            <a:off x="457200" y="4069080"/>
            <a:ext cx="8229600" cy="228600"/>
          </a:xfrm>
          <a:prstGeom prst="rect">
            <a:avLst/>
          </a:prstGeom>
          <a:noFill/>
        </p:spPr>
        <p:txBody>
          <a:bodyPr wrap="square">
            <a:spAutoFit/>
          </a:bodyPr>
          <a:lstStyle/>
          <a:p>
            <a:pPr algn="l">
              <a:defRPr sz="1000" b="0">
                <a:latin typeface="Malgun Gothic"/>
              </a:defRPr>
            </a:pPr>
            <a:r>
              <a:t>2</a:t>
            </a:r>
          </a:p>
        </p:txBody>
      </p:sp>
      <p:sp>
        <p:nvSpPr>
          <p:cNvPr id="13" name="TextBox 12"/>
          <p:cNvSpPr txBox="1"/>
          <p:nvPr/>
        </p:nvSpPr>
        <p:spPr>
          <a:xfrm>
            <a:off x="457200" y="4389120"/>
            <a:ext cx="8229600" cy="228600"/>
          </a:xfrm>
          <a:prstGeom prst="rect">
            <a:avLst/>
          </a:prstGeom>
          <a:noFill/>
        </p:spPr>
        <p:txBody>
          <a:bodyPr wrap="square">
            <a:spAutoFit/>
          </a:bodyPr>
          <a:lstStyle/>
          <a:p>
            <a:pPr algn="l">
              <a:defRPr sz="1000" b="0">
                <a:latin typeface="Malgun Gothic"/>
              </a:defRPr>
            </a:pPr>
            <a:r>
              <a:t>수산·어촌의 활력 회복과</a:t>
            </a:r>
            <a:br/>
            <a:r>
              <a:t>연안경제권의 균형발전</a:t>
            </a:r>
          </a:p>
        </p:txBody>
      </p:sp>
      <p:sp>
        <p:nvSpPr>
          <p:cNvPr id="14" name="TextBox 13"/>
          <p:cNvSpPr txBox="1"/>
          <p:nvPr/>
        </p:nvSpPr>
        <p:spPr>
          <a:xfrm>
            <a:off x="457200" y="4709160"/>
            <a:ext cx="8229600" cy="228600"/>
          </a:xfrm>
          <a:prstGeom prst="rect">
            <a:avLst/>
          </a:prstGeom>
          <a:noFill/>
        </p:spPr>
        <p:txBody>
          <a:bodyPr wrap="square">
            <a:spAutoFit/>
          </a:bodyPr>
          <a:lstStyle/>
          <a:p>
            <a:pPr algn="l">
              <a:defRPr sz="1000" b="0">
                <a:latin typeface="Malgun Gothic"/>
              </a:defRPr>
            </a:pPr>
            <a:r>
              <a:t>1) 수산어업 활력·지속가능성 확보</a:t>
            </a:r>
            <a:br/>
            <a:r>
              <a:t>2) 어촌과 연안의 균형발전</a:t>
            </a:r>
          </a:p>
        </p:txBody>
      </p:sp>
      <p:sp>
        <p:nvSpPr>
          <p:cNvPr id="15" name="TextBox 14"/>
          <p:cNvSpPr txBox="1"/>
          <p:nvPr/>
        </p:nvSpPr>
        <p:spPr>
          <a:xfrm>
            <a:off x="457200" y="5029200"/>
            <a:ext cx="8229600" cy="228600"/>
          </a:xfrm>
          <a:prstGeom prst="rect">
            <a:avLst/>
          </a:prstGeom>
          <a:noFill/>
        </p:spPr>
        <p:txBody>
          <a:bodyPr wrap="square">
            <a:spAutoFit/>
          </a:bodyPr>
          <a:lstStyle/>
          <a:p>
            <a:pPr algn="l">
              <a:defRPr sz="1000" b="0">
                <a:latin typeface="Malgun Gothic"/>
              </a:defRPr>
            </a:pPr>
            <a:r>
              <a:t>지속가능한 선도형 해양수산</a:t>
            </a:r>
          </a:p>
        </p:txBody>
      </p:sp>
      <p:sp>
        <p:nvSpPr>
          <p:cNvPr id="16" name="TextBox 15"/>
          <p:cNvSpPr txBox="1"/>
          <p:nvPr/>
        </p:nvSpPr>
        <p:spPr>
          <a:xfrm>
            <a:off x="457200" y="5349240"/>
            <a:ext cx="8229600" cy="228600"/>
          </a:xfrm>
          <a:prstGeom prst="rect">
            <a:avLst/>
          </a:prstGeom>
          <a:noFill/>
        </p:spPr>
        <p:txBody>
          <a:bodyPr wrap="square">
            <a:spAutoFit/>
          </a:bodyPr>
          <a:lstStyle/>
          <a:p>
            <a:pPr algn="l">
              <a:defRPr sz="1000" b="0">
                <a:latin typeface="Malgun Gothic"/>
              </a:defRPr>
            </a:pPr>
            <a:r>
              <a:t>3</a:t>
            </a:r>
          </a:p>
        </p:txBody>
      </p:sp>
      <p:sp>
        <p:nvSpPr>
          <p:cNvPr id="17" name="TextBox 16"/>
          <p:cNvSpPr txBox="1"/>
          <p:nvPr/>
        </p:nvSpPr>
        <p:spPr>
          <a:xfrm>
            <a:off x="457200" y="5669280"/>
            <a:ext cx="8229600" cy="228600"/>
          </a:xfrm>
          <a:prstGeom prst="rect">
            <a:avLst/>
          </a:prstGeom>
          <a:noFill/>
        </p:spPr>
        <p:txBody>
          <a:bodyPr wrap="square">
            <a:spAutoFit/>
          </a:bodyPr>
          <a:lstStyle/>
          <a:p>
            <a:pPr algn="l">
              <a:defRPr sz="1000" b="0">
                <a:latin typeface="Malgun Gothic"/>
              </a:defRPr>
            </a:pPr>
            <a:r>
              <a:t>해양수산 탄소중립, 해양플라스틱 제로화</a:t>
            </a:r>
          </a:p>
        </p:txBody>
      </p:sp>
      <p:sp>
        <p:nvSpPr>
          <p:cNvPr id="18" name="TextBox 17"/>
          <p:cNvSpPr txBox="1"/>
          <p:nvPr/>
        </p:nvSpPr>
        <p:spPr>
          <a:xfrm>
            <a:off x="457200" y="5989320"/>
            <a:ext cx="8229600" cy="228600"/>
          </a:xfrm>
          <a:prstGeom prst="rect">
            <a:avLst/>
          </a:prstGeom>
          <a:noFill/>
        </p:spPr>
        <p:txBody>
          <a:bodyPr wrap="square">
            <a:spAutoFit/>
          </a:bodyPr>
          <a:lstStyle/>
          <a:p>
            <a:pPr algn="l">
              <a:defRPr sz="1000" b="0">
                <a:latin typeface="Malgun Gothic"/>
              </a:defRPr>
            </a:pPr>
            <a:r>
              <a:t>1) 해양수산 탄소중립</a:t>
            </a:r>
            <a:br/>
            <a:r>
              <a:t>2) 해양플라스틱 쓰레기 제로화</a:t>
            </a:r>
            <a:br/>
            <a:r>
              <a:t>3) 글로벌 해양환경 협력강화</a:t>
            </a:r>
          </a:p>
        </p:txBody>
      </p:sp>
      <p:sp>
        <p:nvSpPr>
          <p:cNvPr id="19" name="Rectangle 18"/>
          <p:cNvSpPr/>
          <p:nvPr/>
        </p:nvSpPr>
        <p:spPr>
          <a:xfrm>
            <a:off x="45720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20" name="TextBox 19"/>
          <p:cNvSpPr txBox="1"/>
          <p:nvPr/>
        </p:nvSpPr>
        <p:spPr>
          <a:xfrm>
            <a:off x="54864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21" name="Rectangle 20"/>
          <p:cNvSpPr/>
          <p:nvPr/>
        </p:nvSpPr>
        <p:spPr>
          <a:xfrm>
            <a:off x="323088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22" name="TextBox 21"/>
          <p:cNvSpPr txBox="1"/>
          <p:nvPr/>
        </p:nvSpPr>
        <p:spPr>
          <a:xfrm>
            <a:off x="332232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23" name="Rectangle 22"/>
          <p:cNvSpPr/>
          <p:nvPr/>
        </p:nvSpPr>
        <p:spPr>
          <a:xfrm>
            <a:off x="600456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24" name="TextBox 23"/>
          <p:cNvSpPr txBox="1"/>
          <p:nvPr/>
        </p:nvSpPr>
        <p:spPr>
          <a:xfrm>
            <a:off x="609600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25" name="TextBox 24"/>
          <p:cNvSpPr txBox="1"/>
          <p:nvPr/>
        </p:nvSpPr>
        <p:spPr>
          <a:xfrm>
            <a:off x="457200" y="6309360"/>
            <a:ext cx="8229600" cy="228600"/>
          </a:xfrm>
          <a:prstGeom prst="rect">
            <a:avLst/>
          </a:prstGeom>
          <a:noFill/>
        </p:spPr>
        <p:txBody>
          <a:bodyPr wrap="square">
            <a:spAutoFit/>
          </a:bodyPr>
          <a:lstStyle/>
          <a:p>
            <a:pPr algn="l">
              <a:defRPr sz="1000" b="0">
                <a:latin typeface="Malgun Gothic"/>
              </a:defRPr>
            </a:pPr>
            <a:r>
              <a:t>안전하고 따뜻한 해양수산</a:t>
            </a:r>
          </a:p>
        </p:txBody>
      </p:sp>
      <p:sp>
        <p:nvSpPr>
          <p:cNvPr id="26" name="TextBox 25"/>
          <p:cNvSpPr txBox="1"/>
          <p:nvPr/>
        </p:nvSpPr>
        <p:spPr>
          <a:xfrm>
            <a:off x="457200" y="6629400"/>
            <a:ext cx="8229600" cy="228600"/>
          </a:xfrm>
          <a:prstGeom prst="rect">
            <a:avLst/>
          </a:prstGeom>
          <a:noFill/>
        </p:spPr>
        <p:txBody>
          <a:bodyPr wrap="square">
            <a:spAutoFit/>
          </a:bodyPr>
          <a:lstStyle/>
          <a:p>
            <a:pPr algn="l">
              <a:defRPr sz="1000" b="0">
                <a:latin typeface="Malgun Gothic"/>
              </a:defRPr>
            </a:pPr>
            <a:r>
              <a:t>5</a:t>
            </a:r>
          </a:p>
        </p:txBody>
      </p:sp>
      <p:sp>
        <p:nvSpPr>
          <p:cNvPr id="27" name="TextBox 26"/>
          <p:cNvSpPr txBox="1"/>
          <p:nvPr/>
        </p:nvSpPr>
        <p:spPr>
          <a:xfrm>
            <a:off x="457200" y="6949440"/>
            <a:ext cx="8229600" cy="228600"/>
          </a:xfrm>
          <a:prstGeom prst="rect">
            <a:avLst/>
          </a:prstGeom>
          <a:noFill/>
        </p:spPr>
        <p:txBody>
          <a:bodyPr wrap="square">
            <a:spAutoFit/>
          </a:bodyPr>
          <a:lstStyle/>
          <a:p>
            <a:pPr algn="l">
              <a:defRPr sz="1000" b="0">
                <a:latin typeface="Malgun Gothic"/>
              </a:defRPr>
            </a:pPr>
            <a:r>
              <a:t>해양수산분야 안전망 강화</a:t>
            </a:r>
            <a:br/>
            <a:r>
              <a:t>및 포용기반 정착</a:t>
            </a:r>
          </a:p>
        </p:txBody>
      </p:sp>
      <p:sp>
        <p:nvSpPr>
          <p:cNvPr id="28" name="TextBox 27"/>
          <p:cNvSpPr txBox="1"/>
          <p:nvPr/>
        </p:nvSpPr>
        <p:spPr>
          <a:xfrm>
            <a:off x="457200" y="7269480"/>
            <a:ext cx="8229600" cy="228600"/>
          </a:xfrm>
          <a:prstGeom prst="rect">
            <a:avLst/>
          </a:prstGeom>
          <a:noFill/>
        </p:spPr>
        <p:txBody>
          <a:bodyPr wrap="square">
            <a:spAutoFit/>
          </a:bodyPr>
          <a:lstStyle/>
          <a:p>
            <a:pPr algn="l">
              <a:defRPr sz="1000" b="0">
                <a:latin typeface="Malgun Gothic"/>
              </a:defRPr>
            </a:pPr>
            <a:r>
              <a:t>1) 코로나19 방역·지원</a:t>
            </a:r>
            <a:br/>
            <a:r>
              <a:t>2) 선박·수산물 안전관리</a:t>
            </a:r>
            <a:br/>
            <a:r>
              <a:t>3) 선원·어업인 지원</a:t>
            </a:r>
          </a:p>
        </p:txBody>
      </p:sp>
      <p:sp>
        <p:nvSpPr>
          <p:cNvPr id="29" name="TextBox 28"/>
          <p:cNvSpPr txBox="1"/>
          <p:nvPr/>
        </p:nvSpPr>
        <p:spPr>
          <a:xfrm>
            <a:off x="457200" y="7589520"/>
            <a:ext cx="8229600" cy="228600"/>
          </a:xfrm>
          <a:prstGeom prst="rect">
            <a:avLst/>
          </a:prstGeom>
          <a:noFill/>
        </p:spPr>
        <p:txBody>
          <a:bodyPr wrap="square">
            <a:spAutoFit/>
          </a:bodyPr>
          <a:lstStyle/>
          <a:p>
            <a:pPr algn="l">
              <a:defRPr sz="1000" b="0">
                <a:latin typeface="Malgun Gothic"/>
              </a:defRPr>
            </a:pPr>
            <a:r>
              <a:t>공단 추진 과제 (지원과제 포함)</a:t>
            </a:r>
          </a:p>
        </p:txBody>
      </p:sp>
      <p:sp>
        <p:nvSpPr>
          <p:cNvPr id="30" name="TextBox 29"/>
          <p:cNvSpPr txBox="1"/>
          <p:nvPr/>
        </p:nvSpPr>
        <p:spPr>
          <a:xfrm>
            <a:off x="457200" y="7909560"/>
            <a:ext cx="8229600" cy="228600"/>
          </a:xfrm>
          <a:prstGeom prst="rect">
            <a:avLst/>
          </a:prstGeom>
          <a:noFill/>
        </p:spPr>
        <p:txBody>
          <a:bodyPr wrap="square">
            <a:spAutoFit/>
          </a:bodyPr>
          <a:lstStyle/>
          <a:p>
            <a:pPr algn="l">
              <a:defRPr sz="1000" b="0">
                <a:latin typeface="Malgun Gothic"/>
              </a:defRPr>
            </a:pPr>
            <a:r>
              <a:t>해양관광·문화인프라 확충(치유, 생태관광)</a:t>
            </a:r>
          </a:p>
        </p:txBody>
      </p:sp>
      <p:sp>
        <p:nvSpPr>
          <p:cNvPr id="31" name="TextBox 30"/>
          <p:cNvSpPr txBox="1"/>
          <p:nvPr/>
        </p:nvSpPr>
        <p:spPr>
          <a:xfrm>
            <a:off x="457200" y="8229600"/>
            <a:ext cx="8229600" cy="228600"/>
          </a:xfrm>
          <a:prstGeom prst="rect">
            <a:avLst/>
          </a:prstGeom>
          <a:noFill/>
        </p:spPr>
        <p:txBody>
          <a:bodyPr wrap="square">
            <a:spAutoFit/>
          </a:bodyPr>
          <a:lstStyle/>
          <a:p>
            <a:pPr algn="l">
              <a:defRPr sz="1000" b="0">
                <a:latin typeface="Malgun Gothic"/>
              </a:defRPr>
            </a:pPr>
            <a:r>
              <a:t>선박·항만 탈탄소화 (친환경선박 전환)</a:t>
            </a:r>
          </a:p>
        </p:txBody>
      </p:sp>
      <p:sp>
        <p:nvSpPr>
          <p:cNvPr id="32" name="TextBox 31"/>
          <p:cNvSpPr txBox="1"/>
          <p:nvPr/>
        </p:nvSpPr>
        <p:spPr>
          <a:xfrm>
            <a:off x="457200" y="8549640"/>
            <a:ext cx="8229600" cy="228600"/>
          </a:xfrm>
          <a:prstGeom prst="rect">
            <a:avLst/>
          </a:prstGeom>
          <a:noFill/>
        </p:spPr>
        <p:txBody>
          <a:bodyPr wrap="square">
            <a:spAutoFit/>
          </a:bodyPr>
          <a:lstStyle/>
          <a:p>
            <a:pPr algn="l">
              <a:defRPr sz="1000" b="0">
                <a:latin typeface="Malgun Gothic"/>
              </a:defRPr>
            </a:pPr>
            <a:r>
              <a:t>탄소흡수원 개발·확충 (CSS, 블루카본)</a:t>
            </a:r>
          </a:p>
        </p:txBody>
      </p:sp>
      <p:sp>
        <p:nvSpPr>
          <p:cNvPr id="33" name="TextBox 32"/>
          <p:cNvSpPr txBox="1"/>
          <p:nvPr/>
        </p:nvSpPr>
        <p:spPr>
          <a:xfrm>
            <a:off x="457200" y="8869680"/>
            <a:ext cx="8229600" cy="228600"/>
          </a:xfrm>
          <a:prstGeom prst="rect">
            <a:avLst/>
          </a:prstGeom>
          <a:noFill/>
        </p:spPr>
        <p:txBody>
          <a:bodyPr wrap="square">
            <a:spAutoFit/>
          </a:bodyPr>
          <a:lstStyle/>
          <a:p>
            <a:pPr algn="l">
              <a:defRPr sz="1000" b="0">
                <a:latin typeface="Malgun Gothic"/>
              </a:defRPr>
            </a:pPr>
            <a:r>
              <a:t>청정에너지 개발 (해양에너지 상용화)</a:t>
            </a:r>
          </a:p>
        </p:txBody>
      </p:sp>
      <p:sp>
        <p:nvSpPr>
          <p:cNvPr id="34" name="TextBox 33"/>
          <p:cNvSpPr txBox="1"/>
          <p:nvPr/>
        </p:nvSpPr>
        <p:spPr>
          <a:xfrm>
            <a:off x="457200" y="9189720"/>
            <a:ext cx="8229600" cy="228600"/>
          </a:xfrm>
          <a:prstGeom prst="rect">
            <a:avLst/>
          </a:prstGeom>
          <a:noFill/>
        </p:spPr>
        <p:txBody>
          <a:bodyPr wrap="square">
            <a:spAutoFit/>
          </a:bodyPr>
          <a:lstStyle/>
          <a:p>
            <a:pPr algn="l">
              <a:defRPr sz="1000" b="0">
                <a:latin typeface="Malgun Gothic"/>
              </a:defRPr>
            </a:pPr>
            <a:r>
              <a:t>기후변화 관측·예측 역량 강화</a:t>
            </a:r>
          </a:p>
        </p:txBody>
      </p:sp>
      <p:sp>
        <p:nvSpPr>
          <p:cNvPr id="35" name="TextBox 34"/>
          <p:cNvSpPr txBox="1"/>
          <p:nvPr/>
        </p:nvSpPr>
        <p:spPr>
          <a:xfrm>
            <a:off x="457200" y="9509760"/>
            <a:ext cx="8229600" cy="228600"/>
          </a:xfrm>
          <a:prstGeom prst="rect">
            <a:avLst/>
          </a:prstGeom>
          <a:noFill/>
        </p:spPr>
        <p:txBody>
          <a:bodyPr wrap="square">
            <a:spAutoFit/>
          </a:bodyPr>
          <a:lstStyle/>
          <a:p>
            <a:pPr algn="l">
              <a:defRPr sz="1000" b="0">
                <a:latin typeface="Malgun Gothic"/>
              </a:defRPr>
            </a:pPr>
            <a:r>
              <a:t>기후변화 적응력 향상 (해양생태계 관리)</a:t>
            </a:r>
          </a:p>
        </p:txBody>
      </p:sp>
      <p:sp>
        <p:nvSpPr>
          <p:cNvPr id="36" name="TextBox 35"/>
          <p:cNvSpPr txBox="1"/>
          <p:nvPr/>
        </p:nvSpPr>
        <p:spPr>
          <a:xfrm>
            <a:off x="457200" y="9829800"/>
            <a:ext cx="8229600" cy="228600"/>
          </a:xfrm>
          <a:prstGeom prst="rect">
            <a:avLst/>
          </a:prstGeom>
          <a:noFill/>
        </p:spPr>
        <p:txBody>
          <a:bodyPr wrap="square">
            <a:spAutoFit/>
          </a:bodyPr>
          <a:lstStyle/>
          <a:p>
            <a:pPr algn="l">
              <a:defRPr sz="1000" b="0">
                <a:latin typeface="Malgun Gothic"/>
              </a:defRPr>
            </a:pPr>
            <a:r>
              <a:t>발생원 저감 (해양·육상 쓰레기 발생 저감)</a:t>
            </a:r>
          </a:p>
        </p:txBody>
      </p:sp>
      <p:sp>
        <p:nvSpPr>
          <p:cNvPr id="37" name="TextBox 36"/>
          <p:cNvSpPr txBox="1"/>
          <p:nvPr/>
        </p:nvSpPr>
        <p:spPr>
          <a:xfrm>
            <a:off x="457200" y="10149840"/>
            <a:ext cx="8229600" cy="228600"/>
          </a:xfrm>
          <a:prstGeom prst="rect">
            <a:avLst/>
          </a:prstGeom>
          <a:noFill/>
        </p:spPr>
        <p:txBody>
          <a:bodyPr wrap="square">
            <a:spAutoFit/>
          </a:bodyPr>
          <a:lstStyle/>
          <a:p>
            <a:pPr algn="l">
              <a:defRPr sz="1000" b="0">
                <a:latin typeface="Malgun Gothic"/>
              </a:defRPr>
            </a:pPr>
            <a:r>
              <a:t>수거·처리·재활용 강화 (인프라 확대·스마트화)</a:t>
            </a:r>
          </a:p>
        </p:txBody>
      </p:sp>
      <p:sp>
        <p:nvSpPr>
          <p:cNvPr id="38" name="TextBox 37"/>
          <p:cNvSpPr txBox="1"/>
          <p:nvPr/>
        </p:nvSpPr>
        <p:spPr>
          <a:xfrm>
            <a:off x="457200" y="10469880"/>
            <a:ext cx="8229600" cy="228600"/>
          </a:xfrm>
          <a:prstGeom prst="rect">
            <a:avLst/>
          </a:prstGeom>
          <a:noFill/>
        </p:spPr>
        <p:txBody>
          <a:bodyPr wrap="square">
            <a:spAutoFit/>
          </a:bodyPr>
          <a:lstStyle/>
          <a:p>
            <a:pPr algn="l">
              <a:defRPr sz="1000" b="0">
                <a:latin typeface="Malgun Gothic"/>
              </a:defRPr>
            </a:pPr>
            <a:r>
              <a:t>민·관 거버넌스 확립 (국민참여, 범부처협력)</a:t>
            </a:r>
          </a:p>
        </p:txBody>
      </p:sp>
      <p:sp>
        <p:nvSpPr>
          <p:cNvPr id="39" name="TextBox 38"/>
          <p:cNvSpPr txBox="1"/>
          <p:nvPr/>
        </p:nvSpPr>
        <p:spPr>
          <a:xfrm>
            <a:off x="457200" y="10789920"/>
            <a:ext cx="8229600" cy="228600"/>
          </a:xfrm>
          <a:prstGeom prst="rect">
            <a:avLst/>
          </a:prstGeom>
          <a:noFill/>
        </p:spPr>
        <p:txBody>
          <a:bodyPr wrap="square">
            <a:spAutoFit/>
          </a:bodyPr>
          <a:lstStyle/>
          <a:p>
            <a:pPr algn="l">
              <a:defRPr sz="1000" b="0">
                <a:latin typeface="Malgun Gothic"/>
              </a:defRPr>
            </a:pPr>
            <a:r>
              <a:t>P4G 정상회의 (친환경선박, 해양쓰레기 부문)</a:t>
            </a:r>
          </a:p>
        </p:txBody>
      </p:sp>
      <p:sp>
        <p:nvSpPr>
          <p:cNvPr id="40" name="TextBox 39"/>
          <p:cNvSpPr txBox="1"/>
          <p:nvPr/>
        </p:nvSpPr>
        <p:spPr>
          <a:xfrm>
            <a:off x="457200" y="11109960"/>
            <a:ext cx="8229600" cy="228600"/>
          </a:xfrm>
          <a:prstGeom prst="rect">
            <a:avLst/>
          </a:prstGeom>
          <a:noFill/>
        </p:spPr>
        <p:txBody>
          <a:bodyPr wrap="square">
            <a:spAutoFit/>
          </a:bodyPr>
          <a:lstStyle/>
          <a:p>
            <a:pPr algn="l">
              <a:defRPr sz="1000" b="0">
                <a:latin typeface="Malgun Gothic"/>
              </a:defRPr>
            </a:pPr>
            <a:r>
              <a:t>국제기구·ODA (국제기구 참여, ODA 확대)</a:t>
            </a:r>
          </a:p>
        </p:txBody>
      </p:sp>
      <p:sp>
        <p:nvSpPr>
          <p:cNvPr id="41" name="TextBox 40"/>
          <p:cNvSpPr txBox="1"/>
          <p:nvPr/>
        </p:nvSpPr>
        <p:spPr>
          <a:xfrm>
            <a:off x="457200" y="11430000"/>
            <a:ext cx="8229600" cy="228600"/>
          </a:xfrm>
          <a:prstGeom prst="rect">
            <a:avLst/>
          </a:prstGeom>
          <a:noFill/>
        </p:spPr>
        <p:txBody>
          <a:bodyPr wrap="square">
            <a:spAutoFit/>
          </a:bodyPr>
          <a:lstStyle/>
          <a:p>
            <a:pPr algn="l">
              <a:defRPr sz="1000" b="0">
                <a:latin typeface="Malgun Gothic"/>
              </a:defRPr>
            </a:pPr>
            <a:r>
              <a:t>해양안전·빅데이터 (해양 빅데이터 플랫폼)</a:t>
            </a:r>
          </a:p>
        </p:txBody>
      </p:sp>
      <p:sp>
        <p:nvSpPr>
          <p:cNvPr id="42" name="TextBox 41"/>
          <p:cNvSpPr txBox="1"/>
          <p:nvPr/>
        </p:nvSpPr>
        <p:spPr>
          <a:xfrm>
            <a:off x="457200" y="11750040"/>
            <a:ext cx="8229600" cy="228600"/>
          </a:xfrm>
          <a:prstGeom prst="rect">
            <a:avLst/>
          </a:prstGeom>
          <a:noFill/>
        </p:spPr>
        <p:txBody>
          <a:bodyPr wrap="square">
            <a:spAutoFit/>
          </a:bodyPr>
          <a:lstStyle/>
          <a:p>
            <a:pPr algn="l">
              <a:defRPr sz="1000" b="0">
                <a:latin typeface="Malgun Gothic"/>
              </a:defRPr>
            </a:pPr>
            <a:r>
              <a:t>선박안전 (어선사고 예방, 안전문화확산)</a:t>
            </a:r>
          </a:p>
        </p:txBody>
      </p:sp>
      <p:sp>
        <p:nvSpPr>
          <p:cNvPr id="43" name="Rectangle 42"/>
          <p:cNvSpPr/>
          <p:nvPr/>
        </p:nvSpPr>
        <p:spPr>
          <a:xfrm>
            <a:off x="457200" y="384048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44" name="TextBox 43"/>
          <p:cNvSpPr txBox="1"/>
          <p:nvPr/>
        </p:nvSpPr>
        <p:spPr>
          <a:xfrm>
            <a:off x="548640" y="393192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45" name="Rectangle 44"/>
          <p:cNvSpPr/>
          <p:nvPr/>
        </p:nvSpPr>
        <p:spPr>
          <a:xfrm>
            <a:off x="3230880" y="384048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46" name="TextBox 45"/>
          <p:cNvSpPr txBox="1"/>
          <p:nvPr/>
        </p:nvSpPr>
        <p:spPr>
          <a:xfrm>
            <a:off x="3322320" y="393192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47" name="Rectangle 46"/>
          <p:cNvSpPr/>
          <p:nvPr/>
        </p:nvSpPr>
        <p:spPr>
          <a:xfrm>
            <a:off x="6004560" y="384048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48" name="TextBox 47"/>
          <p:cNvSpPr txBox="1"/>
          <p:nvPr/>
        </p:nvSpPr>
        <p:spPr>
          <a:xfrm>
            <a:off x="6096000" y="393192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49" name="TextBox 48"/>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제3차 해양수산발전 기본계획</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제3차 해양수산발전 기본계획에서 해양환경 영역은 추진전략 5. 환경 친화적·합리적 해양 이용 전략과제의 3개 세부과제로 구성되어 있으며, 해양환경은 전체 해양수산 추진전략에 내포되어 기반을 제공하고 있음</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제3차 해양수산발전 기본계획 : 해양환경은 해양수산 전체 추진전략의 기반 제공</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2030 비전</a:t>
            </a:r>
          </a:p>
        </p:txBody>
      </p:sp>
      <p:sp>
        <p:nvSpPr>
          <p:cNvPr id="6" name="TextBox 5"/>
          <p:cNvSpPr txBox="1"/>
          <p:nvPr/>
        </p:nvSpPr>
        <p:spPr>
          <a:xfrm>
            <a:off x="457200" y="2148840"/>
            <a:ext cx="8229600" cy="228600"/>
          </a:xfrm>
          <a:prstGeom prst="rect">
            <a:avLst/>
          </a:prstGeom>
          <a:noFill/>
        </p:spPr>
        <p:txBody>
          <a:bodyPr wrap="square">
            <a:spAutoFit/>
          </a:bodyPr>
          <a:lstStyle/>
          <a:p>
            <a:pPr algn="l">
              <a:defRPr sz="1000" b="0">
                <a:latin typeface="Malgun Gothic"/>
              </a:defRPr>
            </a:pPr>
            <a:r>
              <a:t>전환의 시대, 생명의 바다 풍요로운 미래</a:t>
            </a:r>
          </a:p>
        </p:txBody>
      </p:sp>
      <p:sp>
        <p:nvSpPr>
          <p:cNvPr id="7" name="TextBox 6"/>
          <p:cNvSpPr txBox="1"/>
          <p:nvPr/>
        </p:nvSpPr>
        <p:spPr>
          <a:xfrm>
            <a:off x="457200" y="2468880"/>
            <a:ext cx="8229600" cy="228600"/>
          </a:xfrm>
          <a:prstGeom prst="rect">
            <a:avLst/>
          </a:prstGeom>
          <a:noFill/>
        </p:spPr>
        <p:txBody>
          <a:bodyPr wrap="square">
            <a:spAutoFit/>
          </a:bodyPr>
          <a:lstStyle/>
          <a:p>
            <a:pPr algn="l">
              <a:defRPr sz="1000" b="0">
                <a:latin typeface="Malgun Gothic"/>
              </a:defRPr>
            </a:pPr>
            <a:r>
              <a:t>목표 1</a:t>
            </a:r>
          </a:p>
        </p:txBody>
      </p:sp>
      <p:sp>
        <p:nvSpPr>
          <p:cNvPr id="8" name="TextBox 7"/>
          <p:cNvSpPr txBox="1"/>
          <p:nvPr/>
        </p:nvSpPr>
        <p:spPr>
          <a:xfrm>
            <a:off x="457200" y="2788920"/>
            <a:ext cx="8229600" cy="228600"/>
          </a:xfrm>
          <a:prstGeom prst="rect">
            <a:avLst/>
          </a:prstGeom>
          <a:noFill/>
        </p:spPr>
        <p:txBody>
          <a:bodyPr wrap="square">
            <a:spAutoFit/>
          </a:bodyPr>
          <a:lstStyle/>
          <a:p>
            <a:pPr algn="l">
              <a:defRPr sz="1000" b="0">
                <a:latin typeface="Malgun Gothic"/>
              </a:defRPr>
            </a:pPr>
            <a:r>
              <a:t>안전하고 행복한 포용의 바다</a:t>
            </a:r>
          </a:p>
        </p:txBody>
      </p:sp>
      <p:sp>
        <p:nvSpPr>
          <p:cNvPr id="9" name="TextBox 8"/>
          <p:cNvSpPr txBox="1"/>
          <p:nvPr/>
        </p:nvSpPr>
        <p:spPr>
          <a:xfrm>
            <a:off x="457200" y="3108960"/>
            <a:ext cx="8229600" cy="228600"/>
          </a:xfrm>
          <a:prstGeom prst="rect">
            <a:avLst/>
          </a:prstGeom>
          <a:noFill/>
        </p:spPr>
        <p:txBody>
          <a:bodyPr wrap="square">
            <a:spAutoFit/>
          </a:bodyPr>
          <a:lstStyle/>
          <a:p>
            <a:pPr algn="l">
              <a:defRPr sz="1000" b="0">
                <a:latin typeface="Malgun Gothic"/>
              </a:defRPr>
            </a:pPr>
            <a:r>
              <a:t>목표 2</a:t>
            </a:r>
          </a:p>
        </p:txBody>
      </p:sp>
      <p:sp>
        <p:nvSpPr>
          <p:cNvPr id="10" name="TextBox 9"/>
          <p:cNvSpPr txBox="1"/>
          <p:nvPr/>
        </p:nvSpPr>
        <p:spPr>
          <a:xfrm>
            <a:off x="457200" y="3429000"/>
            <a:ext cx="8229600" cy="228600"/>
          </a:xfrm>
          <a:prstGeom prst="rect">
            <a:avLst/>
          </a:prstGeom>
          <a:noFill/>
        </p:spPr>
        <p:txBody>
          <a:bodyPr wrap="square">
            <a:spAutoFit/>
          </a:bodyPr>
          <a:lstStyle/>
          <a:p>
            <a:pPr algn="l">
              <a:defRPr sz="1000" b="0">
                <a:latin typeface="Malgun Gothic"/>
              </a:defRPr>
            </a:pPr>
            <a:r>
              <a:t>디지털과 혁신이 이끄는 성장의 바다</a:t>
            </a:r>
          </a:p>
        </p:txBody>
      </p:sp>
      <p:sp>
        <p:nvSpPr>
          <p:cNvPr id="11" name="TextBox 10"/>
          <p:cNvSpPr txBox="1"/>
          <p:nvPr/>
        </p:nvSpPr>
        <p:spPr>
          <a:xfrm>
            <a:off x="457200" y="3749040"/>
            <a:ext cx="8229600" cy="228600"/>
          </a:xfrm>
          <a:prstGeom prst="rect">
            <a:avLst/>
          </a:prstGeom>
          <a:noFill/>
        </p:spPr>
        <p:txBody>
          <a:bodyPr wrap="square">
            <a:spAutoFit/>
          </a:bodyPr>
          <a:lstStyle/>
          <a:p>
            <a:pPr algn="l">
              <a:defRPr sz="1000" b="0">
                <a:latin typeface="Malgun Gothic"/>
              </a:defRPr>
            </a:pPr>
            <a:r>
              <a:t>목표 3</a:t>
            </a:r>
          </a:p>
        </p:txBody>
      </p:sp>
      <p:sp>
        <p:nvSpPr>
          <p:cNvPr id="12" name="TextBox 11"/>
          <p:cNvSpPr txBox="1"/>
          <p:nvPr/>
        </p:nvSpPr>
        <p:spPr>
          <a:xfrm>
            <a:off x="457200" y="4069080"/>
            <a:ext cx="8229600" cy="228600"/>
          </a:xfrm>
          <a:prstGeom prst="rect">
            <a:avLst/>
          </a:prstGeom>
          <a:noFill/>
        </p:spPr>
        <p:txBody>
          <a:bodyPr wrap="square">
            <a:spAutoFit/>
          </a:bodyPr>
          <a:lstStyle/>
          <a:p>
            <a:pPr algn="l">
              <a:defRPr sz="1000" b="0">
                <a:latin typeface="Malgun Gothic"/>
              </a:defRPr>
            </a:pPr>
            <a:r>
              <a:t>세대와 세계를 아우르는 상생의 바다</a:t>
            </a:r>
          </a:p>
        </p:txBody>
      </p:sp>
      <p:sp>
        <p:nvSpPr>
          <p:cNvPr id="13" name="TextBox 12"/>
          <p:cNvSpPr txBox="1"/>
          <p:nvPr/>
        </p:nvSpPr>
        <p:spPr>
          <a:xfrm>
            <a:off x="457200" y="4389120"/>
            <a:ext cx="8229600" cy="274320"/>
          </a:xfrm>
          <a:prstGeom prst="rect">
            <a:avLst/>
          </a:prstGeom>
          <a:noFill/>
        </p:spPr>
        <p:txBody>
          <a:bodyPr wrap="square">
            <a:spAutoFit/>
          </a:bodyPr>
          <a:lstStyle/>
          <a:p>
            <a:pPr algn="l">
              <a:defRPr sz="1200" b="1">
                <a:solidFill>
                  <a:srgbClr val="003366"/>
                </a:solidFill>
                <a:latin typeface="Malgun Gothic"/>
              </a:defRPr>
            </a:pPr>
            <a:r>
              <a:t>6대 추진전략</a:t>
            </a:r>
          </a:p>
        </p:txBody>
      </p:sp>
      <p:sp>
        <p:nvSpPr>
          <p:cNvPr id="14" name="TextBox 13"/>
          <p:cNvSpPr txBox="1"/>
          <p:nvPr/>
        </p:nvSpPr>
        <p:spPr>
          <a:xfrm>
            <a:off x="457200" y="4754880"/>
            <a:ext cx="8229600" cy="457200"/>
          </a:xfrm>
          <a:prstGeom prst="rect">
            <a:avLst/>
          </a:prstGeom>
          <a:noFill/>
        </p:spPr>
        <p:txBody>
          <a:bodyPr wrap="square">
            <a:spAutoFit/>
          </a:bodyPr>
          <a:lstStyle/>
          <a:p>
            <a:pPr algn="l">
              <a:defRPr sz="1000" b="0">
                <a:latin typeface="Malgun Gothic"/>
              </a:defRPr>
            </a:pPr>
            <a:r>
              <a:t>1. 해양수산의 안전 강화</a:t>
            </a:r>
            <a:br/>
            <a:r>
              <a:t>① 안심하고 일하며 누리는 해양</a:t>
            </a:r>
            <a:br/>
            <a:r>
              <a:t>② 믿고 먹는 신선한 수산물</a:t>
            </a:r>
            <a:br/>
            <a:r>
              <a:t>③ 재난·재해 걱정 없는 안전한 해안</a:t>
            </a:r>
          </a:p>
        </p:txBody>
      </p:sp>
      <p:sp>
        <p:nvSpPr>
          <p:cNvPr id="15" name="TextBox 14"/>
          <p:cNvSpPr txBox="1"/>
          <p:nvPr/>
        </p:nvSpPr>
        <p:spPr>
          <a:xfrm>
            <a:off x="457200" y="5303520"/>
            <a:ext cx="8229600" cy="457200"/>
          </a:xfrm>
          <a:prstGeom prst="rect">
            <a:avLst/>
          </a:prstGeom>
          <a:noFill/>
        </p:spPr>
        <p:txBody>
          <a:bodyPr wrap="square">
            <a:spAutoFit/>
          </a:bodyPr>
          <a:lstStyle/>
          <a:p>
            <a:pPr algn="l">
              <a:defRPr sz="1000" b="0">
                <a:latin typeface="Malgun Gothic"/>
              </a:defRPr>
            </a:pPr>
            <a:r>
              <a:t>2. 머물고 싶은 어촌·연안 조성</a:t>
            </a:r>
            <a:br/>
            <a:r>
              <a:t>① 함께 잘 사는 어촌</a:t>
            </a:r>
            <a:br/>
            <a:r>
              <a:t>② 편리하고 매력 넘치는 섬</a:t>
            </a:r>
            <a:br/>
            <a:r>
              <a:t>③ 지역과 어우러지는 연안·항만 조성</a:t>
            </a:r>
          </a:p>
        </p:txBody>
      </p:sp>
      <p:sp>
        <p:nvSpPr>
          <p:cNvPr id="16" name="TextBox 15"/>
          <p:cNvSpPr txBox="1"/>
          <p:nvPr/>
        </p:nvSpPr>
        <p:spPr>
          <a:xfrm>
            <a:off x="457200" y="5852160"/>
            <a:ext cx="8229600" cy="457200"/>
          </a:xfrm>
          <a:prstGeom prst="rect">
            <a:avLst/>
          </a:prstGeom>
          <a:noFill/>
        </p:spPr>
        <p:txBody>
          <a:bodyPr wrap="square">
            <a:spAutoFit/>
          </a:bodyPr>
          <a:lstStyle/>
          <a:p>
            <a:pPr algn="l">
              <a:defRPr sz="1000" b="0">
                <a:latin typeface="Malgun Gothic"/>
              </a:defRPr>
            </a:pPr>
            <a:r>
              <a:t>3. 해양수산업의 디지털 전환</a:t>
            </a:r>
            <a:br/>
            <a:r>
              <a:t>① 해운·항만산업의 스마트화</a:t>
            </a:r>
            <a:br/>
            <a:r>
              <a:t>② 수산업의 미래산업화</a:t>
            </a:r>
            <a:br/>
            <a:r>
              <a:t>③ 해양수산업의 데이터 경제 활성화</a:t>
            </a:r>
          </a:p>
        </p:txBody>
      </p:sp>
      <p:sp>
        <p:nvSpPr>
          <p:cNvPr id="17" name="TextBox 16"/>
          <p:cNvSpPr txBox="1"/>
          <p:nvPr/>
        </p:nvSpPr>
        <p:spPr>
          <a:xfrm>
            <a:off x="457200" y="6400800"/>
            <a:ext cx="8229600" cy="457200"/>
          </a:xfrm>
          <a:prstGeom prst="rect">
            <a:avLst/>
          </a:prstGeom>
          <a:noFill/>
        </p:spPr>
        <p:txBody>
          <a:bodyPr wrap="square">
            <a:spAutoFit/>
          </a:bodyPr>
          <a:lstStyle/>
          <a:p>
            <a:pPr algn="l">
              <a:defRPr sz="1000" b="0">
                <a:latin typeface="Malgun Gothic"/>
              </a:defRPr>
            </a:pPr>
            <a:r>
              <a:t>4. 해양수산업의 질적 도약</a:t>
            </a:r>
            <a:br/>
            <a:r>
              <a:t>① 해양수산 新산업 시장 창출</a:t>
            </a:r>
            <a:br/>
            <a:r>
              <a:t>② 기존 사업의 혁신 성장 촉진</a:t>
            </a:r>
            <a:br/>
            <a:r>
              <a:t>③ 선순환 구조의 산업생태계 조성</a:t>
            </a:r>
          </a:p>
        </p:txBody>
      </p:sp>
      <p:sp>
        <p:nvSpPr>
          <p:cNvPr id="18" name="TextBox 17"/>
          <p:cNvSpPr txBox="1"/>
          <p:nvPr/>
        </p:nvSpPr>
        <p:spPr>
          <a:xfrm>
            <a:off x="457200" y="6949440"/>
            <a:ext cx="8229600" cy="457200"/>
          </a:xfrm>
          <a:prstGeom prst="rect">
            <a:avLst/>
          </a:prstGeom>
          <a:noFill/>
        </p:spPr>
        <p:txBody>
          <a:bodyPr wrap="square">
            <a:spAutoFit/>
          </a:bodyPr>
          <a:lstStyle/>
          <a:p>
            <a:pPr algn="l">
              <a:defRPr sz="1000" b="0">
                <a:latin typeface="Malgun Gothic"/>
              </a:defRPr>
            </a:pPr>
            <a:r>
              <a:t>5. 환경 친화적·합리적 해양 이용</a:t>
            </a:r>
            <a:br/>
            <a:r>
              <a:t>① 탈탄소·친환경의 쾌적한 항만 실현</a:t>
            </a:r>
            <a:br/>
            <a:r>
              <a:t>② 해양공간 활용·관리의 최적화</a:t>
            </a:r>
            <a:br/>
            <a:r>
              <a:t>③ 해양생태계의 다양성 보존</a:t>
            </a:r>
          </a:p>
        </p:txBody>
      </p:sp>
      <p:sp>
        <p:nvSpPr>
          <p:cNvPr id="19" name="TextBox 18"/>
          <p:cNvSpPr txBox="1"/>
          <p:nvPr/>
        </p:nvSpPr>
        <p:spPr>
          <a:xfrm>
            <a:off x="457200" y="7498080"/>
            <a:ext cx="8229600" cy="457200"/>
          </a:xfrm>
          <a:prstGeom prst="rect">
            <a:avLst/>
          </a:prstGeom>
          <a:noFill/>
        </p:spPr>
        <p:txBody>
          <a:bodyPr wrap="square">
            <a:spAutoFit/>
          </a:bodyPr>
          <a:lstStyle/>
          <a:p>
            <a:pPr algn="l">
              <a:defRPr sz="1000" b="0">
                <a:latin typeface="Malgun Gothic"/>
              </a:defRPr>
            </a:pPr>
            <a:r>
              <a:t>6. 국제협력을 선도하는 해양강국</a:t>
            </a:r>
            <a:br/>
            <a:r>
              <a:t>① "K-해양수산"으로 국제사회 상생 견인</a:t>
            </a:r>
            <a:br/>
            <a:r>
              <a:t>② 굳건한 해양안보로 해양영토 수호</a:t>
            </a:r>
            <a:br/>
            <a:r>
              <a:t>③ 해양협력으로 동북아 번영에 기여</a:t>
            </a:r>
          </a:p>
        </p:txBody>
      </p:sp>
      <p:sp>
        <p:nvSpPr>
          <p:cNvPr id="20" name="TextBox 19"/>
          <p:cNvSpPr txBox="1"/>
          <p:nvPr/>
        </p:nvSpPr>
        <p:spPr>
          <a:xfrm>
            <a:off x="457200" y="8046720"/>
            <a:ext cx="8229600" cy="274320"/>
          </a:xfrm>
          <a:prstGeom prst="rect">
            <a:avLst/>
          </a:prstGeom>
          <a:noFill/>
        </p:spPr>
        <p:txBody>
          <a:bodyPr wrap="square">
            <a:spAutoFit/>
          </a:bodyPr>
          <a:lstStyle/>
          <a:p>
            <a:pPr algn="l">
              <a:defRPr sz="1200" b="1">
                <a:solidFill>
                  <a:srgbClr val="003366"/>
                </a:solidFill>
                <a:latin typeface="Malgun Gothic"/>
              </a:defRPr>
            </a:pPr>
            <a:r>
              <a:t>Key Findings</a:t>
            </a:r>
          </a:p>
        </p:txBody>
      </p:sp>
      <p:sp>
        <p:nvSpPr>
          <p:cNvPr id="21" name="TextBox 20"/>
          <p:cNvSpPr txBox="1"/>
          <p:nvPr/>
        </p:nvSpPr>
        <p:spPr>
          <a:xfrm>
            <a:off x="457200" y="8412480"/>
            <a:ext cx="8229600" cy="1143000"/>
          </a:xfrm>
          <a:prstGeom prst="rect">
            <a:avLst/>
          </a:prstGeom>
          <a:noFill/>
        </p:spPr>
        <p:txBody>
          <a:bodyPr wrap="square">
            <a:spAutoFit/>
          </a:bodyPr>
          <a:lstStyle/>
          <a:p>
            <a:pPr algn="l">
              <a:defRPr sz="1000" b="0">
                <a:latin typeface="Malgun Gothic"/>
              </a:defRPr>
            </a:pPr>
            <a:r>
              <a:t>■ 해양수산발전계획은</a:t>
            </a:r>
            <a:br/>
            <a:r>
              <a:t> 디지털, 친환경 등</a:t>
            </a:r>
            <a:br/>
            <a:r>
              <a:t> 산업의 전환을 전제로</a:t>
            </a:r>
            <a:br/>
            <a:r>
              <a:t> 안전과 성장을 주요</a:t>
            </a:r>
            <a:br/>
            <a:r>
              <a:t> 목표로 수립하고 있음</a:t>
            </a:r>
            <a:br/>
            <a:br/>
            <a:r>
              <a:t>• 6대 추진전략은 해양</a:t>
            </a:r>
            <a:br/>
            <a:r>
              <a:t> 물류, 수산업, 어촌</a:t>
            </a:r>
            <a:br/>
            <a:r>
              <a:t> 발전 등 주요 분야의</a:t>
            </a:r>
            <a:br/>
            <a:r>
              <a:t> 전략으로 구성</a:t>
            </a:r>
            <a:br/>
            <a:br/>
            <a:r>
              <a:t>• 해양수산 전분야에서</a:t>
            </a:r>
            <a:br/>
            <a:r>
              <a:t> 해양환경·생태계 보전,</a:t>
            </a:r>
            <a:br/>
            <a:r>
              <a:t> 복원, 정화 등 해양환경</a:t>
            </a:r>
            <a:br/>
            <a:r>
              <a:t> 영역 연계과제 포함</a:t>
            </a:r>
            <a:br/>
            <a:br/>
            <a:r>
              <a:t>■ 해양환경 직접과제는</a:t>
            </a:r>
            <a:br/>
            <a:r>
              <a:t> 환경 친화적, 합리적</a:t>
            </a:r>
            <a:br/>
            <a:r>
              <a:t> 해양 이용 전략의 3개</a:t>
            </a:r>
            <a:br/>
            <a:r>
              <a:t> 세부과제로 구성됨</a:t>
            </a:r>
          </a:p>
        </p:txBody>
      </p:sp>
      <p:sp>
        <p:nvSpPr>
          <p:cNvPr id="22" name="TextBox 21"/>
          <p:cNvSpPr txBox="1"/>
          <p:nvPr/>
        </p:nvSpPr>
        <p:spPr>
          <a:xfrm>
            <a:off x="457200" y="9646920"/>
            <a:ext cx="8229600" cy="1143000"/>
          </a:xfrm>
          <a:prstGeom prst="rect">
            <a:avLst/>
          </a:prstGeom>
          <a:noFill/>
        </p:spPr>
        <p:txBody>
          <a:bodyPr wrap="square">
            <a:spAutoFit/>
          </a:bodyPr>
          <a:lstStyle/>
          <a:p>
            <a:pPr algn="l">
              <a:defRPr sz="1000" b="0">
                <a:latin typeface="Malgun Gothic"/>
              </a:defRPr>
            </a:pPr>
            <a:r>
              <a:t>✓ 정부 해양수산발전</a:t>
            </a:r>
            <a:br/>
            <a:r>
              <a:t> 기본계획은 디지털,</a:t>
            </a:r>
            <a:br/>
            <a:r>
              <a:t> 친환경, 탈탄소 전환을</a:t>
            </a:r>
            <a:br/>
            <a:r>
              <a:t> 기본 전제로 하고 있음</a:t>
            </a:r>
            <a:br/>
            <a:br/>
            <a:r>
              <a:t>✓ 해양환경 및 생태계</a:t>
            </a:r>
            <a:br/>
            <a:r>
              <a:t> 보전, 복원 관리 등</a:t>
            </a:r>
            <a:br/>
            <a:r>
              <a:t> 해양환경은 6대 전략 중</a:t>
            </a:r>
            <a:br/>
            <a:r>
              <a:t> 하나로 제시됨</a:t>
            </a:r>
            <a:br/>
            <a:br/>
            <a:r>
              <a:t>✓ 환경 친화적·합리적</a:t>
            </a:r>
            <a:br/>
            <a:r>
              <a:t> 해양 이용은 해양환경</a:t>
            </a:r>
            <a:br/>
            <a:r>
              <a:t> 이용, 보전, 관리 3개</a:t>
            </a:r>
            <a:br/>
            <a:r>
              <a:t> 세부과제로 구성</a:t>
            </a:r>
            <a:br/>
            <a:br/>
            <a:r>
              <a:t>✓ 해양수산 전반 영역의</a:t>
            </a:r>
            <a:br/>
            <a:r>
              <a:t> 추진전략은 해양환경</a:t>
            </a:r>
            <a:br/>
            <a:r>
              <a:t> 보전·복원 및 친환경</a:t>
            </a:r>
            <a:br/>
            <a:r>
              <a:t> 전환을 내포하고 있어,</a:t>
            </a:r>
            <a:br/>
            <a:r>
              <a:t> 해양환경이 전체</a:t>
            </a:r>
            <a:br/>
            <a:r>
              <a:t> 추진전략의 기반이 됨</a:t>
            </a:r>
          </a:p>
        </p:txBody>
      </p:sp>
      <p:sp>
        <p:nvSpPr>
          <p:cNvPr id="23" name="TextBox 22"/>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Source: 제3차 해양수산발전 기본계획(2021~2030), 2021.01 | Page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해양환경종합계획 정책 주안점 변화</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1차 해양오염방지 5개년 계획으로부터 5차 해양환경종합계획까지의 정책 변화를 비교해보면, 오염 예방과 방제 중심에서 해양환경과 해양생태계 건강성의 유지·보전, 이용하고 즐기는 해양환경으로 개념 전환을 확인할 수 있음</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제 1~5차 해양환경종합계획 비교</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1996~2000</a:t>
            </a:r>
          </a:p>
        </p:txBody>
      </p:sp>
      <p:sp>
        <p:nvSpPr>
          <p:cNvPr id="6" name="TextBox 5"/>
          <p:cNvSpPr txBox="1"/>
          <p:nvPr/>
        </p:nvSpPr>
        <p:spPr>
          <a:xfrm>
            <a:off x="457200" y="2148840"/>
            <a:ext cx="8229600" cy="228600"/>
          </a:xfrm>
          <a:prstGeom prst="rect">
            <a:avLst/>
          </a:prstGeom>
          <a:noFill/>
        </p:spPr>
        <p:txBody>
          <a:bodyPr wrap="square">
            <a:spAutoFit/>
          </a:bodyPr>
          <a:lstStyle/>
          <a:p>
            <a:pPr algn="l">
              <a:defRPr sz="1000" b="0">
                <a:latin typeface="Malgun Gothic"/>
              </a:defRPr>
            </a:pPr>
            <a:r>
              <a:t>2001~2005</a:t>
            </a:r>
          </a:p>
        </p:txBody>
      </p:sp>
      <p:sp>
        <p:nvSpPr>
          <p:cNvPr id="7" name="TextBox 6"/>
          <p:cNvSpPr txBox="1"/>
          <p:nvPr/>
        </p:nvSpPr>
        <p:spPr>
          <a:xfrm>
            <a:off x="457200" y="2468880"/>
            <a:ext cx="8229600" cy="228600"/>
          </a:xfrm>
          <a:prstGeom prst="rect">
            <a:avLst/>
          </a:prstGeom>
          <a:noFill/>
        </p:spPr>
        <p:txBody>
          <a:bodyPr wrap="square">
            <a:spAutoFit/>
          </a:bodyPr>
          <a:lstStyle/>
          <a:p>
            <a:pPr algn="l">
              <a:defRPr sz="1000" b="0">
                <a:latin typeface="Malgun Gothic"/>
              </a:defRPr>
            </a:pPr>
            <a:r>
              <a:t>2006~2010</a:t>
            </a:r>
          </a:p>
        </p:txBody>
      </p:sp>
      <p:sp>
        <p:nvSpPr>
          <p:cNvPr id="8" name="TextBox 7"/>
          <p:cNvSpPr txBox="1"/>
          <p:nvPr/>
        </p:nvSpPr>
        <p:spPr>
          <a:xfrm>
            <a:off x="457200" y="2788920"/>
            <a:ext cx="8229600" cy="228600"/>
          </a:xfrm>
          <a:prstGeom prst="rect">
            <a:avLst/>
          </a:prstGeom>
          <a:noFill/>
        </p:spPr>
        <p:txBody>
          <a:bodyPr wrap="square">
            <a:spAutoFit/>
          </a:bodyPr>
          <a:lstStyle/>
          <a:p>
            <a:pPr algn="l">
              <a:defRPr sz="1000" b="0">
                <a:latin typeface="Malgun Gothic"/>
              </a:defRPr>
            </a:pPr>
            <a:r>
              <a:t>2011~2020</a:t>
            </a:r>
          </a:p>
        </p:txBody>
      </p:sp>
      <p:sp>
        <p:nvSpPr>
          <p:cNvPr id="9" name="TextBox 8"/>
          <p:cNvSpPr txBox="1"/>
          <p:nvPr/>
        </p:nvSpPr>
        <p:spPr>
          <a:xfrm>
            <a:off x="457200" y="3108960"/>
            <a:ext cx="8229600" cy="228600"/>
          </a:xfrm>
          <a:prstGeom prst="rect">
            <a:avLst/>
          </a:prstGeom>
          <a:noFill/>
        </p:spPr>
        <p:txBody>
          <a:bodyPr wrap="square">
            <a:spAutoFit/>
          </a:bodyPr>
          <a:lstStyle/>
          <a:p>
            <a:pPr algn="l">
              <a:defRPr sz="1000" b="0">
                <a:latin typeface="Malgun Gothic"/>
              </a:defRPr>
            </a:pPr>
            <a:r>
              <a:t>2021~2030</a:t>
            </a:r>
          </a:p>
        </p:txBody>
      </p:sp>
      <p:sp>
        <p:nvSpPr>
          <p:cNvPr id="10" name="TextBox 9"/>
          <p:cNvSpPr txBox="1"/>
          <p:nvPr/>
        </p:nvSpPr>
        <p:spPr>
          <a:xfrm>
            <a:off x="457200" y="3429000"/>
            <a:ext cx="8229600" cy="228600"/>
          </a:xfrm>
          <a:prstGeom prst="rect">
            <a:avLst/>
          </a:prstGeom>
          <a:noFill/>
        </p:spPr>
        <p:txBody>
          <a:bodyPr wrap="square">
            <a:spAutoFit/>
          </a:bodyPr>
          <a:lstStyle/>
          <a:p>
            <a:pPr algn="l">
              <a:defRPr sz="1000" b="0">
                <a:latin typeface="Malgun Gothic"/>
              </a:defRPr>
            </a:pPr>
            <a:r>
              <a:t>제1차 해양오염방지</a:t>
            </a:r>
            <a:br/>
            <a:r>
              <a:t>5개년 계획</a:t>
            </a:r>
          </a:p>
        </p:txBody>
      </p:sp>
      <p:sp>
        <p:nvSpPr>
          <p:cNvPr id="11" name="TextBox 10"/>
          <p:cNvSpPr txBox="1"/>
          <p:nvPr/>
        </p:nvSpPr>
        <p:spPr>
          <a:xfrm>
            <a:off x="457200" y="3749040"/>
            <a:ext cx="8229600" cy="228600"/>
          </a:xfrm>
          <a:prstGeom prst="rect">
            <a:avLst/>
          </a:prstGeom>
          <a:noFill/>
        </p:spPr>
        <p:txBody>
          <a:bodyPr wrap="square">
            <a:spAutoFit/>
          </a:bodyPr>
          <a:lstStyle/>
          <a:p>
            <a:pPr algn="l">
              <a:defRPr sz="1000" b="0">
                <a:latin typeface="Malgun Gothic"/>
              </a:defRPr>
            </a:pPr>
            <a:r>
              <a:t>제2차 해양환경보전</a:t>
            </a:r>
            <a:br/>
            <a:r>
              <a:t>종합계획</a:t>
            </a:r>
          </a:p>
        </p:txBody>
      </p:sp>
      <p:sp>
        <p:nvSpPr>
          <p:cNvPr id="12" name="TextBox 11"/>
          <p:cNvSpPr txBox="1"/>
          <p:nvPr/>
        </p:nvSpPr>
        <p:spPr>
          <a:xfrm>
            <a:off x="457200" y="4069080"/>
            <a:ext cx="8229600" cy="228600"/>
          </a:xfrm>
          <a:prstGeom prst="rect">
            <a:avLst/>
          </a:prstGeom>
          <a:noFill/>
        </p:spPr>
        <p:txBody>
          <a:bodyPr wrap="square">
            <a:spAutoFit/>
          </a:bodyPr>
          <a:lstStyle/>
          <a:p>
            <a:pPr algn="l">
              <a:defRPr sz="1000" b="0">
                <a:latin typeface="Malgun Gothic"/>
              </a:defRPr>
            </a:pPr>
            <a:r>
              <a:t>제3차 해양환경보전</a:t>
            </a:r>
            <a:br/>
            <a:r>
              <a:t>종합계획</a:t>
            </a:r>
          </a:p>
        </p:txBody>
      </p:sp>
      <p:sp>
        <p:nvSpPr>
          <p:cNvPr id="13" name="TextBox 12"/>
          <p:cNvSpPr txBox="1"/>
          <p:nvPr/>
        </p:nvSpPr>
        <p:spPr>
          <a:xfrm>
            <a:off x="457200" y="4389120"/>
            <a:ext cx="8229600" cy="228600"/>
          </a:xfrm>
          <a:prstGeom prst="rect">
            <a:avLst/>
          </a:prstGeom>
          <a:noFill/>
        </p:spPr>
        <p:txBody>
          <a:bodyPr wrap="square">
            <a:spAutoFit/>
          </a:bodyPr>
          <a:lstStyle/>
          <a:p>
            <a:pPr algn="l">
              <a:defRPr sz="1000" b="0">
                <a:latin typeface="Malgun Gothic"/>
              </a:defRPr>
            </a:pPr>
            <a:r>
              <a:t>제4차 해양환경</a:t>
            </a:r>
            <a:br/>
            <a:r>
              <a:t>종합계획</a:t>
            </a:r>
          </a:p>
        </p:txBody>
      </p:sp>
      <p:sp>
        <p:nvSpPr>
          <p:cNvPr id="14" name="TextBox 13"/>
          <p:cNvSpPr txBox="1"/>
          <p:nvPr/>
        </p:nvSpPr>
        <p:spPr>
          <a:xfrm>
            <a:off x="457200" y="4709160"/>
            <a:ext cx="8229600" cy="228600"/>
          </a:xfrm>
          <a:prstGeom prst="rect">
            <a:avLst/>
          </a:prstGeom>
          <a:noFill/>
        </p:spPr>
        <p:txBody>
          <a:bodyPr wrap="square">
            <a:spAutoFit/>
          </a:bodyPr>
          <a:lstStyle/>
          <a:p>
            <a:pPr algn="l">
              <a:defRPr sz="1000" b="0">
                <a:latin typeface="Malgun Gothic"/>
              </a:defRPr>
            </a:pPr>
            <a:r>
              <a:t>제5차 해양환경 종합계획</a:t>
            </a:r>
          </a:p>
        </p:txBody>
      </p:sp>
      <p:sp>
        <p:nvSpPr>
          <p:cNvPr id="15" name="TextBox 14"/>
          <p:cNvSpPr txBox="1"/>
          <p:nvPr/>
        </p:nvSpPr>
        <p:spPr>
          <a:xfrm>
            <a:off x="457200" y="5029200"/>
            <a:ext cx="8229600" cy="228600"/>
          </a:xfrm>
          <a:prstGeom prst="rect">
            <a:avLst/>
          </a:prstGeom>
          <a:noFill/>
        </p:spPr>
        <p:txBody>
          <a:bodyPr wrap="square">
            <a:spAutoFit/>
          </a:bodyPr>
          <a:lstStyle/>
          <a:p>
            <a:pPr algn="l">
              <a:defRPr sz="1000" b="0">
                <a:latin typeface="Malgun Gothic"/>
              </a:defRPr>
            </a:pPr>
            <a:r>
              <a:t>인간과 해양생태계가</a:t>
            </a:r>
            <a:br/>
            <a:r>
              <a:t>공존하는 21세기</a:t>
            </a:r>
            <a:br/>
            <a:r>
              <a:t>해양친수공간 조성</a:t>
            </a:r>
          </a:p>
        </p:txBody>
      </p:sp>
      <p:sp>
        <p:nvSpPr>
          <p:cNvPr id="16" name="TextBox 15"/>
          <p:cNvSpPr txBox="1"/>
          <p:nvPr/>
        </p:nvSpPr>
        <p:spPr>
          <a:xfrm>
            <a:off x="457200" y="5349240"/>
            <a:ext cx="8229600" cy="228600"/>
          </a:xfrm>
          <a:prstGeom prst="rect">
            <a:avLst/>
          </a:prstGeom>
          <a:noFill/>
        </p:spPr>
        <p:txBody>
          <a:bodyPr wrap="square">
            <a:spAutoFit/>
          </a:bodyPr>
          <a:lstStyle/>
          <a:p>
            <a:pPr algn="l">
              <a:defRPr sz="1000" b="0">
                <a:latin typeface="Malgun Gothic"/>
              </a:defRPr>
            </a:pPr>
            <a:r>
              <a:t>쾌적하고 생명력 넘치는</a:t>
            </a:r>
            <a:br/>
            <a:r>
              <a:t>해양환경 달성</a:t>
            </a:r>
          </a:p>
        </p:txBody>
      </p:sp>
      <p:sp>
        <p:nvSpPr>
          <p:cNvPr id="17" name="TextBox 16"/>
          <p:cNvSpPr txBox="1"/>
          <p:nvPr/>
        </p:nvSpPr>
        <p:spPr>
          <a:xfrm>
            <a:off x="457200" y="5669280"/>
            <a:ext cx="8229600" cy="228600"/>
          </a:xfrm>
          <a:prstGeom prst="rect">
            <a:avLst/>
          </a:prstGeom>
          <a:noFill/>
        </p:spPr>
        <p:txBody>
          <a:bodyPr wrap="square">
            <a:spAutoFit/>
          </a:bodyPr>
          <a:lstStyle/>
          <a:p>
            <a:pPr algn="l">
              <a:defRPr sz="1000" b="0">
                <a:latin typeface="Malgun Gothic"/>
              </a:defRPr>
            </a:pPr>
            <a:r>
              <a:t>생태계 중심, 경제와 상생,</a:t>
            </a:r>
            <a:br/>
            <a:r>
              <a:t>참여와 협력</a:t>
            </a:r>
          </a:p>
        </p:txBody>
      </p:sp>
      <p:sp>
        <p:nvSpPr>
          <p:cNvPr id="18" name="TextBox 17"/>
          <p:cNvSpPr txBox="1"/>
          <p:nvPr/>
        </p:nvSpPr>
        <p:spPr>
          <a:xfrm>
            <a:off x="457200" y="5989320"/>
            <a:ext cx="8229600" cy="228600"/>
          </a:xfrm>
          <a:prstGeom prst="rect">
            <a:avLst/>
          </a:prstGeom>
          <a:noFill/>
        </p:spPr>
        <p:txBody>
          <a:bodyPr wrap="square">
            <a:spAutoFit/>
          </a:bodyPr>
          <a:lstStyle/>
          <a:p>
            <a:pPr algn="l">
              <a:defRPr sz="1000" b="0">
                <a:latin typeface="Malgun Gothic"/>
              </a:defRPr>
            </a:pPr>
            <a:r>
              <a:t>건강하고 생산적인 바다</a:t>
            </a:r>
          </a:p>
        </p:txBody>
      </p:sp>
      <p:sp>
        <p:nvSpPr>
          <p:cNvPr id="19" name="TextBox 18"/>
          <p:cNvSpPr txBox="1"/>
          <p:nvPr/>
        </p:nvSpPr>
        <p:spPr>
          <a:xfrm>
            <a:off x="457200" y="6309360"/>
            <a:ext cx="8229600" cy="228600"/>
          </a:xfrm>
          <a:prstGeom prst="rect">
            <a:avLst/>
          </a:prstGeom>
          <a:noFill/>
        </p:spPr>
        <p:txBody>
          <a:bodyPr wrap="square">
            <a:spAutoFit/>
          </a:bodyPr>
          <a:lstStyle/>
          <a:p>
            <a:pPr algn="l">
              <a:defRPr sz="1000" b="0">
                <a:latin typeface="Malgun Gothic"/>
              </a:defRPr>
            </a:pPr>
            <a:r>
              <a:t>사람과 자연이 건강하게</a:t>
            </a:r>
            <a:br/>
            <a:r>
              <a:t>공존하는 바다</a:t>
            </a:r>
          </a:p>
        </p:txBody>
      </p:sp>
      <p:sp>
        <p:nvSpPr>
          <p:cNvPr id="20" name="TextBox 19"/>
          <p:cNvSpPr txBox="1"/>
          <p:nvPr/>
        </p:nvSpPr>
        <p:spPr>
          <a:xfrm>
            <a:off x="457200" y="6629400"/>
            <a:ext cx="8229600" cy="228600"/>
          </a:xfrm>
          <a:prstGeom prst="rect">
            <a:avLst/>
          </a:prstGeom>
          <a:noFill/>
        </p:spPr>
        <p:txBody>
          <a:bodyPr wrap="square">
            <a:spAutoFit/>
          </a:bodyPr>
          <a:lstStyle/>
          <a:p>
            <a:pPr algn="l">
              <a:defRPr sz="1000" b="0">
                <a:latin typeface="Malgun Gothic"/>
              </a:defRPr>
            </a:pPr>
            <a:r>
              <a:t>비전</a:t>
            </a:r>
          </a:p>
        </p:txBody>
      </p:sp>
      <p:sp>
        <p:nvSpPr>
          <p:cNvPr id="21" name="TextBox 20"/>
          <p:cNvSpPr txBox="1"/>
          <p:nvPr/>
        </p:nvSpPr>
        <p:spPr>
          <a:xfrm>
            <a:off x="457200" y="6949440"/>
            <a:ext cx="8229600" cy="228600"/>
          </a:xfrm>
          <a:prstGeom prst="rect">
            <a:avLst/>
          </a:prstGeom>
          <a:noFill/>
        </p:spPr>
        <p:txBody>
          <a:bodyPr wrap="square">
            <a:spAutoFit/>
          </a:bodyPr>
          <a:lstStyle/>
          <a:p>
            <a:pPr algn="l">
              <a:defRPr sz="1000" b="0">
                <a:latin typeface="Malgun Gothic"/>
              </a:defRPr>
            </a:pPr>
            <a:r>
              <a:t>목표</a:t>
            </a:r>
          </a:p>
        </p:txBody>
      </p:sp>
      <p:sp>
        <p:nvSpPr>
          <p:cNvPr id="22" name="TextBox 21"/>
          <p:cNvSpPr txBox="1"/>
          <p:nvPr/>
        </p:nvSpPr>
        <p:spPr>
          <a:xfrm>
            <a:off x="457200" y="7269480"/>
            <a:ext cx="8229600" cy="228600"/>
          </a:xfrm>
          <a:prstGeom prst="rect">
            <a:avLst/>
          </a:prstGeom>
          <a:noFill/>
        </p:spPr>
        <p:txBody>
          <a:bodyPr wrap="square">
            <a:spAutoFit/>
          </a:bodyPr>
          <a:lstStyle/>
          <a:p>
            <a:pPr algn="l">
              <a:defRPr sz="1000" b="0">
                <a:latin typeface="Malgun Gothic"/>
              </a:defRPr>
            </a:pPr>
            <a:r>
              <a:t>정책</a:t>
            </a:r>
            <a:br/>
            <a:r>
              <a:t>전략</a:t>
            </a:r>
          </a:p>
        </p:txBody>
      </p:sp>
      <p:sp>
        <p:nvSpPr>
          <p:cNvPr id="23" name="TextBox 22"/>
          <p:cNvSpPr txBox="1"/>
          <p:nvPr/>
        </p:nvSpPr>
        <p:spPr>
          <a:xfrm>
            <a:off x="457200" y="7589520"/>
            <a:ext cx="8229600" cy="457200"/>
          </a:xfrm>
          <a:prstGeom prst="rect">
            <a:avLst/>
          </a:prstGeom>
          <a:noFill/>
        </p:spPr>
        <p:txBody>
          <a:bodyPr wrap="square">
            <a:spAutoFit/>
          </a:bodyPr>
          <a:lstStyle/>
          <a:p>
            <a:pPr algn="l">
              <a:defRPr sz="1000" b="0">
                <a:latin typeface="Malgun Gothic"/>
              </a:defRPr>
            </a:pPr>
            <a:r>
              <a:t>육상기인 오염물질의 근원적</a:t>
            </a:r>
            <a:br/>
            <a:r>
              <a:t>차단, 무적조 해역조성</a:t>
            </a:r>
            <a:br/>
            <a:r>
              <a:t>• 해양오염사고 예방 및</a:t>
            </a:r>
            <a:br/>
            <a:r>
              <a:t>방제체제 확충</a:t>
            </a:r>
            <a:br/>
            <a:r>
              <a:t>• 해양환경보전을 위한</a:t>
            </a:r>
            <a:br/>
            <a:r>
              <a:t>지원체제 확립</a:t>
            </a:r>
          </a:p>
        </p:txBody>
      </p:sp>
      <p:sp>
        <p:nvSpPr>
          <p:cNvPr id="24" name="TextBox 23"/>
          <p:cNvSpPr txBox="1"/>
          <p:nvPr/>
        </p:nvSpPr>
        <p:spPr>
          <a:xfrm>
            <a:off x="457200" y="8138160"/>
            <a:ext cx="8229600" cy="457200"/>
          </a:xfrm>
          <a:prstGeom prst="rect">
            <a:avLst/>
          </a:prstGeom>
          <a:noFill/>
        </p:spPr>
        <p:txBody>
          <a:bodyPr wrap="square">
            <a:spAutoFit/>
          </a:bodyPr>
          <a:lstStyle/>
          <a:p>
            <a:pPr algn="l">
              <a:defRPr sz="1000" b="0">
                <a:latin typeface="Malgun Gothic"/>
              </a:defRPr>
            </a:pPr>
            <a:r>
              <a:t>• 적조방지 종합대책</a:t>
            </a:r>
            <a:br/>
            <a:r>
              <a:t>• 해양오염사고 방제기능 강화</a:t>
            </a:r>
            <a:br/>
            <a:r>
              <a:t>해양생태계 보전</a:t>
            </a:r>
            <a:br/>
            <a:r>
              <a:t>• 어민피해보상 등 지원제도</a:t>
            </a:r>
            <a:br/>
            <a:r>
              <a:t>개선</a:t>
            </a:r>
            <a:br/>
            <a:r>
              <a:t>• 해양환경보전을 위한</a:t>
            </a:r>
            <a:br/>
            <a:r>
              <a:t>국제협력</a:t>
            </a:r>
          </a:p>
        </p:txBody>
      </p:sp>
      <p:sp>
        <p:nvSpPr>
          <p:cNvPr id="25" name="TextBox 24"/>
          <p:cNvSpPr txBox="1"/>
          <p:nvPr/>
        </p:nvSpPr>
        <p:spPr>
          <a:xfrm>
            <a:off x="457200" y="8686800"/>
            <a:ext cx="8229600" cy="228600"/>
          </a:xfrm>
          <a:prstGeom prst="rect">
            <a:avLst/>
          </a:prstGeom>
          <a:noFill/>
        </p:spPr>
        <p:txBody>
          <a:bodyPr wrap="square">
            <a:spAutoFit/>
          </a:bodyPr>
          <a:lstStyle/>
          <a:p>
            <a:pPr algn="l">
              <a:defRPr sz="1000" b="0">
                <a:latin typeface="Malgun Gothic"/>
              </a:defRPr>
            </a:pPr>
            <a:r>
              <a:t>깨끗한 해양수질 달성</a:t>
            </a:r>
            <a:br/>
            <a:r>
              <a:t>• 건강한 해양생태계 조성</a:t>
            </a:r>
            <a:br/>
            <a:r>
              <a:t>풍요로운 해양자원 보전</a:t>
            </a:r>
          </a:p>
        </p:txBody>
      </p:sp>
      <p:sp>
        <p:nvSpPr>
          <p:cNvPr id="26" name="TextBox 25"/>
          <p:cNvSpPr txBox="1"/>
          <p:nvPr/>
        </p:nvSpPr>
        <p:spPr>
          <a:xfrm>
            <a:off x="457200" y="9006840"/>
            <a:ext cx="8229600" cy="457200"/>
          </a:xfrm>
          <a:prstGeom prst="rect">
            <a:avLst/>
          </a:prstGeom>
          <a:noFill/>
        </p:spPr>
        <p:txBody>
          <a:bodyPr wrap="square">
            <a:spAutoFit/>
          </a:bodyPr>
          <a:lstStyle/>
          <a:p>
            <a:pPr algn="l">
              <a:defRPr sz="1000" b="0">
                <a:latin typeface="Malgun Gothic"/>
              </a:defRPr>
            </a:pPr>
            <a:r>
              <a:t>육상기인 오염원의 해양유입</a:t>
            </a:r>
            <a:br/>
            <a:r>
              <a:t>방지</a:t>
            </a:r>
            <a:br/>
            <a:r>
              <a:t>해양기인 오염원의 관리</a:t>
            </a:r>
            <a:br/>
            <a:r>
              <a:t>해양수질 개선 및 생태계</a:t>
            </a:r>
            <a:br/>
            <a:r>
              <a:t>보전</a:t>
            </a:r>
            <a:br/>
            <a:r>
              <a:t>국제협력 강화 및</a:t>
            </a:r>
            <a:br/>
            <a:r>
              <a:t>지구환경보전</a:t>
            </a:r>
          </a:p>
        </p:txBody>
      </p:sp>
      <p:sp>
        <p:nvSpPr>
          <p:cNvPr id="27" name="TextBox 26"/>
          <p:cNvSpPr txBox="1"/>
          <p:nvPr/>
        </p:nvSpPr>
        <p:spPr>
          <a:xfrm>
            <a:off x="457200" y="9555480"/>
            <a:ext cx="8229600" cy="228600"/>
          </a:xfrm>
          <a:prstGeom prst="rect">
            <a:avLst/>
          </a:prstGeom>
          <a:noFill/>
        </p:spPr>
        <p:txBody>
          <a:bodyPr wrap="square">
            <a:spAutoFit/>
          </a:bodyPr>
          <a:lstStyle/>
          <a:p>
            <a:pPr algn="l">
              <a:defRPr sz="1000" b="0">
                <a:latin typeface="Malgun Gothic"/>
              </a:defRPr>
            </a:pPr>
            <a:r>
              <a:t>해양생태계 건강성 증진</a:t>
            </a:r>
            <a:br/>
            <a:r>
              <a:t>• 해양수질 및 해저퇴적물</a:t>
            </a:r>
            <a:br/>
            <a:r>
              <a:t>환경의 개선</a:t>
            </a:r>
            <a:br/>
            <a:r>
              <a:t>• 정책시행 기반확립</a:t>
            </a:r>
          </a:p>
        </p:txBody>
      </p:sp>
      <p:sp>
        <p:nvSpPr>
          <p:cNvPr id="28" name="TextBox 27"/>
          <p:cNvSpPr txBox="1"/>
          <p:nvPr/>
        </p:nvSpPr>
        <p:spPr>
          <a:xfrm>
            <a:off x="457200" y="9875520"/>
            <a:ext cx="8229600" cy="457200"/>
          </a:xfrm>
          <a:prstGeom prst="rect">
            <a:avLst/>
          </a:prstGeom>
          <a:noFill/>
        </p:spPr>
        <p:txBody>
          <a:bodyPr wrap="square">
            <a:spAutoFit/>
          </a:bodyPr>
          <a:lstStyle/>
          <a:p>
            <a:pPr algn="l">
              <a:defRPr sz="1000" b="0">
                <a:latin typeface="Malgun Gothic"/>
              </a:defRPr>
            </a:pPr>
            <a:r>
              <a:t>해양생태계 보전 및 관리</a:t>
            </a:r>
            <a:br/>
            <a:r>
              <a:t>육상기인 오염원의 체계적 관리</a:t>
            </a:r>
            <a:br/>
            <a:r>
              <a:t>해양환경 개선 및 오염원의</a:t>
            </a:r>
            <a:br/>
            <a:r>
              <a:t>예방적 관리</a:t>
            </a:r>
            <a:br/>
            <a:r>
              <a:t>해양환경관리정책 인프라 강화</a:t>
            </a:r>
            <a:br/>
            <a:r>
              <a:t>및 국제협력</a:t>
            </a:r>
          </a:p>
        </p:txBody>
      </p:sp>
      <p:sp>
        <p:nvSpPr>
          <p:cNvPr id="29" name="TextBox 28"/>
          <p:cNvSpPr txBox="1"/>
          <p:nvPr/>
        </p:nvSpPr>
        <p:spPr>
          <a:xfrm>
            <a:off x="457200" y="10424160"/>
            <a:ext cx="8229600" cy="228600"/>
          </a:xfrm>
          <a:prstGeom prst="rect">
            <a:avLst/>
          </a:prstGeom>
          <a:noFill/>
        </p:spPr>
        <p:txBody>
          <a:bodyPr wrap="square">
            <a:spAutoFit/>
          </a:bodyPr>
          <a:lstStyle/>
          <a:p>
            <a:pPr algn="l">
              <a:defRPr sz="1000" b="0">
                <a:latin typeface="Malgun Gothic"/>
              </a:defRPr>
            </a:pPr>
            <a:r>
              <a:t>생태적으로 건강한</a:t>
            </a:r>
            <a:br/>
            <a:r>
              <a:t>해양환경 조성</a:t>
            </a:r>
          </a:p>
        </p:txBody>
      </p:sp>
      <p:sp>
        <p:nvSpPr>
          <p:cNvPr id="30" name="TextBox 29"/>
          <p:cNvSpPr txBox="1"/>
          <p:nvPr/>
        </p:nvSpPr>
        <p:spPr>
          <a:xfrm>
            <a:off x="457200" y="10744200"/>
            <a:ext cx="8229600" cy="457200"/>
          </a:xfrm>
          <a:prstGeom prst="rect">
            <a:avLst/>
          </a:prstGeom>
          <a:noFill/>
        </p:spPr>
        <p:txBody>
          <a:bodyPr wrap="square">
            <a:spAutoFit/>
          </a:bodyPr>
          <a:lstStyle/>
          <a:p>
            <a:pPr algn="l">
              <a:defRPr sz="1000" b="0">
                <a:latin typeface="Malgun Gothic"/>
              </a:defRPr>
            </a:pPr>
            <a:r>
              <a:t>• (보전) 해양의 가치를 높이는 환경</a:t>
            </a:r>
            <a:br/>
            <a:r>
              <a:t>생태관리</a:t>
            </a:r>
            <a:br/>
            <a:r>
              <a:t>• (이용) 쾌적한 해양환경의 조성과</a:t>
            </a:r>
            <a:br/>
            <a:r>
              <a:t>이용도 증진</a:t>
            </a:r>
            <a:br/>
            <a:r>
              <a:t>• (성장) 친환경적 해양 경제활동의</a:t>
            </a:r>
            <a:br/>
            <a:r>
              <a:t>정착과 지속가능한 성장</a:t>
            </a:r>
          </a:p>
        </p:txBody>
      </p:sp>
      <p:sp>
        <p:nvSpPr>
          <p:cNvPr id="31" name="TextBox 30"/>
          <p:cNvSpPr txBox="1"/>
          <p:nvPr/>
        </p:nvSpPr>
        <p:spPr>
          <a:xfrm>
            <a:off x="457200" y="11292840"/>
            <a:ext cx="8229600" cy="457200"/>
          </a:xfrm>
          <a:prstGeom prst="rect">
            <a:avLst/>
          </a:prstGeom>
          <a:noFill/>
        </p:spPr>
        <p:txBody>
          <a:bodyPr wrap="square">
            <a:spAutoFit/>
          </a:bodyPr>
          <a:lstStyle/>
          <a:p>
            <a:pPr algn="l">
              <a:defRPr sz="1000" b="0">
                <a:latin typeface="Malgun Gothic"/>
              </a:defRPr>
            </a:pPr>
            <a:r>
              <a:t>• 육상기인 오염원</a:t>
            </a:r>
            <a:br/>
            <a:r>
              <a:t>국가관리체계 확립</a:t>
            </a:r>
            <a:br/>
            <a:r>
              <a:t>해양기인 오염대응능력 확충</a:t>
            </a:r>
            <a:br/>
            <a:r>
              <a:t>• 해양생태계 건강성 유지·보전</a:t>
            </a:r>
            <a:br/>
            <a:r>
              <a:t>• 기후친화적 해양환경 관리</a:t>
            </a:r>
            <a:br/>
            <a:r>
              <a:t>강화</a:t>
            </a:r>
            <a:br/>
            <a:r>
              <a:t>해양환경정책 인프라 강화</a:t>
            </a:r>
          </a:p>
        </p:txBody>
      </p:sp>
      <p:sp>
        <p:nvSpPr>
          <p:cNvPr id="32" name="TextBox 31"/>
          <p:cNvSpPr txBox="1"/>
          <p:nvPr/>
        </p:nvSpPr>
        <p:spPr>
          <a:xfrm>
            <a:off x="457200" y="11841480"/>
            <a:ext cx="8229600" cy="685800"/>
          </a:xfrm>
          <a:prstGeom prst="rect">
            <a:avLst/>
          </a:prstGeom>
          <a:noFill/>
        </p:spPr>
        <p:txBody>
          <a:bodyPr wrap="square">
            <a:spAutoFit/>
          </a:bodyPr>
          <a:lstStyle/>
          <a:p>
            <a:pPr algn="l">
              <a:defRPr sz="1000" b="0">
                <a:latin typeface="Malgun Gothic"/>
              </a:defRPr>
            </a:pPr>
            <a:r>
              <a:t>• 깨끗한 수질이 유지되는 청정한</a:t>
            </a:r>
            <a:br/>
            <a:r>
              <a:t>바다</a:t>
            </a:r>
            <a:br/>
            <a:r>
              <a:t>• 건강한 생태계가 살아있는 바다</a:t>
            </a:r>
            <a:br/>
            <a:r>
              <a:t>• 쾌적한 해양생활을 즐기는 바다</a:t>
            </a:r>
            <a:br/>
            <a:r>
              <a:t>·친환경적인 경제활동이</a:t>
            </a:r>
            <a:br/>
            <a:r>
              <a:t>이루어지는 바다</a:t>
            </a:r>
            <a:br/>
            <a:r>
              <a:t>• 녹색 해양산업이 펼쳐지는 바다</a:t>
            </a:r>
            <a:br/>
            <a:r>
              <a:t>• 기후변화에 대응하고 체계적으로</a:t>
            </a:r>
            <a:br/>
            <a:r>
              <a:t>계획된 바다</a:t>
            </a:r>
          </a:p>
        </p:txBody>
      </p:sp>
      <p:sp>
        <p:nvSpPr>
          <p:cNvPr id="33" name="TextBox 32"/>
          <p:cNvSpPr txBox="1"/>
          <p:nvPr/>
        </p:nvSpPr>
        <p:spPr>
          <a:xfrm>
            <a:off x="457200" y="12618720"/>
            <a:ext cx="8229600" cy="228600"/>
          </a:xfrm>
          <a:prstGeom prst="rect">
            <a:avLst/>
          </a:prstGeom>
          <a:noFill/>
        </p:spPr>
        <p:txBody>
          <a:bodyPr wrap="square">
            <a:spAutoFit/>
          </a:bodyPr>
          <a:lstStyle/>
          <a:p>
            <a:pPr algn="l">
              <a:defRPr sz="1000" b="0">
                <a:latin typeface="Malgun Gothic"/>
              </a:defRPr>
            </a:pPr>
            <a:r>
              <a:t>해양환경관리기반 강화</a:t>
            </a:r>
          </a:p>
        </p:txBody>
      </p:sp>
      <p:sp>
        <p:nvSpPr>
          <p:cNvPr id="34" name="TextBox 33"/>
          <p:cNvSpPr txBox="1"/>
          <p:nvPr/>
        </p:nvSpPr>
        <p:spPr>
          <a:xfrm>
            <a:off x="457200" y="12938760"/>
            <a:ext cx="8229600" cy="228600"/>
          </a:xfrm>
          <a:prstGeom prst="rect">
            <a:avLst/>
          </a:prstGeom>
          <a:noFill/>
        </p:spPr>
        <p:txBody>
          <a:bodyPr wrap="square">
            <a:spAutoFit/>
          </a:bodyPr>
          <a:lstStyle/>
          <a:p>
            <a:pPr algn="l">
              <a:defRPr sz="1000" b="0">
                <a:latin typeface="Malgun Gothic"/>
              </a:defRPr>
            </a:pPr>
            <a:r>
              <a:t>정책</a:t>
            </a:r>
            <a:br/>
            <a:r>
              <a:t>주안점</a:t>
            </a:r>
          </a:p>
        </p:txBody>
      </p:sp>
      <p:sp>
        <p:nvSpPr>
          <p:cNvPr id="35" name="TextBox 34"/>
          <p:cNvSpPr txBox="1"/>
          <p:nvPr/>
        </p:nvSpPr>
        <p:spPr>
          <a:xfrm>
            <a:off x="457200" y="13258800"/>
            <a:ext cx="8229600" cy="457200"/>
          </a:xfrm>
          <a:prstGeom prst="rect">
            <a:avLst/>
          </a:prstGeom>
          <a:noFill/>
        </p:spPr>
        <p:txBody>
          <a:bodyPr wrap="square">
            <a:spAutoFit/>
          </a:bodyPr>
          <a:lstStyle/>
          <a:p>
            <a:pPr algn="l">
              <a:defRPr sz="1000" b="0">
                <a:latin typeface="Malgun Gothic"/>
              </a:defRPr>
            </a:pPr>
            <a:r>
              <a:t>✓ 해양오염사고, 적조 등</a:t>
            </a:r>
            <a:br/>
            <a:r>
              <a:t>오염 예방과 대응 중점</a:t>
            </a:r>
            <a:br/>
            <a:r>
              <a:t>✓ 오염에 따른 피해 보상과</a:t>
            </a:r>
            <a:br/>
            <a:r>
              <a:t>지원 등 관리기준 마련</a:t>
            </a:r>
          </a:p>
        </p:txBody>
      </p:sp>
      <p:sp>
        <p:nvSpPr>
          <p:cNvPr id="36" name="TextBox 35"/>
          <p:cNvSpPr txBox="1"/>
          <p:nvPr/>
        </p:nvSpPr>
        <p:spPr>
          <a:xfrm>
            <a:off x="457200" y="13807440"/>
            <a:ext cx="8229600" cy="457200"/>
          </a:xfrm>
          <a:prstGeom prst="rect">
            <a:avLst/>
          </a:prstGeom>
          <a:noFill/>
        </p:spPr>
        <p:txBody>
          <a:bodyPr wrap="square">
            <a:spAutoFit/>
          </a:bodyPr>
          <a:lstStyle/>
          <a:p>
            <a:pPr algn="l">
              <a:defRPr sz="1000" b="0">
                <a:latin typeface="Malgun Gothic"/>
              </a:defRPr>
            </a:pPr>
            <a:r>
              <a:t>✓ 육상·해상 오염원 관리를</a:t>
            </a:r>
            <a:br/>
            <a:r>
              <a:t>통한 해양수질 개선 중점</a:t>
            </a:r>
            <a:br/>
            <a:r>
              <a:t>✓ 대형 오염사고 대응 및</a:t>
            </a:r>
            <a:br/>
            <a:r>
              <a:t>해양오염 방제능력 확충</a:t>
            </a:r>
          </a:p>
        </p:txBody>
      </p:sp>
      <p:sp>
        <p:nvSpPr>
          <p:cNvPr id="37" name="TextBox 36"/>
          <p:cNvSpPr txBox="1"/>
          <p:nvPr/>
        </p:nvSpPr>
        <p:spPr>
          <a:xfrm>
            <a:off x="457200" y="14356080"/>
            <a:ext cx="8229600" cy="457200"/>
          </a:xfrm>
          <a:prstGeom prst="rect">
            <a:avLst/>
          </a:prstGeom>
          <a:noFill/>
        </p:spPr>
        <p:txBody>
          <a:bodyPr wrap="square">
            <a:spAutoFit/>
          </a:bodyPr>
          <a:lstStyle/>
          <a:p>
            <a:pPr algn="l">
              <a:defRPr sz="1000" b="0">
                <a:latin typeface="Malgun Gothic"/>
              </a:defRPr>
            </a:pPr>
            <a:r>
              <a:t>✓ 연안지역 중심 오염원</a:t>
            </a:r>
            <a:br/>
            <a:r>
              <a:t>관리 체계화 중점</a:t>
            </a:r>
            <a:br/>
            <a:r>
              <a:t>✓ 해양 생태계 보전·관리</a:t>
            </a:r>
            <a:br/>
            <a:r>
              <a:t>확대 및 강화</a:t>
            </a:r>
            <a:br/>
            <a:r>
              <a:t>√ 유류오염 방제능력 강화</a:t>
            </a:r>
          </a:p>
        </p:txBody>
      </p:sp>
      <p:sp>
        <p:nvSpPr>
          <p:cNvPr id="38" name="TextBox 37"/>
          <p:cNvSpPr txBox="1"/>
          <p:nvPr/>
        </p:nvSpPr>
        <p:spPr>
          <a:xfrm>
            <a:off x="457200" y="14904720"/>
            <a:ext cx="8229600" cy="457200"/>
          </a:xfrm>
          <a:prstGeom prst="rect">
            <a:avLst/>
          </a:prstGeom>
          <a:noFill/>
        </p:spPr>
        <p:txBody>
          <a:bodyPr wrap="square">
            <a:spAutoFit/>
          </a:bodyPr>
          <a:lstStyle/>
          <a:p>
            <a:pPr algn="l">
              <a:defRPr sz="1000" b="0">
                <a:latin typeface="Malgun Gothic"/>
              </a:defRPr>
            </a:pPr>
            <a:r>
              <a:t>√ 오염원 유입 관리 강화</a:t>
            </a:r>
            <a:br/>
            <a:r>
              <a:t>✓ 조사, 보전, 복원 등</a:t>
            </a:r>
            <a:br/>
            <a:r>
              <a:t>생태계 건강성 유지·보전</a:t>
            </a:r>
            <a:br/>
            <a:r>
              <a:t>√ 해양환경 국제협력 강화</a:t>
            </a:r>
          </a:p>
        </p:txBody>
      </p:sp>
      <p:sp>
        <p:nvSpPr>
          <p:cNvPr id="39" name="TextBox 38"/>
          <p:cNvSpPr txBox="1"/>
          <p:nvPr/>
        </p:nvSpPr>
        <p:spPr>
          <a:xfrm>
            <a:off x="457200" y="15453360"/>
            <a:ext cx="8229600" cy="457200"/>
          </a:xfrm>
          <a:prstGeom prst="rect">
            <a:avLst/>
          </a:prstGeom>
          <a:noFill/>
        </p:spPr>
        <p:txBody>
          <a:bodyPr wrap="square">
            <a:spAutoFit/>
          </a:bodyPr>
          <a:lstStyle/>
          <a:p>
            <a:pPr algn="l">
              <a:defRPr sz="1000" b="0">
                <a:latin typeface="Malgun Gothic"/>
              </a:defRPr>
            </a:pPr>
            <a:r>
              <a:t>√ 해양환경 보전, 이용, 성장의</a:t>
            </a:r>
            <a:br/>
            <a:r>
              <a:t>관점에서 목표 수립</a:t>
            </a:r>
            <a:br/>
            <a:r>
              <a:t>✓ 국민이 이용하고 즐기는 해양</a:t>
            </a:r>
            <a:br/>
            <a:r>
              <a:t>환경·생태 관리로 개념 확대</a:t>
            </a:r>
            <a:br/>
            <a:r>
              <a:t>✓ 디지털기술 적용, 스마트 관리</a:t>
            </a:r>
          </a:p>
        </p:txBody>
      </p:sp>
      <p:sp>
        <p:nvSpPr>
          <p:cNvPr id="40" name="TextBox 39"/>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*Source : 제5차 해양환경종합계획(2021~2030), 2021.01, 해양수산부 | Page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제5차 해양환경종합계획 전략체계</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제5차 해양환경종합계획은 사람과 자연이 건강하게 공존하는 바다를 비전으로, 보전·이용·성장의 관점에서 목표를 수립하고 있으며, 특히 국민이 쾌적한 해양생활을 즐기는 해양환경의 이용과 향유는 새롭게 도입된 관점임</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제5차 해양환경종합계획 체계</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비전</a:t>
            </a:r>
          </a:p>
        </p:txBody>
      </p:sp>
      <p:sp>
        <p:nvSpPr>
          <p:cNvPr id="6" name="TextBox 5"/>
          <p:cNvSpPr txBox="1"/>
          <p:nvPr/>
        </p:nvSpPr>
        <p:spPr>
          <a:xfrm>
            <a:off x="457200" y="2148840"/>
            <a:ext cx="8229600" cy="228600"/>
          </a:xfrm>
          <a:prstGeom prst="rect">
            <a:avLst/>
          </a:prstGeom>
          <a:noFill/>
        </p:spPr>
        <p:txBody>
          <a:bodyPr wrap="square">
            <a:spAutoFit/>
          </a:bodyPr>
          <a:lstStyle/>
          <a:p>
            <a:pPr algn="l">
              <a:defRPr sz="1000" b="0">
                <a:latin typeface="Malgun Gothic"/>
              </a:defRPr>
            </a:pPr>
            <a:r>
              <a:t>사람과 자연이 건강하게 공존하는 바다</a:t>
            </a:r>
          </a:p>
        </p:txBody>
      </p:sp>
      <p:sp>
        <p:nvSpPr>
          <p:cNvPr id="7" name="TextBox 6"/>
          <p:cNvSpPr txBox="1"/>
          <p:nvPr/>
        </p:nvSpPr>
        <p:spPr>
          <a:xfrm>
            <a:off x="457200" y="2468880"/>
            <a:ext cx="8229600" cy="228600"/>
          </a:xfrm>
          <a:prstGeom prst="rect">
            <a:avLst/>
          </a:prstGeom>
          <a:noFill/>
        </p:spPr>
        <p:txBody>
          <a:bodyPr wrap="square">
            <a:spAutoFit/>
          </a:bodyPr>
          <a:lstStyle/>
          <a:p>
            <a:pPr algn="l">
              <a:defRPr sz="1000" b="0">
                <a:latin typeface="Malgun Gothic"/>
              </a:defRPr>
            </a:pPr>
            <a:r>
              <a:t>정책</a:t>
            </a:r>
            <a:br/>
            <a:r>
              <a:t>목표</a:t>
            </a:r>
          </a:p>
        </p:txBody>
      </p:sp>
      <p:sp>
        <p:nvSpPr>
          <p:cNvPr id="8" name="TextBox 7"/>
          <p:cNvSpPr txBox="1"/>
          <p:nvPr/>
        </p:nvSpPr>
        <p:spPr>
          <a:xfrm>
            <a:off x="457200" y="2788920"/>
            <a:ext cx="8229600" cy="457200"/>
          </a:xfrm>
          <a:prstGeom prst="rect">
            <a:avLst/>
          </a:prstGeom>
          <a:noFill/>
        </p:spPr>
        <p:txBody>
          <a:bodyPr wrap="square">
            <a:spAutoFit/>
          </a:bodyPr>
          <a:lstStyle/>
          <a:p>
            <a:pPr algn="l">
              <a:defRPr sz="1000" b="0">
                <a:latin typeface="Malgun Gothic"/>
              </a:defRPr>
            </a:pPr>
            <a:r>
              <a:t>(보전) 해양의 가치를 높이는</a:t>
            </a:r>
            <a:br/>
            <a:r>
              <a:t>환경 생태관리</a:t>
            </a:r>
            <a:br/>
            <a:r>
              <a:t>1등급 해역비율: ('19)54%→(`30)73%</a:t>
            </a:r>
            <a:br/>
            <a:r>
              <a:t>해양보호구역: (`20)9.2%→(`30)20%</a:t>
            </a:r>
          </a:p>
        </p:txBody>
      </p:sp>
      <p:sp>
        <p:nvSpPr>
          <p:cNvPr id="9" name="TextBox 8"/>
          <p:cNvSpPr txBox="1"/>
          <p:nvPr/>
        </p:nvSpPr>
        <p:spPr>
          <a:xfrm>
            <a:off x="457200" y="3337560"/>
            <a:ext cx="8229600" cy="457200"/>
          </a:xfrm>
          <a:prstGeom prst="rect">
            <a:avLst/>
          </a:prstGeom>
          <a:noFill/>
        </p:spPr>
        <p:txBody>
          <a:bodyPr wrap="square">
            <a:spAutoFit/>
          </a:bodyPr>
          <a:lstStyle/>
          <a:p>
            <a:pPr algn="l">
              <a:defRPr sz="1000" b="0">
                <a:latin typeface="Malgun Gothic"/>
              </a:defRPr>
            </a:pPr>
            <a:r>
              <a:t>(이용) 쾌적한 해양환경의</a:t>
            </a:r>
            <a:br/>
            <a:r>
              <a:t>조성과 이용도 증진</a:t>
            </a:r>
            <a:br/>
            <a:r>
              <a:t>해양플라스틱: (18)11.8만톤→(30)5.9만톤</a:t>
            </a:r>
            <a:br/>
            <a:r>
              <a:t>항만 미세먼지 : (17)7,958톤→(30)1,266톤</a:t>
            </a:r>
          </a:p>
        </p:txBody>
      </p:sp>
      <p:sp>
        <p:nvSpPr>
          <p:cNvPr id="10" name="TextBox 9"/>
          <p:cNvSpPr txBox="1"/>
          <p:nvPr/>
        </p:nvSpPr>
        <p:spPr>
          <a:xfrm>
            <a:off x="457200" y="3886200"/>
            <a:ext cx="8229600" cy="457200"/>
          </a:xfrm>
          <a:prstGeom prst="rect">
            <a:avLst/>
          </a:prstGeom>
          <a:noFill/>
        </p:spPr>
        <p:txBody>
          <a:bodyPr wrap="square">
            <a:spAutoFit/>
          </a:bodyPr>
          <a:lstStyle/>
          <a:p>
            <a:pPr algn="l">
              <a:defRPr sz="1000" b="0">
                <a:latin typeface="Malgun Gothic"/>
              </a:defRPr>
            </a:pPr>
            <a:r>
              <a:t>(성장) 친환경적 해양 경제활동의</a:t>
            </a:r>
            <a:br/>
            <a:r>
              <a:t>정착과 지속가능한 성장</a:t>
            </a:r>
            <a:br/>
            <a:r>
              <a:t>해양바이오 기술수준: (19)78.6%→(30)85%</a:t>
            </a:r>
            <a:br/>
            <a:r>
              <a:t>2025년 해양수산 부문 탄소중립 실현</a:t>
            </a:r>
          </a:p>
        </p:txBody>
      </p:sp>
      <p:sp>
        <p:nvSpPr>
          <p:cNvPr id="11" name="TextBox 10"/>
          <p:cNvSpPr txBox="1"/>
          <p:nvPr/>
        </p:nvSpPr>
        <p:spPr>
          <a:xfrm>
            <a:off x="457200" y="4434840"/>
            <a:ext cx="8229600" cy="228600"/>
          </a:xfrm>
          <a:prstGeom prst="rect">
            <a:avLst/>
          </a:prstGeom>
          <a:noFill/>
        </p:spPr>
        <p:txBody>
          <a:bodyPr wrap="square">
            <a:spAutoFit/>
          </a:bodyPr>
          <a:lstStyle/>
          <a:p>
            <a:pPr algn="l">
              <a:defRPr sz="1000" b="0">
                <a:latin typeface="Malgun Gothic"/>
              </a:defRPr>
            </a:pPr>
            <a:r>
              <a:t>추진</a:t>
            </a:r>
            <a:br/>
            <a:r>
              <a:t>전략</a:t>
            </a:r>
          </a:p>
        </p:txBody>
      </p:sp>
      <p:sp>
        <p:nvSpPr>
          <p:cNvPr id="12" name="TextBox 11"/>
          <p:cNvSpPr txBox="1"/>
          <p:nvPr/>
        </p:nvSpPr>
        <p:spPr>
          <a:xfrm>
            <a:off x="457200" y="4754880"/>
            <a:ext cx="8229600" cy="228600"/>
          </a:xfrm>
          <a:prstGeom prst="rect">
            <a:avLst/>
          </a:prstGeom>
          <a:noFill/>
        </p:spPr>
        <p:txBody>
          <a:bodyPr wrap="square">
            <a:spAutoFit/>
          </a:bodyPr>
          <a:lstStyle/>
          <a:p>
            <a:pPr algn="l">
              <a:defRPr sz="1000" b="0">
                <a:latin typeface="Malgun Gothic"/>
              </a:defRPr>
            </a:pPr>
            <a:r>
              <a:t>깨끗한 수질이</a:t>
            </a:r>
            <a:br/>
            <a:r>
              <a:t>유지되는</a:t>
            </a:r>
            <a:br/>
            <a:r>
              <a:t>청정한 바다</a:t>
            </a:r>
          </a:p>
        </p:txBody>
      </p:sp>
      <p:sp>
        <p:nvSpPr>
          <p:cNvPr id="13" name="TextBox 12"/>
          <p:cNvSpPr txBox="1"/>
          <p:nvPr/>
        </p:nvSpPr>
        <p:spPr>
          <a:xfrm>
            <a:off x="457200" y="5074920"/>
            <a:ext cx="8229600" cy="228600"/>
          </a:xfrm>
          <a:prstGeom prst="rect">
            <a:avLst/>
          </a:prstGeom>
          <a:noFill/>
        </p:spPr>
        <p:txBody>
          <a:bodyPr wrap="square">
            <a:spAutoFit/>
          </a:bodyPr>
          <a:lstStyle/>
          <a:p>
            <a:pPr algn="l">
              <a:defRPr sz="1000" b="0">
                <a:latin typeface="Malgun Gothic"/>
              </a:defRPr>
            </a:pPr>
            <a:r>
              <a:t>건강한</a:t>
            </a:r>
            <a:br/>
            <a:r>
              <a:t>생태계가</a:t>
            </a:r>
            <a:br/>
            <a:r>
              <a:t>살아있는 바다</a:t>
            </a:r>
          </a:p>
        </p:txBody>
      </p:sp>
      <p:sp>
        <p:nvSpPr>
          <p:cNvPr id="14" name="TextBox 13"/>
          <p:cNvSpPr txBox="1"/>
          <p:nvPr/>
        </p:nvSpPr>
        <p:spPr>
          <a:xfrm>
            <a:off x="457200" y="5394960"/>
            <a:ext cx="8229600" cy="228600"/>
          </a:xfrm>
          <a:prstGeom prst="rect">
            <a:avLst/>
          </a:prstGeom>
          <a:noFill/>
        </p:spPr>
        <p:txBody>
          <a:bodyPr wrap="square">
            <a:spAutoFit/>
          </a:bodyPr>
          <a:lstStyle/>
          <a:p>
            <a:pPr algn="l">
              <a:defRPr sz="1000" b="0">
                <a:latin typeface="Malgun Gothic"/>
              </a:defRPr>
            </a:pPr>
            <a:r>
              <a:t>쾌적한</a:t>
            </a:r>
            <a:br/>
            <a:r>
              <a:t>해양생활을</a:t>
            </a:r>
            <a:br/>
            <a:r>
              <a:t>즐기는 바다</a:t>
            </a:r>
          </a:p>
        </p:txBody>
      </p:sp>
      <p:sp>
        <p:nvSpPr>
          <p:cNvPr id="15" name="TextBox 14"/>
          <p:cNvSpPr txBox="1"/>
          <p:nvPr/>
        </p:nvSpPr>
        <p:spPr>
          <a:xfrm>
            <a:off x="457200" y="5715000"/>
            <a:ext cx="8229600" cy="228600"/>
          </a:xfrm>
          <a:prstGeom prst="rect">
            <a:avLst/>
          </a:prstGeom>
          <a:noFill/>
        </p:spPr>
        <p:txBody>
          <a:bodyPr wrap="square">
            <a:spAutoFit/>
          </a:bodyPr>
          <a:lstStyle/>
          <a:p>
            <a:pPr algn="l">
              <a:defRPr sz="1000" b="0">
                <a:latin typeface="Malgun Gothic"/>
              </a:defRPr>
            </a:pPr>
            <a:r>
              <a:t>친환경적인</a:t>
            </a:r>
            <a:br/>
            <a:r>
              <a:t>경제활동이</a:t>
            </a:r>
            <a:br/>
            <a:r>
              <a:t>이루어지는</a:t>
            </a:r>
            <a:br/>
            <a:r>
              <a:t>바다</a:t>
            </a:r>
          </a:p>
        </p:txBody>
      </p:sp>
      <p:sp>
        <p:nvSpPr>
          <p:cNvPr id="16" name="TextBox 15"/>
          <p:cNvSpPr txBox="1"/>
          <p:nvPr/>
        </p:nvSpPr>
        <p:spPr>
          <a:xfrm>
            <a:off x="457200" y="6035040"/>
            <a:ext cx="8229600" cy="228600"/>
          </a:xfrm>
          <a:prstGeom prst="rect">
            <a:avLst/>
          </a:prstGeom>
          <a:noFill/>
        </p:spPr>
        <p:txBody>
          <a:bodyPr wrap="square">
            <a:spAutoFit/>
          </a:bodyPr>
          <a:lstStyle/>
          <a:p>
            <a:pPr algn="l">
              <a:defRPr sz="1000" b="0">
                <a:latin typeface="Malgun Gothic"/>
              </a:defRPr>
            </a:pPr>
            <a:r>
              <a:t>녹색</a:t>
            </a:r>
            <a:br/>
            <a:r>
              <a:t>해양산업이</a:t>
            </a:r>
            <a:br/>
            <a:r>
              <a:t>펼쳐지는 바다</a:t>
            </a:r>
          </a:p>
        </p:txBody>
      </p:sp>
      <p:sp>
        <p:nvSpPr>
          <p:cNvPr id="17" name="TextBox 16"/>
          <p:cNvSpPr txBox="1"/>
          <p:nvPr/>
        </p:nvSpPr>
        <p:spPr>
          <a:xfrm>
            <a:off x="457200" y="6355080"/>
            <a:ext cx="8229600" cy="228600"/>
          </a:xfrm>
          <a:prstGeom prst="rect">
            <a:avLst/>
          </a:prstGeom>
          <a:noFill/>
        </p:spPr>
        <p:txBody>
          <a:bodyPr wrap="square">
            <a:spAutoFit/>
          </a:bodyPr>
          <a:lstStyle/>
          <a:p>
            <a:pPr algn="l">
              <a:defRPr sz="1000" b="0">
                <a:latin typeface="Malgun Gothic"/>
              </a:defRPr>
            </a:pPr>
            <a:r>
              <a:t>기후변화에</a:t>
            </a:r>
            <a:br/>
            <a:r>
              <a:t>대응하고</a:t>
            </a:r>
            <a:br/>
            <a:r>
              <a:t>체계적으로</a:t>
            </a:r>
            <a:br/>
            <a:r>
              <a:t>계획된 바다</a:t>
            </a:r>
          </a:p>
        </p:txBody>
      </p:sp>
      <p:sp>
        <p:nvSpPr>
          <p:cNvPr id="18" name="TextBox 17"/>
          <p:cNvSpPr txBox="1"/>
          <p:nvPr/>
        </p:nvSpPr>
        <p:spPr>
          <a:xfrm>
            <a:off x="457200" y="6675120"/>
            <a:ext cx="8229600" cy="457200"/>
          </a:xfrm>
          <a:prstGeom prst="rect">
            <a:avLst/>
          </a:prstGeom>
          <a:noFill/>
        </p:spPr>
        <p:txBody>
          <a:bodyPr wrap="square">
            <a:spAutoFit/>
          </a:bodyPr>
          <a:lstStyle/>
          <a:p>
            <a:pPr algn="l">
              <a:defRPr sz="1000" b="0">
                <a:latin typeface="Malgun Gothic"/>
              </a:defRPr>
            </a:pPr>
            <a:r>
              <a:t>①참여형 스마트</a:t>
            </a:r>
            <a:br/>
            <a:r>
              <a:t>해역환경</a:t>
            </a:r>
            <a:br/>
            <a:r>
              <a:t>관리기반 조성</a:t>
            </a:r>
            <a:br/>
            <a:r>
              <a:t>②육상기인</a:t>
            </a:r>
            <a:br/>
            <a:r>
              <a:t>오염물질 저감</a:t>
            </a:r>
            <a:br/>
            <a:r>
              <a:t>③해역별 맞춤형</a:t>
            </a:r>
            <a:br/>
            <a:r>
              <a:t>관리 강화</a:t>
            </a:r>
          </a:p>
        </p:txBody>
      </p:sp>
      <p:sp>
        <p:nvSpPr>
          <p:cNvPr id="19" name="TextBox 18"/>
          <p:cNvSpPr txBox="1"/>
          <p:nvPr/>
        </p:nvSpPr>
        <p:spPr>
          <a:xfrm>
            <a:off x="457200" y="7223760"/>
            <a:ext cx="8229600" cy="457200"/>
          </a:xfrm>
          <a:prstGeom prst="rect">
            <a:avLst/>
          </a:prstGeom>
          <a:noFill/>
        </p:spPr>
        <p:txBody>
          <a:bodyPr wrap="square">
            <a:spAutoFit/>
          </a:bodyPr>
          <a:lstStyle/>
          <a:p>
            <a:pPr algn="l">
              <a:defRPr sz="1000" b="0">
                <a:latin typeface="Malgun Gothic"/>
              </a:defRPr>
            </a:pPr>
            <a:r>
              <a:t>①해양생태계</a:t>
            </a:r>
            <a:br/>
            <a:r>
              <a:t>상태·변화 과학적</a:t>
            </a:r>
            <a:br/>
            <a:r>
              <a:t>평가</a:t>
            </a:r>
            <a:br/>
            <a:r>
              <a:t>②해양생물 다양성</a:t>
            </a:r>
            <a:br/>
            <a:r>
              <a:t>유지와 개선</a:t>
            </a:r>
            <a:br/>
            <a:r>
              <a:t>③해양생태계의</a:t>
            </a:r>
            <a:br/>
            <a:r>
              <a:t>복원과 개선</a:t>
            </a:r>
            <a:br/>
            <a:r>
              <a:t>④해양생태계</a:t>
            </a:r>
            <a:br/>
            <a:r>
              <a:t>거버넌스 확장</a:t>
            </a:r>
          </a:p>
        </p:txBody>
      </p:sp>
      <p:sp>
        <p:nvSpPr>
          <p:cNvPr id="20" name="TextBox 19"/>
          <p:cNvSpPr txBox="1"/>
          <p:nvPr/>
        </p:nvSpPr>
        <p:spPr>
          <a:xfrm>
            <a:off x="457200" y="7772400"/>
            <a:ext cx="8229600" cy="457200"/>
          </a:xfrm>
          <a:prstGeom prst="rect">
            <a:avLst/>
          </a:prstGeom>
          <a:noFill/>
        </p:spPr>
        <p:txBody>
          <a:bodyPr wrap="square">
            <a:spAutoFit/>
          </a:bodyPr>
          <a:lstStyle/>
          <a:p>
            <a:pPr algn="l">
              <a:defRPr sz="1000" b="0">
                <a:latin typeface="Malgun Gothic"/>
              </a:defRPr>
            </a:pPr>
            <a:r>
              <a:t>①생활밀착형</a:t>
            </a:r>
            <a:br/>
            <a:r>
              <a:t>해양쓰레기 관리</a:t>
            </a:r>
            <a:br/>
            <a:r>
              <a:t>②해안이 제공하는</a:t>
            </a:r>
            <a:br/>
            <a:r>
              <a:t>다양한 친수기회</a:t>
            </a:r>
            <a:br/>
            <a:r>
              <a:t>확대</a:t>
            </a:r>
            <a:br/>
            <a:r>
              <a:t>③해양생태관광</a:t>
            </a:r>
            <a:br/>
            <a:r>
              <a:t>활성화 기반</a:t>
            </a:r>
            <a:br/>
            <a:r>
              <a:t>마련</a:t>
            </a:r>
            <a:br/>
            <a:r>
              <a:t>④배우며 즐기는</a:t>
            </a:r>
            <a:br/>
            <a:r>
              <a:t>해양환경</a:t>
            </a:r>
          </a:p>
        </p:txBody>
      </p:sp>
      <p:sp>
        <p:nvSpPr>
          <p:cNvPr id="21" name="TextBox 20"/>
          <p:cNvSpPr txBox="1"/>
          <p:nvPr/>
        </p:nvSpPr>
        <p:spPr>
          <a:xfrm>
            <a:off x="457200" y="8321040"/>
            <a:ext cx="8229600" cy="457200"/>
          </a:xfrm>
          <a:prstGeom prst="rect">
            <a:avLst/>
          </a:prstGeom>
          <a:noFill/>
        </p:spPr>
        <p:txBody>
          <a:bodyPr wrap="square">
            <a:spAutoFit/>
          </a:bodyPr>
          <a:lstStyle/>
          <a:p>
            <a:pPr algn="l">
              <a:defRPr sz="1000" b="0">
                <a:latin typeface="Malgun Gothic"/>
              </a:defRPr>
            </a:pPr>
            <a:r>
              <a:t>①해양오염사고</a:t>
            </a:r>
            <a:br/>
            <a:r>
              <a:t>대비체계 재정비</a:t>
            </a:r>
            <a:br/>
            <a:r>
              <a:t>②해양오염사고</a:t>
            </a:r>
            <a:br/>
            <a:r>
              <a:t>대응능력 강화</a:t>
            </a:r>
            <a:br/>
            <a:r>
              <a:t>③온실가스·대기오</a:t>
            </a:r>
            <a:br/>
            <a:r>
              <a:t>염물질 관리</a:t>
            </a:r>
            <a:br/>
            <a:r>
              <a:t>강화</a:t>
            </a:r>
            <a:br/>
            <a:r>
              <a:t>④해양·항만</a:t>
            </a:r>
            <a:br/>
            <a:r>
              <a:t>대기환경</a:t>
            </a:r>
            <a:br/>
            <a:r>
              <a:t>분석·예측 고도화</a:t>
            </a:r>
          </a:p>
        </p:txBody>
      </p:sp>
      <p:sp>
        <p:nvSpPr>
          <p:cNvPr id="22" name="TextBox 21"/>
          <p:cNvSpPr txBox="1"/>
          <p:nvPr/>
        </p:nvSpPr>
        <p:spPr>
          <a:xfrm>
            <a:off x="457200" y="8869680"/>
            <a:ext cx="8229600" cy="457200"/>
          </a:xfrm>
          <a:prstGeom prst="rect">
            <a:avLst/>
          </a:prstGeom>
          <a:noFill/>
        </p:spPr>
        <p:txBody>
          <a:bodyPr wrap="square">
            <a:spAutoFit/>
          </a:bodyPr>
          <a:lstStyle/>
          <a:p>
            <a:pPr algn="l">
              <a:defRPr sz="1000" b="0">
                <a:latin typeface="Malgun Gothic"/>
              </a:defRPr>
            </a:pPr>
            <a:r>
              <a:t>①해양바이오산업</a:t>
            </a:r>
            <a:br/>
            <a:r>
              <a:t>의 기반 고도화</a:t>
            </a:r>
            <a:br/>
            <a:r>
              <a:t>②친환경</a:t>
            </a:r>
            <a:br/>
            <a:r>
              <a:t>에너지산업으로</a:t>
            </a:r>
            <a:br/>
            <a:r>
              <a:t>의 전환</a:t>
            </a:r>
            <a:br/>
            <a:r>
              <a:t>③융합형 해양환경</a:t>
            </a:r>
            <a:br/>
            <a:r>
              <a:t>보전산업 육성</a:t>
            </a:r>
          </a:p>
        </p:txBody>
      </p:sp>
      <p:sp>
        <p:nvSpPr>
          <p:cNvPr id="23" name="TextBox 22"/>
          <p:cNvSpPr txBox="1"/>
          <p:nvPr/>
        </p:nvSpPr>
        <p:spPr>
          <a:xfrm>
            <a:off x="457200" y="9418320"/>
            <a:ext cx="8229600" cy="457200"/>
          </a:xfrm>
          <a:prstGeom prst="rect">
            <a:avLst/>
          </a:prstGeom>
          <a:noFill/>
        </p:spPr>
        <p:txBody>
          <a:bodyPr wrap="square">
            <a:spAutoFit/>
          </a:bodyPr>
          <a:lstStyle/>
          <a:p>
            <a:pPr algn="l">
              <a:defRPr sz="1000" b="0">
                <a:latin typeface="Malgun Gothic"/>
              </a:defRPr>
            </a:pPr>
            <a:r>
              <a:t>①해양 기후변화</a:t>
            </a:r>
            <a:br/>
            <a:r>
              <a:t>과학적 대응능력</a:t>
            </a:r>
            <a:br/>
            <a:r>
              <a:t>강화</a:t>
            </a:r>
            <a:br/>
            <a:r>
              <a:t>② 기후변화 적응형</a:t>
            </a:r>
            <a:br/>
            <a:r>
              <a:t>해안관리</a:t>
            </a:r>
            <a:br/>
            <a:r>
              <a:t>③생태기반</a:t>
            </a:r>
            <a:br/>
            <a:r>
              <a:t>해양공간관리</a:t>
            </a:r>
            <a:br/>
            <a:r>
              <a:t>지원체계 구축</a:t>
            </a:r>
            <a:br/>
            <a:r>
              <a:t>④ 해양환경영향</a:t>
            </a:r>
            <a:br/>
            <a:r>
              <a:t>평가체계 전문성</a:t>
            </a:r>
            <a:br/>
            <a:r>
              <a:t>강화</a:t>
            </a:r>
            <a:br/>
            <a:r>
              <a:t>⑤해양환경 분야</a:t>
            </a:r>
            <a:br/>
            <a:r>
              <a:t>국제협력 선도</a:t>
            </a:r>
          </a:p>
        </p:txBody>
      </p:sp>
      <p:sp>
        <p:nvSpPr>
          <p:cNvPr id="24" name="TextBox 23"/>
          <p:cNvSpPr txBox="1"/>
          <p:nvPr/>
        </p:nvSpPr>
        <p:spPr>
          <a:xfrm>
            <a:off x="457200" y="9966960"/>
            <a:ext cx="8229600" cy="274320"/>
          </a:xfrm>
          <a:prstGeom prst="rect">
            <a:avLst/>
          </a:prstGeom>
          <a:noFill/>
        </p:spPr>
        <p:txBody>
          <a:bodyPr wrap="square">
            <a:spAutoFit/>
          </a:bodyPr>
          <a:lstStyle/>
          <a:p>
            <a:pPr algn="l">
              <a:defRPr sz="1200" b="1">
                <a:solidFill>
                  <a:srgbClr val="003366"/>
                </a:solidFill>
                <a:latin typeface="Malgun Gothic"/>
              </a:defRPr>
            </a:pPr>
            <a:r>
              <a:t>Key Findings</a:t>
            </a:r>
          </a:p>
        </p:txBody>
      </p:sp>
      <p:sp>
        <p:nvSpPr>
          <p:cNvPr id="25" name="TextBox 24"/>
          <p:cNvSpPr txBox="1"/>
          <p:nvPr/>
        </p:nvSpPr>
        <p:spPr>
          <a:xfrm>
            <a:off x="457200" y="10332720"/>
            <a:ext cx="8229600" cy="457200"/>
          </a:xfrm>
          <a:prstGeom prst="rect">
            <a:avLst/>
          </a:prstGeom>
          <a:noFill/>
        </p:spPr>
        <p:txBody>
          <a:bodyPr wrap="square">
            <a:spAutoFit/>
          </a:bodyPr>
          <a:lstStyle/>
          <a:p>
            <a:pPr algn="l">
              <a:defRPr sz="1000" b="0">
                <a:latin typeface="Malgun Gothic"/>
              </a:defRPr>
            </a:pPr>
            <a:r>
              <a:t>✓ 해양환경의 정화와 복원 등</a:t>
            </a:r>
            <a:br/>
            <a:r>
              <a:t>보전에서 이용과 향유에 대한</a:t>
            </a:r>
            <a:br/>
            <a:r>
              <a:t>관점이 추가됨</a:t>
            </a:r>
            <a:br/>
            <a:r>
              <a:t>✓ 수질에서 대기, 배출가스 등</a:t>
            </a:r>
            <a:br/>
            <a:r>
              <a:t>해양환경의 영역 확대</a:t>
            </a:r>
          </a:p>
        </p:txBody>
      </p:sp>
      <p:sp>
        <p:nvSpPr>
          <p:cNvPr id="26" name="TextBox 25"/>
          <p:cNvSpPr txBox="1"/>
          <p:nvPr/>
        </p:nvSpPr>
        <p:spPr>
          <a:xfrm>
            <a:off x="457200" y="10881360"/>
            <a:ext cx="8229600" cy="228600"/>
          </a:xfrm>
          <a:prstGeom prst="rect">
            <a:avLst/>
          </a:prstGeom>
          <a:noFill/>
        </p:spPr>
        <p:txBody>
          <a:bodyPr wrap="square">
            <a:spAutoFit/>
          </a:bodyPr>
          <a:lstStyle/>
          <a:p>
            <a:pPr algn="l">
              <a:defRPr sz="1000" b="0">
                <a:latin typeface="Malgun Gothic"/>
              </a:defRPr>
            </a:pPr>
            <a:r>
              <a:t>✓ 친환경적 경제활동을 통해</a:t>
            </a:r>
            <a:br/>
            <a:r>
              <a:t>해양오염에 대한 예방과 오염</a:t>
            </a:r>
            <a:br/>
            <a:r>
              <a:t>방제 및 정화활동 병행</a:t>
            </a:r>
          </a:p>
        </p:txBody>
      </p:sp>
      <p:sp>
        <p:nvSpPr>
          <p:cNvPr id="27" name="TextBox 26"/>
          <p:cNvSpPr txBox="1"/>
          <p:nvPr/>
        </p:nvSpPr>
        <p:spPr>
          <a:xfrm>
            <a:off x="457200" y="11201400"/>
            <a:ext cx="8229600" cy="228600"/>
          </a:xfrm>
          <a:prstGeom prst="rect">
            <a:avLst/>
          </a:prstGeom>
          <a:noFill/>
        </p:spPr>
        <p:txBody>
          <a:bodyPr wrap="square">
            <a:spAutoFit/>
          </a:bodyPr>
          <a:lstStyle/>
          <a:p>
            <a:pPr algn="l">
              <a:defRPr sz="1000" b="0">
                <a:latin typeface="Malgun Gothic"/>
              </a:defRPr>
            </a:pPr>
            <a:r>
              <a:t>✓ 해양환경 영역의 친환경 녹색</a:t>
            </a:r>
            <a:br/>
            <a:r>
              <a:t>산업 및 친환경 에너지 투자와</a:t>
            </a:r>
            <a:br/>
            <a:r>
              <a:t>육성에 대한 요구 확대</a:t>
            </a:r>
          </a:p>
        </p:txBody>
      </p:sp>
      <p:sp>
        <p:nvSpPr>
          <p:cNvPr id="28" name="TextBox 27"/>
          <p:cNvSpPr txBox="1"/>
          <p:nvPr/>
        </p:nvSpPr>
        <p:spPr>
          <a:xfrm>
            <a:off x="457200" y="11521440"/>
            <a:ext cx="8229600" cy="457200"/>
          </a:xfrm>
          <a:prstGeom prst="rect">
            <a:avLst/>
          </a:prstGeom>
          <a:noFill/>
        </p:spPr>
        <p:txBody>
          <a:bodyPr wrap="square">
            <a:spAutoFit/>
          </a:bodyPr>
          <a:lstStyle/>
          <a:p>
            <a:pPr algn="l">
              <a:defRPr sz="1000" b="0">
                <a:latin typeface="Malgun Gothic"/>
              </a:defRPr>
            </a:pPr>
            <a:r>
              <a:t>✓ 기후변화에 대한 능동적,</a:t>
            </a:r>
            <a:br/>
            <a:r>
              <a:t>적극적 대응 요구 확대</a:t>
            </a:r>
            <a:br/>
            <a:r>
              <a:t>✓ 해양환경보전 및 해양</a:t>
            </a:r>
            <a:br/>
            <a:r>
              <a:t>기후변화 대응에서 과학적,</a:t>
            </a:r>
            <a:br/>
            <a:r>
              <a:t>체계적 대응역량 강화 필요</a:t>
            </a:r>
            <a:br/>
            <a:r>
              <a:t>→ 정보화, 전문성 요구</a:t>
            </a:r>
          </a:p>
        </p:txBody>
      </p:sp>
      <p:sp>
        <p:nvSpPr>
          <p:cNvPr id="29" name="TextBox 28"/>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*Source : 제5차 해양환경종합계획(2021~2030), 2021.01, 해양수산부 | Page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제5차 해양환경종합계획 10대 핵심과제</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10대 핵심과제 중 해양환경부분은 현재 공단이 주관하고 있으며, 기후변화 관련 과제는 공단에 주관 역할이 부여될</a:t>
            </a:r>
            <a:br/>
            <a:r>
              <a:t>것으로 예상되며, 해양생태관광, 해양바이오산업 과제는 공단이 지원하는 과제로 분류해 볼 수 있음</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제5차 해양환경종합계획 10대 핵심과제</a:t>
            </a:r>
          </a:p>
        </p:txBody>
      </p:sp>
      <p:sp>
        <p:nvSpPr>
          <p:cNvPr id="5" name="TextBox 4"/>
          <p:cNvSpPr txBox="1"/>
          <p:nvPr/>
        </p:nvSpPr>
        <p:spPr>
          <a:xfrm>
            <a:off x="457200" y="1828800"/>
            <a:ext cx="8229600" cy="457200"/>
          </a:xfrm>
          <a:prstGeom prst="rect">
            <a:avLst/>
          </a:prstGeom>
          <a:noFill/>
        </p:spPr>
        <p:txBody>
          <a:bodyPr wrap="square">
            <a:spAutoFit/>
          </a:bodyPr>
          <a:lstStyle/>
          <a:p>
            <a:pPr algn="l">
              <a:defRPr sz="900" b="0">
                <a:latin typeface="Malgun Gothic"/>
              </a:defRPr>
            </a:pPr>
            <a:r>
              <a:t>[TABLE]</a:t>
            </a:r>
            <a:br/>
            <a:r>
              <a:t>See OCR output for table data - 10 rows with columns: 과제, 과제 주요 내용</a:t>
            </a:r>
          </a:p>
        </p:txBody>
      </p:sp>
      <p:sp>
        <p:nvSpPr>
          <p:cNvPr id="6" name="Rectangle 5"/>
          <p:cNvSpPr/>
          <p:nvPr/>
        </p:nvSpPr>
        <p:spPr>
          <a:xfrm>
            <a:off x="45720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7" name="TextBox 6"/>
          <p:cNvSpPr txBox="1"/>
          <p:nvPr/>
        </p:nvSpPr>
        <p:spPr>
          <a:xfrm>
            <a:off x="54864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8" name="Rectangle 7"/>
          <p:cNvSpPr/>
          <p:nvPr/>
        </p:nvSpPr>
        <p:spPr>
          <a:xfrm>
            <a:off x="323088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9" name="TextBox 8"/>
          <p:cNvSpPr txBox="1"/>
          <p:nvPr/>
        </p:nvSpPr>
        <p:spPr>
          <a:xfrm>
            <a:off x="332232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0" name="Rectangle 9"/>
          <p:cNvSpPr/>
          <p:nvPr/>
        </p:nvSpPr>
        <p:spPr>
          <a:xfrm>
            <a:off x="600456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1" name="TextBox 10"/>
          <p:cNvSpPr txBox="1"/>
          <p:nvPr/>
        </p:nvSpPr>
        <p:spPr>
          <a:xfrm>
            <a:off x="609600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2" name="TextBox 11"/>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*Source : 제5차 해양환경종합계획(2021~2030), 2021.01, 해양수산부 | Page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제5차 해양환경종합계획 주요 지표 분석</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주요 지표에서 1등급 해역 비율, 보호구역 면적, 갯벌 복원 면적, 해양쓰레기 현존량은 직접관리 지표이며, 탄소중립,</a:t>
            </a:r>
            <a:br/>
            <a:r>
              <a:t>항만 초미세먼지 배출량, 해수면상승은 공단이 주관할 가능성이 높은 지표이고, 해양생태관광객, 해양생물종,</a:t>
            </a:r>
            <a:br/>
            <a:r>
              <a:t>해양바이오 기술 수준 등은 공단이 지원하는 지표로 목표 전반과 연관성을 가지고 있음</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제5차 해양환경종합계획 주요 지표</a:t>
            </a:r>
          </a:p>
        </p:txBody>
      </p:sp>
      <p:sp>
        <p:nvSpPr>
          <p:cNvPr id="5" name="TextBox 4"/>
          <p:cNvSpPr txBox="1"/>
          <p:nvPr/>
        </p:nvSpPr>
        <p:spPr>
          <a:xfrm>
            <a:off x="457200" y="1828800"/>
            <a:ext cx="8229600" cy="3200400"/>
          </a:xfrm>
          <a:prstGeom prst="rect">
            <a:avLst/>
          </a:prstGeom>
          <a:noFill/>
        </p:spPr>
        <p:txBody>
          <a:bodyPr wrap="square">
            <a:spAutoFit/>
          </a:bodyPr>
          <a:lstStyle/>
          <a:p>
            <a:pPr algn="l">
              <a:defRPr sz="900" b="0">
                <a:latin typeface="Malgun Gothic"/>
              </a:defRPr>
            </a:pPr>
            <a:r>
              <a:t>[TABLE]</a:t>
            </a:r>
            <a:br/>
            <a:r>
              <a:t>The slide contains a table comparing key performance indicators across '현재' (current), '2025년' (2025), and '2030년' (2030). The indicators include: 해양 기후변화 탄소중립 (Marine climate change carbon neutrality), 1등급 해역의 비율 (Ratio of class 1 waters), 보호구역 면적 (Protected area), 갯벌 복원 면적 (갯벌 복원 면적), 해양쓰레기 (해양플라스틱) 현존량 (Amount of marine litter (marine plastic)), 해양생태관광객 (Marine ecotourism visitors), 항만 초미세먼지 배출량 (PM2.5) (Port ultra-fine dust emissions (PM2.5)), 해양생물종 (Marine species), 해양바이오 기술 수준 (Marine bio technology level), 해수면상승 해안침수 정밀예측 (Precise prediction of coastal inundation due to sea level rise). Numerical values are provided for each indicator across the different years.</a:t>
            </a:r>
          </a:p>
        </p:txBody>
      </p:sp>
      <p:sp>
        <p:nvSpPr>
          <p:cNvPr id="6" name="TextBox 5"/>
          <p:cNvSpPr txBox="1"/>
          <p:nvPr/>
        </p:nvSpPr>
        <p:spPr>
          <a:xfrm>
            <a:off x="457200" y="5120640"/>
            <a:ext cx="8229600" cy="1143000"/>
          </a:xfrm>
          <a:prstGeom prst="rect">
            <a:avLst/>
          </a:prstGeom>
          <a:noFill/>
        </p:spPr>
        <p:txBody>
          <a:bodyPr wrap="square">
            <a:spAutoFit/>
          </a:bodyPr>
          <a:lstStyle/>
          <a:p>
            <a:pPr algn="l">
              <a:defRPr sz="1000" b="0">
                <a:latin typeface="Malgun Gothic"/>
              </a:defRPr>
            </a:pPr>
            <a:r>
              <a:t>Key Findings</a:t>
            </a:r>
            <a:br/>
            <a:r>
              <a:t>✓ 주요 지표 중 1등급</a:t>
            </a:r>
            <a:br/>
            <a:r>
              <a:t>해역 비율, 보호구역</a:t>
            </a:r>
            <a:br/>
            <a:r>
              <a:t>면적, 갯벌 복원 면적,</a:t>
            </a:r>
            <a:br/>
            <a:r>
              <a:t>해양쓰레기 현존량은</a:t>
            </a:r>
            <a:br/>
            <a:r>
              <a:t>공단 직접 관리지표임</a:t>
            </a:r>
            <a:br/>
            <a:r>
              <a:t>✓ 해양 기후변화 탄소중립,</a:t>
            </a:r>
            <a:br/>
            <a:r>
              <a:t>항만 초미세먼지</a:t>
            </a:r>
            <a:br/>
            <a:r>
              <a:t>배출량, 해수면상승은</a:t>
            </a:r>
            <a:br/>
            <a:r>
              <a:t>기후변화 관련 지표로,</a:t>
            </a:r>
            <a:br/>
            <a:r>
              <a:t>공단에 관리 책임이</a:t>
            </a:r>
            <a:br/>
            <a:r>
              <a:t>부여될 가능성이 있는</a:t>
            </a:r>
            <a:br/>
            <a:r>
              <a:t>지표임</a:t>
            </a:r>
            <a:br/>
            <a:r>
              <a:t>✓ 해양생태관광객,</a:t>
            </a:r>
            <a:br/>
            <a:r>
              <a:t>해양생물종,</a:t>
            </a:r>
            <a:br/>
            <a:r>
              <a:t>해양바이오 기술수준</a:t>
            </a:r>
            <a:br/>
            <a:r>
              <a:t>지표는 환경보전과</a:t>
            </a:r>
            <a:br/>
            <a:r>
              <a:t>생태계 건강성 관리</a:t>
            </a:r>
            <a:br/>
            <a:r>
              <a:t>사업을 통해 공단이</a:t>
            </a:r>
            <a:br/>
            <a:r>
              <a:t>달성을 간접적으로</a:t>
            </a:r>
            <a:br/>
            <a:r>
              <a:t>지원하는 사업 지표임</a:t>
            </a:r>
          </a:p>
        </p:txBody>
      </p:sp>
      <p:sp>
        <p:nvSpPr>
          <p:cNvPr id="7" name="TextBox 6"/>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*Source : 제5차 해양환경종합계획(2021~2030), 2021.01, 해양수산부 | Page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해양환경종합계획 추진과제 분석 (1/6)</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전략과제 1. 깨끗한 수질이 유지되는 청정한 바다는 해양오염관리의 디지털화, 정보화에 대한 기대와 오염원, 해역 등 기준에 따른 맞춤관리 등 체계적 오염관리 강화를 요구하고 있음</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전략과제 1. 깨끗한 수질이 유지되는 청정한 바다</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추진 전략</a:t>
            </a:r>
          </a:p>
        </p:txBody>
      </p:sp>
      <p:sp>
        <p:nvSpPr>
          <p:cNvPr id="6" name="TextBox 5"/>
          <p:cNvSpPr txBox="1"/>
          <p:nvPr/>
        </p:nvSpPr>
        <p:spPr>
          <a:xfrm>
            <a:off x="457200" y="2148840"/>
            <a:ext cx="8229600" cy="228600"/>
          </a:xfrm>
          <a:prstGeom prst="rect">
            <a:avLst/>
          </a:prstGeom>
          <a:noFill/>
        </p:spPr>
        <p:txBody>
          <a:bodyPr wrap="square">
            <a:spAutoFit/>
          </a:bodyPr>
          <a:lstStyle/>
          <a:p>
            <a:pPr algn="l">
              <a:defRPr sz="1000" b="0">
                <a:latin typeface="Malgun Gothic"/>
              </a:defRPr>
            </a:pPr>
            <a:r>
              <a:t>추진 과제</a:t>
            </a:r>
          </a:p>
        </p:txBody>
      </p:sp>
      <p:sp>
        <p:nvSpPr>
          <p:cNvPr id="7" name="TextBox 6"/>
          <p:cNvSpPr txBox="1"/>
          <p:nvPr/>
        </p:nvSpPr>
        <p:spPr>
          <a:xfrm>
            <a:off x="457200" y="2468880"/>
            <a:ext cx="8229600" cy="228600"/>
          </a:xfrm>
          <a:prstGeom prst="rect">
            <a:avLst/>
          </a:prstGeom>
          <a:noFill/>
        </p:spPr>
        <p:txBody>
          <a:bodyPr wrap="square">
            <a:spAutoFit/>
          </a:bodyPr>
          <a:lstStyle/>
          <a:p>
            <a:pPr algn="l">
              <a:defRPr sz="1000" b="0">
                <a:latin typeface="Malgun Gothic"/>
              </a:defRPr>
            </a:pPr>
            <a:r>
              <a:t>세부 실행 과제</a:t>
            </a:r>
          </a:p>
        </p:txBody>
      </p:sp>
      <p:sp>
        <p:nvSpPr>
          <p:cNvPr id="8" name="TextBox 7"/>
          <p:cNvSpPr txBox="1"/>
          <p:nvPr/>
        </p:nvSpPr>
        <p:spPr>
          <a:xfrm>
            <a:off x="457200" y="2788920"/>
            <a:ext cx="8229600" cy="228600"/>
          </a:xfrm>
          <a:prstGeom prst="rect">
            <a:avLst/>
          </a:prstGeom>
          <a:noFill/>
        </p:spPr>
        <p:txBody>
          <a:bodyPr wrap="square">
            <a:spAutoFit/>
          </a:bodyPr>
          <a:lstStyle/>
          <a:p>
            <a:pPr algn="l">
              <a:defRPr sz="1000" b="0">
                <a:latin typeface="Malgun Gothic"/>
              </a:defRPr>
            </a:pPr>
            <a:r>
              <a:t>공단의 역할 기대</a:t>
            </a:r>
          </a:p>
        </p:txBody>
      </p:sp>
      <p:sp>
        <p:nvSpPr>
          <p:cNvPr id="9" name="TextBox 8"/>
          <p:cNvSpPr txBox="1"/>
          <p:nvPr/>
        </p:nvSpPr>
        <p:spPr>
          <a:xfrm>
            <a:off x="457200" y="3108960"/>
            <a:ext cx="8229600" cy="228600"/>
          </a:xfrm>
          <a:prstGeom prst="rect">
            <a:avLst/>
          </a:prstGeom>
          <a:noFill/>
        </p:spPr>
        <p:txBody>
          <a:bodyPr wrap="square">
            <a:spAutoFit/>
          </a:bodyPr>
          <a:lstStyle/>
          <a:p>
            <a:pPr algn="l">
              <a:defRPr sz="1000" b="0">
                <a:latin typeface="Malgun Gothic"/>
              </a:defRPr>
            </a:pPr>
            <a:r>
              <a:t>깨끗한 수질이 유지되는</a:t>
            </a:r>
            <a:br/>
            <a:r>
              <a:t>청정한 바다</a:t>
            </a:r>
          </a:p>
        </p:txBody>
      </p:sp>
      <p:sp>
        <p:nvSpPr>
          <p:cNvPr id="10" name="TextBox 9"/>
          <p:cNvSpPr txBox="1"/>
          <p:nvPr/>
        </p:nvSpPr>
        <p:spPr>
          <a:xfrm>
            <a:off x="457200" y="3429000"/>
            <a:ext cx="8229600" cy="228600"/>
          </a:xfrm>
          <a:prstGeom prst="rect">
            <a:avLst/>
          </a:prstGeom>
          <a:noFill/>
        </p:spPr>
        <p:txBody>
          <a:bodyPr wrap="square">
            <a:spAutoFit/>
          </a:bodyPr>
          <a:lstStyle/>
          <a:p>
            <a:pPr algn="l">
              <a:defRPr sz="1000" b="0">
                <a:latin typeface="Malgun Gothic"/>
              </a:defRPr>
            </a:pPr>
            <a:r>
              <a:t>참여형 스마트 해역환경</a:t>
            </a:r>
            <a:br/>
            <a:r>
              <a:t>관리기반 조성</a:t>
            </a:r>
          </a:p>
        </p:txBody>
      </p:sp>
      <p:sp>
        <p:nvSpPr>
          <p:cNvPr id="11" name="TextBox 10"/>
          <p:cNvSpPr txBox="1"/>
          <p:nvPr/>
        </p:nvSpPr>
        <p:spPr>
          <a:xfrm>
            <a:off x="457200" y="3749040"/>
            <a:ext cx="8229600" cy="685800"/>
          </a:xfrm>
          <a:prstGeom prst="rect">
            <a:avLst/>
          </a:prstGeom>
          <a:noFill/>
        </p:spPr>
        <p:txBody>
          <a:bodyPr wrap="square">
            <a:spAutoFit/>
          </a:bodyPr>
          <a:lstStyle/>
          <a:p>
            <a:pPr algn="l">
              <a:defRPr sz="1000" b="0">
                <a:latin typeface="Malgun Gothic"/>
              </a:defRPr>
            </a:pPr>
            <a:r>
              <a:t>• ICT 기반 해역환경 모니터링 체계 개선</a:t>
            </a:r>
            <a:br/>
            <a:r>
              <a:t>• 빅데이터를 활용한 해양환경 기준 설정</a:t>
            </a:r>
            <a:br/>
            <a:r>
              <a:t>• 해역환경 관리기술 연구개발 추진</a:t>
            </a:r>
            <a:br/>
            <a:r>
              <a:t>• 참여형 해역환경 관리 거버넌스 정착</a:t>
            </a:r>
            <a:br/>
            <a:r>
              <a:t>• 방사성물질 해양 유입 사전대응 및</a:t>
            </a:r>
            <a:br/>
            <a:r>
              <a:t>  관리역량 확보</a:t>
            </a:r>
          </a:p>
        </p:txBody>
      </p:sp>
      <p:sp>
        <p:nvSpPr>
          <p:cNvPr id="12" name="TextBox 11"/>
          <p:cNvSpPr txBox="1"/>
          <p:nvPr/>
        </p:nvSpPr>
        <p:spPr>
          <a:xfrm>
            <a:off x="457200" y="4526280"/>
            <a:ext cx="8229600" cy="228600"/>
          </a:xfrm>
          <a:prstGeom prst="rect">
            <a:avLst/>
          </a:prstGeom>
          <a:noFill/>
        </p:spPr>
        <p:txBody>
          <a:bodyPr wrap="square">
            <a:spAutoFit/>
          </a:bodyPr>
          <a:lstStyle/>
          <a:p>
            <a:pPr algn="l">
              <a:defRPr sz="1000" b="0">
                <a:latin typeface="Malgun Gothic"/>
              </a:defRPr>
            </a:pPr>
            <a:r>
              <a:t>해양환경 관리 디지털화·정보화</a:t>
            </a:r>
          </a:p>
        </p:txBody>
      </p:sp>
      <p:sp>
        <p:nvSpPr>
          <p:cNvPr id="13" name="TextBox 12"/>
          <p:cNvSpPr txBox="1"/>
          <p:nvPr/>
        </p:nvSpPr>
        <p:spPr>
          <a:xfrm>
            <a:off x="457200" y="4846320"/>
            <a:ext cx="8229600" cy="228600"/>
          </a:xfrm>
          <a:prstGeom prst="rect">
            <a:avLst/>
          </a:prstGeom>
          <a:noFill/>
        </p:spPr>
        <p:txBody>
          <a:bodyPr wrap="square">
            <a:spAutoFit/>
          </a:bodyPr>
          <a:lstStyle/>
          <a:p>
            <a:pPr algn="l">
              <a:defRPr sz="1000" b="0">
                <a:latin typeface="Malgun Gothic"/>
              </a:defRPr>
            </a:pPr>
            <a:r>
              <a:t>건강한 생태계가</a:t>
            </a:r>
            <a:br/>
            <a:r>
              <a:t>살아있는 바다</a:t>
            </a:r>
          </a:p>
        </p:txBody>
      </p:sp>
      <p:sp>
        <p:nvSpPr>
          <p:cNvPr id="14" name="TextBox 13"/>
          <p:cNvSpPr txBox="1"/>
          <p:nvPr/>
        </p:nvSpPr>
        <p:spPr>
          <a:xfrm>
            <a:off x="457200" y="5166360"/>
            <a:ext cx="8229600" cy="228600"/>
          </a:xfrm>
          <a:prstGeom prst="rect">
            <a:avLst/>
          </a:prstGeom>
          <a:noFill/>
        </p:spPr>
        <p:txBody>
          <a:bodyPr wrap="square">
            <a:spAutoFit/>
          </a:bodyPr>
          <a:lstStyle/>
          <a:p>
            <a:pPr algn="l">
              <a:defRPr sz="1000" b="0">
                <a:latin typeface="Malgun Gothic"/>
              </a:defRPr>
            </a:pPr>
            <a:r>
              <a:t>정부·지자체-공공-민간의 협력적</a:t>
            </a:r>
            <a:br/>
            <a:r>
              <a:t>해양환경 거버넌스 강화</a:t>
            </a:r>
          </a:p>
        </p:txBody>
      </p:sp>
      <p:sp>
        <p:nvSpPr>
          <p:cNvPr id="15" name="TextBox 14"/>
          <p:cNvSpPr txBox="1"/>
          <p:nvPr/>
        </p:nvSpPr>
        <p:spPr>
          <a:xfrm>
            <a:off x="457200" y="5486400"/>
            <a:ext cx="8229600" cy="228600"/>
          </a:xfrm>
          <a:prstGeom prst="rect">
            <a:avLst/>
          </a:prstGeom>
          <a:noFill/>
        </p:spPr>
        <p:txBody>
          <a:bodyPr wrap="square">
            <a:spAutoFit/>
          </a:bodyPr>
          <a:lstStyle/>
          <a:p>
            <a:pPr algn="l">
              <a:defRPr sz="1000" b="0">
                <a:latin typeface="Malgun Gothic"/>
              </a:defRPr>
            </a:pPr>
            <a:r>
              <a:t>쾌적한 해양생활을</a:t>
            </a:r>
            <a:br/>
            <a:r>
              <a:t>즐기는 바다</a:t>
            </a:r>
          </a:p>
        </p:txBody>
      </p:sp>
      <p:sp>
        <p:nvSpPr>
          <p:cNvPr id="16" name="TextBox 15"/>
          <p:cNvSpPr txBox="1"/>
          <p:nvPr/>
        </p:nvSpPr>
        <p:spPr>
          <a:xfrm>
            <a:off x="457200" y="5806440"/>
            <a:ext cx="8229600" cy="228600"/>
          </a:xfrm>
          <a:prstGeom prst="rect">
            <a:avLst/>
          </a:prstGeom>
          <a:noFill/>
        </p:spPr>
        <p:txBody>
          <a:bodyPr wrap="square">
            <a:spAutoFit/>
          </a:bodyPr>
          <a:lstStyle/>
          <a:p>
            <a:pPr algn="l">
              <a:defRPr sz="1000" b="0">
                <a:latin typeface="Malgun Gothic"/>
              </a:defRPr>
            </a:pPr>
            <a:r>
              <a:t>육상기인 오염물질 저감</a:t>
            </a:r>
          </a:p>
        </p:txBody>
      </p:sp>
      <p:sp>
        <p:nvSpPr>
          <p:cNvPr id="17" name="TextBox 16"/>
          <p:cNvSpPr txBox="1"/>
          <p:nvPr/>
        </p:nvSpPr>
        <p:spPr>
          <a:xfrm>
            <a:off x="457200" y="6126480"/>
            <a:ext cx="8229600" cy="457200"/>
          </a:xfrm>
          <a:prstGeom prst="rect">
            <a:avLst/>
          </a:prstGeom>
          <a:noFill/>
        </p:spPr>
        <p:txBody>
          <a:bodyPr wrap="square">
            <a:spAutoFit/>
          </a:bodyPr>
          <a:lstStyle/>
          <a:p>
            <a:pPr algn="l">
              <a:defRPr sz="1000" b="0">
                <a:latin typeface="Malgun Gothic"/>
              </a:defRPr>
            </a:pPr>
            <a:r>
              <a:t>• 연안 환경기초시설 운영 강화</a:t>
            </a:r>
            <a:br/>
            <a:r>
              <a:t>• 비점오염원 유래 오염물질의 해양 유입</a:t>
            </a:r>
            <a:br/>
            <a:r>
              <a:t>  저감</a:t>
            </a:r>
            <a:br/>
            <a:r>
              <a:t>• 하천 하구역 해양환경관리 강화</a:t>
            </a:r>
          </a:p>
        </p:txBody>
      </p:sp>
      <p:sp>
        <p:nvSpPr>
          <p:cNvPr id="18" name="TextBox 17"/>
          <p:cNvSpPr txBox="1"/>
          <p:nvPr/>
        </p:nvSpPr>
        <p:spPr>
          <a:xfrm>
            <a:off x="457200" y="6675120"/>
            <a:ext cx="8229600" cy="228600"/>
          </a:xfrm>
          <a:prstGeom prst="rect">
            <a:avLst/>
          </a:prstGeom>
          <a:noFill/>
        </p:spPr>
        <p:txBody>
          <a:bodyPr wrap="square">
            <a:spAutoFit/>
          </a:bodyPr>
          <a:lstStyle/>
          <a:p>
            <a:pPr algn="l">
              <a:defRPr sz="1000" b="0">
                <a:latin typeface="Malgun Gothic"/>
              </a:defRPr>
            </a:pPr>
            <a:r>
              <a:t>해양오염 예방을 위한 투자와</a:t>
            </a:r>
            <a:br/>
            <a:r>
              <a:t>오염원 관리 강화</a:t>
            </a:r>
          </a:p>
        </p:txBody>
      </p:sp>
      <p:sp>
        <p:nvSpPr>
          <p:cNvPr id="19" name="TextBox 18"/>
          <p:cNvSpPr txBox="1"/>
          <p:nvPr/>
        </p:nvSpPr>
        <p:spPr>
          <a:xfrm>
            <a:off x="457200" y="6995160"/>
            <a:ext cx="8229600" cy="228600"/>
          </a:xfrm>
          <a:prstGeom prst="rect">
            <a:avLst/>
          </a:prstGeom>
          <a:noFill/>
        </p:spPr>
        <p:txBody>
          <a:bodyPr wrap="square">
            <a:spAutoFit/>
          </a:bodyPr>
          <a:lstStyle/>
          <a:p>
            <a:pPr algn="l">
              <a:defRPr sz="1000" b="0">
                <a:latin typeface="Malgun Gothic"/>
              </a:defRPr>
            </a:pPr>
            <a:r>
              <a:t>친환경적인 경제활동이</a:t>
            </a:r>
            <a:br/>
            <a:r>
              <a:t>이루어지는 바다</a:t>
            </a:r>
          </a:p>
        </p:txBody>
      </p:sp>
      <p:sp>
        <p:nvSpPr>
          <p:cNvPr id="20" name="TextBox 19"/>
          <p:cNvSpPr txBox="1"/>
          <p:nvPr/>
        </p:nvSpPr>
        <p:spPr>
          <a:xfrm>
            <a:off x="457200" y="7315200"/>
            <a:ext cx="8229600" cy="228600"/>
          </a:xfrm>
          <a:prstGeom prst="rect">
            <a:avLst/>
          </a:prstGeom>
          <a:noFill/>
        </p:spPr>
        <p:txBody>
          <a:bodyPr wrap="square">
            <a:spAutoFit/>
          </a:bodyPr>
          <a:lstStyle/>
          <a:p>
            <a:pPr algn="l">
              <a:defRPr sz="1000" b="0">
                <a:latin typeface="Malgun Gothic"/>
              </a:defRPr>
            </a:pPr>
            <a:r>
              <a:t>해양오염 관리기준 재정립</a:t>
            </a:r>
            <a:br/>
            <a:r>
              <a:t>(오염관리 지표 등)</a:t>
            </a:r>
          </a:p>
        </p:txBody>
      </p:sp>
      <p:sp>
        <p:nvSpPr>
          <p:cNvPr id="21" name="TextBox 20"/>
          <p:cNvSpPr txBox="1"/>
          <p:nvPr/>
        </p:nvSpPr>
        <p:spPr>
          <a:xfrm>
            <a:off x="457200" y="7635240"/>
            <a:ext cx="8229600" cy="228600"/>
          </a:xfrm>
          <a:prstGeom prst="rect">
            <a:avLst/>
          </a:prstGeom>
          <a:noFill/>
        </p:spPr>
        <p:txBody>
          <a:bodyPr wrap="square">
            <a:spAutoFit/>
          </a:bodyPr>
          <a:lstStyle/>
          <a:p>
            <a:pPr algn="l">
              <a:defRPr sz="1000" b="0">
                <a:latin typeface="Malgun Gothic"/>
              </a:defRPr>
            </a:pPr>
            <a:r>
              <a:t>녹색 해양산업이</a:t>
            </a:r>
            <a:br/>
            <a:r>
              <a:t>펼쳐지는 바다</a:t>
            </a:r>
          </a:p>
        </p:txBody>
      </p:sp>
      <p:sp>
        <p:nvSpPr>
          <p:cNvPr id="22" name="TextBox 21"/>
          <p:cNvSpPr txBox="1"/>
          <p:nvPr/>
        </p:nvSpPr>
        <p:spPr>
          <a:xfrm>
            <a:off x="457200" y="7955280"/>
            <a:ext cx="8229600" cy="228600"/>
          </a:xfrm>
          <a:prstGeom prst="rect">
            <a:avLst/>
          </a:prstGeom>
          <a:noFill/>
        </p:spPr>
        <p:txBody>
          <a:bodyPr wrap="square">
            <a:spAutoFit/>
          </a:bodyPr>
          <a:lstStyle/>
          <a:p>
            <a:pPr algn="l">
              <a:defRPr sz="1000" b="0">
                <a:latin typeface="Malgun Gothic"/>
              </a:defRPr>
            </a:pPr>
            <a:r>
              <a:t>해역별 맞춤형 관리 강화</a:t>
            </a:r>
          </a:p>
        </p:txBody>
      </p:sp>
      <p:sp>
        <p:nvSpPr>
          <p:cNvPr id="23" name="TextBox 22"/>
          <p:cNvSpPr txBox="1"/>
          <p:nvPr/>
        </p:nvSpPr>
        <p:spPr>
          <a:xfrm>
            <a:off x="457200" y="8275320"/>
            <a:ext cx="8229600" cy="457200"/>
          </a:xfrm>
          <a:prstGeom prst="rect">
            <a:avLst/>
          </a:prstGeom>
          <a:noFill/>
        </p:spPr>
        <p:txBody>
          <a:bodyPr wrap="square">
            <a:spAutoFit/>
          </a:bodyPr>
          <a:lstStyle/>
          <a:p>
            <a:pPr algn="l">
              <a:defRPr sz="1000" b="0">
                <a:latin typeface="Malgun Gothic"/>
              </a:defRPr>
            </a:pPr>
            <a:r>
              <a:t>• 해역환경 관리 전국연안으로 대상 확대</a:t>
            </a:r>
            <a:br/>
            <a:r>
              <a:t>• 환경관리해역의 효율적 관리</a:t>
            </a:r>
            <a:br/>
            <a:r>
              <a:t>• 특별관리해역 연안오염총량관리 확대 및</a:t>
            </a:r>
            <a:br/>
            <a:r>
              <a:t>  심화</a:t>
            </a:r>
            <a:br/>
            <a:r>
              <a:t>• 해역의 해저퇴적물 오염 개선</a:t>
            </a:r>
          </a:p>
        </p:txBody>
      </p:sp>
      <p:sp>
        <p:nvSpPr>
          <p:cNvPr id="24" name="TextBox 23"/>
          <p:cNvSpPr txBox="1"/>
          <p:nvPr/>
        </p:nvSpPr>
        <p:spPr>
          <a:xfrm>
            <a:off x="457200" y="8823960"/>
            <a:ext cx="8229600" cy="228600"/>
          </a:xfrm>
          <a:prstGeom prst="rect">
            <a:avLst/>
          </a:prstGeom>
          <a:noFill/>
        </p:spPr>
        <p:txBody>
          <a:bodyPr wrap="square">
            <a:spAutoFit/>
          </a:bodyPr>
          <a:lstStyle/>
          <a:p>
            <a:pPr algn="l">
              <a:defRPr sz="1000" b="0">
                <a:latin typeface="Malgun Gothic"/>
              </a:defRPr>
            </a:pPr>
            <a:r>
              <a:t>해안 구역별 오염관리 체계 정립</a:t>
            </a:r>
            <a:br/>
            <a:r>
              <a:t>및 관리영역 확대</a:t>
            </a:r>
          </a:p>
        </p:txBody>
      </p:sp>
      <p:sp>
        <p:nvSpPr>
          <p:cNvPr id="25" name="TextBox 24"/>
          <p:cNvSpPr txBox="1"/>
          <p:nvPr/>
        </p:nvSpPr>
        <p:spPr>
          <a:xfrm>
            <a:off x="457200" y="9144000"/>
            <a:ext cx="8229600" cy="228600"/>
          </a:xfrm>
          <a:prstGeom prst="rect">
            <a:avLst/>
          </a:prstGeom>
          <a:noFill/>
        </p:spPr>
        <p:txBody>
          <a:bodyPr wrap="square">
            <a:spAutoFit/>
          </a:bodyPr>
          <a:lstStyle/>
          <a:p>
            <a:pPr algn="l">
              <a:defRPr sz="1000" b="0">
                <a:latin typeface="Malgun Gothic"/>
              </a:defRPr>
            </a:pPr>
            <a:r>
              <a:t>기후변화에 대응하고</a:t>
            </a:r>
            <a:br/>
            <a:r>
              <a:t>체계적으로 계획된 바다</a:t>
            </a:r>
          </a:p>
        </p:txBody>
      </p:sp>
      <p:sp>
        <p:nvSpPr>
          <p:cNvPr id="26" name="TextBox 25"/>
          <p:cNvSpPr txBox="1"/>
          <p:nvPr/>
        </p:nvSpPr>
        <p:spPr>
          <a:xfrm>
            <a:off x="457200" y="9464040"/>
            <a:ext cx="8229600" cy="228600"/>
          </a:xfrm>
          <a:prstGeom prst="rect">
            <a:avLst/>
          </a:prstGeom>
          <a:noFill/>
        </p:spPr>
        <p:txBody>
          <a:bodyPr wrap="square">
            <a:spAutoFit/>
          </a:bodyPr>
          <a:lstStyle/>
          <a:p>
            <a:pPr algn="l">
              <a:defRPr sz="1000" b="0">
                <a:latin typeface="Malgun Gothic"/>
              </a:defRPr>
            </a:pPr>
            <a:r>
              <a:t>✓ 해양오염 관리의 디지털화,</a:t>
            </a:r>
            <a:br/>
            <a:r>
              <a:t> 정보화에 대한 기대 확대</a:t>
            </a:r>
          </a:p>
        </p:txBody>
      </p:sp>
      <p:sp>
        <p:nvSpPr>
          <p:cNvPr id="27" name="TextBox 26"/>
          <p:cNvSpPr txBox="1"/>
          <p:nvPr/>
        </p:nvSpPr>
        <p:spPr>
          <a:xfrm>
            <a:off x="457200" y="9784080"/>
            <a:ext cx="8229600" cy="228600"/>
          </a:xfrm>
          <a:prstGeom prst="rect">
            <a:avLst/>
          </a:prstGeom>
          <a:noFill/>
        </p:spPr>
        <p:txBody>
          <a:bodyPr wrap="square">
            <a:spAutoFit/>
          </a:bodyPr>
          <a:lstStyle/>
          <a:p>
            <a:pPr algn="l">
              <a:defRPr sz="1000" b="0">
                <a:latin typeface="Malgun Gothic"/>
              </a:defRPr>
            </a:pPr>
            <a:r>
              <a:t>✓ 오염원, 해역별 관리 등 체계적</a:t>
            </a:r>
            <a:br/>
            <a:r>
              <a:t> 오염관리 강화 필요성</a:t>
            </a:r>
          </a:p>
        </p:txBody>
      </p:sp>
      <p:sp>
        <p:nvSpPr>
          <p:cNvPr id="28" name="TextBox 27"/>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*Source : 제5차 해양환경종합계획(2021~2030), 2021.01, 해양수산부 | Page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해양환경종합계획 추진과제 분석 (4/6)</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전략과제 4. 친환경적인 경제활동이 이루어지는 바다에서는 국가 해양오염방제체계의 전환 및 재정비, 해양환경 관리 영역의 대기, 온실가스로 확대 및 기후변화 대응의 체계적 추진에서 공단의 주도적 역할 수행에 대한 기대를 확인할 수 있음</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전략과제 4. 친환경적인 경제활동이 이루어지는 바다</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추진 전략</a:t>
            </a:r>
          </a:p>
        </p:txBody>
      </p:sp>
      <p:sp>
        <p:nvSpPr>
          <p:cNvPr id="6" name="TextBox 5"/>
          <p:cNvSpPr txBox="1"/>
          <p:nvPr/>
        </p:nvSpPr>
        <p:spPr>
          <a:xfrm>
            <a:off x="457200" y="2148840"/>
            <a:ext cx="8229600" cy="228600"/>
          </a:xfrm>
          <a:prstGeom prst="rect">
            <a:avLst/>
          </a:prstGeom>
          <a:noFill/>
        </p:spPr>
        <p:txBody>
          <a:bodyPr wrap="square">
            <a:spAutoFit/>
          </a:bodyPr>
          <a:lstStyle/>
          <a:p>
            <a:pPr algn="l">
              <a:defRPr sz="1000" b="0">
                <a:latin typeface="Malgun Gothic"/>
              </a:defRPr>
            </a:pPr>
            <a:r>
              <a:t>추진 과제</a:t>
            </a:r>
          </a:p>
        </p:txBody>
      </p:sp>
      <p:sp>
        <p:nvSpPr>
          <p:cNvPr id="7" name="TextBox 6"/>
          <p:cNvSpPr txBox="1"/>
          <p:nvPr/>
        </p:nvSpPr>
        <p:spPr>
          <a:xfrm>
            <a:off x="457200" y="2468880"/>
            <a:ext cx="8229600" cy="228600"/>
          </a:xfrm>
          <a:prstGeom prst="rect">
            <a:avLst/>
          </a:prstGeom>
          <a:noFill/>
        </p:spPr>
        <p:txBody>
          <a:bodyPr wrap="square">
            <a:spAutoFit/>
          </a:bodyPr>
          <a:lstStyle/>
          <a:p>
            <a:pPr algn="l">
              <a:defRPr sz="1000" b="0">
                <a:latin typeface="Malgun Gothic"/>
              </a:defRPr>
            </a:pPr>
            <a:r>
              <a:t>세부 실행 과제</a:t>
            </a:r>
          </a:p>
        </p:txBody>
      </p:sp>
      <p:sp>
        <p:nvSpPr>
          <p:cNvPr id="8" name="TextBox 7"/>
          <p:cNvSpPr txBox="1"/>
          <p:nvPr/>
        </p:nvSpPr>
        <p:spPr>
          <a:xfrm>
            <a:off x="457200" y="2788920"/>
            <a:ext cx="8229600" cy="228600"/>
          </a:xfrm>
          <a:prstGeom prst="rect">
            <a:avLst/>
          </a:prstGeom>
          <a:noFill/>
        </p:spPr>
        <p:txBody>
          <a:bodyPr wrap="square">
            <a:spAutoFit/>
          </a:bodyPr>
          <a:lstStyle/>
          <a:p>
            <a:pPr algn="l">
              <a:defRPr sz="1000" b="0">
                <a:latin typeface="Malgun Gothic"/>
              </a:defRPr>
            </a:pPr>
            <a:r>
              <a:t>공단의 역할 기대</a:t>
            </a:r>
          </a:p>
        </p:txBody>
      </p:sp>
      <p:sp>
        <p:nvSpPr>
          <p:cNvPr id="9" name="TextBox 8"/>
          <p:cNvSpPr txBox="1"/>
          <p:nvPr/>
        </p:nvSpPr>
        <p:spPr>
          <a:xfrm>
            <a:off x="457200" y="3108960"/>
            <a:ext cx="8229600" cy="228600"/>
          </a:xfrm>
          <a:prstGeom prst="rect">
            <a:avLst/>
          </a:prstGeom>
          <a:noFill/>
        </p:spPr>
        <p:txBody>
          <a:bodyPr wrap="square">
            <a:spAutoFit/>
          </a:bodyPr>
          <a:lstStyle/>
          <a:p>
            <a:pPr algn="l">
              <a:defRPr sz="1000" b="0">
                <a:latin typeface="Malgun Gothic"/>
              </a:defRPr>
            </a:pPr>
            <a:r>
              <a:t>깨끗한 수질이 유지되는</a:t>
            </a:r>
            <a:br/>
            <a:r>
              <a:t>청정한 바다</a:t>
            </a:r>
          </a:p>
        </p:txBody>
      </p:sp>
      <p:sp>
        <p:nvSpPr>
          <p:cNvPr id="10" name="TextBox 9"/>
          <p:cNvSpPr txBox="1"/>
          <p:nvPr/>
        </p:nvSpPr>
        <p:spPr>
          <a:xfrm>
            <a:off x="457200" y="3429000"/>
            <a:ext cx="8229600" cy="228600"/>
          </a:xfrm>
          <a:prstGeom prst="rect">
            <a:avLst/>
          </a:prstGeom>
          <a:noFill/>
        </p:spPr>
        <p:txBody>
          <a:bodyPr wrap="square">
            <a:spAutoFit/>
          </a:bodyPr>
          <a:lstStyle/>
          <a:p>
            <a:pPr algn="l">
              <a:defRPr sz="1000" b="0">
                <a:latin typeface="Malgun Gothic"/>
              </a:defRPr>
            </a:pPr>
            <a:r>
              <a:t>건강한 생태계가</a:t>
            </a:r>
            <a:br/>
            <a:r>
              <a:t>살아있는 바다</a:t>
            </a:r>
          </a:p>
        </p:txBody>
      </p:sp>
      <p:sp>
        <p:nvSpPr>
          <p:cNvPr id="11" name="TextBox 10"/>
          <p:cNvSpPr txBox="1"/>
          <p:nvPr/>
        </p:nvSpPr>
        <p:spPr>
          <a:xfrm>
            <a:off x="457200" y="3749040"/>
            <a:ext cx="8229600" cy="228600"/>
          </a:xfrm>
          <a:prstGeom prst="rect">
            <a:avLst/>
          </a:prstGeom>
          <a:noFill/>
        </p:spPr>
        <p:txBody>
          <a:bodyPr wrap="square">
            <a:spAutoFit/>
          </a:bodyPr>
          <a:lstStyle/>
          <a:p>
            <a:pPr algn="l">
              <a:defRPr sz="1000" b="0">
                <a:latin typeface="Malgun Gothic"/>
              </a:defRPr>
            </a:pPr>
            <a:r>
              <a:t>쾌적한 해양생활을</a:t>
            </a:r>
            <a:br/>
            <a:r>
              <a:t>즐기는 바다</a:t>
            </a:r>
          </a:p>
        </p:txBody>
      </p:sp>
      <p:sp>
        <p:nvSpPr>
          <p:cNvPr id="12" name="TextBox 11"/>
          <p:cNvSpPr txBox="1"/>
          <p:nvPr/>
        </p:nvSpPr>
        <p:spPr>
          <a:xfrm>
            <a:off x="457200" y="4069080"/>
            <a:ext cx="8229600" cy="228600"/>
          </a:xfrm>
          <a:prstGeom prst="rect">
            <a:avLst/>
          </a:prstGeom>
          <a:noFill/>
        </p:spPr>
        <p:txBody>
          <a:bodyPr wrap="square">
            <a:spAutoFit/>
          </a:bodyPr>
          <a:lstStyle/>
          <a:p>
            <a:pPr algn="l">
              <a:defRPr sz="1000" b="0">
                <a:latin typeface="Malgun Gothic"/>
              </a:defRPr>
            </a:pPr>
            <a:r>
              <a:t>해양오염사고 대비체계</a:t>
            </a:r>
            <a:br/>
            <a:r>
              <a:t>재정비</a:t>
            </a:r>
          </a:p>
        </p:txBody>
      </p:sp>
      <p:sp>
        <p:nvSpPr>
          <p:cNvPr id="13" name="TextBox 12"/>
          <p:cNvSpPr txBox="1"/>
          <p:nvPr/>
        </p:nvSpPr>
        <p:spPr>
          <a:xfrm>
            <a:off x="457200" y="4389120"/>
            <a:ext cx="8229600" cy="914400"/>
          </a:xfrm>
          <a:prstGeom prst="rect">
            <a:avLst/>
          </a:prstGeom>
          <a:noFill/>
        </p:spPr>
        <p:txBody>
          <a:bodyPr wrap="square">
            <a:spAutoFit/>
          </a:bodyPr>
          <a:lstStyle/>
          <a:p>
            <a:pPr algn="l">
              <a:defRPr sz="1000" b="0">
                <a:latin typeface="Malgun Gothic"/>
              </a:defRPr>
            </a:pPr>
            <a:r>
              <a:t>• 국가·공공·민간 통합 해양오염방제체계 구축</a:t>
            </a:r>
            <a:br/>
            <a:r>
              <a:t>• 해상 위험유해물질(HNS) 사고에 대한 국가</a:t>
            </a:r>
            <a:br/>
            <a:r>
              <a:t>  대응체계 강화</a:t>
            </a:r>
            <a:br/>
            <a:r>
              <a:t>• 신규 해양오염원에 의한 유출사고 대비체계 구축</a:t>
            </a:r>
            <a:br/>
            <a:r>
              <a:t>• 선박·해양시설 해양오염 예방관리 강화</a:t>
            </a:r>
            <a:br/>
            <a:r>
              <a:t>• 실시간 해양오염 감시체계 구축</a:t>
            </a:r>
            <a:br/>
            <a:r>
              <a:t>• 해양오염물질 분석능력 제고 및 방제기술 연구</a:t>
            </a:r>
          </a:p>
        </p:txBody>
      </p:sp>
      <p:sp>
        <p:nvSpPr>
          <p:cNvPr id="14" name="TextBox 13"/>
          <p:cNvSpPr txBox="1"/>
          <p:nvPr/>
        </p:nvSpPr>
        <p:spPr>
          <a:xfrm>
            <a:off x="457200" y="5394960"/>
            <a:ext cx="8229600" cy="228600"/>
          </a:xfrm>
          <a:prstGeom prst="rect">
            <a:avLst/>
          </a:prstGeom>
          <a:noFill/>
        </p:spPr>
        <p:txBody>
          <a:bodyPr wrap="square">
            <a:spAutoFit/>
          </a:bodyPr>
          <a:lstStyle/>
          <a:p>
            <a:pPr algn="l">
              <a:defRPr sz="1000" b="0">
                <a:latin typeface="Malgun Gothic"/>
              </a:defRPr>
            </a:pPr>
            <a:r>
              <a:t>민간 통합방제체계 구축 주관</a:t>
            </a:r>
          </a:p>
        </p:txBody>
      </p:sp>
      <p:sp>
        <p:nvSpPr>
          <p:cNvPr id="15" name="TextBox 14"/>
          <p:cNvSpPr txBox="1"/>
          <p:nvPr/>
        </p:nvSpPr>
        <p:spPr>
          <a:xfrm>
            <a:off x="457200" y="5715000"/>
            <a:ext cx="8229600" cy="228600"/>
          </a:xfrm>
          <a:prstGeom prst="rect">
            <a:avLst/>
          </a:prstGeom>
          <a:noFill/>
        </p:spPr>
        <p:txBody>
          <a:bodyPr wrap="square">
            <a:spAutoFit/>
          </a:bodyPr>
          <a:lstStyle/>
          <a:p>
            <a:pPr algn="l">
              <a:defRPr sz="1000" b="0">
                <a:latin typeface="Malgun Gothic"/>
              </a:defRPr>
            </a:pPr>
            <a:r>
              <a:t>국가 해양오염사고 예방 및</a:t>
            </a:r>
            <a:br/>
            <a:r>
              <a:t>대응체계 재정비</a:t>
            </a:r>
          </a:p>
        </p:txBody>
      </p:sp>
      <p:sp>
        <p:nvSpPr>
          <p:cNvPr id="16" name="TextBox 15"/>
          <p:cNvSpPr txBox="1"/>
          <p:nvPr/>
        </p:nvSpPr>
        <p:spPr>
          <a:xfrm>
            <a:off x="457200" y="6035040"/>
            <a:ext cx="8229600" cy="228600"/>
          </a:xfrm>
          <a:prstGeom prst="rect">
            <a:avLst/>
          </a:prstGeom>
          <a:noFill/>
        </p:spPr>
        <p:txBody>
          <a:bodyPr wrap="square">
            <a:spAutoFit/>
          </a:bodyPr>
          <a:lstStyle/>
          <a:p>
            <a:pPr algn="l">
              <a:defRPr sz="1000" b="0">
                <a:latin typeface="Malgun Gothic"/>
              </a:defRPr>
            </a:pPr>
            <a:r>
              <a:t>해양 탄소(온실가스) 저감 사업</a:t>
            </a:r>
            <a:br/>
            <a:r>
              <a:t>발굴, 추진, 관리</a:t>
            </a:r>
          </a:p>
        </p:txBody>
      </p:sp>
      <p:sp>
        <p:nvSpPr>
          <p:cNvPr id="17" name="TextBox 16"/>
          <p:cNvSpPr txBox="1"/>
          <p:nvPr/>
        </p:nvSpPr>
        <p:spPr>
          <a:xfrm>
            <a:off x="457200" y="6355080"/>
            <a:ext cx="8229600" cy="228600"/>
          </a:xfrm>
          <a:prstGeom prst="rect">
            <a:avLst/>
          </a:prstGeom>
          <a:noFill/>
        </p:spPr>
        <p:txBody>
          <a:bodyPr wrap="square">
            <a:spAutoFit/>
          </a:bodyPr>
          <a:lstStyle/>
          <a:p>
            <a:pPr algn="l">
              <a:defRPr sz="1000" b="0">
                <a:latin typeface="Malgun Gothic"/>
              </a:defRPr>
            </a:pPr>
            <a:r>
              <a:t>4차산업혁명 신기술 해양오염</a:t>
            </a:r>
            <a:br/>
            <a:r>
              <a:t>조사·측정·분석·관리 적용</a:t>
            </a:r>
          </a:p>
        </p:txBody>
      </p:sp>
      <p:sp>
        <p:nvSpPr>
          <p:cNvPr id="18" name="TextBox 17"/>
          <p:cNvSpPr txBox="1"/>
          <p:nvPr/>
        </p:nvSpPr>
        <p:spPr>
          <a:xfrm>
            <a:off x="457200" y="6675120"/>
            <a:ext cx="8229600" cy="228600"/>
          </a:xfrm>
          <a:prstGeom prst="rect">
            <a:avLst/>
          </a:prstGeom>
          <a:noFill/>
        </p:spPr>
        <p:txBody>
          <a:bodyPr wrap="square">
            <a:spAutoFit/>
          </a:bodyPr>
          <a:lstStyle/>
          <a:p>
            <a:pPr algn="l">
              <a:defRPr sz="1000" b="0">
                <a:latin typeface="Malgun Gothic"/>
              </a:defRPr>
            </a:pPr>
            <a:r>
              <a:t>친환경적인 경제활동이</a:t>
            </a:r>
            <a:br/>
            <a:r>
              <a:t>이루어지는 바다</a:t>
            </a:r>
          </a:p>
        </p:txBody>
      </p:sp>
      <p:sp>
        <p:nvSpPr>
          <p:cNvPr id="19" name="TextBox 18"/>
          <p:cNvSpPr txBox="1"/>
          <p:nvPr/>
        </p:nvSpPr>
        <p:spPr>
          <a:xfrm>
            <a:off x="457200" y="6995160"/>
            <a:ext cx="8229600" cy="228600"/>
          </a:xfrm>
          <a:prstGeom prst="rect">
            <a:avLst/>
          </a:prstGeom>
          <a:noFill/>
        </p:spPr>
        <p:txBody>
          <a:bodyPr wrap="square">
            <a:spAutoFit/>
          </a:bodyPr>
          <a:lstStyle/>
          <a:p>
            <a:pPr algn="l">
              <a:defRPr sz="1000" b="0">
                <a:latin typeface="Malgun Gothic"/>
              </a:defRPr>
            </a:pPr>
            <a:r>
              <a:t>녹색 해양산업이</a:t>
            </a:r>
            <a:br/>
            <a:r>
              <a:t>펼쳐지는 바다</a:t>
            </a:r>
          </a:p>
        </p:txBody>
      </p:sp>
      <p:sp>
        <p:nvSpPr>
          <p:cNvPr id="20" name="TextBox 19"/>
          <p:cNvSpPr txBox="1"/>
          <p:nvPr/>
        </p:nvSpPr>
        <p:spPr>
          <a:xfrm>
            <a:off x="457200" y="7315200"/>
            <a:ext cx="8229600" cy="228600"/>
          </a:xfrm>
          <a:prstGeom prst="rect">
            <a:avLst/>
          </a:prstGeom>
          <a:noFill/>
        </p:spPr>
        <p:txBody>
          <a:bodyPr wrap="square">
            <a:spAutoFit/>
          </a:bodyPr>
          <a:lstStyle/>
          <a:p>
            <a:pPr algn="l">
              <a:defRPr sz="1000" b="0">
                <a:latin typeface="Malgun Gothic"/>
              </a:defRPr>
            </a:pPr>
            <a:r>
              <a:t>기후변화에 대응하고</a:t>
            </a:r>
            <a:br/>
            <a:r>
              <a:t>체계적으로 계획된 바다</a:t>
            </a:r>
          </a:p>
        </p:txBody>
      </p:sp>
      <p:sp>
        <p:nvSpPr>
          <p:cNvPr id="21" name="TextBox 20"/>
          <p:cNvSpPr txBox="1"/>
          <p:nvPr/>
        </p:nvSpPr>
        <p:spPr>
          <a:xfrm>
            <a:off x="457200" y="7635240"/>
            <a:ext cx="8229600" cy="228600"/>
          </a:xfrm>
          <a:prstGeom prst="rect">
            <a:avLst/>
          </a:prstGeom>
          <a:noFill/>
        </p:spPr>
        <p:txBody>
          <a:bodyPr wrap="square">
            <a:spAutoFit/>
          </a:bodyPr>
          <a:lstStyle/>
          <a:p>
            <a:pPr algn="l">
              <a:defRPr sz="1000" b="0">
                <a:latin typeface="Malgun Gothic"/>
              </a:defRPr>
            </a:pPr>
            <a:r>
              <a:t>온실가스·대기오염물질 관리</a:t>
            </a:r>
            <a:br/>
            <a:r>
              <a:t>강화</a:t>
            </a:r>
          </a:p>
        </p:txBody>
      </p:sp>
      <p:sp>
        <p:nvSpPr>
          <p:cNvPr id="22" name="TextBox 21"/>
          <p:cNvSpPr txBox="1"/>
          <p:nvPr/>
        </p:nvSpPr>
        <p:spPr>
          <a:xfrm>
            <a:off x="457200" y="7955280"/>
            <a:ext cx="8229600" cy="457200"/>
          </a:xfrm>
          <a:prstGeom prst="rect">
            <a:avLst/>
          </a:prstGeom>
          <a:noFill/>
        </p:spPr>
        <p:txBody>
          <a:bodyPr wrap="square">
            <a:spAutoFit/>
          </a:bodyPr>
          <a:lstStyle/>
          <a:p>
            <a:pPr algn="l">
              <a:defRPr sz="1000" b="0">
                <a:latin typeface="Malgun Gothic"/>
              </a:defRPr>
            </a:pPr>
            <a:r>
              <a:t>• 온실가스·대기오염물질 저배출 친환경 선박</a:t>
            </a:r>
            <a:br/>
            <a:r>
              <a:t>  전환 촉진</a:t>
            </a:r>
            <a:br/>
            <a:r>
              <a:t>• 항만 기인 대기환경 관리 강화</a:t>
            </a:r>
            <a:br/>
            <a:r>
              <a:t>• 해양 온실가스 저감 수단 다양화</a:t>
            </a:r>
          </a:p>
        </p:txBody>
      </p:sp>
      <p:sp>
        <p:nvSpPr>
          <p:cNvPr id="23" name="TextBox 22"/>
          <p:cNvSpPr txBox="1"/>
          <p:nvPr/>
        </p:nvSpPr>
        <p:spPr>
          <a:xfrm>
            <a:off x="457200" y="8503920"/>
            <a:ext cx="8229600" cy="228600"/>
          </a:xfrm>
          <a:prstGeom prst="rect">
            <a:avLst/>
          </a:prstGeom>
          <a:noFill/>
        </p:spPr>
        <p:txBody>
          <a:bodyPr wrap="square">
            <a:spAutoFit/>
          </a:bodyPr>
          <a:lstStyle/>
          <a:p>
            <a:pPr algn="l">
              <a:defRPr sz="1000" b="0">
                <a:latin typeface="Malgun Gothic"/>
              </a:defRPr>
            </a:pPr>
            <a:r>
              <a:t>해양환경-대기 통합 데이터</a:t>
            </a:r>
            <a:br/>
            <a:r>
              <a:t>시스템 기획, 구축, 운영</a:t>
            </a:r>
          </a:p>
        </p:txBody>
      </p:sp>
      <p:sp>
        <p:nvSpPr>
          <p:cNvPr id="24" name="TextBox 23"/>
          <p:cNvSpPr txBox="1"/>
          <p:nvPr/>
        </p:nvSpPr>
        <p:spPr>
          <a:xfrm>
            <a:off x="457200" y="8823960"/>
            <a:ext cx="8229600" cy="228600"/>
          </a:xfrm>
          <a:prstGeom prst="rect">
            <a:avLst/>
          </a:prstGeom>
          <a:noFill/>
        </p:spPr>
        <p:txBody>
          <a:bodyPr wrap="square">
            <a:spAutoFit/>
          </a:bodyPr>
          <a:lstStyle/>
          <a:p>
            <a:pPr algn="l">
              <a:defRPr sz="1000" b="0">
                <a:latin typeface="Malgun Gothic"/>
              </a:defRPr>
            </a:pPr>
            <a:r>
              <a:t>해양·항만 대기환경 분석-예측</a:t>
            </a:r>
            <a:br/>
            <a:r>
              <a:t>플랫폼 구축</a:t>
            </a:r>
          </a:p>
        </p:txBody>
      </p:sp>
      <p:sp>
        <p:nvSpPr>
          <p:cNvPr id="25" name="TextBox 24"/>
          <p:cNvSpPr txBox="1"/>
          <p:nvPr/>
        </p:nvSpPr>
        <p:spPr>
          <a:xfrm>
            <a:off x="457200" y="9144000"/>
            <a:ext cx="8229600" cy="457200"/>
          </a:xfrm>
          <a:prstGeom prst="rect">
            <a:avLst/>
          </a:prstGeom>
          <a:noFill/>
        </p:spPr>
        <p:txBody>
          <a:bodyPr wrap="square">
            <a:spAutoFit/>
          </a:bodyPr>
          <a:lstStyle/>
          <a:p>
            <a:pPr algn="l">
              <a:defRPr sz="1000" b="0">
                <a:latin typeface="Malgun Gothic"/>
              </a:defRPr>
            </a:pPr>
            <a:r>
              <a:t>• 해양-연안-항만 대기환경 조사체계 구축</a:t>
            </a:r>
            <a:br/>
            <a:r>
              <a:t>• 유무선 네트워크 기반 배출-오염 측정체계</a:t>
            </a:r>
            <a:br/>
            <a:r>
              <a:t>  구축</a:t>
            </a:r>
            <a:br/>
            <a:r>
              <a:t>• 디지털트윈 기반 항만 대기오염물질</a:t>
            </a:r>
            <a:br/>
            <a:r>
              <a:t>  분석·예측 플랫폼 구축</a:t>
            </a:r>
          </a:p>
        </p:txBody>
      </p:sp>
      <p:sp>
        <p:nvSpPr>
          <p:cNvPr id="26" name="TextBox 25"/>
          <p:cNvSpPr txBox="1"/>
          <p:nvPr/>
        </p:nvSpPr>
        <p:spPr>
          <a:xfrm>
            <a:off x="457200" y="9692640"/>
            <a:ext cx="8229600" cy="457200"/>
          </a:xfrm>
          <a:prstGeom prst="rect">
            <a:avLst/>
          </a:prstGeom>
          <a:noFill/>
        </p:spPr>
        <p:txBody>
          <a:bodyPr wrap="square">
            <a:spAutoFit/>
          </a:bodyPr>
          <a:lstStyle/>
          <a:p>
            <a:pPr algn="l">
              <a:defRPr sz="1000" b="0">
                <a:latin typeface="Malgun Gothic"/>
              </a:defRPr>
            </a:pPr>
            <a:r>
              <a:t>✓ 국가 해양오염방제체계 재정비</a:t>
            </a:r>
            <a:br/>
            <a:r>
              <a:t>   및 협력적 방제체계 구축 요구</a:t>
            </a:r>
            <a:br/>
            <a:r>
              <a:t>✓ 기후변화 협약 및 온실가스에</a:t>
            </a:r>
            <a:br/>
            <a:r>
              <a:t>   대한 체계적 대응 및 실행 강화</a:t>
            </a:r>
          </a:p>
        </p:txBody>
      </p:sp>
      <p:sp>
        <p:nvSpPr>
          <p:cNvPr id="27" name="TextBox 26"/>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*Source : 제5차 해양환경종합계획(2021~2030), 2021.01, 해양수산부 | Page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해양환경종합계획 추진과제 분석 (5/6)</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전략과제 5. 녹색 해양산업이 펼쳐지는 바다에는 해양에너지원별 발전 적합지역 검토를 포함한 해양 친환경 에너지</a:t>
            </a:r>
            <a:br/>
            <a:r>
              <a:t>산업 육성을 위한 기반 조성과 디지털과 정보기술을 접목한 해양환경산업의 육성에서 공단의 역할에 대한 기대를</a:t>
            </a:r>
            <a:br/>
            <a:r>
              <a:t>찾아볼 수 있음</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*Source : 제5차 해양환경종합계획(2021~2030), 2021.01, 해양수산부 | Page 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해양환경종합계획 추진과제 분석 (6/6)</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전략과제 6. 기후변화에 대응하고 체계적으로 계획된 바다에서는 기후변화 대응, 해양환경 및 해양공간 정보화, 해양환경 분야 국제적 위상 강화 및 협력 증진에서 공단의 주도적 역할에 대한 기대를 확인할 수 있음</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전략과제 6. 기후변화에 대응하고 체계적으로 계획된 바다</a:t>
            </a:r>
          </a:p>
        </p:txBody>
      </p:sp>
      <p:sp>
        <p:nvSpPr>
          <p:cNvPr id="5" name="TextBox 4"/>
          <p:cNvSpPr txBox="1"/>
          <p:nvPr/>
        </p:nvSpPr>
        <p:spPr>
          <a:xfrm>
            <a:off x="457200" y="1828800"/>
            <a:ext cx="8229600" cy="274320"/>
          </a:xfrm>
          <a:prstGeom prst="rect">
            <a:avLst/>
          </a:prstGeom>
          <a:noFill/>
        </p:spPr>
        <p:txBody>
          <a:bodyPr wrap="square">
            <a:spAutoFit/>
          </a:bodyPr>
          <a:lstStyle/>
          <a:p>
            <a:pPr algn="l">
              <a:defRPr sz="1200" b="1">
                <a:solidFill>
                  <a:srgbClr val="003366"/>
                </a:solidFill>
                <a:latin typeface="Malgun Gothic"/>
              </a:defRPr>
            </a:pPr>
            <a:r>
              <a:t>추진 전략</a:t>
            </a:r>
          </a:p>
        </p:txBody>
      </p:sp>
      <p:sp>
        <p:nvSpPr>
          <p:cNvPr id="6" name="TextBox 5"/>
          <p:cNvSpPr txBox="1"/>
          <p:nvPr/>
        </p:nvSpPr>
        <p:spPr>
          <a:xfrm>
            <a:off x="457200" y="2194560"/>
            <a:ext cx="8229600" cy="228600"/>
          </a:xfrm>
          <a:prstGeom prst="rect">
            <a:avLst/>
          </a:prstGeom>
          <a:noFill/>
        </p:spPr>
        <p:txBody>
          <a:bodyPr wrap="square">
            <a:spAutoFit/>
          </a:bodyPr>
          <a:lstStyle/>
          <a:p>
            <a:pPr algn="l">
              <a:defRPr sz="1000" b="0">
                <a:latin typeface="Malgun Gothic"/>
              </a:defRPr>
            </a:pPr>
            <a:r>
              <a:t>깨끗한 수질이 유지되는</a:t>
            </a:r>
            <a:br/>
            <a:r>
              <a:t>청정한 바다</a:t>
            </a:r>
          </a:p>
        </p:txBody>
      </p:sp>
      <p:sp>
        <p:nvSpPr>
          <p:cNvPr id="7" name="TextBox 6"/>
          <p:cNvSpPr txBox="1"/>
          <p:nvPr/>
        </p:nvSpPr>
        <p:spPr>
          <a:xfrm>
            <a:off x="457200" y="2514600"/>
            <a:ext cx="8229600" cy="228600"/>
          </a:xfrm>
          <a:prstGeom prst="rect">
            <a:avLst/>
          </a:prstGeom>
          <a:noFill/>
        </p:spPr>
        <p:txBody>
          <a:bodyPr wrap="square">
            <a:spAutoFit/>
          </a:bodyPr>
          <a:lstStyle/>
          <a:p>
            <a:pPr algn="l">
              <a:defRPr sz="1000" b="0">
                <a:latin typeface="Malgun Gothic"/>
              </a:defRPr>
            </a:pPr>
            <a:r>
              <a:t>건강한 생태계가</a:t>
            </a:r>
            <a:br/>
            <a:r>
              <a:t>살아있는 바다</a:t>
            </a:r>
          </a:p>
        </p:txBody>
      </p:sp>
      <p:sp>
        <p:nvSpPr>
          <p:cNvPr id="8" name="TextBox 7"/>
          <p:cNvSpPr txBox="1"/>
          <p:nvPr/>
        </p:nvSpPr>
        <p:spPr>
          <a:xfrm>
            <a:off x="457200" y="2834640"/>
            <a:ext cx="8229600" cy="228600"/>
          </a:xfrm>
          <a:prstGeom prst="rect">
            <a:avLst/>
          </a:prstGeom>
          <a:noFill/>
        </p:spPr>
        <p:txBody>
          <a:bodyPr wrap="square">
            <a:spAutoFit/>
          </a:bodyPr>
          <a:lstStyle/>
          <a:p>
            <a:pPr algn="l">
              <a:defRPr sz="1000" b="0">
                <a:latin typeface="Malgun Gothic"/>
              </a:defRPr>
            </a:pPr>
            <a:r>
              <a:t>쾌적한 해양생활을</a:t>
            </a:r>
            <a:br/>
            <a:r>
              <a:t>즐기는 바다</a:t>
            </a:r>
          </a:p>
        </p:txBody>
      </p:sp>
      <p:sp>
        <p:nvSpPr>
          <p:cNvPr id="9" name="TextBox 8"/>
          <p:cNvSpPr txBox="1"/>
          <p:nvPr/>
        </p:nvSpPr>
        <p:spPr>
          <a:xfrm>
            <a:off x="457200" y="3154680"/>
            <a:ext cx="8229600" cy="228600"/>
          </a:xfrm>
          <a:prstGeom prst="rect">
            <a:avLst/>
          </a:prstGeom>
          <a:noFill/>
        </p:spPr>
        <p:txBody>
          <a:bodyPr wrap="square">
            <a:spAutoFit/>
          </a:bodyPr>
          <a:lstStyle/>
          <a:p>
            <a:pPr algn="l">
              <a:defRPr sz="1000" b="0">
                <a:latin typeface="Malgun Gothic"/>
              </a:defRPr>
            </a:pPr>
            <a:r>
              <a:t>친환경적인 경제활동이</a:t>
            </a:r>
            <a:br/>
            <a:r>
              <a:t>이루어지는 바다</a:t>
            </a:r>
          </a:p>
        </p:txBody>
      </p:sp>
      <p:sp>
        <p:nvSpPr>
          <p:cNvPr id="10" name="TextBox 9"/>
          <p:cNvSpPr txBox="1"/>
          <p:nvPr/>
        </p:nvSpPr>
        <p:spPr>
          <a:xfrm>
            <a:off x="457200" y="3474720"/>
            <a:ext cx="8229600" cy="228600"/>
          </a:xfrm>
          <a:prstGeom prst="rect">
            <a:avLst/>
          </a:prstGeom>
          <a:noFill/>
        </p:spPr>
        <p:txBody>
          <a:bodyPr wrap="square">
            <a:spAutoFit/>
          </a:bodyPr>
          <a:lstStyle/>
          <a:p>
            <a:pPr algn="l">
              <a:defRPr sz="1000" b="0">
                <a:latin typeface="Malgun Gothic"/>
              </a:defRPr>
            </a:pPr>
            <a:r>
              <a:t>녹색 해양산업이</a:t>
            </a:r>
            <a:br/>
            <a:r>
              <a:t>펼쳐지는 바다</a:t>
            </a:r>
          </a:p>
        </p:txBody>
      </p:sp>
      <p:sp>
        <p:nvSpPr>
          <p:cNvPr id="11" name="TextBox 10"/>
          <p:cNvSpPr txBox="1"/>
          <p:nvPr/>
        </p:nvSpPr>
        <p:spPr>
          <a:xfrm>
            <a:off x="457200" y="3794760"/>
            <a:ext cx="8229600" cy="274320"/>
          </a:xfrm>
          <a:prstGeom prst="rect">
            <a:avLst/>
          </a:prstGeom>
          <a:noFill/>
        </p:spPr>
        <p:txBody>
          <a:bodyPr wrap="square">
            <a:spAutoFit/>
          </a:bodyPr>
          <a:lstStyle/>
          <a:p>
            <a:pPr algn="l">
              <a:defRPr sz="1200" b="1">
                <a:solidFill>
                  <a:srgbClr val="003366"/>
                </a:solidFill>
                <a:latin typeface="Malgun Gothic"/>
              </a:defRPr>
            </a:pPr>
            <a:r>
              <a:t>추진 과제</a:t>
            </a:r>
          </a:p>
        </p:txBody>
      </p:sp>
      <p:sp>
        <p:nvSpPr>
          <p:cNvPr id="12" name="TextBox 11"/>
          <p:cNvSpPr txBox="1"/>
          <p:nvPr/>
        </p:nvSpPr>
        <p:spPr>
          <a:xfrm>
            <a:off x="457200" y="4160520"/>
            <a:ext cx="8229600" cy="228600"/>
          </a:xfrm>
          <a:prstGeom prst="rect">
            <a:avLst/>
          </a:prstGeom>
          <a:noFill/>
        </p:spPr>
        <p:txBody>
          <a:bodyPr wrap="square">
            <a:spAutoFit/>
          </a:bodyPr>
          <a:lstStyle/>
          <a:p>
            <a:pPr algn="l">
              <a:defRPr sz="1000" b="0">
                <a:latin typeface="Malgun Gothic"/>
              </a:defRPr>
            </a:pPr>
            <a:r>
              <a:t>해양 기후변화 과학적 대응</a:t>
            </a:r>
            <a:br/>
            <a:r>
              <a:t>능력 강화</a:t>
            </a:r>
          </a:p>
        </p:txBody>
      </p:sp>
      <p:sp>
        <p:nvSpPr>
          <p:cNvPr id="13" name="TextBox 12"/>
          <p:cNvSpPr txBox="1"/>
          <p:nvPr/>
        </p:nvSpPr>
        <p:spPr>
          <a:xfrm>
            <a:off x="457200" y="4480560"/>
            <a:ext cx="8229600" cy="228600"/>
          </a:xfrm>
          <a:prstGeom prst="rect">
            <a:avLst/>
          </a:prstGeom>
          <a:noFill/>
        </p:spPr>
        <p:txBody>
          <a:bodyPr wrap="square">
            <a:spAutoFit/>
          </a:bodyPr>
          <a:lstStyle/>
          <a:p>
            <a:pPr algn="l">
              <a:defRPr sz="1000" b="0">
                <a:latin typeface="Malgun Gothic"/>
              </a:defRPr>
            </a:pPr>
            <a:r>
              <a:t>기후변화 적응형 해안관리</a:t>
            </a:r>
          </a:p>
        </p:txBody>
      </p:sp>
      <p:sp>
        <p:nvSpPr>
          <p:cNvPr id="14" name="TextBox 13"/>
          <p:cNvSpPr txBox="1"/>
          <p:nvPr/>
        </p:nvSpPr>
        <p:spPr>
          <a:xfrm>
            <a:off x="457200" y="4800600"/>
            <a:ext cx="8229600" cy="228600"/>
          </a:xfrm>
          <a:prstGeom prst="rect">
            <a:avLst/>
          </a:prstGeom>
          <a:noFill/>
        </p:spPr>
        <p:txBody>
          <a:bodyPr wrap="square">
            <a:spAutoFit/>
          </a:bodyPr>
          <a:lstStyle/>
          <a:p>
            <a:pPr algn="l">
              <a:defRPr sz="1000" b="0">
                <a:latin typeface="Malgun Gothic"/>
              </a:defRPr>
            </a:pPr>
            <a:r>
              <a:t>해역의 가치와 영향을 고려한</a:t>
            </a:r>
            <a:br/>
            <a:r>
              <a:t>해양공간관리 지원체계 구축</a:t>
            </a:r>
          </a:p>
        </p:txBody>
      </p:sp>
      <p:sp>
        <p:nvSpPr>
          <p:cNvPr id="15" name="TextBox 14"/>
          <p:cNvSpPr txBox="1"/>
          <p:nvPr/>
        </p:nvSpPr>
        <p:spPr>
          <a:xfrm>
            <a:off x="457200" y="5120640"/>
            <a:ext cx="8229600" cy="228600"/>
          </a:xfrm>
          <a:prstGeom prst="rect">
            <a:avLst/>
          </a:prstGeom>
          <a:noFill/>
        </p:spPr>
        <p:txBody>
          <a:bodyPr wrap="square">
            <a:spAutoFit/>
          </a:bodyPr>
          <a:lstStyle/>
          <a:p>
            <a:pPr algn="l">
              <a:defRPr sz="1000" b="0">
                <a:latin typeface="Malgun Gothic"/>
              </a:defRPr>
            </a:pPr>
            <a:r>
              <a:t>해양환경영향평가체계 전문성</a:t>
            </a:r>
            <a:br/>
            <a:r>
              <a:t>강화</a:t>
            </a:r>
          </a:p>
        </p:txBody>
      </p:sp>
      <p:sp>
        <p:nvSpPr>
          <p:cNvPr id="16" name="TextBox 15"/>
          <p:cNvSpPr txBox="1"/>
          <p:nvPr/>
        </p:nvSpPr>
        <p:spPr>
          <a:xfrm>
            <a:off x="457200" y="5440680"/>
            <a:ext cx="8229600" cy="228600"/>
          </a:xfrm>
          <a:prstGeom prst="rect">
            <a:avLst/>
          </a:prstGeom>
          <a:noFill/>
        </p:spPr>
        <p:txBody>
          <a:bodyPr wrap="square">
            <a:spAutoFit/>
          </a:bodyPr>
          <a:lstStyle/>
          <a:p>
            <a:pPr algn="l">
              <a:defRPr sz="1000" b="0">
                <a:latin typeface="Malgun Gothic"/>
              </a:defRPr>
            </a:pPr>
            <a:r>
              <a:t>기후변화에 대응하고</a:t>
            </a:r>
            <a:br/>
            <a:r>
              <a:t>체계적으로 계획된 바다</a:t>
            </a:r>
          </a:p>
        </p:txBody>
      </p:sp>
      <p:sp>
        <p:nvSpPr>
          <p:cNvPr id="17" name="TextBox 16"/>
          <p:cNvSpPr txBox="1"/>
          <p:nvPr/>
        </p:nvSpPr>
        <p:spPr>
          <a:xfrm>
            <a:off x="457200" y="5760720"/>
            <a:ext cx="8229600" cy="228600"/>
          </a:xfrm>
          <a:prstGeom prst="rect">
            <a:avLst/>
          </a:prstGeom>
          <a:noFill/>
        </p:spPr>
        <p:txBody>
          <a:bodyPr wrap="square">
            <a:spAutoFit/>
          </a:bodyPr>
          <a:lstStyle/>
          <a:p>
            <a:pPr algn="l">
              <a:defRPr sz="1000" b="0">
                <a:latin typeface="Malgun Gothic"/>
              </a:defRPr>
            </a:pPr>
            <a:r>
              <a:t>해양환경 분야 국제협력 선도</a:t>
            </a:r>
          </a:p>
        </p:txBody>
      </p:sp>
      <p:sp>
        <p:nvSpPr>
          <p:cNvPr id="18" name="TextBox 17"/>
          <p:cNvSpPr txBox="1"/>
          <p:nvPr/>
        </p:nvSpPr>
        <p:spPr>
          <a:xfrm>
            <a:off x="457200" y="6080760"/>
            <a:ext cx="8229600" cy="274320"/>
          </a:xfrm>
          <a:prstGeom prst="rect">
            <a:avLst/>
          </a:prstGeom>
          <a:noFill/>
        </p:spPr>
        <p:txBody>
          <a:bodyPr wrap="square">
            <a:spAutoFit/>
          </a:bodyPr>
          <a:lstStyle/>
          <a:p>
            <a:pPr algn="l">
              <a:defRPr sz="1200" b="1">
                <a:solidFill>
                  <a:srgbClr val="003366"/>
                </a:solidFill>
                <a:latin typeface="Malgun Gothic"/>
              </a:defRPr>
            </a:pPr>
            <a:r>
              <a:t>세부 실행 과제</a:t>
            </a:r>
          </a:p>
        </p:txBody>
      </p:sp>
      <p:sp>
        <p:nvSpPr>
          <p:cNvPr id="19" name="TextBox 18"/>
          <p:cNvSpPr txBox="1"/>
          <p:nvPr/>
        </p:nvSpPr>
        <p:spPr>
          <a:xfrm>
            <a:off x="457200" y="6446520"/>
            <a:ext cx="8229600" cy="457200"/>
          </a:xfrm>
          <a:prstGeom prst="rect">
            <a:avLst/>
          </a:prstGeom>
          <a:noFill/>
        </p:spPr>
        <p:txBody>
          <a:bodyPr wrap="square">
            <a:spAutoFit/>
          </a:bodyPr>
          <a:lstStyle/>
          <a:p>
            <a:pPr algn="l">
              <a:defRPr sz="1000" b="0">
                <a:latin typeface="Malgun Gothic"/>
              </a:defRPr>
            </a:pPr>
            <a:r>
              <a:t>• 해양 기후환경 통합관측시스템 구축</a:t>
            </a:r>
            <a:br/>
            <a:r>
              <a:t>• 해양 기후변화 분석 및 예측 모델 구축</a:t>
            </a:r>
            <a:br/>
            <a:r>
              <a:t>• 해양 기후변화 취약성 평가 및 대응전략 마련</a:t>
            </a:r>
          </a:p>
        </p:txBody>
      </p:sp>
      <p:sp>
        <p:nvSpPr>
          <p:cNvPr id="20" name="TextBox 19"/>
          <p:cNvSpPr txBox="1"/>
          <p:nvPr/>
        </p:nvSpPr>
        <p:spPr>
          <a:xfrm>
            <a:off x="457200" y="6995160"/>
            <a:ext cx="8229600" cy="457200"/>
          </a:xfrm>
          <a:prstGeom prst="rect">
            <a:avLst/>
          </a:prstGeom>
          <a:noFill/>
        </p:spPr>
        <p:txBody>
          <a:bodyPr wrap="square">
            <a:spAutoFit/>
          </a:bodyPr>
          <a:lstStyle/>
          <a:p>
            <a:pPr algn="l">
              <a:defRPr sz="1000" b="0">
                <a:latin typeface="Malgun Gothic"/>
              </a:defRPr>
            </a:pPr>
            <a:r>
              <a:t>• 자연해안을 활용한 연안 재해대응 추진</a:t>
            </a:r>
            <a:br/>
            <a:r>
              <a:t>• 시민과 함께하는 해안관리 방안 마련</a:t>
            </a:r>
            <a:br/>
            <a:r>
              <a:t>• 연안재해 위험평가 제도화 및 연안침식</a:t>
            </a:r>
            <a:br/>
            <a:r>
              <a:t>  상습지역 개발 최소화 방안 마련</a:t>
            </a:r>
          </a:p>
        </p:txBody>
      </p:sp>
      <p:sp>
        <p:nvSpPr>
          <p:cNvPr id="21" name="TextBox 20"/>
          <p:cNvSpPr txBox="1"/>
          <p:nvPr/>
        </p:nvSpPr>
        <p:spPr>
          <a:xfrm>
            <a:off x="457200" y="7543800"/>
            <a:ext cx="8229600" cy="457200"/>
          </a:xfrm>
          <a:prstGeom prst="rect">
            <a:avLst/>
          </a:prstGeom>
          <a:noFill/>
        </p:spPr>
        <p:txBody>
          <a:bodyPr wrap="square">
            <a:spAutoFit/>
          </a:bodyPr>
          <a:lstStyle/>
          <a:p>
            <a:pPr algn="l">
              <a:defRPr sz="1000" b="0">
                <a:latin typeface="Malgun Gothic"/>
              </a:defRPr>
            </a:pPr>
            <a:r>
              <a:t>• 해양공간의 능동형·통합 관리기반 구축</a:t>
            </a:r>
            <a:br/>
            <a:r>
              <a:t>• 해양공간의 스마트 관리기반 구축</a:t>
            </a:r>
            <a:br/>
            <a:r>
              <a:t>• 해양생태계서비스 공간가치지도 제작</a:t>
            </a:r>
            <a:br/>
            <a:r>
              <a:t>• 해양공간·생태 관리정책 제도 정비</a:t>
            </a:r>
          </a:p>
        </p:txBody>
      </p:sp>
      <p:sp>
        <p:nvSpPr>
          <p:cNvPr id="22" name="TextBox 21"/>
          <p:cNvSpPr txBox="1"/>
          <p:nvPr/>
        </p:nvSpPr>
        <p:spPr>
          <a:xfrm>
            <a:off x="457200" y="8092440"/>
            <a:ext cx="8229600" cy="457200"/>
          </a:xfrm>
          <a:prstGeom prst="rect">
            <a:avLst/>
          </a:prstGeom>
          <a:noFill/>
        </p:spPr>
        <p:txBody>
          <a:bodyPr wrap="square">
            <a:spAutoFit/>
          </a:bodyPr>
          <a:lstStyle/>
          <a:p>
            <a:pPr algn="l">
              <a:defRPr sz="1000" b="0">
                <a:latin typeface="Malgun Gothic"/>
              </a:defRPr>
            </a:pPr>
            <a:r>
              <a:t>• 해양환경영향평가 기술 고도화 및</a:t>
            </a:r>
            <a:br/>
            <a:r>
              <a:t>  정보지원시스템 구축·운영</a:t>
            </a:r>
            <a:br/>
            <a:r>
              <a:t>• 해양환경영향평가체계 고도화</a:t>
            </a:r>
          </a:p>
        </p:txBody>
      </p:sp>
      <p:sp>
        <p:nvSpPr>
          <p:cNvPr id="23" name="TextBox 22"/>
          <p:cNvSpPr txBox="1"/>
          <p:nvPr/>
        </p:nvSpPr>
        <p:spPr>
          <a:xfrm>
            <a:off x="457200" y="8641080"/>
            <a:ext cx="8229600" cy="457200"/>
          </a:xfrm>
          <a:prstGeom prst="rect">
            <a:avLst/>
          </a:prstGeom>
          <a:noFill/>
        </p:spPr>
        <p:txBody>
          <a:bodyPr wrap="square">
            <a:spAutoFit/>
          </a:bodyPr>
          <a:lstStyle/>
          <a:p>
            <a:pPr algn="l">
              <a:defRPr sz="1000" b="0">
                <a:latin typeface="Malgun Gothic"/>
              </a:defRPr>
            </a:pPr>
            <a:r>
              <a:t>• 해양환경 국제협력 추진체계 고도화</a:t>
            </a:r>
            <a:br/>
            <a:r>
              <a:t>• 해양환경 분야별 국제협력 강화</a:t>
            </a:r>
            <a:br/>
            <a:r>
              <a:t>• 신남방국가 등 해양환경 역량강화 지원</a:t>
            </a:r>
          </a:p>
        </p:txBody>
      </p:sp>
      <p:sp>
        <p:nvSpPr>
          <p:cNvPr id="24" name="TextBox 23"/>
          <p:cNvSpPr txBox="1"/>
          <p:nvPr/>
        </p:nvSpPr>
        <p:spPr>
          <a:xfrm>
            <a:off x="457200" y="9189720"/>
            <a:ext cx="8229600" cy="274320"/>
          </a:xfrm>
          <a:prstGeom prst="rect">
            <a:avLst/>
          </a:prstGeom>
          <a:noFill/>
        </p:spPr>
        <p:txBody>
          <a:bodyPr wrap="square">
            <a:spAutoFit/>
          </a:bodyPr>
          <a:lstStyle/>
          <a:p>
            <a:pPr algn="l">
              <a:defRPr sz="1200" b="1">
                <a:solidFill>
                  <a:srgbClr val="003366"/>
                </a:solidFill>
                <a:latin typeface="Malgun Gothic"/>
              </a:defRPr>
            </a:pPr>
            <a:r>
              <a:t>공단의 역할 기대</a:t>
            </a:r>
          </a:p>
        </p:txBody>
      </p:sp>
      <p:sp>
        <p:nvSpPr>
          <p:cNvPr id="25" name="TextBox 24"/>
          <p:cNvSpPr txBox="1"/>
          <p:nvPr/>
        </p:nvSpPr>
        <p:spPr>
          <a:xfrm>
            <a:off x="457200" y="9555480"/>
            <a:ext cx="8229600" cy="228600"/>
          </a:xfrm>
          <a:prstGeom prst="rect">
            <a:avLst/>
          </a:prstGeom>
          <a:noFill/>
        </p:spPr>
        <p:txBody>
          <a:bodyPr wrap="square">
            <a:spAutoFit/>
          </a:bodyPr>
          <a:lstStyle/>
          <a:p>
            <a:pPr algn="l">
              <a:defRPr sz="1000" b="0">
                <a:latin typeface="Malgun Gothic"/>
              </a:defRPr>
            </a:pPr>
            <a:r>
              <a:t>해양기후변화 예측모델 개발,</a:t>
            </a:r>
            <a:br/>
            <a:r>
              <a:t>예측시스템 운영관리</a:t>
            </a:r>
          </a:p>
        </p:txBody>
      </p:sp>
      <p:sp>
        <p:nvSpPr>
          <p:cNvPr id="26" name="TextBox 25"/>
          <p:cNvSpPr txBox="1"/>
          <p:nvPr/>
        </p:nvSpPr>
        <p:spPr>
          <a:xfrm>
            <a:off x="457200" y="9875520"/>
            <a:ext cx="8229600" cy="228600"/>
          </a:xfrm>
          <a:prstGeom prst="rect">
            <a:avLst/>
          </a:prstGeom>
          <a:noFill/>
        </p:spPr>
        <p:txBody>
          <a:bodyPr wrap="square">
            <a:spAutoFit/>
          </a:bodyPr>
          <a:lstStyle/>
          <a:p>
            <a:pPr algn="l">
              <a:defRPr sz="1000" b="0">
                <a:latin typeface="Malgun Gothic"/>
              </a:defRPr>
            </a:pPr>
            <a:r>
              <a:t>지역·시민 참여형 해안환경 관리</a:t>
            </a:r>
            <a:br/>
            <a:r>
              <a:t>체계 구축, 관리</a:t>
            </a:r>
          </a:p>
        </p:txBody>
      </p:sp>
      <p:sp>
        <p:nvSpPr>
          <p:cNvPr id="27" name="TextBox 26"/>
          <p:cNvSpPr txBox="1"/>
          <p:nvPr/>
        </p:nvSpPr>
        <p:spPr>
          <a:xfrm>
            <a:off x="457200" y="10195560"/>
            <a:ext cx="8229600" cy="228600"/>
          </a:xfrm>
          <a:prstGeom prst="rect">
            <a:avLst/>
          </a:prstGeom>
          <a:noFill/>
        </p:spPr>
        <p:txBody>
          <a:bodyPr wrap="square">
            <a:spAutoFit/>
          </a:bodyPr>
          <a:lstStyle/>
          <a:p>
            <a:pPr algn="l">
              <a:defRPr sz="1000" b="0">
                <a:latin typeface="Malgun Gothic"/>
              </a:defRPr>
            </a:pPr>
            <a:r>
              <a:t>해양공간 관리체계 구축 및</a:t>
            </a:r>
            <a:br/>
            <a:r>
              <a:t>해양공간정보시스템 기획, 구축</a:t>
            </a:r>
          </a:p>
        </p:txBody>
      </p:sp>
      <p:sp>
        <p:nvSpPr>
          <p:cNvPr id="28" name="TextBox 27"/>
          <p:cNvSpPr txBox="1"/>
          <p:nvPr/>
        </p:nvSpPr>
        <p:spPr>
          <a:xfrm>
            <a:off x="457200" y="10515600"/>
            <a:ext cx="8229600" cy="228600"/>
          </a:xfrm>
          <a:prstGeom prst="rect">
            <a:avLst/>
          </a:prstGeom>
          <a:noFill/>
        </p:spPr>
        <p:txBody>
          <a:bodyPr wrap="square">
            <a:spAutoFit/>
          </a:bodyPr>
          <a:lstStyle/>
          <a:p>
            <a:pPr algn="l">
              <a:defRPr sz="1000" b="0">
                <a:latin typeface="Malgun Gothic"/>
              </a:defRPr>
            </a:pPr>
            <a:r>
              <a:t>해양환경 평가 체계 재정립(고도화)</a:t>
            </a:r>
            <a:br/>
            <a:r>
              <a:t>및 평가 전문성 강화</a:t>
            </a:r>
          </a:p>
        </p:txBody>
      </p:sp>
      <p:sp>
        <p:nvSpPr>
          <p:cNvPr id="29" name="TextBox 28"/>
          <p:cNvSpPr txBox="1"/>
          <p:nvPr/>
        </p:nvSpPr>
        <p:spPr>
          <a:xfrm>
            <a:off x="457200" y="10835640"/>
            <a:ext cx="8229600" cy="228600"/>
          </a:xfrm>
          <a:prstGeom prst="rect">
            <a:avLst/>
          </a:prstGeom>
          <a:noFill/>
        </p:spPr>
        <p:txBody>
          <a:bodyPr wrap="square">
            <a:spAutoFit/>
          </a:bodyPr>
          <a:lstStyle/>
          <a:p>
            <a:pPr algn="l">
              <a:defRPr sz="1000" b="0">
                <a:latin typeface="Malgun Gothic"/>
              </a:defRPr>
            </a:pPr>
            <a:r>
              <a:t>해양환경 국제협력 추진전략 수립,</a:t>
            </a:r>
            <a:br/>
            <a:r>
              <a:t>추진체계 고도화</a:t>
            </a:r>
          </a:p>
        </p:txBody>
      </p:sp>
      <p:sp>
        <p:nvSpPr>
          <p:cNvPr id="30" name="TextBox 29"/>
          <p:cNvSpPr txBox="1"/>
          <p:nvPr/>
        </p:nvSpPr>
        <p:spPr>
          <a:xfrm>
            <a:off x="457200" y="11155680"/>
            <a:ext cx="8229600" cy="457200"/>
          </a:xfrm>
          <a:prstGeom prst="rect">
            <a:avLst/>
          </a:prstGeom>
          <a:noFill/>
        </p:spPr>
        <p:txBody>
          <a:bodyPr wrap="square">
            <a:spAutoFit/>
          </a:bodyPr>
          <a:lstStyle/>
          <a:p>
            <a:pPr algn="l">
              <a:defRPr sz="1000" b="0">
                <a:latin typeface="Malgun Gothic"/>
              </a:defRPr>
            </a:pPr>
            <a:r>
              <a:t>✓ 기후변화 대응 전반에서 공단의</a:t>
            </a:r>
            <a:br/>
            <a:r>
              <a:t>   주도적 역할 요구</a:t>
            </a:r>
            <a:br/>
            <a:r>
              <a:t>✓ 해양환경 및 해양 정보화 주도</a:t>
            </a:r>
            <a:br/>
            <a:r>
              <a:t>✓ 해양환경 국제위상 강화 주도</a:t>
            </a:r>
          </a:p>
        </p:txBody>
      </p:sp>
      <p:sp>
        <p:nvSpPr>
          <p:cNvPr id="31" name="TextBox 30"/>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*Source : 제5차 해양환경종합계획(2021~2030), 2021.01, 해양수산부 | Page 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한국판 뉴딜 정책 개요</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정부는 경제구조 개선으로 선도형 경제기반 구축하고 코로나19로 인한 위기를 극복하여 경제활력을 되찾기 위해 '한국판 뉴딜 종합계획'을 추진하고 있으며, 2025년까지 114.1조 원을 투자하여 190.1만 개의 일자리 창출을 기대하고 있음</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한국판 뉴딜 정책 개요</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비전</a:t>
            </a:r>
          </a:p>
        </p:txBody>
      </p:sp>
      <p:sp>
        <p:nvSpPr>
          <p:cNvPr id="6" name="TextBox 5"/>
          <p:cNvSpPr txBox="1"/>
          <p:nvPr/>
        </p:nvSpPr>
        <p:spPr>
          <a:xfrm>
            <a:off x="457200" y="2148840"/>
            <a:ext cx="8229600" cy="457200"/>
          </a:xfrm>
          <a:prstGeom prst="rect">
            <a:avLst/>
          </a:prstGeom>
          <a:noFill/>
        </p:spPr>
        <p:txBody>
          <a:bodyPr wrap="square">
            <a:spAutoFit/>
          </a:bodyPr>
          <a:lstStyle/>
          <a:p>
            <a:pPr algn="l">
              <a:defRPr sz="1000" b="0">
                <a:latin typeface="Malgun Gothic"/>
              </a:defRPr>
            </a:pPr>
            <a:r>
              <a:t>선도국가로 도약하는 대한민국으로 전환</a:t>
            </a:r>
            <a:br/>
            <a:r>
              <a:t>추격형 경제에서 선도형 경제로, 탄소의존 경제에서 저탄소 경제로, 불평등 사회에서 포용 사회로 도약</a:t>
            </a:r>
          </a:p>
        </p:txBody>
      </p:sp>
      <p:sp>
        <p:nvSpPr>
          <p:cNvPr id="7" name="TextBox 6"/>
          <p:cNvSpPr txBox="1"/>
          <p:nvPr/>
        </p:nvSpPr>
        <p:spPr>
          <a:xfrm>
            <a:off x="457200" y="2697480"/>
            <a:ext cx="8229600" cy="228600"/>
          </a:xfrm>
          <a:prstGeom prst="rect">
            <a:avLst/>
          </a:prstGeom>
          <a:noFill/>
        </p:spPr>
        <p:txBody>
          <a:bodyPr wrap="square">
            <a:spAutoFit/>
          </a:bodyPr>
          <a:lstStyle/>
          <a:p>
            <a:pPr algn="l">
              <a:defRPr sz="1000" b="0">
                <a:latin typeface="Malgun Gothic"/>
              </a:defRPr>
            </a:pPr>
            <a:r>
              <a:t>2+1</a:t>
            </a:r>
            <a:br/>
            <a:r>
              <a:t>정책</a:t>
            </a:r>
            <a:br/>
            <a:r>
              <a:t>방향</a:t>
            </a:r>
          </a:p>
        </p:txBody>
      </p:sp>
      <p:sp>
        <p:nvSpPr>
          <p:cNvPr id="8" name="TextBox 7"/>
          <p:cNvSpPr txBox="1"/>
          <p:nvPr/>
        </p:nvSpPr>
        <p:spPr>
          <a:xfrm>
            <a:off x="457200" y="3017520"/>
            <a:ext cx="8229600" cy="228600"/>
          </a:xfrm>
          <a:prstGeom prst="rect">
            <a:avLst/>
          </a:prstGeom>
          <a:noFill/>
        </p:spPr>
        <p:txBody>
          <a:bodyPr wrap="square">
            <a:spAutoFit/>
          </a:bodyPr>
          <a:lstStyle/>
          <a:p>
            <a:pPr algn="l">
              <a:defRPr sz="1000" b="0">
                <a:latin typeface="Malgun Gothic"/>
              </a:defRPr>
            </a:pPr>
            <a:r>
              <a:t>디지털 뉴딜</a:t>
            </a:r>
          </a:p>
        </p:txBody>
      </p:sp>
      <p:sp>
        <p:nvSpPr>
          <p:cNvPr id="9" name="TextBox 8"/>
          <p:cNvSpPr txBox="1"/>
          <p:nvPr/>
        </p:nvSpPr>
        <p:spPr>
          <a:xfrm>
            <a:off x="457200" y="3337560"/>
            <a:ext cx="8229600" cy="228600"/>
          </a:xfrm>
          <a:prstGeom prst="rect">
            <a:avLst/>
          </a:prstGeom>
          <a:noFill/>
        </p:spPr>
        <p:txBody>
          <a:bodyPr wrap="square">
            <a:spAutoFit/>
          </a:bodyPr>
          <a:lstStyle/>
          <a:p>
            <a:pPr algn="l">
              <a:defRPr sz="1000" b="0">
                <a:latin typeface="Malgun Gothic"/>
              </a:defRPr>
            </a:pPr>
            <a:r>
              <a:t>경제전반의 디지털 혁신 및 역동성 촉진·확산</a:t>
            </a:r>
          </a:p>
        </p:txBody>
      </p:sp>
      <p:sp>
        <p:nvSpPr>
          <p:cNvPr id="10" name="TextBox 9"/>
          <p:cNvSpPr txBox="1"/>
          <p:nvPr/>
        </p:nvSpPr>
        <p:spPr>
          <a:xfrm>
            <a:off x="457200" y="3657600"/>
            <a:ext cx="8229600" cy="228600"/>
          </a:xfrm>
          <a:prstGeom prst="rect">
            <a:avLst/>
          </a:prstGeom>
          <a:noFill/>
        </p:spPr>
        <p:txBody>
          <a:bodyPr wrap="square">
            <a:spAutoFit/>
          </a:bodyPr>
          <a:lstStyle/>
          <a:p>
            <a:pPr algn="l">
              <a:defRPr sz="1000" b="0">
                <a:latin typeface="Malgun Gothic"/>
              </a:defRPr>
            </a:pPr>
            <a:r>
              <a:t>그린 뉴딜</a:t>
            </a:r>
          </a:p>
        </p:txBody>
      </p:sp>
      <p:sp>
        <p:nvSpPr>
          <p:cNvPr id="11" name="TextBox 10"/>
          <p:cNvSpPr txBox="1"/>
          <p:nvPr/>
        </p:nvSpPr>
        <p:spPr>
          <a:xfrm>
            <a:off x="457200" y="3977640"/>
            <a:ext cx="8229600" cy="228600"/>
          </a:xfrm>
          <a:prstGeom prst="rect">
            <a:avLst/>
          </a:prstGeom>
          <a:noFill/>
        </p:spPr>
        <p:txBody>
          <a:bodyPr wrap="square">
            <a:spAutoFit/>
          </a:bodyPr>
          <a:lstStyle/>
          <a:p>
            <a:pPr algn="l">
              <a:defRPr sz="1000" b="0">
                <a:latin typeface="Malgun Gothic"/>
              </a:defRPr>
            </a:pPr>
            <a:r>
              <a:t>경제전반의 친환경·저탄소 전환 가속화</a:t>
            </a:r>
          </a:p>
        </p:txBody>
      </p:sp>
      <p:sp>
        <p:nvSpPr>
          <p:cNvPr id="12" name="TextBox 11"/>
          <p:cNvSpPr txBox="1"/>
          <p:nvPr/>
        </p:nvSpPr>
        <p:spPr>
          <a:xfrm>
            <a:off x="457200" y="4297680"/>
            <a:ext cx="8229600" cy="228600"/>
          </a:xfrm>
          <a:prstGeom prst="rect">
            <a:avLst/>
          </a:prstGeom>
          <a:noFill/>
        </p:spPr>
        <p:txBody>
          <a:bodyPr wrap="square">
            <a:spAutoFit/>
          </a:bodyPr>
          <a:lstStyle/>
          <a:p>
            <a:pPr algn="l">
              <a:defRPr sz="1000" b="0">
                <a:latin typeface="Malgun Gothic"/>
              </a:defRPr>
            </a:pPr>
            <a:r>
              <a:t>안전망 강화</a:t>
            </a:r>
          </a:p>
        </p:txBody>
      </p:sp>
      <p:sp>
        <p:nvSpPr>
          <p:cNvPr id="13" name="TextBox 12"/>
          <p:cNvSpPr txBox="1"/>
          <p:nvPr/>
        </p:nvSpPr>
        <p:spPr>
          <a:xfrm>
            <a:off x="457200" y="4617720"/>
            <a:ext cx="8229600" cy="228600"/>
          </a:xfrm>
          <a:prstGeom prst="rect">
            <a:avLst/>
          </a:prstGeom>
          <a:noFill/>
        </p:spPr>
        <p:txBody>
          <a:bodyPr wrap="square">
            <a:spAutoFit/>
          </a:bodyPr>
          <a:lstStyle/>
          <a:p>
            <a:pPr algn="l">
              <a:defRPr sz="1000" b="0">
                <a:latin typeface="Malgun Gothic"/>
              </a:defRPr>
            </a:pPr>
            <a:r>
              <a:t>사람중심 포용국가 기반</a:t>
            </a:r>
          </a:p>
        </p:txBody>
      </p:sp>
      <p:sp>
        <p:nvSpPr>
          <p:cNvPr id="14" name="TextBox 13"/>
          <p:cNvSpPr txBox="1"/>
          <p:nvPr/>
        </p:nvSpPr>
        <p:spPr>
          <a:xfrm>
            <a:off x="457200" y="4937760"/>
            <a:ext cx="8229600" cy="228600"/>
          </a:xfrm>
          <a:prstGeom prst="rect">
            <a:avLst/>
          </a:prstGeom>
          <a:noFill/>
        </p:spPr>
        <p:txBody>
          <a:bodyPr wrap="square">
            <a:spAutoFit/>
          </a:bodyPr>
          <a:lstStyle/>
          <a:p>
            <a:pPr algn="l">
              <a:defRPr sz="1000" b="0">
                <a:latin typeface="Malgun Gothic"/>
              </a:defRPr>
            </a:pPr>
            <a:r>
              <a:t>사람투자 강화</a:t>
            </a:r>
            <a:br/>
            <a:r>
              <a:t>일자리 창출</a:t>
            </a:r>
          </a:p>
        </p:txBody>
      </p:sp>
      <p:sp>
        <p:nvSpPr>
          <p:cNvPr id="15" name="TextBox 14"/>
          <p:cNvSpPr txBox="1"/>
          <p:nvPr/>
        </p:nvSpPr>
        <p:spPr>
          <a:xfrm>
            <a:off x="457200" y="5257800"/>
            <a:ext cx="8229600" cy="228600"/>
          </a:xfrm>
          <a:prstGeom prst="rect">
            <a:avLst/>
          </a:prstGeom>
          <a:noFill/>
        </p:spPr>
        <p:txBody>
          <a:bodyPr wrap="square">
            <a:spAutoFit/>
          </a:bodyPr>
          <a:lstStyle/>
          <a:p>
            <a:pPr algn="l">
              <a:defRPr sz="1000" b="0">
                <a:latin typeface="Malgun Gothic"/>
              </a:defRPr>
            </a:pPr>
            <a:r>
              <a:t>사람투자 강화</a:t>
            </a:r>
            <a:br/>
            <a:r>
              <a:t>일자리 창출</a:t>
            </a:r>
          </a:p>
        </p:txBody>
      </p:sp>
      <p:sp>
        <p:nvSpPr>
          <p:cNvPr id="16" name="TextBox 15"/>
          <p:cNvSpPr txBox="1"/>
          <p:nvPr/>
        </p:nvSpPr>
        <p:spPr>
          <a:xfrm>
            <a:off x="457200" y="5577840"/>
            <a:ext cx="8229600" cy="228600"/>
          </a:xfrm>
          <a:prstGeom prst="rect">
            <a:avLst/>
          </a:prstGeom>
          <a:noFill/>
        </p:spPr>
        <p:txBody>
          <a:bodyPr wrap="square">
            <a:spAutoFit/>
          </a:bodyPr>
          <a:lstStyle/>
          <a:p>
            <a:pPr algn="l">
              <a:defRPr sz="1000" b="0">
                <a:latin typeface="Malgun Gothic"/>
              </a:defRPr>
            </a:pPr>
            <a:r>
              <a:t>재정 투자</a:t>
            </a:r>
          </a:p>
        </p:txBody>
      </p:sp>
      <p:sp>
        <p:nvSpPr>
          <p:cNvPr id="17" name="TextBox 16"/>
          <p:cNvSpPr txBox="1"/>
          <p:nvPr/>
        </p:nvSpPr>
        <p:spPr>
          <a:xfrm>
            <a:off x="457200" y="5897880"/>
            <a:ext cx="8229600" cy="228600"/>
          </a:xfrm>
          <a:prstGeom prst="rect">
            <a:avLst/>
          </a:prstGeom>
          <a:noFill/>
        </p:spPr>
        <p:txBody>
          <a:bodyPr wrap="square">
            <a:spAutoFit/>
          </a:bodyPr>
          <a:lstStyle/>
          <a:p>
            <a:pPr algn="l">
              <a:defRPr sz="1000" b="0">
                <a:latin typeface="Malgun Gothic"/>
              </a:defRPr>
            </a:pPr>
            <a:r>
              <a:t>新시장·수요 창출 마중물</a:t>
            </a:r>
          </a:p>
        </p:txBody>
      </p:sp>
      <p:sp>
        <p:nvSpPr>
          <p:cNvPr id="18" name="TextBox 17"/>
          <p:cNvSpPr txBox="1"/>
          <p:nvPr/>
        </p:nvSpPr>
        <p:spPr>
          <a:xfrm>
            <a:off x="457200" y="6217920"/>
            <a:ext cx="8229600" cy="228600"/>
          </a:xfrm>
          <a:prstGeom prst="rect">
            <a:avLst/>
          </a:prstGeom>
          <a:noFill/>
        </p:spPr>
        <p:txBody>
          <a:bodyPr wrap="square">
            <a:spAutoFit/>
          </a:bodyPr>
          <a:lstStyle/>
          <a:p>
            <a:pPr algn="l">
              <a:defRPr sz="1000" b="0">
                <a:latin typeface="Malgun Gothic"/>
              </a:defRPr>
            </a:pPr>
            <a:r>
              <a:t>제도 개선</a:t>
            </a:r>
          </a:p>
        </p:txBody>
      </p:sp>
      <p:sp>
        <p:nvSpPr>
          <p:cNvPr id="19" name="TextBox 18"/>
          <p:cNvSpPr txBox="1"/>
          <p:nvPr/>
        </p:nvSpPr>
        <p:spPr>
          <a:xfrm>
            <a:off x="457200" y="6537960"/>
            <a:ext cx="8229600" cy="228600"/>
          </a:xfrm>
          <a:prstGeom prst="rect">
            <a:avLst/>
          </a:prstGeom>
          <a:noFill/>
        </p:spPr>
        <p:txBody>
          <a:bodyPr wrap="square">
            <a:spAutoFit/>
          </a:bodyPr>
          <a:lstStyle/>
          <a:p>
            <a:pPr algn="l">
              <a:defRPr sz="1000" b="0">
                <a:latin typeface="Malgun Gothic"/>
              </a:defRPr>
            </a:pPr>
            <a:r>
              <a:t>민간의 혁신과 부자의 촉매제</a:t>
            </a:r>
          </a:p>
        </p:txBody>
      </p:sp>
      <p:sp>
        <p:nvSpPr>
          <p:cNvPr id="20" name="TextBox 19"/>
          <p:cNvSpPr txBox="1"/>
          <p:nvPr/>
        </p:nvSpPr>
        <p:spPr>
          <a:xfrm>
            <a:off x="457200" y="6858000"/>
            <a:ext cx="8229600" cy="228600"/>
          </a:xfrm>
          <a:prstGeom prst="rect">
            <a:avLst/>
          </a:prstGeom>
          <a:noFill/>
        </p:spPr>
        <p:txBody>
          <a:bodyPr wrap="square">
            <a:spAutoFit/>
          </a:bodyPr>
          <a:lstStyle/>
          <a:p>
            <a:pPr algn="l">
              <a:defRPr sz="1000" b="0">
                <a:latin typeface="Malgun Gothic"/>
              </a:defRPr>
            </a:pPr>
            <a:r>
              <a:t>산업·기술</a:t>
            </a:r>
            <a:br/>
            <a:r>
              <a:t>융복합·혁신</a:t>
            </a:r>
          </a:p>
        </p:txBody>
      </p:sp>
      <p:sp>
        <p:nvSpPr>
          <p:cNvPr id="21" name="TextBox 20"/>
          <p:cNvSpPr txBox="1"/>
          <p:nvPr/>
        </p:nvSpPr>
        <p:spPr>
          <a:xfrm>
            <a:off x="457200" y="7178040"/>
            <a:ext cx="8229600" cy="228600"/>
          </a:xfrm>
          <a:prstGeom prst="rect">
            <a:avLst/>
          </a:prstGeom>
          <a:noFill/>
        </p:spPr>
        <p:txBody>
          <a:bodyPr wrap="square">
            <a:spAutoFit/>
          </a:bodyPr>
          <a:lstStyle/>
          <a:p>
            <a:pPr algn="l">
              <a:defRPr sz="1000" b="0">
                <a:latin typeface="Malgun Gothic"/>
              </a:defRPr>
            </a:pPr>
            <a:r>
              <a:t>Stacked Bar Chart of 투자계획</a:t>
            </a:r>
          </a:p>
        </p:txBody>
      </p:sp>
      <p:sp>
        <p:nvSpPr>
          <p:cNvPr id="22" name="TextBox 21"/>
          <p:cNvSpPr txBox="1"/>
          <p:nvPr/>
        </p:nvSpPr>
        <p:spPr>
          <a:xfrm>
            <a:off x="457200" y="7498080"/>
            <a:ext cx="8229600" cy="228600"/>
          </a:xfrm>
          <a:prstGeom prst="rect">
            <a:avLst/>
          </a:prstGeom>
          <a:noFill/>
        </p:spPr>
        <p:txBody>
          <a:bodyPr wrap="square">
            <a:spAutoFit/>
          </a:bodyPr>
          <a:lstStyle/>
          <a:p>
            <a:pPr algn="l">
              <a:defRPr sz="1000" b="0">
                <a:latin typeface="Malgun Gothic"/>
              </a:defRPr>
            </a:pPr>
            <a:r>
              <a:t>Stacked Bar Chart of 일자리창출</a:t>
            </a:r>
          </a:p>
        </p:txBody>
      </p:sp>
      <p:sp>
        <p:nvSpPr>
          <p:cNvPr id="23" name="TextBox 22"/>
          <p:cNvSpPr txBox="1"/>
          <p:nvPr/>
        </p:nvSpPr>
        <p:spPr>
          <a:xfrm>
            <a:off x="457200" y="7818120"/>
            <a:ext cx="8229600" cy="228600"/>
          </a:xfrm>
          <a:prstGeom prst="rect">
            <a:avLst/>
          </a:prstGeom>
          <a:noFill/>
        </p:spPr>
        <p:txBody>
          <a:bodyPr wrap="square">
            <a:spAutoFit/>
          </a:bodyPr>
          <a:lstStyle/>
          <a:p>
            <a:pPr algn="l">
              <a:defRPr sz="1000" b="0">
                <a:latin typeface="Malgun Gothic"/>
              </a:defRPr>
            </a:pPr>
            <a:r>
              <a:t>추진</a:t>
            </a:r>
            <a:br/>
            <a:r>
              <a:t>과제</a:t>
            </a:r>
          </a:p>
        </p:txBody>
      </p:sp>
      <p:sp>
        <p:nvSpPr>
          <p:cNvPr id="24" name="TextBox 23"/>
          <p:cNvSpPr txBox="1"/>
          <p:nvPr/>
        </p:nvSpPr>
        <p:spPr>
          <a:xfrm>
            <a:off x="457200" y="8138160"/>
            <a:ext cx="8229600" cy="228600"/>
          </a:xfrm>
          <a:prstGeom prst="rect">
            <a:avLst/>
          </a:prstGeom>
          <a:noFill/>
        </p:spPr>
        <p:txBody>
          <a:bodyPr wrap="square">
            <a:spAutoFit/>
          </a:bodyPr>
          <a:lstStyle/>
          <a:p>
            <a:pPr algn="l">
              <a:defRPr sz="1000" b="0">
                <a:latin typeface="Malgun Gothic"/>
              </a:defRPr>
            </a:pPr>
            <a:r>
              <a:t>디지털 뉴딜</a:t>
            </a:r>
            <a:br/>
            <a:r>
              <a:t>① 데이터 댐</a:t>
            </a:r>
            <a:br/>
            <a:r>
              <a:t>② 지능형 정부</a:t>
            </a:r>
            <a:br/>
            <a:r>
              <a:t>③ 스마트 의료 인프라</a:t>
            </a:r>
          </a:p>
        </p:txBody>
      </p:sp>
      <p:sp>
        <p:nvSpPr>
          <p:cNvPr id="25" name="TextBox 24"/>
          <p:cNvSpPr txBox="1"/>
          <p:nvPr/>
        </p:nvSpPr>
        <p:spPr>
          <a:xfrm>
            <a:off x="457200" y="8458200"/>
            <a:ext cx="8229600" cy="457200"/>
          </a:xfrm>
          <a:prstGeom prst="rect">
            <a:avLst/>
          </a:prstGeom>
          <a:noFill/>
        </p:spPr>
        <p:txBody>
          <a:bodyPr wrap="square">
            <a:spAutoFit/>
          </a:bodyPr>
          <a:lstStyle/>
          <a:p>
            <a:pPr algn="l">
              <a:defRPr sz="1000" b="0">
                <a:latin typeface="Malgun Gothic"/>
              </a:defRPr>
            </a:pPr>
            <a:r>
              <a:t>디지털·그린 융복합</a:t>
            </a:r>
            <a:br/>
            <a:r>
              <a:t>④ 그린 스마트 스쿨</a:t>
            </a:r>
            <a:br/>
            <a:r>
              <a:t>⑤ 디지털 트윈</a:t>
            </a:r>
            <a:br/>
            <a:r>
              <a:t>⑥ 국민안전 SOC 디지털화</a:t>
            </a:r>
            <a:br/>
            <a:r>
              <a:t>⑦ 스마트 그린산단</a:t>
            </a:r>
          </a:p>
        </p:txBody>
      </p:sp>
      <p:sp>
        <p:nvSpPr>
          <p:cNvPr id="26" name="TextBox 25"/>
          <p:cNvSpPr txBox="1"/>
          <p:nvPr/>
        </p:nvSpPr>
        <p:spPr>
          <a:xfrm>
            <a:off x="457200" y="9006840"/>
            <a:ext cx="8229600" cy="228600"/>
          </a:xfrm>
          <a:prstGeom prst="rect">
            <a:avLst/>
          </a:prstGeom>
          <a:noFill/>
        </p:spPr>
        <p:txBody>
          <a:bodyPr wrap="square">
            <a:spAutoFit/>
          </a:bodyPr>
          <a:lstStyle/>
          <a:p>
            <a:pPr algn="l">
              <a:defRPr sz="1000" b="0">
                <a:latin typeface="Malgun Gothic"/>
              </a:defRPr>
            </a:pPr>
            <a:r>
              <a:t>그린 뉴딜</a:t>
            </a:r>
            <a:br/>
            <a:r>
              <a:t>⑧ 그린 리모델링</a:t>
            </a:r>
            <a:br/>
            <a:r>
              <a:t>⑨ 그린에너지</a:t>
            </a:r>
            <a:br/>
            <a:r>
              <a:t>⑩ 친환경 미래 모빌리티</a:t>
            </a:r>
          </a:p>
        </p:txBody>
      </p:sp>
      <p:sp>
        <p:nvSpPr>
          <p:cNvPr id="27" name="TextBox 26"/>
          <p:cNvSpPr txBox="1"/>
          <p:nvPr/>
        </p:nvSpPr>
        <p:spPr>
          <a:xfrm>
            <a:off x="457200" y="9326880"/>
            <a:ext cx="8229600" cy="228600"/>
          </a:xfrm>
          <a:prstGeom prst="rect">
            <a:avLst/>
          </a:prstGeom>
          <a:noFill/>
        </p:spPr>
        <p:txBody>
          <a:bodyPr wrap="square">
            <a:spAutoFit/>
          </a:bodyPr>
          <a:lstStyle/>
          <a:p>
            <a:pPr algn="l">
              <a:defRPr sz="1000" b="0">
                <a:latin typeface="Malgun Gothic"/>
              </a:defRPr>
            </a:pPr>
            <a:r>
              <a:t>Key</a:t>
            </a:r>
            <a:br/>
            <a:r>
              <a:t>Findings</a:t>
            </a:r>
          </a:p>
        </p:txBody>
      </p:sp>
      <p:sp>
        <p:nvSpPr>
          <p:cNvPr id="28" name="TextBox 27"/>
          <p:cNvSpPr txBox="1"/>
          <p:nvPr/>
        </p:nvSpPr>
        <p:spPr>
          <a:xfrm>
            <a:off x="457200" y="9646920"/>
            <a:ext cx="8229600" cy="457200"/>
          </a:xfrm>
          <a:prstGeom prst="rect">
            <a:avLst/>
          </a:prstGeom>
          <a:noFill/>
        </p:spPr>
        <p:txBody>
          <a:bodyPr wrap="square">
            <a:spAutoFit/>
          </a:bodyPr>
          <a:lstStyle/>
          <a:p>
            <a:pPr algn="l">
              <a:defRPr sz="1000" b="0">
                <a:latin typeface="Malgun Gothic"/>
              </a:defRPr>
            </a:pPr>
            <a:r>
              <a:t>✓ 한국판 뉴딜 정책은 2025년까지 114.1조 원 규모의</a:t>
            </a:r>
            <a:br/>
            <a:r>
              <a:t>대규모 투자 계획을 포함하여, 정부의 일반적 점증주의</a:t>
            </a:r>
            <a:br/>
            <a:r>
              <a:t>예산제도에 변화를 줄 수 있는 기회를 제공하고 있음</a:t>
            </a:r>
          </a:p>
        </p:txBody>
      </p:sp>
      <p:sp>
        <p:nvSpPr>
          <p:cNvPr id="29" name="TextBox 28"/>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Copyrights 2021 All Rights Reserved &amp; Confidential | Page 23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공단 뉴딜정책 사업 : 「KOEM」뉴딜</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공단은 한국판 뉴딜에 맞춰「KOEM」뉴딜 전략과제를 추진하고 있는데, 새로운 사업의 추가나 확대 가능한 사업에 대한 공격적 목표 설정과 대담한 추진 등 뉴딜을 공단의 도약 기회로 활용하기 위한 체계적 계획의 보완이 필요함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공단 한국판 뉴딜 대응 정책 : 「KOEM」뉴딜</a:t>
            </a:r>
          </a:p>
        </p:txBody>
      </p:sp>
      <p:sp>
        <p:nvSpPr>
          <p:cNvPr id="5" name="TextBox 4"/>
          <p:cNvSpPr txBox="1"/>
          <p:nvPr/>
        </p:nvSpPr>
        <p:spPr>
          <a:xfrm>
            <a:off x="457200" y="1828800"/>
            <a:ext cx="8229600" cy="5715000"/>
          </a:xfrm>
          <a:prstGeom prst="rect">
            <a:avLst/>
          </a:prstGeom>
          <a:noFill/>
        </p:spPr>
        <p:txBody>
          <a:bodyPr wrap="square">
            <a:spAutoFit/>
          </a:bodyPr>
          <a:lstStyle/>
          <a:p>
            <a:pPr algn="l">
              <a:defRPr sz="900" b="0">
                <a:latin typeface="Malgun Gothic"/>
              </a:defRPr>
            </a:pPr>
            <a:r>
              <a:t>[TABLE]</a:t>
            </a:r>
            <a:br/>
            <a:r>
              <a:t>사업 구분 | 전략과제 | '21 예산 | '22~'25 | 합계 | 비고</a:t>
            </a:r>
            <a:br/>
            <a:r>
              <a:t>해양환경 콘텐츠 디지털화 선도 | ① 디지털 해양생태도 작성 | 2.0 | 13.0 | 15.0 | 추진 중 사업</a:t>
            </a:r>
            <a:br/>
            <a:r>
              <a:t> | ② 해양환경정보 통합관리체계 구축 | 0.5 | 3.6 | 4.1 | 운영 중</a:t>
            </a:r>
            <a:br/>
            <a:r>
              <a:t>시설분야 디지털 혁신 | ③ 안전 신기술 적용, 노후 폐유수용시설 현대화 | 9.0 | 778.0 | 787.0 | 기존 계획 반영</a:t>
            </a:r>
            <a:br/>
            <a:r>
              <a:t> | ④ 스마트 해양방제 체계 구축 | 0.6 | N.A. | 0.6+α | 진행 중 사업</a:t>
            </a:r>
            <a:br/>
            <a:r>
              <a:t> | ⑤ 어린이 해양환경 체험관 조성 | 0.5 | N.A. | 0.5+α | 추진 중 사업</a:t>
            </a:r>
            <a:br/>
            <a:r>
              <a:t>기반 인프라 디지털 전환 | ⑥ 디지털 스마트 업무환경 구축 | 0.3 | N.A. | 0.3+α | 추진 중 사업</a:t>
            </a:r>
            <a:br/>
            <a:r>
              <a:t> | ⑦ 해양환경 온라인교육 전환 | 7.5 | 16.0 | 23.5 | 운영유지 연 4억</a:t>
            </a:r>
            <a:br/>
            <a:r>
              <a:t>플랫폼 기반 사업 확대 | ⑧ 민간참여 온라인 플랫폼 구축 | 5.0 | 16.0 | 21.0 | 운영유지 연 4억</a:t>
            </a:r>
            <a:br/>
            <a:r>
              <a:t>탄소중립 사회 활성화 선도 | ① 친환경 LNG선박 대체 건조 | 64.3 | 89.2 | 153.5 | 건조 중 선박 1척</a:t>
            </a:r>
            <a:br/>
            <a:r>
              <a:t> | ② 선박용 매연저감장치 연구개발 | N.A. | N.A. | N.A. | 기술개발 이전</a:t>
            </a:r>
            <a:br/>
            <a:r>
              <a:t>녹색 환경개선 기반 강화 | ③ 해양생태변화 요인 및 해역 오염도 종합 진단·평가 | 147.8 | 635.1 | 782.9 | 기존 사업</a:t>
            </a:r>
            <a:br/>
            <a:r>
              <a:t> | ④ 반폐쇄성 해역의 오염 퇴적물 수거 | 134.9 | 480.0 | 614.9 | 연 120억원 추정</a:t>
            </a:r>
            <a:br/>
            <a:r>
              <a:t>녹색산업 혁신 생태계 조성 | ⑤ 해양쓰레기 수거처리 및 발생 저감을 위한 인식 개선 | 152.8 | 600.0 | 752.8 | 연 150억원 추정</a:t>
            </a:r>
            <a:br/>
            <a:r>
              <a:t> | ⑥ 경제적 가치가 상실된 갯벌생태계 복원사업 | 63.6 | 736.4 | 800.0 | 3개 사업 800억원</a:t>
            </a:r>
            <a:br/>
            <a:r>
              <a:t> | ⑦ 해양생태계 및 해양생물 종 다양성 회복사업 | 15.9 | 64.0 | 79.9 | 기존 사업</a:t>
            </a:r>
            <a:br/>
            <a:r>
              <a:t> | ⑧ 침몰선박 잔존유 제거 사업 | 33.7 | 157.4 | 191.1 | 기존 사업</a:t>
            </a:r>
            <a:br/>
            <a:r>
              <a:t>기후변화 대응 선도 | ⑨ 국가 온실가스 통계 산정 체계 마련 | 3.5 | N.A. | 3.5+α | 추진 중 사업</a:t>
            </a:r>
            <a:br/>
            <a:r>
              <a:t> | ⑩ 국내 블루카본 정보시스템 구축 및 평가관리기술 개발 | 2.4 | N.A. | 2.4+α | 추진 중 사업</a:t>
            </a:r>
            <a:br/>
            <a:r>
              <a:t> | ⑪ 디지털 해상풍력 입지정보도 개발 | 13.8 | N.A. | 13.8+α | 추진 중 사업</a:t>
            </a:r>
          </a:p>
        </p:txBody>
      </p:sp>
      <p:sp>
        <p:nvSpPr>
          <p:cNvPr id="6" name="TextBox 5"/>
          <p:cNvSpPr txBox="1"/>
          <p:nvPr/>
        </p:nvSpPr>
        <p:spPr>
          <a:xfrm>
            <a:off x="457200" y="7635240"/>
            <a:ext cx="8229600" cy="1143000"/>
          </a:xfrm>
          <a:prstGeom prst="rect">
            <a:avLst/>
          </a:prstGeom>
          <a:noFill/>
        </p:spPr>
        <p:txBody>
          <a:bodyPr wrap="square">
            <a:spAutoFit/>
          </a:bodyPr>
          <a:lstStyle/>
          <a:p>
            <a:pPr algn="l">
              <a:defRPr sz="1000" b="0">
                <a:latin typeface="Malgun Gothic"/>
              </a:defRPr>
            </a:pPr>
            <a:r>
              <a:t>Key Findings</a:t>
            </a:r>
            <a:br/>
            <a:r>
              <a:t>✓ 공단 뉴딜 사업은 기존 사업을 한국판 뉴딜 항목에 맞춰 구성한 사업과 과제가 대부분임</a:t>
            </a:r>
            <a:br/>
            <a:r>
              <a:t>→ 뉴딜에 따라 새롭게 추가된 사업이 부족함</a:t>
            </a:r>
            <a:br/>
            <a:r>
              <a:t>✓ 공단의 기존 사업과 과제 중 뉴딜정책에 따라 규모의 확대가 가능한 사업 선택과 공격적 목표 설정, 대담한 추진 등 검토와 보완 필요</a:t>
            </a:r>
            <a:br/>
            <a:r>
              <a:t>✓ 대규모 투자가 수반된 국가 정책사업인 한국판 뉴딜을 공단의 도약 기회로 활용하기 위한 체계적 계획과 추진 필요</a:t>
            </a:r>
          </a:p>
        </p:txBody>
      </p:sp>
      <p:sp>
        <p:nvSpPr>
          <p:cNvPr id="7" name="TextBox 6"/>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 | Page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디지털 뉴딜 추진전략 분석 (1/4)</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D.N.A 생태계 강화는 공공데이터 개방 및 빅데이터 구축, 全산업 디지털 전환 및 新시장 창출 촉진의 추진으로</a:t>
            </a:r>
            <a:br/>
            <a:r>
              <a:t>해양환경정보 관리사업, 해양환경 산업 정보화 등 해양환경 관련 디지털·정보화 사업의 확대가 예상됨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디지털 뉴딜 추진전략 ① D.N.A 생태계 강화</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D.N.A. 생태계 강화</a:t>
            </a:r>
            <a:br/>
            <a:r>
              <a:t>~22: 12.5조 원</a:t>
            </a:r>
            <a:br/>
            <a:r>
              <a:t>~25: 31.9조 원</a:t>
            </a:r>
          </a:p>
        </p:txBody>
      </p:sp>
      <p:sp>
        <p:nvSpPr>
          <p:cNvPr id="6" name="TextBox 5"/>
          <p:cNvSpPr txBox="1"/>
          <p:nvPr/>
        </p:nvSpPr>
        <p:spPr>
          <a:xfrm>
            <a:off x="457200" y="2148840"/>
            <a:ext cx="8229600" cy="457200"/>
          </a:xfrm>
          <a:prstGeom prst="rect">
            <a:avLst/>
          </a:prstGeom>
          <a:noFill/>
        </p:spPr>
        <p:txBody>
          <a:bodyPr wrap="square">
            <a:spAutoFit/>
          </a:bodyPr>
          <a:lstStyle/>
          <a:p>
            <a:pPr algn="l">
              <a:defRPr sz="1000" b="0">
                <a:latin typeface="Malgun Gothic"/>
              </a:defRPr>
            </a:pPr>
            <a:r>
              <a:t>1 국민생활 밀접 분야 데이터 구축·개방·활용</a:t>
            </a:r>
            <a:br/>
            <a:r>
              <a:t>~'25: 6.4조원</a:t>
            </a:r>
            <a:br/>
            <a:r>
              <a:t>• 공공데이터 개방·연계 확대</a:t>
            </a:r>
            <a:br/>
            <a:r>
              <a:t>• 생활밀접분야의 빅데이터 구축 및 활용 확대</a:t>
            </a:r>
          </a:p>
        </p:txBody>
      </p:sp>
      <p:sp>
        <p:nvSpPr>
          <p:cNvPr id="7" name="TextBox 6"/>
          <p:cNvSpPr txBox="1"/>
          <p:nvPr/>
        </p:nvSpPr>
        <p:spPr>
          <a:xfrm>
            <a:off x="457200" y="2697480"/>
            <a:ext cx="8229600" cy="457200"/>
          </a:xfrm>
          <a:prstGeom prst="rect">
            <a:avLst/>
          </a:prstGeom>
          <a:noFill/>
        </p:spPr>
        <p:txBody>
          <a:bodyPr wrap="square">
            <a:spAutoFit/>
          </a:bodyPr>
          <a:lstStyle/>
          <a:p>
            <a:pPr algn="l">
              <a:defRPr sz="1000" b="0">
                <a:latin typeface="Malgun Gothic"/>
              </a:defRPr>
            </a:pPr>
            <a:r>
              <a:t>2 1·2·3차 全산업으로 5G·AI 융합 확산</a:t>
            </a:r>
            <a:br/>
            <a:r>
              <a:t>~'25: 14.8조원</a:t>
            </a:r>
            <a:br/>
            <a:r>
              <a:t>• 5G 기반 융합서비스 확산</a:t>
            </a:r>
            <a:br/>
            <a:r>
              <a:t>• 디지털 혁신기업 육성 및 산업의 디지털 전환</a:t>
            </a:r>
          </a:p>
        </p:txBody>
      </p:sp>
      <p:sp>
        <p:nvSpPr>
          <p:cNvPr id="8" name="TextBox 7"/>
          <p:cNvSpPr txBox="1"/>
          <p:nvPr/>
        </p:nvSpPr>
        <p:spPr>
          <a:xfrm>
            <a:off x="457200" y="3246120"/>
            <a:ext cx="8229600" cy="457200"/>
          </a:xfrm>
          <a:prstGeom prst="rect">
            <a:avLst/>
          </a:prstGeom>
          <a:noFill/>
        </p:spPr>
        <p:txBody>
          <a:bodyPr wrap="square">
            <a:spAutoFit/>
          </a:bodyPr>
          <a:lstStyle/>
          <a:p>
            <a:pPr algn="l">
              <a:defRPr sz="1000" b="0">
                <a:latin typeface="Malgun Gothic"/>
              </a:defRPr>
            </a:pPr>
            <a:r>
              <a:t>3 5G·AI 기반 지능형 정부</a:t>
            </a:r>
            <a:br/>
            <a:r>
              <a:t>~'25: 9.7조원</a:t>
            </a:r>
            <a:br/>
            <a:r>
              <a:t>• 비대면 공공서비스 및 맞춤행정 제공</a:t>
            </a:r>
            <a:br/>
            <a:r>
              <a:t>• 5G 국가망 단계적 구축</a:t>
            </a:r>
            <a:br/>
            <a:r>
              <a:t>• 25개 분야 핵심서비스의 클라우드 전환 지원</a:t>
            </a:r>
          </a:p>
        </p:txBody>
      </p:sp>
      <p:sp>
        <p:nvSpPr>
          <p:cNvPr id="9" name="TextBox 8"/>
          <p:cNvSpPr txBox="1"/>
          <p:nvPr/>
        </p:nvSpPr>
        <p:spPr>
          <a:xfrm>
            <a:off x="457200" y="3794760"/>
            <a:ext cx="8229600" cy="457200"/>
          </a:xfrm>
          <a:prstGeom prst="rect">
            <a:avLst/>
          </a:prstGeom>
          <a:noFill/>
        </p:spPr>
        <p:txBody>
          <a:bodyPr wrap="square">
            <a:spAutoFit/>
          </a:bodyPr>
          <a:lstStyle/>
          <a:p>
            <a:pPr algn="l">
              <a:defRPr sz="1000" b="0">
                <a:latin typeface="Malgun Gothic"/>
              </a:defRPr>
            </a:pPr>
            <a:r>
              <a:t>4 K-사이버 방역체계 구축</a:t>
            </a:r>
            <a:br/>
            <a:r>
              <a:t>~'25: 1.0조원</a:t>
            </a:r>
            <a:br/>
            <a:r>
              <a:t>• 기업의 사이버 위협 예방·진단·대응 기반 강화</a:t>
            </a:r>
            <a:br/>
            <a:r>
              <a:t>• 사이버보안 산업 생태계 구축</a:t>
            </a:r>
          </a:p>
        </p:txBody>
      </p:sp>
      <p:sp>
        <p:nvSpPr>
          <p:cNvPr id="10" name="TextBox 9"/>
          <p:cNvSpPr txBox="1"/>
          <p:nvPr/>
        </p:nvSpPr>
        <p:spPr>
          <a:xfrm>
            <a:off x="457200" y="4343400"/>
            <a:ext cx="8229600" cy="228600"/>
          </a:xfrm>
          <a:prstGeom prst="rect">
            <a:avLst/>
          </a:prstGeom>
          <a:noFill/>
        </p:spPr>
        <p:txBody>
          <a:bodyPr wrap="square">
            <a:spAutoFit/>
          </a:bodyPr>
          <a:lstStyle/>
          <a:p>
            <a:pPr algn="l">
              <a:defRPr sz="1000" b="0">
                <a:latin typeface="Malgun Gothic"/>
              </a:defRPr>
            </a:pPr>
            <a:r>
              <a:t>교육 인프라</a:t>
            </a:r>
            <a:br/>
            <a:r>
              <a:t>디지털 전환</a:t>
            </a:r>
          </a:p>
        </p:txBody>
      </p:sp>
      <p:sp>
        <p:nvSpPr>
          <p:cNvPr id="11" name="TextBox 10"/>
          <p:cNvSpPr txBox="1"/>
          <p:nvPr/>
        </p:nvSpPr>
        <p:spPr>
          <a:xfrm>
            <a:off x="457200" y="4663440"/>
            <a:ext cx="8229600" cy="228600"/>
          </a:xfrm>
          <a:prstGeom prst="rect">
            <a:avLst/>
          </a:prstGeom>
          <a:noFill/>
        </p:spPr>
        <p:txBody>
          <a:bodyPr wrap="square">
            <a:spAutoFit/>
          </a:bodyPr>
          <a:lstStyle/>
          <a:p>
            <a:pPr algn="l">
              <a:defRPr sz="1000" b="0">
                <a:latin typeface="Malgun Gothic"/>
              </a:defRPr>
            </a:pPr>
            <a:r>
              <a:t>비대면 산업</a:t>
            </a:r>
            <a:br/>
            <a:r>
              <a:t>육성</a:t>
            </a:r>
          </a:p>
        </p:txBody>
      </p:sp>
      <p:sp>
        <p:nvSpPr>
          <p:cNvPr id="12" name="TextBox 11"/>
          <p:cNvSpPr txBox="1"/>
          <p:nvPr/>
        </p:nvSpPr>
        <p:spPr>
          <a:xfrm>
            <a:off x="457200" y="4983480"/>
            <a:ext cx="8229600" cy="228600"/>
          </a:xfrm>
          <a:prstGeom prst="rect">
            <a:avLst/>
          </a:prstGeom>
          <a:noFill/>
        </p:spPr>
        <p:txBody>
          <a:bodyPr wrap="square">
            <a:spAutoFit/>
          </a:bodyPr>
          <a:lstStyle/>
          <a:p>
            <a:pPr algn="l">
              <a:defRPr sz="1000" b="0">
                <a:latin typeface="Malgun Gothic"/>
              </a:defRPr>
            </a:pPr>
            <a:r>
              <a:t>SOC 디지털화</a:t>
            </a:r>
          </a:p>
        </p:txBody>
      </p:sp>
      <p:sp>
        <p:nvSpPr>
          <p:cNvPr id="13" name="TextBox 12"/>
          <p:cNvSpPr txBox="1"/>
          <p:nvPr/>
        </p:nvSpPr>
        <p:spPr>
          <a:xfrm>
            <a:off x="457200" y="5303520"/>
            <a:ext cx="8229600" cy="274320"/>
          </a:xfrm>
          <a:prstGeom prst="rect">
            <a:avLst/>
          </a:prstGeom>
          <a:noFill/>
        </p:spPr>
        <p:txBody>
          <a:bodyPr wrap="square">
            <a:spAutoFit/>
          </a:bodyPr>
          <a:lstStyle/>
          <a:p>
            <a:pPr algn="l">
              <a:defRPr sz="1200" b="1">
                <a:solidFill>
                  <a:srgbClr val="003366"/>
                </a:solidFill>
                <a:latin typeface="Malgun Gothic"/>
              </a:defRPr>
            </a:pPr>
            <a:r>
              <a:t>全산업 디지털 전환 촉진 계획</a:t>
            </a:r>
          </a:p>
        </p:txBody>
      </p:sp>
      <p:sp>
        <p:nvSpPr>
          <p:cNvPr id="14" name="TextBox 13"/>
          <p:cNvSpPr txBox="1"/>
          <p:nvPr/>
        </p:nvSpPr>
        <p:spPr>
          <a:xfrm>
            <a:off x="457200" y="5669280"/>
            <a:ext cx="8229600" cy="457200"/>
          </a:xfrm>
          <a:prstGeom prst="rect">
            <a:avLst/>
          </a:prstGeom>
          <a:noFill/>
        </p:spPr>
        <p:txBody>
          <a:bodyPr wrap="square">
            <a:spAutoFit/>
          </a:bodyPr>
          <a:lstStyle/>
          <a:p>
            <a:pPr algn="l">
              <a:defRPr sz="1000" b="0">
                <a:latin typeface="Malgun Gothic"/>
              </a:defRPr>
            </a:pPr>
            <a:r>
              <a:t>全산업의 디지털 전환 및 新시장 창출 촉진을 위해 산업현장에 5G·AI</a:t>
            </a:r>
            <a:br/>
            <a:r>
              <a:t>기술을 접목하는 융합프로젝트 추진</a:t>
            </a:r>
          </a:p>
        </p:txBody>
      </p:sp>
      <p:sp>
        <p:nvSpPr>
          <p:cNvPr id="15" name="TextBox 14"/>
          <p:cNvSpPr txBox="1"/>
          <p:nvPr/>
        </p:nvSpPr>
        <p:spPr>
          <a:xfrm>
            <a:off x="457200" y="6217920"/>
            <a:ext cx="8229600" cy="228600"/>
          </a:xfrm>
          <a:prstGeom prst="rect">
            <a:avLst/>
          </a:prstGeom>
          <a:noFill/>
        </p:spPr>
        <p:txBody>
          <a:bodyPr wrap="square">
            <a:spAutoFit/>
          </a:bodyPr>
          <a:lstStyle/>
          <a:p>
            <a:pPr algn="l">
              <a:defRPr sz="1000" b="0">
                <a:latin typeface="Malgun Gothic"/>
              </a:defRPr>
            </a:pPr>
            <a:r>
              <a:t>5G 융합 확산</a:t>
            </a:r>
            <a:br/>
            <a:r>
              <a:t>실감·신유형 콘텐츠,</a:t>
            </a:r>
            <a:br/>
            <a:r>
              <a:t>자율주행차·선박,</a:t>
            </a:r>
            <a:br/>
            <a:r>
              <a:t>공공서비스</a:t>
            </a:r>
          </a:p>
        </p:txBody>
      </p:sp>
      <p:sp>
        <p:nvSpPr>
          <p:cNvPr id="16" name="TextBox 15"/>
          <p:cNvSpPr txBox="1"/>
          <p:nvPr/>
        </p:nvSpPr>
        <p:spPr>
          <a:xfrm>
            <a:off x="457200" y="6537960"/>
            <a:ext cx="8229600" cy="228600"/>
          </a:xfrm>
          <a:prstGeom prst="rect">
            <a:avLst/>
          </a:prstGeom>
          <a:noFill/>
        </p:spPr>
        <p:txBody>
          <a:bodyPr wrap="square">
            <a:spAutoFit/>
          </a:bodyPr>
          <a:lstStyle/>
          <a:p>
            <a:pPr algn="l">
              <a:defRPr sz="1000" b="0">
                <a:latin typeface="Malgun Gothic"/>
              </a:defRPr>
            </a:pPr>
            <a:r>
              <a:t>AI 활용 확대</a:t>
            </a:r>
            <a:br/>
            <a:r>
              <a:t>스마트공장·건설 로봇·의료</a:t>
            </a:r>
            <a:br/>
            <a:r>
              <a:t>스마트팜·양식</a:t>
            </a:r>
          </a:p>
        </p:txBody>
      </p:sp>
      <p:sp>
        <p:nvSpPr>
          <p:cNvPr id="17" name="TextBox 16"/>
          <p:cNvSpPr txBox="1"/>
          <p:nvPr/>
        </p:nvSpPr>
        <p:spPr>
          <a:xfrm>
            <a:off x="457200" y="6858000"/>
            <a:ext cx="8229600" cy="228600"/>
          </a:xfrm>
          <a:prstGeom prst="rect">
            <a:avLst/>
          </a:prstGeom>
          <a:noFill/>
        </p:spPr>
        <p:txBody>
          <a:bodyPr wrap="square">
            <a:spAutoFit/>
          </a:bodyPr>
          <a:lstStyle/>
          <a:p>
            <a:pPr algn="l">
              <a:defRPr sz="1000" b="0">
                <a:latin typeface="Malgun Gothic"/>
              </a:defRPr>
            </a:pPr>
            <a:r>
              <a:t>융복합</a:t>
            </a:r>
          </a:p>
        </p:txBody>
      </p:sp>
      <p:sp>
        <p:nvSpPr>
          <p:cNvPr id="18" name="TextBox 17"/>
          <p:cNvSpPr txBox="1"/>
          <p:nvPr/>
        </p:nvSpPr>
        <p:spPr>
          <a:xfrm>
            <a:off x="457200" y="7178040"/>
            <a:ext cx="8229600" cy="228600"/>
          </a:xfrm>
          <a:prstGeom prst="rect">
            <a:avLst/>
          </a:prstGeom>
          <a:noFill/>
        </p:spPr>
        <p:txBody>
          <a:bodyPr wrap="square">
            <a:spAutoFit/>
          </a:bodyPr>
          <a:lstStyle/>
          <a:p>
            <a:pPr algn="l">
              <a:defRPr sz="1000" b="0">
                <a:latin typeface="Malgun Gothic"/>
              </a:defRPr>
            </a:pPr>
            <a:r>
              <a:t>디지털 혁신기업 육성</a:t>
            </a:r>
            <a:br/>
            <a:r>
              <a:t>스마트 대한민국펀드 + 차세대 혁신기술 + AI 바우처</a:t>
            </a:r>
          </a:p>
        </p:txBody>
      </p:sp>
      <p:sp>
        <p:nvSpPr>
          <p:cNvPr id="19" name="TextBox 18"/>
          <p:cNvSpPr txBox="1"/>
          <p:nvPr/>
        </p:nvSpPr>
        <p:spPr>
          <a:xfrm>
            <a:off x="457200" y="7498080"/>
            <a:ext cx="8229600" cy="274320"/>
          </a:xfrm>
          <a:prstGeom prst="rect">
            <a:avLst/>
          </a:prstGeom>
          <a:noFill/>
        </p:spPr>
        <p:txBody>
          <a:bodyPr wrap="square">
            <a:spAutoFit/>
          </a:bodyPr>
          <a:lstStyle/>
          <a:p>
            <a:pPr algn="l">
              <a:defRPr sz="1200" b="1">
                <a:solidFill>
                  <a:srgbClr val="003366"/>
                </a:solidFill>
                <a:latin typeface="Malgun Gothic"/>
              </a:defRPr>
            </a:pPr>
            <a:r>
              <a:t>Key Findings</a:t>
            </a:r>
          </a:p>
        </p:txBody>
      </p:sp>
      <p:sp>
        <p:nvSpPr>
          <p:cNvPr id="20" name="TextBox 19"/>
          <p:cNvSpPr txBox="1"/>
          <p:nvPr/>
        </p:nvSpPr>
        <p:spPr>
          <a:xfrm>
            <a:off x="457200" y="7863840"/>
            <a:ext cx="8229600" cy="685800"/>
          </a:xfrm>
          <a:prstGeom prst="rect">
            <a:avLst/>
          </a:prstGeom>
          <a:noFill/>
        </p:spPr>
        <p:txBody>
          <a:bodyPr wrap="square">
            <a:spAutoFit/>
          </a:bodyPr>
          <a:lstStyle/>
          <a:p>
            <a:pPr algn="l">
              <a:defRPr sz="1000" b="0">
                <a:latin typeface="Malgun Gothic"/>
              </a:defRPr>
            </a:pPr>
            <a:r>
              <a:t>✓ 국가해양환경정보 통합관리에 관한 규정에 따른</a:t>
            </a:r>
            <a:br/>
            <a:r>
              <a:t>해양환경정보 관리 사업 성장, 확대 예상</a:t>
            </a:r>
            <a:br/>
            <a:r>
              <a:t>✓ 해양 빅데이터 분석 시스템 구축과 5G·AI를 활용한</a:t>
            </a:r>
            <a:br/>
            <a:r>
              <a:t>해양환경 산업 정보화 관련 사업기회 확대 전망</a:t>
            </a:r>
            <a:br/>
            <a:r>
              <a:t>✓ AI, 5G를 활용한 해양환경정보 신사업 창출 가능</a:t>
            </a:r>
          </a:p>
        </p:txBody>
      </p:sp>
      <p:sp>
        <p:nvSpPr>
          <p:cNvPr id="21" name="TextBox 20"/>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*Source: 한국판 뉴딜 종합계획, 관계부처 합동 (2020.07) | Page 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디지털 뉴딜 추진전략 분석 (2/4)</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초중고 해양환경 교육과 어업인 및 전문가, 법정의무교육 제공 기관으로서 공단은 해양환경 교육 콘텐츠의 제작, 이러닝 및 가상훈련(VR·AR) 콘텐츠의 개발 및 제공 역할이 필요함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디지털 뉴딜 추진전략 ② 교육 인프라 디지털 전환</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&lt;온라인교육 통합플랫폼&gt;</a:t>
            </a:r>
          </a:p>
        </p:txBody>
      </p:sp>
      <p:sp>
        <p:nvSpPr>
          <p:cNvPr id="6" name="TextBox 5"/>
          <p:cNvSpPr txBox="1"/>
          <p:nvPr/>
        </p:nvSpPr>
        <p:spPr>
          <a:xfrm>
            <a:off x="457200" y="2148840"/>
            <a:ext cx="8229600" cy="228600"/>
          </a:xfrm>
          <a:prstGeom prst="rect">
            <a:avLst/>
          </a:prstGeom>
          <a:noFill/>
        </p:spPr>
        <p:txBody>
          <a:bodyPr wrap="square">
            <a:spAutoFit/>
          </a:bodyPr>
          <a:lstStyle/>
          <a:p>
            <a:pPr algn="l">
              <a:defRPr sz="1000" b="0">
                <a:latin typeface="Malgun Gothic"/>
              </a:defRPr>
            </a:pPr>
            <a:r>
              <a:t>D.N.A. 생태계 강화</a:t>
            </a:r>
          </a:p>
        </p:txBody>
      </p:sp>
      <p:sp>
        <p:nvSpPr>
          <p:cNvPr id="7" name="TextBox 6"/>
          <p:cNvSpPr txBox="1"/>
          <p:nvPr/>
        </p:nvSpPr>
        <p:spPr>
          <a:xfrm>
            <a:off x="457200" y="2468880"/>
            <a:ext cx="8229600" cy="228600"/>
          </a:xfrm>
          <a:prstGeom prst="rect">
            <a:avLst/>
          </a:prstGeom>
          <a:noFill/>
        </p:spPr>
        <p:txBody>
          <a:bodyPr wrap="square">
            <a:spAutoFit/>
          </a:bodyPr>
          <a:lstStyle/>
          <a:p>
            <a:pPr algn="l">
              <a:defRPr sz="1000" b="0">
                <a:latin typeface="Malgun Gothic"/>
              </a:defRPr>
            </a:pPr>
            <a:r>
              <a:t>교육 인프라 디지털 전환</a:t>
            </a:r>
            <a:br/>
            <a:r>
              <a:t>~22: 0.6조 원</a:t>
            </a:r>
            <a:br/>
            <a:r>
              <a:t>~25: 0.8조 원</a:t>
            </a:r>
          </a:p>
        </p:txBody>
      </p:sp>
      <p:sp>
        <p:nvSpPr>
          <p:cNvPr id="8" name="TextBox 7"/>
          <p:cNvSpPr txBox="1"/>
          <p:nvPr/>
        </p:nvSpPr>
        <p:spPr>
          <a:xfrm>
            <a:off x="457200" y="2788920"/>
            <a:ext cx="8229600" cy="228600"/>
          </a:xfrm>
          <a:prstGeom prst="rect">
            <a:avLst/>
          </a:prstGeom>
          <a:noFill/>
        </p:spPr>
        <p:txBody>
          <a:bodyPr wrap="square">
            <a:spAutoFit/>
          </a:bodyPr>
          <a:lstStyle/>
          <a:p>
            <a:pPr algn="l">
              <a:defRPr sz="1000" b="0">
                <a:latin typeface="Malgun Gothic"/>
              </a:defRPr>
            </a:pPr>
            <a:r>
              <a:t>비대면 산업 육성</a:t>
            </a:r>
          </a:p>
        </p:txBody>
      </p:sp>
      <p:sp>
        <p:nvSpPr>
          <p:cNvPr id="9" name="TextBox 8"/>
          <p:cNvSpPr txBox="1"/>
          <p:nvPr/>
        </p:nvSpPr>
        <p:spPr>
          <a:xfrm>
            <a:off x="457200" y="3108960"/>
            <a:ext cx="8229600" cy="228600"/>
          </a:xfrm>
          <a:prstGeom prst="rect">
            <a:avLst/>
          </a:prstGeom>
          <a:noFill/>
        </p:spPr>
        <p:txBody>
          <a:bodyPr wrap="square">
            <a:spAutoFit/>
          </a:bodyPr>
          <a:lstStyle/>
          <a:p>
            <a:pPr algn="l">
              <a:defRPr sz="1000" b="0">
                <a:latin typeface="Malgun Gothic"/>
              </a:defRPr>
            </a:pPr>
            <a:r>
              <a:t>SOC 디지털화</a:t>
            </a:r>
          </a:p>
        </p:txBody>
      </p:sp>
      <p:sp>
        <p:nvSpPr>
          <p:cNvPr id="10" name="TextBox 9"/>
          <p:cNvSpPr txBox="1"/>
          <p:nvPr/>
        </p:nvSpPr>
        <p:spPr>
          <a:xfrm>
            <a:off x="457200" y="3429000"/>
            <a:ext cx="8229600" cy="685800"/>
          </a:xfrm>
          <a:prstGeom prst="rect">
            <a:avLst/>
          </a:prstGeom>
          <a:noFill/>
        </p:spPr>
        <p:txBody>
          <a:bodyPr wrap="square">
            <a:spAutoFit/>
          </a:bodyPr>
          <a:lstStyle/>
          <a:p>
            <a:pPr algn="l">
              <a:defRPr sz="1000" b="0">
                <a:latin typeface="Malgun Gothic"/>
              </a:defRPr>
            </a:pPr>
            <a:r>
              <a:t>1 모든 초중고에 디지털 기반 교육 인프라 조성</a:t>
            </a:r>
            <a:br/>
            <a:r>
              <a:t>~'25: 0.3조원</a:t>
            </a:r>
            <a:br/>
            <a:br/>
            <a:r>
              <a:t>• 스마트 기기를 활용한 디지털 기반 스마트학교 구현</a:t>
            </a:r>
            <a:br/>
            <a:br/>
            <a:r>
              <a:t>■ 개인 맞춤형 학습서비스 제공 및 원격수업 확대 기반 마련</a:t>
            </a:r>
            <a:br/>
            <a:r>
              <a:t>- 온라인 교육 플랫폼 구축</a:t>
            </a:r>
            <a:br/>
            <a:r>
              <a:t>- 원격수업 인프라 확대</a:t>
            </a:r>
          </a:p>
        </p:txBody>
      </p:sp>
      <p:sp>
        <p:nvSpPr>
          <p:cNvPr id="11" name="TextBox 10"/>
          <p:cNvSpPr txBox="1"/>
          <p:nvPr/>
        </p:nvSpPr>
        <p:spPr>
          <a:xfrm>
            <a:off x="457200" y="4206240"/>
            <a:ext cx="8229600" cy="685800"/>
          </a:xfrm>
          <a:prstGeom prst="rect">
            <a:avLst/>
          </a:prstGeom>
          <a:noFill/>
        </p:spPr>
        <p:txBody>
          <a:bodyPr wrap="square">
            <a:spAutoFit/>
          </a:bodyPr>
          <a:lstStyle/>
          <a:p>
            <a:pPr algn="l">
              <a:defRPr sz="1000" b="0">
                <a:latin typeface="Malgun Gothic"/>
              </a:defRPr>
            </a:pPr>
            <a:r>
              <a:t>2 전국 대학·직업훈련기관 온라인 교육 강화</a:t>
            </a:r>
            <a:br/>
            <a:r>
              <a:t>~'25: 0.5조원</a:t>
            </a:r>
            <a:br/>
            <a:br/>
            <a:r>
              <a:t>• 대학 공동활용 온라인학습관리시스템(LMS) 구축 및 원격교육지원센터 설치</a:t>
            </a:r>
            <a:br/>
            <a:br/>
            <a:r>
              <a:t>• 한국형 온라인 공개강좌(K-MOOC) 우수 콘텐츠 확대</a:t>
            </a:r>
            <a:br/>
            <a:br/>
            <a:r>
              <a:t>■ 맞춤형 학습이 가능한 온라인 직업훈련으로 전환</a:t>
            </a:r>
          </a:p>
        </p:txBody>
      </p:sp>
      <p:sp>
        <p:nvSpPr>
          <p:cNvPr id="12" name="TextBox 11"/>
          <p:cNvSpPr txBox="1"/>
          <p:nvPr/>
        </p:nvSpPr>
        <p:spPr>
          <a:xfrm>
            <a:off x="457200" y="4983480"/>
            <a:ext cx="8229600" cy="228600"/>
          </a:xfrm>
          <a:prstGeom prst="rect">
            <a:avLst/>
          </a:prstGeom>
          <a:noFill/>
        </p:spPr>
        <p:txBody>
          <a:bodyPr wrap="square">
            <a:spAutoFit/>
          </a:bodyPr>
          <a:lstStyle/>
          <a:p>
            <a:pPr algn="l">
              <a:defRPr sz="1000" b="0">
                <a:latin typeface="Malgun Gothic"/>
              </a:defRPr>
            </a:pPr>
            <a:r>
              <a:t>공급자</a:t>
            </a:r>
          </a:p>
        </p:txBody>
      </p:sp>
      <p:sp>
        <p:nvSpPr>
          <p:cNvPr id="13" name="TextBox 12"/>
          <p:cNvSpPr txBox="1"/>
          <p:nvPr/>
        </p:nvSpPr>
        <p:spPr>
          <a:xfrm>
            <a:off x="457200" y="5303520"/>
            <a:ext cx="8229600" cy="228600"/>
          </a:xfrm>
          <a:prstGeom prst="rect">
            <a:avLst/>
          </a:prstGeom>
          <a:noFill/>
        </p:spPr>
        <p:txBody>
          <a:bodyPr wrap="square">
            <a:spAutoFit/>
          </a:bodyPr>
          <a:lstStyle/>
          <a:p>
            <a:pPr algn="l">
              <a:defRPr sz="1000" b="0">
                <a:latin typeface="Malgun Gothic"/>
              </a:defRPr>
            </a:pPr>
            <a:r>
              <a:t>국가 및</a:t>
            </a:r>
            <a:br/>
            <a:r>
              <a:t>시도교육청</a:t>
            </a:r>
          </a:p>
        </p:txBody>
      </p:sp>
      <p:sp>
        <p:nvSpPr>
          <p:cNvPr id="14" name="TextBox 13"/>
          <p:cNvSpPr txBox="1"/>
          <p:nvPr/>
        </p:nvSpPr>
        <p:spPr>
          <a:xfrm>
            <a:off x="457200" y="5623560"/>
            <a:ext cx="8229600" cy="228600"/>
          </a:xfrm>
          <a:prstGeom prst="rect">
            <a:avLst/>
          </a:prstGeom>
          <a:noFill/>
        </p:spPr>
        <p:txBody>
          <a:bodyPr wrap="square">
            <a:spAutoFit/>
          </a:bodyPr>
          <a:lstStyle/>
          <a:p>
            <a:pPr algn="l">
              <a:defRPr sz="1000" b="0">
                <a:latin typeface="Malgun Gothic"/>
              </a:defRPr>
            </a:pPr>
            <a:r>
              <a:t>민간</a:t>
            </a:r>
            <a:br/>
            <a:r>
              <a:t>교육·출판</a:t>
            </a:r>
          </a:p>
        </p:txBody>
      </p:sp>
      <p:sp>
        <p:nvSpPr>
          <p:cNvPr id="15" name="TextBox 14"/>
          <p:cNvSpPr txBox="1"/>
          <p:nvPr/>
        </p:nvSpPr>
        <p:spPr>
          <a:xfrm>
            <a:off x="457200" y="5943600"/>
            <a:ext cx="8229600" cy="228600"/>
          </a:xfrm>
          <a:prstGeom prst="rect">
            <a:avLst/>
          </a:prstGeom>
          <a:noFill/>
        </p:spPr>
        <p:txBody>
          <a:bodyPr wrap="square">
            <a:spAutoFit/>
          </a:bodyPr>
          <a:lstStyle/>
          <a:p>
            <a:pPr algn="l">
              <a:defRPr sz="1000" b="0">
                <a:latin typeface="Malgun Gothic"/>
              </a:defRPr>
            </a:pPr>
            <a:r>
              <a:t>교사</a:t>
            </a:r>
          </a:p>
        </p:txBody>
      </p:sp>
      <p:sp>
        <p:nvSpPr>
          <p:cNvPr id="16" name="TextBox 15"/>
          <p:cNvSpPr txBox="1"/>
          <p:nvPr/>
        </p:nvSpPr>
        <p:spPr>
          <a:xfrm>
            <a:off x="457200" y="6263640"/>
            <a:ext cx="8229600" cy="228600"/>
          </a:xfrm>
          <a:prstGeom prst="rect">
            <a:avLst/>
          </a:prstGeom>
          <a:noFill/>
        </p:spPr>
        <p:txBody>
          <a:bodyPr wrap="square">
            <a:spAutoFit/>
          </a:bodyPr>
          <a:lstStyle/>
          <a:p>
            <a:pPr algn="l">
              <a:defRPr sz="1000" b="0">
                <a:latin typeface="Malgun Gothic"/>
              </a:defRPr>
            </a:pPr>
            <a:r>
              <a:t>디지털콘텐츠</a:t>
            </a:r>
            <a:br/>
            <a:r>
              <a:t>아카이브</a:t>
            </a:r>
          </a:p>
        </p:txBody>
      </p:sp>
      <p:sp>
        <p:nvSpPr>
          <p:cNvPr id="17" name="TextBox 16"/>
          <p:cNvSpPr txBox="1"/>
          <p:nvPr/>
        </p:nvSpPr>
        <p:spPr>
          <a:xfrm>
            <a:off x="457200" y="6583680"/>
            <a:ext cx="8229600" cy="228600"/>
          </a:xfrm>
          <a:prstGeom prst="rect">
            <a:avLst/>
          </a:prstGeom>
          <a:noFill/>
        </p:spPr>
        <p:txBody>
          <a:bodyPr wrap="square">
            <a:spAutoFit/>
          </a:bodyPr>
          <a:lstStyle/>
          <a:p>
            <a:pPr algn="l">
              <a:defRPr sz="1000" b="0">
                <a:latin typeface="Malgun Gothic"/>
              </a:defRPr>
            </a:pPr>
            <a:r>
              <a:t>온라인 교육</a:t>
            </a:r>
            <a:br/>
            <a:r>
              <a:t>통합플랫폼</a:t>
            </a:r>
          </a:p>
        </p:txBody>
      </p:sp>
      <p:sp>
        <p:nvSpPr>
          <p:cNvPr id="18" name="TextBox 17"/>
          <p:cNvSpPr txBox="1"/>
          <p:nvPr/>
        </p:nvSpPr>
        <p:spPr>
          <a:xfrm>
            <a:off x="457200" y="6903720"/>
            <a:ext cx="8229600" cy="228600"/>
          </a:xfrm>
          <a:prstGeom prst="rect">
            <a:avLst/>
          </a:prstGeom>
          <a:noFill/>
        </p:spPr>
        <p:txBody>
          <a:bodyPr wrap="square">
            <a:spAutoFit/>
          </a:bodyPr>
          <a:lstStyle/>
          <a:p>
            <a:pPr algn="l">
              <a:defRPr sz="1000" b="0">
                <a:latin typeface="Malgun Gothic"/>
              </a:defRPr>
            </a:pPr>
            <a:r>
              <a:t>수요자</a:t>
            </a:r>
          </a:p>
        </p:txBody>
      </p:sp>
      <p:sp>
        <p:nvSpPr>
          <p:cNvPr id="19" name="TextBox 18"/>
          <p:cNvSpPr txBox="1"/>
          <p:nvPr/>
        </p:nvSpPr>
        <p:spPr>
          <a:xfrm>
            <a:off x="457200" y="7223760"/>
            <a:ext cx="8229600" cy="228600"/>
          </a:xfrm>
          <a:prstGeom prst="rect">
            <a:avLst/>
          </a:prstGeom>
          <a:noFill/>
        </p:spPr>
        <p:txBody>
          <a:bodyPr wrap="square">
            <a:spAutoFit/>
          </a:bodyPr>
          <a:lstStyle/>
          <a:p>
            <a:pPr algn="l">
              <a:defRPr sz="1000" b="0">
                <a:latin typeface="Malgun Gothic"/>
              </a:defRPr>
            </a:pPr>
            <a:r>
              <a:t>학교</a:t>
            </a:r>
          </a:p>
        </p:txBody>
      </p:sp>
      <p:sp>
        <p:nvSpPr>
          <p:cNvPr id="20" name="TextBox 19"/>
          <p:cNvSpPr txBox="1"/>
          <p:nvPr/>
        </p:nvSpPr>
        <p:spPr>
          <a:xfrm>
            <a:off x="457200" y="7543800"/>
            <a:ext cx="8229600" cy="228600"/>
          </a:xfrm>
          <a:prstGeom prst="rect">
            <a:avLst/>
          </a:prstGeom>
          <a:noFill/>
        </p:spPr>
        <p:txBody>
          <a:bodyPr wrap="square">
            <a:spAutoFit/>
          </a:bodyPr>
          <a:lstStyle/>
          <a:p>
            <a:pPr algn="l">
              <a:defRPr sz="1000" b="0">
                <a:latin typeface="Malgun Gothic"/>
              </a:defRPr>
            </a:pPr>
            <a:r>
              <a:t>학부모</a:t>
            </a:r>
          </a:p>
        </p:txBody>
      </p:sp>
      <p:sp>
        <p:nvSpPr>
          <p:cNvPr id="21" name="TextBox 20"/>
          <p:cNvSpPr txBox="1"/>
          <p:nvPr/>
        </p:nvSpPr>
        <p:spPr>
          <a:xfrm>
            <a:off x="457200" y="7863840"/>
            <a:ext cx="8229600" cy="228600"/>
          </a:xfrm>
          <a:prstGeom prst="rect">
            <a:avLst/>
          </a:prstGeom>
          <a:noFill/>
        </p:spPr>
        <p:txBody>
          <a:bodyPr wrap="square">
            <a:spAutoFit/>
          </a:bodyPr>
          <a:lstStyle/>
          <a:p>
            <a:pPr algn="l">
              <a:defRPr sz="1000" b="0">
                <a:latin typeface="Malgun Gothic"/>
              </a:defRPr>
            </a:pPr>
            <a:r>
              <a:t>학생</a:t>
            </a:r>
          </a:p>
        </p:txBody>
      </p:sp>
      <p:sp>
        <p:nvSpPr>
          <p:cNvPr id="22" name="TextBox 21"/>
          <p:cNvSpPr txBox="1"/>
          <p:nvPr/>
        </p:nvSpPr>
        <p:spPr>
          <a:xfrm>
            <a:off x="457200" y="8183880"/>
            <a:ext cx="8229600" cy="228600"/>
          </a:xfrm>
          <a:prstGeom prst="rect">
            <a:avLst/>
          </a:prstGeom>
          <a:noFill/>
        </p:spPr>
        <p:txBody>
          <a:bodyPr wrap="square">
            <a:spAutoFit/>
          </a:bodyPr>
          <a:lstStyle/>
          <a:p>
            <a:pPr algn="l">
              <a:defRPr sz="1000" b="0">
                <a:latin typeface="Malgun Gothic"/>
              </a:defRPr>
            </a:pPr>
            <a:r>
              <a:t>콘텐츠</a:t>
            </a:r>
            <a:br/>
            <a:r>
              <a:t>수집</a:t>
            </a:r>
          </a:p>
        </p:txBody>
      </p:sp>
      <p:sp>
        <p:nvSpPr>
          <p:cNvPr id="23" name="TextBox 22"/>
          <p:cNvSpPr txBox="1"/>
          <p:nvPr/>
        </p:nvSpPr>
        <p:spPr>
          <a:xfrm>
            <a:off x="457200" y="8503920"/>
            <a:ext cx="8229600" cy="228600"/>
          </a:xfrm>
          <a:prstGeom prst="rect">
            <a:avLst/>
          </a:prstGeom>
          <a:noFill/>
        </p:spPr>
        <p:txBody>
          <a:bodyPr wrap="square">
            <a:spAutoFit/>
          </a:bodyPr>
          <a:lstStyle/>
          <a:p>
            <a:pPr algn="l">
              <a:defRPr sz="1000" b="0">
                <a:latin typeface="Malgun Gothic"/>
              </a:defRPr>
            </a:pPr>
            <a:r>
              <a:t>콘텐츠</a:t>
            </a:r>
            <a:br/>
            <a:r>
              <a:t>기록보존</a:t>
            </a:r>
          </a:p>
        </p:txBody>
      </p:sp>
      <p:sp>
        <p:nvSpPr>
          <p:cNvPr id="24" name="TextBox 23"/>
          <p:cNvSpPr txBox="1"/>
          <p:nvPr/>
        </p:nvSpPr>
        <p:spPr>
          <a:xfrm>
            <a:off x="457200" y="8823960"/>
            <a:ext cx="8229600" cy="228600"/>
          </a:xfrm>
          <a:prstGeom prst="rect">
            <a:avLst/>
          </a:prstGeom>
          <a:noFill/>
        </p:spPr>
        <p:txBody>
          <a:bodyPr wrap="square">
            <a:spAutoFit/>
          </a:bodyPr>
          <a:lstStyle/>
          <a:p>
            <a:pPr algn="l">
              <a:defRPr sz="1000" b="0">
                <a:latin typeface="Malgun Gothic"/>
              </a:defRPr>
            </a:pPr>
            <a:r>
              <a:t>콘텐츠</a:t>
            </a:r>
            <a:br/>
            <a:r>
              <a:t>품질관리</a:t>
            </a:r>
          </a:p>
        </p:txBody>
      </p:sp>
      <p:sp>
        <p:nvSpPr>
          <p:cNvPr id="25" name="TextBox 24"/>
          <p:cNvSpPr txBox="1"/>
          <p:nvPr/>
        </p:nvSpPr>
        <p:spPr>
          <a:xfrm>
            <a:off x="457200" y="9144000"/>
            <a:ext cx="8229600" cy="228600"/>
          </a:xfrm>
          <a:prstGeom prst="rect">
            <a:avLst/>
          </a:prstGeom>
          <a:noFill/>
        </p:spPr>
        <p:txBody>
          <a:bodyPr wrap="square">
            <a:spAutoFit/>
          </a:bodyPr>
          <a:lstStyle/>
          <a:p>
            <a:pPr algn="l">
              <a:defRPr sz="1000" b="0">
                <a:latin typeface="Malgun Gothic"/>
              </a:defRPr>
            </a:pPr>
            <a:r>
              <a:t>콘텐츠</a:t>
            </a:r>
            <a:br/>
            <a:r>
              <a:t>유통</a:t>
            </a:r>
          </a:p>
        </p:txBody>
      </p:sp>
      <p:sp>
        <p:nvSpPr>
          <p:cNvPr id="26" name="TextBox 25"/>
          <p:cNvSpPr txBox="1"/>
          <p:nvPr/>
        </p:nvSpPr>
        <p:spPr>
          <a:xfrm>
            <a:off x="457200" y="9464040"/>
            <a:ext cx="8229600" cy="228600"/>
          </a:xfrm>
          <a:prstGeom prst="rect">
            <a:avLst/>
          </a:prstGeom>
          <a:noFill/>
        </p:spPr>
        <p:txBody>
          <a:bodyPr wrap="square">
            <a:spAutoFit/>
          </a:bodyPr>
          <a:lstStyle/>
          <a:p>
            <a:pPr algn="l">
              <a:defRPr sz="1000" b="0">
                <a:latin typeface="Malgun Gothic"/>
              </a:defRPr>
            </a:pPr>
            <a:r>
              <a:t>콘텐츠</a:t>
            </a:r>
          </a:p>
        </p:txBody>
      </p:sp>
      <p:sp>
        <p:nvSpPr>
          <p:cNvPr id="27" name="TextBox 26"/>
          <p:cNvSpPr txBox="1"/>
          <p:nvPr/>
        </p:nvSpPr>
        <p:spPr>
          <a:xfrm>
            <a:off x="457200" y="9784080"/>
            <a:ext cx="8229600" cy="228600"/>
          </a:xfrm>
          <a:prstGeom prst="rect">
            <a:avLst/>
          </a:prstGeom>
          <a:noFill/>
        </p:spPr>
        <p:txBody>
          <a:bodyPr wrap="square">
            <a:spAutoFit/>
          </a:bodyPr>
          <a:lstStyle/>
          <a:p>
            <a:pPr algn="l">
              <a:defRPr sz="1000" b="0">
                <a:latin typeface="Malgun Gothic"/>
              </a:defRPr>
            </a:pPr>
            <a:r>
              <a:t>LMS</a:t>
            </a:r>
          </a:p>
        </p:txBody>
      </p:sp>
      <p:sp>
        <p:nvSpPr>
          <p:cNvPr id="28" name="TextBox 27"/>
          <p:cNvSpPr txBox="1"/>
          <p:nvPr/>
        </p:nvSpPr>
        <p:spPr>
          <a:xfrm>
            <a:off x="457200" y="10104120"/>
            <a:ext cx="8229600" cy="228600"/>
          </a:xfrm>
          <a:prstGeom prst="rect">
            <a:avLst/>
          </a:prstGeom>
          <a:noFill/>
        </p:spPr>
        <p:txBody>
          <a:bodyPr wrap="square">
            <a:spAutoFit/>
          </a:bodyPr>
          <a:lstStyle/>
          <a:p>
            <a:pPr algn="l">
              <a:defRPr sz="1000" b="0">
                <a:latin typeface="Malgun Gothic"/>
              </a:defRPr>
            </a:pPr>
            <a:r>
              <a:t>학습소통</a:t>
            </a:r>
          </a:p>
        </p:txBody>
      </p:sp>
      <p:sp>
        <p:nvSpPr>
          <p:cNvPr id="29" name="TextBox 28"/>
          <p:cNvSpPr txBox="1"/>
          <p:nvPr/>
        </p:nvSpPr>
        <p:spPr>
          <a:xfrm>
            <a:off x="457200" y="10424160"/>
            <a:ext cx="8229600" cy="228600"/>
          </a:xfrm>
          <a:prstGeom prst="rect">
            <a:avLst/>
          </a:prstGeom>
          <a:noFill/>
        </p:spPr>
        <p:txBody>
          <a:bodyPr wrap="square">
            <a:spAutoFit/>
          </a:bodyPr>
          <a:lstStyle/>
          <a:p>
            <a:pPr algn="l">
              <a:defRPr sz="1000" b="0">
                <a:latin typeface="Malgun Gothic"/>
              </a:defRPr>
            </a:pPr>
            <a:r>
              <a:t>학습평가</a:t>
            </a:r>
          </a:p>
        </p:txBody>
      </p:sp>
      <p:sp>
        <p:nvSpPr>
          <p:cNvPr id="30" name="TextBox 29"/>
          <p:cNvSpPr txBox="1"/>
          <p:nvPr/>
        </p:nvSpPr>
        <p:spPr>
          <a:xfrm>
            <a:off x="457200" y="10744200"/>
            <a:ext cx="8229600" cy="228600"/>
          </a:xfrm>
          <a:prstGeom prst="rect">
            <a:avLst/>
          </a:prstGeom>
          <a:noFill/>
        </p:spPr>
        <p:txBody>
          <a:bodyPr wrap="square">
            <a:spAutoFit/>
          </a:bodyPr>
          <a:lstStyle/>
          <a:p>
            <a:pPr algn="l">
              <a:defRPr sz="1000" b="0">
                <a:latin typeface="Malgun Gothic"/>
              </a:defRPr>
            </a:pPr>
            <a:r>
              <a:t>콘텐츠 공급</a:t>
            </a:r>
          </a:p>
        </p:txBody>
      </p:sp>
      <p:sp>
        <p:nvSpPr>
          <p:cNvPr id="31" name="TextBox 30"/>
          <p:cNvSpPr txBox="1"/>
          <p:nvPr/>
        </p:nvSpPr>
        <p:spPr>
          <a:xfrm>
            <a:off x="457200" y="11064240"/>
            <a:ext cx="8229600" cy="685800"/>
          </a:xfrm>
          <a:prstGeom prst="rect">
            <a:avLst/>
          </a:prstGeom>
          <a:noFill/>
        </p:spPr>
        <p:txBody>
          <a:bodyPr wrap="square">
            <a:spAutoFit/>
          </a:bodyPr>
          <a:lstStyle/>
          <a:p>
            <a:pPr algn="l">
              <a:defRPr sz="1000" b="0">
                <a:latin typeface="Malgun Gothic"/>
              </a:defRPr>
            </a:pPr>
            <a:r>
              <a:t>• 양질의 온라인 직업능력개발 서비스 제공을 위해 공공 스마트 직업훈련 플랫폼(STEP) 고도화 및 콘텐츠 확대</a:t>
            </a:r>
            <a:br/>
            <a:r>
              <a:t>- 콘텐츠 부족 분야 중심으로 이러닝·가상훈련(VR·AR) 콘텐츠를 개발·탑재</a:t>
            </a:r>
          </a:p>
        </p:txBody>
      </p:sp>
      <p:sp>
        <p:nvSpPr>
          <p:cNvPr id="32" name="TextBox 31"/>
          <p:cNvSpPr txBox="1"/>
          <p:nvPr/>
        </p:nvSpPr>
        <p:spPr>
          <a:xfrm>
            <a:off x="457200" y="11841480"/>
            <a:ext cx="8229600" cy="685800"/>
          </a:xfrm>
          <a:prstGeom prst="rect">
            <a:avLst/>
          </a:prstGeom>
          <a:noFill/>
        </p:spPr>
        <p:txBody>
          <a:bodyPr wrap="square">
            <a:spAutoFit/>
          </a:bodyPr>
          <a:lstStyle/>
          <a:p>
            <a:pPr algn="l">
              <a:defRPr sz="1000" b="0">
                <a:latin typeface="Malgun Gothic"/>
              </a:defRPr>
            </a:pPr>
            <a:r>
              <a:t>✓ 초중고 대상 해양환경교육 콘텐츠 공급자로서 교육 콘텐츠 제작, 공급 확대 필요</a:t>
            </a:r>
            <a:br/>
            <a:r>
              <a:t>✓ 어업인, 전문가 및 법정 의무교육 제공자로서 이러닝, 가상훈련(VR·AR) 콘텐츠 개발 및 제공 역할 기대</a:t>
            </a:r>
          </a:p>
        </p:txBody>
      </p:sp>
      <p:sp>
        <p:nvSpPr>
          <p:cNvPr id="33" name="TextBox 32"/>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Ⅱ. 내·외부 환경분석 | Page 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디지털 뉴딜 추진전략 분석 (3/4)</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비대면 산업 육성 추진전략은 공공부문의 원격근무 효율성 제고를 위한 표준 가이드라인 제정 등 비대면 업무환경을 조성하고 원격근무 증가에 효율적으로 대응하기 위한 사전 준비와 검토가 필요한 시점임</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디지털 뉴딜 추진전략 ③ 비대면 산업 육성</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1. D.N.A.</a:t>
            </a:r>
            <a:br/>
            <a:r>
              <a:t>생태계 강화</a:t>
            </a:r>
          </a:p>
        </p:txBody>
      </p:sp>
      <p:sp>
        <p:nvSpPr>
          <p:cNvPr id="6" name="TextBox 5"/>
          <p:cNvSpPr txBox="1"/>
          <p:nvPr/>
        </p:nvSpPr>
        <p:spPr>
          <a:xfrm>
            <a:off x="457200" y="2148840"/>
            <a:ext cx="8229600" cy="228600"/>
          </a:xfrm>
          <a:prstGeom prst="rect">
            <a:avLst/>
          </a:prstGeom>
          <a:noFill/>
        </p:spPr>
        <p:txBody>
          <a:bodyPr wrap="square">
            <a:spAutoFit/>
          </a:bodyPr>
          <a:lstStyle/>
          <a:p>
            <a:pPr algn="l">
              <a:defRPr sz="1000" b="0">
                <a:latin typeface="Malgun Gothic"/>
              </a:defRPr>
            </a:pPr>
            <a:r>
              <a:t>2. 교육 인프라</a:t>
            </a:r>
            <a:br/>
            <a:r>
              <a:t>디지털 전환</a:t>
            </a:r>
          </a:p>
        </p:txBody>
      </p:sp>
      <p:sp>
        <p:nvSpPr>
          <p:cNvPr id="7" name="TextBox 6"/>
          <p:cNvSpPr txBox="1"/>
          <p:nvPr/>
        </p:nvSpPr>
        <p:spPr>
          <a:xfrm>
            <a:off x="457200" y="2468880"/>
            <a:ext cx="8229600" cy="228600"/>
          </a:xfrm>
          <a:prstGeom prst="rect">
            <a:avLst/>
          </a:prstGeom>
          <a:noFill/>
        </p:spPr>
        <p:txBody>
          <a:bodyPr wrap="square">
            <a:spAutoFit/>
          </a:bodyPr>
          <a:lstStyle/>
          <a:p>
            <a:pPr algn="l">
              <a:defRPr sz="1000" b="0">
                <a:latin typeface="Malgun Gothic"/>
              </a:defRPr>
            </a:pPr>
            <a:r>
              <a:t>3. 비대면 산업 육성</a:t>
            </a:r>
            <a:br/>
            <a:r>
              <a:t>~22: 1.1조 원</a:t>
            </a:r>
            <a:br/>
            <a:r>
              <a:t>~25: 2.1조 원</a:t>
            </a:r>
          </a:p>
        </p:txBody>
      </p:sp>
      <p:sp>
        <p:nvSpPr>
          <p:cNvPr id="8" name="TextBox 7"/>
          <p:cNvSpPr txBox="1"/>
          <p:nvPr/>
        </p:nvSpPr>
        <p:spPr>
          <a:xfrm>
            <a:off x="457200" y="2788920"/>
            <a:ext cx="8229600" cy="228600"/>
          </a:xfrm>
          <a:prstGeom prst="rect">
            <a:avLst/>
          </a:prstGeom>
          <a:noFill/>
        </p:spPr>
        <p:txBody>
          <a:bodyPr wrap="square">
            <a:spAutoFit/>
          </a:bodyPr>
          <a:lstStyle/>
          <a:p>
            <a:pPr algn="l">
              <a:defRPr sz="1000" b="0">
                <a:latin typeface="Malgun Gothic"/>
              </a:defRPr>
            </a:pPr>
            <a:r>
              <a:t>4. SOC</a:t>
            </a:r>
            <a:br/>
            <a:r>
              <a:t>디지털화</a:t>
            </a:r>
          </a:p>
        </p:txBody>
      </p:sp>
      <p:sp>
        <p:nvSpPr>
          <p:cNvPr id="9" name="TextBox 8"/>
          <p:cNvSpPr txBox="1"/>
          <p:nvPr/>
        </p:nvSpPr>
        <p:spPr>
          <a:xfrm>
            <a:off x="457200" y="3108960"/>
            <a:ext cx="8229600" cy="457200"/>
          </a:xfrm>
          <a:prstGeom prst="rect">
            <a:avLst/>
          </a:prstGeom>
          <a:noFill/>
        </p:spPr>
        <p:txBody>
          <a:bodyPr wrap="square">
            <a:spAutoFit/>
          </a:bodyPr>
          <a:lstStyle/>
          <a:p>
            <a:pPr algn="l">
              <a:defRPr sz="1000" b="0">
                <a:latin typeface="Malgun Gothic"/>
              </a:defRPr>
            </a:pPr>
            <a:r>
              <a:t>1 스마트 의료 및 돌봄 인프라 구축</a:t>
            </a:r>
            <a:br/>
            <a:r>
              <a:t>~'25: 0.4조원</a:t>
            </a:r>
            <a:br/>
            <a:r>
              <a:t>• 디지털 기반 스마트 의료 인프라 구축</a:t>
            </a:r>
            <a:br/>
            <a:r>
              <a:t>• 건강취약계층을 위한 비대면 의료 시범사업</a:t>
            </a:r>
            <a:br/>
            <a:r>
              <a:t>인프라 확충</a:t>
            </a:r>
          </a:p>
        </p:txBody>
      </p:sp>
      <p:sp>
        <p:nvSpPr>
          <p:cNvPr id="10" name="TextBox 9"/>
          <p:cNvSpPr txBox="1"/>
          <p:nvPr/>
        </p:nvSpPr>
        <p:spPr>
          <a:xfrm>
            <a:off x="457200" y="3657600"/>
            <a:ext cx="8229600" cy="685800"/>
          </a:xfrm>
          <a:prstGeom prst="rect">
            <a:avLst/>
          </a:prstGeom>
          <a:noFill/>
        </p:spPr>
        <p:txBody>
          <a:bodyPr wrap="square">
            <a:spAutoFit/>
          </a:bodyPr>
          <a:lstStyle/>
          <a:p>
            <a:pPr algn="l">
              <a:defRPr sz="1000" b="0">
                <a:latin typeface="Malgun Gothic"/>
              </a:defRPr>
            </a:pPr>
            <a:r>
              <a:t>2 (중소기업) 원격근무 확산</a:t>
            </a:r>
            <a:br/>
            <a:r>
              <a:t>~'25: 0.7조원</a:t>
            </a:r>
            <a:br/>
            <a:r>
              <a:t>• 비대면 업무 환경 조성을 위한 원격근무</a:t>
            </a:r>
            <a:br/>
            <a:r>
              <a:t>인프라·컨설팅 등 지원</a:t>
            </a:r>
            <a:br/>
            <a:r>
              <a:t>- 민간부문 재택·원격근무 가이드라인 제정</a:t>
            </a:r>
            <a:br/>
            <a:r>
              <a:t>- 공공부문 표준 원격근무 가이드라인 제정</a:t>
            </a:r>
            <a:br/>
            <a:r>
              <a:t>• 디지털 워크 기술개발 지원</a:t>
            </a:r>
          </a:p>
        </p:txBody>
      </p:sp>
      <p:sp>
        <p:nvSpPr>
          <p:cNvPr id="11" name="TextBox 10"/>
          <p:cNvSpPr txBox="1"/>
          <p:nvPr/>
        </p:nvSpPr>
        <p:spPr>
          <a:xfrm>
            <a:off x="457200" y="4434840"/>
            <a:ext cx="8229600" cy="457200"/>
          </a:xfrm>
          <a:prstGeom prst="rect">
            <a:avLst/>
          </a:prstGeom>
          <a:noFill/>
        </p:spPr>
        <p:txBody>
          <a:bodyPr wrap="square">
            <a:spAutoFit/>
          </a:bodyPr>
          <a:lstStyle/>
          <a:p>
            <a:pPr algn="l">
              <a:defRPr sz="1000" b="0">
                <a:latin typeface="Malgun Gothic"/>
              </a:defRPr>
            </a:pPr>
            <a:r>
              <a:t>3 소상공인 온라인 비즈니스 지원</a:t>
            </a:r>
            <a:br/>
            <a:r>
              <a:t>~'25: 1.0조원</a:t>
            </a:r>
            <a:br/>
            <a:r>
              <a:t>• 소상공인의 안정적인 온라인시장 진출 지원</a:t>
            </a:r>
            <a:br/>
            <a:r>
              <a:t>• 경영혁신 기반 구축 및 사업장·제조설비 등의</a:t>
            </a:r>
            <a:br/>
            <a:r>
              <a:t>스마트화 지원</a:t>
            </a:r>
          </a:p>
        </p:txBody>
      </p:sp>
      <p:sp>
        <p:nvSpPr>
          <p:cNvPr id="12" name="TextBox 11"/>
          <p:cNvSpPr txBox="1"/>
          <p:nvPr/>
        </p:nvSpPr>
        <p:spPr>
          <a:xfrm>
            <a:off x="457200" y="4983480"/>
            <a:ext cx="8229600" cy="457200"/>
          </a:xfrm>
          <a:prstGeom prst="rect">
            <a:avLst/>
          </a:prstGeom>
          <a:noFill/>
        </p:spPr>
        <p:txBody>
          <a:bodyPr wrap="square">
            <a:spAutoFit/>
          </a:bodyPr>
          <a:lstStyle/>
          <a:p>
            <a:pPr algn="l">
              <a:defRPr sz="1000" b="0">
                <a:latin typeface="Malgun Gothic"/>
              </a:defRPr>
            </a:pPr>
            <a:r>
              <a:t>공공부문의 원격근무 효율성 제고를 위해 '공공부문 표준</a:t>
            </a:r>
            <a:br/>
            <a:r>
              <a:t>원격근무 가이드라인' 제정 계획</a:t>
            </a:r>
            <a:br/>
            <a:br/>
            <a:r>
              <a:t>원격근무 가능 직무 분석, 원격근무 방식·근무시간 인정방식, 성과평가 기준 등</a:t>
            </a:r>
          </a:p>
        </p:txBody>
      </p:sp>
      <p:sp>
        <p:nvSpPr>
          <p:cNvPr id="13" name="TextBox 12"/>
          <p:cNvSpPr txBox="1"/>
          <p:nvPr/>
        </p:nvSpPr>
        <p:spPr>
          <a:xfrm>
            <a:off x="457200" y="5532120"/>
            <a:ext cx="8229600" cy="228600"/>
          </a:xfrm>
          <a:prstGeom prst="rect">
            <a:avLst/>
          </a:prstGeom>
          <a:noFill/>
        </p:spPr>
        <p:txBody>
          <a:bodyPr wrap="square">
            <a:spAutoFit/>
          </a:bodyPr>
          <a:lstStyle/>
          <a:p>
            <a:pPr algn="l">
              <a:defRPr sz="1000" b="0">
                <a:latin typeface="Malgun Gothic"/>
              </a:defRPr>
            </a:pPr>
            <a:r>
              <a:t>&lt;디지털 워크의 필요성 증대&gt;</a:t>
            </a:r>
          </a:p>
        </p:txBody>
      </p:sp>
      <p:sp>
        <p:nvSpPr>
          <p:cNvPr id="14" name="TextBox 13"/>
          <p:cNvSpPr txBox="1"/>
          <p:nvPr/>
        </p:nvSpPr>
        <p:spPr>
          <a:xfrm>
            <a:off x="457200" y="5852160"/>
            <a:ext cx="8229600" cy="457200"/>
          </a:xfrm>
          <a:prstGeom prst="rect">
            <a:avLst/>
          </a:prstGeom>
          <a:noFill/>
        </p:spPr>
        <p:txBody>
          <a:bodyPr wrap="square">
            <a:spAutoFit/>
          </a:bodyPr>
          <a:lstStyle/>
          <a:p>
            <a:pPr algn="l">
              <a:defRPr sz="1000" b="0">
                <a:latin typeface="Malgun Gothic"/>
              </a:defRPr>
            </a:pPr>
            <a:r>
              <a:t>Three circles containing the phrases "새로운 근무환경의 변화", "코로나19로 인한 업무혁신", and "오피스의 디지털 혁신/업무 방식의 변화".</a:t>
            </a:r>
          </a:p>
        </p:txBody>
      </p:sp>
      <p:sp>
        <p:nvSpPr>
          <p:cNvPr id="15" name="TextBox 14"/>
          <p:cNvSpPr txBox="1"/>
          <p:nvPr/>
        </p:nvSpPr>
        <p:spPr>
          <a:xfrm>
            <a:off x="457200" y="6400800"/>
            <a:ext cx="8229600" cy="457200"/>
          </a:xfrm>
          <a:prstGeom prst="rect">
            <a:avLst/>
          </a:prstGeom>
          <a:noFill/>
        </p:spPr>
        <p:txBody>
          <a:bodyPr wrap="square">
            <a:spAutoFit/>
          </a:bodyPr>
          <a:lstStyle/>
          <a:p>
            <a:pPr algn="l">
              <a:defRPr sz="1000" b="0">
                <a:latin typeface="Malgun Gothic"/>
              </a:defRPr>
            </a:pPr>
            <a:r>
              <a:t>✓ 코로나19의 사회적 거리두기</a:t>
            </a:r>
            <a:br/>
            <a:r>
              <a:t>확산에 따라 재택근무와</a:t>
            </a:r>
            <a:br/>
            <a:r>
              <a:t>유연근무제 도입 등 새로운</a:t>
            </a:r>
            <a:br/>
            <a:r>
              <a:t>근무환경의 변화</a:t>
            </a:r>
          </a:p>
        </p:txBody>
      </p:sp>
      <p:sp>
        <p:nvSpPr>
          <p:cNvPr id="16" name="TextBox 15"/>
          <p:cNvSpPr txBox="1"/>
          <p:nvPr/>
        </p:nvSpPr>
        <p:spPr>
          <a:xfrm>
            <a:off x="457200" y="6949440"/>
            <a:ext cx="8229600" cy="457200"/>
          </a:xfrm>
          <a:prstGeom prst="rect">
            <a:avLst/>
          </a:prstGeom>
          <a:noFill/>
        </p:spPr>
        <p:txBody>
          <a:bodyPr wrap="square">
            <a:spAutoFit/>
          </a:bodyPr>
          <a:lstStyle/>
          <a:p>
            <a:pPr algn="l">
              <a:defRPr sz="1000" b="0">
                <a:latin typeface="Malgun Gothic"/>
              </a:defRPr>
            </a:pPr>
            <a:r>
              <a:t>✓ 비대면(Untact) 형태의</a:t>
            </a:r>
            <a:br/>
            <a:r>
              <a:t>업무방식 도입을 위한</a:t>
            </a:r>
            <a:br/>
            <a:r>
              <a:t>클라우드, 협업 툴, 화상회의</a:t>
            </a:r>
            <a:br/>
            <a:r>
              <a:t>솔루션 등의 인프라 구축 확대</a:t>
            </a:r>
          </a:p>
        </p:txBody>
      </p:sp>
      <p:sp>
        <p:nvSpPr>
          <p:cNvPr id="17" name="TextBox 16"/>
          <p:cNvSpPr txBox="1"/>
          <p:nvPr/>
        </p:nvSpPr>
        <p:spPr>
          <a:xfrm>
            <a:off x="457200" y="7498080"/>
            <a:ext cx="8229600" cy="228600"/>
          </a:xfrm>
          <a:prstGeom prst="rect">
            <a:avLst/>
          </a:prstGeom>
          <a:noFill/>
        </p:spPr>
        <p:txBody>
          <a:bodyPr wrap="square">
            <a:spAutoFit/>
          </a:bodyPr>
          <a:lstStyle/>
          <a:p>
            <a:pPr algn="l">
              <a:defRPr sz="1000" b="0">
                <a:latin typeface="Malgun Gothic"/>
              </a:defRPr>
            </a:pPr>
            <a:r>
              <a:t>Key Findings</a:t>
            </a:r>
          </a:p>
        </p:txBody>
      </p:sp>
      <p:sp>
        <p:nvSpPr>
          <p:cNvPr id="18" name="TextBox 17"/>
          <p:cNvSpPr txBox="1"/>
          <p:nvPr/>
        </p:nvSpPr>
        <p:spPr>
          <a:xfrm>
            <a:off x="457200" y="7818120"/>
            <a:ext cx="8229600" cy="685800"/>
          </a:xfrm>
          <a:prstGeom prst="rect">
            <a:avLst/>
          </a:prstGeom>
          <a:noFill/>
        </p:spPr>
        <p:txBody>
          <a:bodyPr wrap="square">
            <a:spAutoFit/>
          </a:bodyPr>
          <a:lstStyle/>
          <a:p>
            <a:pPr algn="l">
              <a:defRPr sz="1000" b="0">
                <a:latin typeface="Malgun Gothic"/>
              </a:defRPr>
            </a:pPr>
            <a:r>
              <a:t>✓ 공공부문 원격근무 정착 및 효율성 제고를 위한</a:t>
            </a:r>
            <a:br/>
            <a:r>
              <a:t>원격근무 가이드라인에 따라 시설, 장비 구축 필요</a:t>
            </a:r>
            <a:br/>
            <a:r>
              <a:t>✓ 비대면·원격근무 증가에 따른 근무형태 변화 등 인력</a:t>
            </a:r>
            <a:br/>
            <a:r>
              <a:t>운영에 필요한 요인들을 사전 검토하고 준비할 시점</a:t>
            </a:r>
          </a:p>
        </p:txBody>
      </p:sp>
      <p:sp>
        <p:nvSpPr>
          <p:cNvPr id="19" name="TextBox 18"/>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*Source: 한국판 뉴딜 종합계획, 관계부처 합동, (2020.07) / 코로나19로 가속화될 디지털 워크 및 기업 대응 방안, 삼정KPMG, (2020) | Page 27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디지털 뉴딜 추진전략 분석 (4/4)</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SOC 디지털화 과제를 통해 육상 및 해상 핵심 인프라의 디지털 관리체계(디지털 트윈 활용) 구축이 진행될 계획이며, 해양환경 보전, 복원 및 방제 관리에서 디지털 트윈 활용 확대를 통한 효율적, 효과적 업무수행이 가능함</a:t>
            </a:r>
          </a:p>
        </p:txBody>
      </p:sp>
      <p:sp>
        <p:nvSpPr>
          <p:cNvPr id="4" name="TextBox 3"/>
          <p:cNvSpPr txBox="1"/>
          <p:nvPr/>
        </p:nvSpPr>
        <p:spPr>
          <a:xfrm>
            <a:off x="457200" y="1463040"/>
            <a:ext cx="4023360" cy="228600"/>
          </a:xfrm>
          <a:prstGeom prst="rect">
            <a:avLst/>
          </a:prstGeom>
          <a:noFill/>
        </p:spPr>
        <p:txBody>
          <a:bodyPr wrap="square">
            <a:spAutoFit/>
          </a:bodyPr>
          <a:lstStyle/>
          <a:p>
            <a:pPr algn="l">
              <a:defRPr sz="1000" b="0">
                <a:latin typeface="Malgun Gothic"/>
              </a:defRPr>
            </a:pPr>
            <a:r>
              <a:t>D.N.A. 생태계</a:t>
            </a:r>
            <a:br/>
            <a:r>
              <a:t>강화</a:t>
            </a:r>
          </a:p>
        </p:txBody>
      </p:sp>
      <p:sp>
        <p:nvSpPr>
          <p:cNvPr id="5" name="TextBox 4"/>
          <p:cNvSpPr txBox="1"/>
          <p:nvPr/>
        </p:nvSpPr>
        <p:spPr>
          <a:xfrm>
            <a:off x="457200" y="1783080"/>
            <a:ext cx="4023360" cy="228600"/>
          </a:xfrm>
          <a:prstGeom prst="rect">
            <a:avLst/>
          </a:prstGeom>
          <a:noFill/>
        </p:spPr>
        <p:txBody>
          <a:bodyPr wrap="square">
            <a:spAutoFit/>
          </a:bodyPr>
          <a:lstStyle/>
          <a:p>
            <a:pPr algn="l">
              <a:defRPr sz="1000" b="0">
                <a:latin typeface="Malgun Gothic"/>
              </a:defRPr>
            </a:pPr>
            <a:r>
              <a:t>교육 인프라</a:t>
            </a:r>
            <a:br/>
            <a:r>
              <a:t>디지털 전환</a:t>
            </a:r>
          </a:p>
        </p:txBody>
      </p:sp>
      <p:sp>
        <p:nvSpPr>
          <p:cNvPr id="6" name="TextBox 5"/>
          <p:cNvSpPr txBox="1"/>
          <p:nvPr/>
        </p:nvSpPr>
        <p:spPr>
          <a:xfrm>
            <a:off x="457200" y="2103120"/>
            <a:ext cx="4023360" cy="228600"/>
          </a:xfrm>
          <a:prstGeom prst="rect">
            <a:avLst/>
          </a:prstGeom>
          <a:noFill/>
        </p:spPr>
        <p:txBody>
          <a:bodyPr wrap="square">
            <a:spAutoFit/>
          </a:bodyPr>
          <a:lstStyle/>
          <a:p>
            <a:pPr algn="l">
              <a:defRPr sz="1000" b="0">
                <a:latin typeface="Malgun Gothic"/>
              </a:defRPr>
            </a:pPr>
            <a:r>
              <a:t>비대면 산업</a:t>
            </a:r>
            <a:br/>
            <a:r>
              <a:t>육성</a:t>
            </a:r>
          </a:p>
        </p:txBody>
      </p:sp>
      <p:sp>
        <p:nvSpPr>
          <p:cNvPr id="7" name="TextBox 6"/>
          <p:cNvSpPr txBox="1"/>
          <p:nvPr/>
        </p:nvSpPr>
        <p:spPr>
          <a:xfrm>
            <a:off x="457200" y="2423160"/>
            <a:ext cx="4023360" cy="228600"/>
          </a:xfrm>
          <a:prstGeom prst="rect">
            <a:avLst/>
          </a:prstGeom>
          <a:noFill/>
        </p:spPr>
        <p:txBody>
          <a:bodyPr wrap="square">
            <a:spAutoFit/>
          </a:bodyPr>
          <a:lstStyle/>
          <a:p>
            <a:pPr algn="l">
              <a:defRPr sz="1000" b="0">
                <a:latin typeface="Malgun Gothic"/>
              </a:defRPr>
            </a:pPr>
            <a:r>
              <a:t>SOC 디지털화</a:t>
            </a:r>
            <a:br/>
            <a:r>
              <a:t>~22: 4.4조 원</a:t>
            </a:r>
            <a:br/>
            <a:r>
              <a:t>~25: 10.0조 원</a:t>
            </a:r>
          </a:p>
        </p:txBody>
      </p:sp>
      <p:sp>
        <p:nvSpPr>
          <p:cNvPr id="8" name="TextBox 7"/>
          <p:cNvSpPr txBox="1"/>
          <p:nvPr/>
        </p:nvSpPr>
        <p:spPr>
          <a:xfrm>
            <a:off x="457200" y="2743200"/>
            <a:ext cx="4023360" cy="914400"/>
          </a:xfrm>
          <a:prstGeom prst="rect">
            <a:avLst/>
          </a:prstGeom>
          <a:noFill/>
        </p:spPr>
        <p:txBody>
          <a:bodyPr wrap="square">
            <a:spAutoFit/>
          </a:bodyPr>
          <a:lstStyle/>
          <a:p>
            <a:pPr algn="l">
              <a:defRPr sz="1000" b="0">
                <a:latin typeface="Malgun Gothic"/>
              </a:defRPr>
            </a:pPr>
            <a:r>
              <a:t>1 4대 분야 핵심 인프라 디지털 관리체계 구축</a:t>
            </a:r>
            <a:br/>
            <a:r>
              <a:t>~'25: 8.5조원</a:t>
            </a:r>
            <a:br/>
            <a:r>
              <a:t>• 도로·철도·항만·공항 등에 디지털 관리 체계 도입</a:t>
            </a:r>
            <a:br/>
            <a:r>
              <a:t>■ 도로·지하공간·항만 대상 디지털 트윈 구축</a:t>
            </a:r>
            <a:br/>
            <a:r>
              <a:t>• 국가하천·저수지·댐에 대한 원격제어 시스템과</a:t>
            </a:r>
            <a:br/>
            <a:r>
              <a:t>상시 모니터링 체계 구축</a:t>
            </a:r>
            <a:br/>
            <a:r>
              <a:t>• 민·관 재난관리자원의 효율적 활용을 위한</a:t>
            </a:r>
            <a:br/>
            <a:r>
              <a:t>통합관리시스템 구축</a:t>
            </a:r>
          </a:p>
        </p:txBody>
      </p:sp>
      <p:sp>
        <p:nvSpPr>
          <p:cNvPr id="9" name="TextBox 8"/>
          <p:cNvSpPr txBox="1"/>
          <p:nvPr/>
        </p:nvSpPr>
        <p:spPr>
          <a:xfrm>
            <a:off x="457200" y="3749040"/>
            <a:ext cx="4023360" cy="685800"/>
          </a:xfrm>
          <a:prstGeom prst="rect">
            <a:avLst/>
          </a:prstGeom>
          <a:noFill/>
        </p:spPr>
        <p:txBody>
          <a:bodyPr wrap="square">
            <a:spAutoFit/>
          </a:bodyPr>
          <a:lstStyle/>
          <a:p>
            <a:pPr algn="l">
              <a:defRPr sz="1000" b="0">
                <a:latin typeface="Malgun Gothic"/>
              </a:defRPr>
            </a:pPr>
            <a:r>
              <a:t>2 도시·산단의 공간 디지털 혁신</a:t>
            </a:r>
            <a:br/>
            <a:r>
              <a:t>~'25: 1.2조원</a:t>
            </a:r>
            <a:br/>
            <a:r>
              <a:t>■ 통합플랫폼 연계·구축과 스마트시티 술루션</a:t>
            </a:r>
            <a:br/>
            <a:r>
              <a:t>확산 및 시범도시 조성</a:t>
            </a:r>
            <a:br/>
            <a:r>
              <a:t>• 산단 운영 효율화와 입주기업 생산성 제고를</a:t>
            </a:r>
            <a:br/>
            <a:r>
              <a:t>위한 스마트산단 확대 구축</a:t>
            </a:r>
          </a:p>
        </p:txBody>
      </p:sp>
      <p:sp>
        <p:nvSpPr>
          <p:cNvPr id="10" name="TextBox 9"/>
          <p:cNvSpPr txBox="1"/>
          <p:nvPr/>
        </p:nvSpPr>
        <p:spPr>
          <a:xfrm>
            <a:off x="457200" y="4526280"/>
            <a:ext cx="4023360" cy="685800"/>
          </a:xfrm>
          <a:prstGeom prst="rect">
            <a:avLst/>
          </a:prstGeom>
          <a:noFill/>
        </p:spPr>
        <p:txBody>
          <a:bodyPr wrap="square">
            <a:spAutoFit/>
          </a:bodyPr>
          <a:lstStyle/>
          <a:p>
            <a:pPr algn="l">
              <a:defRPr sz="1000" b="0">
                <a:latin typeface="Malgun Gothic"/>
              </a:defRPr>
            </a:pPr>
            <a:r>
              <a:t>3 스마트 물류체계 구축</a:t>
            </a:r>
            <a:br/>
            <a:r>
              <a:t>~'25: 0.3조원</a:t>
            </a:r>
            <a:br/>
            <a:r>
              <a:t>• 수도권·교통 중심지에 스마트 물류단지·센터</a:t>
            </a:r>
            <a:br/>
            <a:r>
              <a:t>확충 지원</a:t>
            </a:r>
            <a:br/>
            <a:r>
              <a:t>• 항만 물류 인프라 디지털화</a:t>
            </a:r>
            <a:br/>
            <a:r>
              <a:t>• 농·축산물 온라인·비대면 유통 플랫폼 지원</a:t>
            </a:r>
          </a:p>
        </p:txBody>
      </p:sp>
      <p:sp>
        <p:nvSpPr>
          <p:cNvPr id="11" name="TextBox 10"/>
          <p:cNvSpPr txBox="1"/>
          <p:nvPr/>
        </p:nvSpPr>
        <p:spPr>
          <a:xfrm>
            <a:off x="4663440" y="1463040"/>
            <a:ext cx="4023360" cy="228600"/>
          </a:xfrm>
          <a:prstGeom prst="rect">
            <a:avLst/>
          </a:prstGeom>
          <a:noFill/>
        </p:spPr>
        <p:txBody>
          <a:bodyPr wrap="square">
            <a:spAutoFit/>
          </a:bodyPr>
          <a:lstStyle/>
          <a:p>
            <a:pPr algn="l">
              <a:defRPr sz="1000" b="0">
                <a:latin typeface="Malgun Gothic"/>
              </a:defRPr>
            </a:pPr>
            <a:r>
              <a:t>디지털 트윈 활용 (예시)</a:t>
            </a:r>
          </a:p>
        </p:txBody>
      </p:sp>
      <p:sp>
        <p:nvSpPr>
          <p:cNvPr id="12" name="TextBox 11"/>
          <p:cNvSpPr txBox="1"/>
          <p:nvPr/>
        </p:nvSpPr>
        <p:spPr>
          <a:xfrm>
            <a:off x="4663440" y="1783080"/>
            <a:ext cx="4023360" cy="914400"/>
          </a:xfrm>
          <a:prstGeom prst="rect">
            <a:avLst/>
          </a:prstGeom>
          <a:noFill/>
        </p:spPr>
        <p:txBody>
          <a:bodyPr wrap="square">
            <a:spAutoFit/>
          </a:bodyPr>
          <a:lstStyle/>
          <a:p>
            <a:pPr algn="l">
              <a:defRPr sz="1000" b="0">
                <a:latin typeface="Malgun Gothic"/>
              </a:defRPr>
            </a:pPr>
            <a:r>
              <a:t>Diagram of digital twin use cases including smart city, drone, big data, augmented reality, autonomous vehicles, intelligent robots, space information, administrative/private information.</a:t>
            </a:r>
          </a:p>
        </p:txBody>
      </p:sp>
      <p:sp>
        <p:nvSpPr>
          <p:cNvPr id="13" name="TextBox 12"/>
          <p:cNvSpPr txBox="1"/>
          <p:nvPr/>
        </p:nvSpPr>
        <p:spPr>
          <a:xfrm>
            <a:off x="4663440" y="2788920"/>
            <a:ext cx="4023360" cy="228600"/>
          </a:xfrm>
          <a:prstGeom prst="rect">
            <a:avLst/>
          </a:prstGeom>
          <a:noFill/>
        </p:spPr>
        <p:txBody>
          <a:bodyPr wrap="square">
            <a:spAutoFit/>
          </a:bodyPr>
          <a:lstStyle/>
          <a:p>
            <a:pPr algn="l">
              <a:defRPr sz="1000" b="0">
                <a:latin typeface="Malgun Gothic"/>
              </a:defRPr>
            </a:pPr>
            <a:r>
              <a:t>Key Findings</a:t>
            </a:r>
          </a:p>
        </p:txBody>
      </p:sp>
      <p:sp>
        <p:nvSpPr>
          <p:cNvPr id="14" name="TextBox 13"/>
          <p:cNvSpPr txBox="1"/>
          <p:nvPr/>
        </p:nvSpPr>
        <p:spPr>
          <a:xfrm>
            <a:off x="4663440" y="3108960"/>
            <a:ext cx="4023360" cy="914400"/>
          </a:xfrm>
          <a:prstGeom prst="rect">
            <a:avLst/>
          </a:prstGeom>
          <a:noFill/>
        </p:spPr>
        <p:txBody>
          <a:bodyPr wrap="square">
            <a:spAutoFit/>
          </a:bodyPr>
          <a:lstStyle/>
          <a:p>
            <a:pPr algn="l">
              <a:defRPr sz="1000" b="0">
                <a:latin typeface="Malgun Gothic"/>
              </a:defRPr>
            </a:pPr>
            <a:r>
              <a:t>✓ 항만 물류 자동화를 위한 테스트베드(4선석) 구축,</a:t>
            </a:r>
            <a:br/>
            <a:r>
              <a:t>지하시설물 실시간 모니터링 등 디지털관리체계</a:t>
            </a:r>
            <a:br/>
            <a:r>
              <a:t>구축(29개 무역항) 등 해양부문 SOC 디지털화</a:t>
            </a:r>
            <a:br/>
            <a:r>
              <a:t>✓ 해양오염사고 방제 시뮬레이션, 해양환경 복원 및</a:t>
            </a:r>
            <a:br/>
            <a:r>
              <a:t>오염정화 계획 수립 등 해양환경 관련 디지털 트윈</a:t>
            </a:r>
            <a:br/>
            <a:r>
              <a:t>활용 확대를 통한 효율적, 효과적 업무수행 가능</a:t>
            </a:r>
          </a:p>
        </p:txBody>
      </p:sp>
      <p:sp>
        <p:nvSpPr>
          <p:cNvPr id="15" name="TextBox 14"/>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*Source: 한국판 뉴딜 종합계획, 관계부처 합동 (2020.07) | Page 28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그린 뉴딜 추진전략 분석 (1/3)</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그린뉴딜 도시·공간·생활 인프라 녹색전환은 녹색복원사업, 해양환경정비 등 공단의 직접수행 사업이 추진과제로 포함되어 있으며, 갯벌복원, 해양쓰레기 정화 등 핵심사업을 중심으로 규모를 키우고 확장할 수 있을 것으로 기대됨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그린 뉴딜 추진전략 ① 도시·공간·생활 인프라 녹색 전환</a:t>
            </a:r>
          </a:p>
        </p:txBody>
      </p:sp>
      <p:sp>
        <p:nvSpPr>
          <p:cNvPr id="5" name="TextBox 4"/>
          <p:cNvSpPr txBox="1"/>
          <p:nvPr/>
        </p:nvSpPr>
        <p:spPr>
          <a:xfrm>
            <a:off x="457200" y="1828800"/>
            <a:ext cx="8229600" cy="457200"/>
          </a:xfrm>
          <a:prstGeom prst="rect">
            <a:avLst/>
          </a:prstGeom>
          <a:noFill/>
        </p:spPr>
        <p:txBody>
          <a:bodyPr wrap="square">
            <a:spAutoFit/>
          </a:bodyPr>
          <a:lstStyle/>
          <a:p>
            <a:pPr algn="l">
              <a:defRPr sz="1000" b="0">
                <a:latin typeface="Malgun Gothic"/>
              </a:defRPr>
            </a:pPr>
            <a:r>
              <a:t>1 국민생활과 밀접한 공공시설 제로에너지화</a:t>
            </a:r>
            <a:br/>
            <a:r>
              <a:t>~'25: 6.2조원</a:t>
            </a:r>
            <a:br/>
            <a:r>
              <a:t>• 공공부문 건물에 제로에너지화 추진</a:t>
            </a:r>
            <a:br/>
            <a:r>
              <a:t>• 친환경·디지털 교육 환경 조성을 위해 교실 속 그린+스마트 융합 추진</a:t>
            </a:r>
          </a:p>
        </p:txBody>
      </p:sp>
      <p:sp>
        <p:nvSpPr>
          <p:cNvPr id="6" name="TextBox 5"/>
          <p:cNvSpPr txBox="1"/>
          <p:nvPr/>
        </p:nvSpPr>
        <p:spPr>
          <a:xfrm>
            <a:off x="457200" y="2377440"/>
            <a:ext cx="8229600" cy="685800"/>
          </a:xfrm>
          <a:prstGeom prst="rect">
            <a:avLst/>
          </a:prstGeom>
          <a:noFill/>
        </p:spPr>
        <p:txBody>
          <a:bodyPr wrap="square">
            <a:spAutoFit/>
          </a:bodyPr>
          <a:lstStyle/>
          <a:p>
            <a:pPr algn="l">
              <a:defRPr sz="1000" b="0">
                <a:latin typeface="Malgun Gothic"/>
              </a:defRPr>
            </a:pPr>
            <a:r>
              <a:t>녹색 복원 사업</a:t>
            </a:r>
            <a:br/>
            <a:r>
              <a:t>• 해양생태계 기능 및 버려진 염전·양식장 등의 경제적 가치 회복을 위해 갯벌 4.5m²복원</a:t>
            </a:r>
            <a:br/>
            <a:r>
              <a:t>• 갯벌이 훼손된 지역에 해수소통 및 물길회복을 통하여 갯벌을 복원하고 해양생태계 기능 개선과 지역경제 활성화 기대</a:t>
            </a:r>
          </a:p>
        </p:txBody>
      </p:sp>
      <p:sp>
        <p:nvSpPr>
          <p:cNvPr id="7" name="TextBox 6"/>
          <p:cNvSpPr txBox="1"/>
          <p:nvPr/>
        </p:nvSpPr>
        <p:spPr>
          <a:xfrm>
            <a:off x="457200" y="3154680"/>
            <a:ext cx="8229600" cy="685800"/>
          </a:xfrm>
          <a:prstGeom prst="rect">
            <a:avLst/>
          </a:prstGeom>
          <a:noFill/>
        </p:spPr>
        <p:txBody>
          <a:bodyPr wrap="square">
            <a:spAutoFit/>
          </a:bodyPr>
          <a:lstStyle/>
          <a:p>
            <a:pPr algn="l">
              <a:defRPr sz="1000" b="0">
                <a:latin typeface="Malgun Gothic"/>
              </a:defRPr>
            </a:pPr>
            <a:r>
              <a:t>2 국토·해양·도시의 녹색 생태계 회복</a:t>
            </a:r>
            <a:br/>
            <a:r>
              <a:t>~25: 2.5조원</a:t>
            </a:r>
            <a:br/>
            <a:r>
              <a:t>■ 환경·ICT 기술 기반 맞춤형 환경개선 지원</a:t>
            </a:r>
            <a:br/>
            <a:r>
              <a:t>• 도심 내 녹지 조성</a:t>
            </a:r>
            <a:br/>
            <a:r>
              <a:t>• 식생·토양의 자연성 보전 및 야생 동·식물 서식지 보존</a:t>
            </a:r>
            <a:br/>
            <a:r>
              <a:t>■ 해양의 자연적 기능 회복 및 해양 생물의 서식지 보존</a:t>
            </a:r>
          </a:p>
        </p:txBody>
      </p:sp>
      <p:sp>
        <p:nvSpPr>
          <p:cNvPr id="8" name="TextBox 7"/>
          <p:cNvSpPr txBox="1"/>
          <p:nvPr/>
        </p:nvSpPr>
        <p:spPr>
          <a:xfrm>
            <a:off x="457200" y="3931920"/>
            <a:ext cx="8229600" cy="685800"/>
          </a:xfrm>
          <a:prstGeom prst="rect">
            <a:avLst/>
          </a:prstGeom>
          <a:noFill/>
        </p:spPr>
        <p:txBody>
          <a:bodyPr wrap="square">
            <a:spAutoFit/>
          </a:bodyPr>
          <a:lstStyle/>
          <a:p>
            <a:pPr algn="l">
              <a:defRPr sz="1000" b="0">
                <a:latin typeface="Malgun Gothic"/>
              </a:defRPr>
            </a:pPr>
            <a:r>
              <a:t>해양환경 정비</a:t>
            </a:r>
            <a:br/>
            <a:r>
              <a:t>• 해양플라스틱 쓰레기 저감을 위해 침적 쓰레기 수거 (연간 6,000톤) 및 친환경 부표 100% 전환 ('25년까지 5,500만개)</a:t>
            </a:r>
            <a:br/>
            <a:r>
              <a:t>연안 침적쓰레기</a:t>
            </a:r>
            <a:br/>
            <a:r>
              <a:t>수량 조사, 분석 측정, 분석 기술</a:t>
            </a:r>
            <a:br/>
            <a:r>
              <a:t>해양폐기물 조사, 미세플라스틱</a:t>
            </a:r>
            <a:br/>
            <a:r>
              <a:t>정화 국제협력 연구, 인식개선</a:t>
            </a:r>
          </a:p>
        </p:txBody>
      </p:sp>
      <p:sp>
        <p:nvSpPr>
          <p:cNvPr id="9" name="TextBox 8"/>
          <p:cNvSpPr txBox="1"/>
          <p:nvPr/>
        </p:nvSpPr>
        <p:spPr>
          <a:xfrm>
            <a:off x="457200" y="4709160"/>
            <a:ext cx="8229600" cy="685800"/>
          </a:xfrm>
          <a:prstGeom prst="rect">
            <a:avLst/>
          </a:prstGeom>
          <a:noFill/>
        </p:spPr>
        <p:txBody>
          <a:bodyPr wrap="square">
            <a:spAutoFit/>
          </a:bodyPr>
          <a:lstStyle/>
          <a:p>
            <a:pPr algn="l">
              <a:defRPr sz="1000" b="0">
                <a:latin typeface="Malgun Gothic"/>
              </a:defRPr>
            </a:pPr>
            <a:r>
              <a:t>3 깨끗하고 안전한 물 관리 체계 구축</a:t>
            </a:r>
            <a:br/>
            <a:r>
              <a:t>~'25: 3.4조원</a:t>
            </a:r>
            <a:br/>
            <a:r>
              <a:t>• 상하수도 全과정 통합관리를 위한 ICT·AI기반 관리체계 마련</a:t>
            </a:r>
            <a:br/>
            <a:r>
              <a:t>• 상수도 안전 관리를 위한 시설 고도화</a:t>
            </a:r>
            <a:br/>
            <a:r>
              <a:t>• 깨끗한 물의 공급을 위한 감시·측정시스템 구축</a:t>
            </a:r>
            <a:br/>
            <a:r>
              <a:t>• AI 기반 기후변화 대응체계 구축</a:t>
            </a:r>
          </a:p>
        </p:txBody>
      </p:sp>
      <p:sp>
        <p:nvSpPr>
          <p:cNvPr id="10" name="TextBox 9"/>
          <p:cNvSpPr txBox="1"/>
          <p:nvPr/>
        </p:nvSpPr>
        <p:spPr>
          <a:xfrm>
            <a:off x="457200" y="5486400"/>
            <a:ext cx="8229600" cy="685800"/>
          </a:xfrm>
          <a:prstGeom prst="rect">
            <a:avLst/>
          </a:prstGeom>
          <a:noFill/>
        </p:spPr>
        <p:txBody>
          <a:bodyPr wrap="square">
            <a:spAutoFit/>
          </a:bodyPr>
          <a:lstStyle/>
          <a:p>
            <a:pPr algn="l">
              <a:defRPr sz="1000" b="0">
                <a:latin typeface="Malgun Gothic"/>
              </a:defRPr>
            </a:pPr>
            <a:r>
              <a:t>✓ 그린뉴딜 도시·공간·생활 인프라 녹색전환 과제에는 공단의 수행사업인 녹색복원, 해양쓰레기 정화 사업이 포함되어 있음</a:t>
            </a:r>
            <a:br/>
            <a:r>
              <a:t>✓ 갯벌복원, 해양쓰레기 정화 등 핵심사업을 연안 종합 복원 등 규모를 키워 확장할 수 있을 것으로 기대됨</a:t>
            </a:r>
          </a:p>
        </p:txBody>
      </p:sp>
      <p:sp>
        <p:nvSpPr>
          <p:cNvPr id="11" name="TextBox 10"/>
          <p:cNvSpPr txBox="1"/>
          <p:nvPr/>
        </p:nvSpPr>
        <p:spPr>
          <a:xfrm>
            <a:off x="457200" y="6263640"/>
            <a:ext cx="8229600" cy="228600"/>
          </a:xfrm>
          <a:prstGeom prst="rect">
            <a:avLst/>
          </a:prstGeom>
          <a:noFill/>
        </p:spPr>
        <p:txBody>
          <a:bodyPr wrap="square">
            <a:spAutoFit/>
          </a:bodyPr>
          <a:lstStyle/>
          <a:p>
            <a:pPr algn="l">
              <a:defRPr sz="1000" b="0">
                <a:latin typeface="Malgun Gothic"/>
              </a:defRPr>
            </a:pPr>
            <a:r>
              <a:t>도시·공간·생활</a:t>
            </a:r>
            <a:br/>
            <a:r>
              <a:t>인프라 녹색전환</a:t>
            </a:r>
            <a:br/>
            <a:r>
              <a:t>~'22: 6.1조 원</a:t>
            </a:r>
            <a:br/>
            <a:r>
              <a:t>~25: 12.1조 원</a:t>
            </a:r>
          </a:p>
        </p:txBody>
      </p:sp>
      <p:sp>
        <p:nvSpPr>
          <p:cNvPr id="12" name="TextBox 11"/>
          <p:cNvSpPr txBox="1"/>
          <p:nvPr/>
        </p:nvSpPr>
        <p:spPr>
          <a:xfrm>
            <a:off x="457200" y="6583680"/>
            <a:ext cx="8229600" cy="228600"/>
          </a:xfrm>
          <a:prstGeom prst="rect">
            <a:avLst/>
          </a:prstGeom>
          <a:noFill/>
        </p:spPr>
        <p:txBody>
          <a:bodyPr wrap="square">
            <a:spAutoFit/>
          </a:bodyPr>
          <a:lstStyle/>
          <a:p>
            <a:pPr algn="l">
              <a:defRPr sz="1000" b="0">
                <a:latin typeface="Malgun Gothic"/>
              </a:defRPr>
            </a:pPr>
            <a:r>
              <a:t>녹색산업</a:t>
            </a:r>
            <a:br/>
            <a:r>
              <a:t>혁신생태계 조성</a:t>
            </a:r>
          </a:p>
        </p:txBody>
      </p:sp>
      <p:sp>
        <p:nvSpPr>
          <p:cNvPr id="13" name="TextBox 12"/>
          <p:cNvSpPr txBox="1"/>
          <p:nvPr/>
        </p:nvSpPr>
        <p:spPr>
          <a:xfrm>
            <a:off x="457200" y="6903720"/>
            <a:ext cx="8229600" cy="228600"/>
          </a:xfrm>
          <a:prstGeom prst="rect">
            <a:avLst/>
          </a:prstGeom>
          <a:noFill/>
        </p:spPr>
        <p:txBody>
          <a:bodyPr wrap="square">
            <a:spAutoFit/>
          </a:bodyPr>
          <a:lstStyle/>
          <a:p>
            <a:pPr algn="l">
              <a:defRPr sz="1000" b="0">
                <a:latin typeface="Malgun Gothic"/>
              </a:defRPr>
            </a:pPr>
            <a:r>
              <a:t>저탄소 분산형</a:t>
            </a:r>
            <a:br/>
            <a:r>
              <a:t>에너지 확산</a:t>
            </a:r>
          </a:p>
        </p:txBody>
      </p:sp>
      <p:sp>
        <p:nvSpPr>
          <p:cNvPr id="14" name="TextBox 13"/>
          <p:cNvSpPr txBox="1"/>
          <p:nvPr/>
        </p:nvSpPr>
        <p:spPr>
          <a:xfrm>
            <a:off x="457200" y="7223760"/>
            <a:ext cx="8229600" cy="228600"/>
          </a:xfrm>
          <a:prstGeom prst="rect">
            <a:avLst/>
          </a:prstGeom>
          <a:noFill/>
        </p:spPr>
        <p:txBody>
          <a:bodyPr wrap="square">
            <a:spAutoFit/>
          </a:bodyPr>
          <a:lstStyle/>
          <a:p>
            <a:pPr algn="l">
              <a:defRPr sz="1000" b="0">
                <a:latin typeface="Malgun Gothic"/>
              </a:defRPr>
            </a:pPr>
            <a:r>
              <a:t>녹색복원사업-</a:t>
            </a:r>
            <a:br/>
            <a:r>
              <a:t>생태 관광 연계</a:t>
            </a:r>
          </a:p>
        </p:txBody>
      </p:sp>
      <p:sp>
        <p:nvSpPr>
          <p:cNvPr id="15" name="TextBox 14"/>
          <p:cNvSpPr txBox="1"/>
          <p:nvPr/>
        </p:nvSpPr>
        <p:spPr>
          <a:xfrm>
            <a:off x="457200" y="7543800"/>
            <a:ext cx="8229600" cy="228600"/>
          </a:xfrm>
          <a:prstGeom prst="rect">
            <a:avLst/>
          </a:prstGeom>
          <a:noFill/>
        </p:spPr>
        <p:txBody>
          <a:bodyPr wrap="square">
            <a:spAutoFit/>
          </a:bodyPr>
          <a:lstStyle/>
          <a:p>
            <a:pPr algn="l">
              <a:defRPr sz="1000" b="0">
                <a:latin typeface="Malgun Gothic"/>
              </a:defRPr>
            </a:pPr>
            <a:r>
              <a:t>해양보호구역</a:t>
            </a:r>
            <a:br/>
            <a:r>
              <a:t>확대 지정</a:t>
            </a:r>
          </a:p>
        </p:txBody>
      </p:sp>
      <p:sp>
        <p:nvSpPr>
          <p:cNvPr id="16" name="TextBox 15"/>
          <p:cNvSpPr txBox="1"/>
          <p:nvPr/>
        </p:nvSpPr>
        <p:spPr>
          <a:xfrm>
            <a:off x="457200" y="7863840"/>
            <a:ext cx="8229600" cy="228600"/>
          </a:xfrm>
          <a:prstGeom prst="rect">
            <a:avLst/>
          </a:prstGeom>
          <a:noFill/>
        </p:spPr>
        <p:txBody>
          <a:bodyPr wrap="square">
            <a:spAutoFit/>
          </a:bodyPr>
          <a:lstStyle/>
          <a:p>
            <a:pPr algn="l">
              <a:defRPr sz="1000" b="0">
                <a:latin typeface="Malgun Gothic"/>
              </a:defRPr>
            </a:pPr>
            <a:r>
              <a:t>해양생물다양성</a:t>
            </a:r>
            <a:br/>
            <a:r>
              <a:t>회복, 관리</a:t>
            </a:r>
          </a:p>
        </p:txBody>
      </p:sp>
      <p:sp>
        <p:nvSpPr>
          <p:cNvPr id="17" name="TextBox 16"/>
          <p:cNvSpPr txBox="1"/>
          <p:nvPr/>
        </p:nvSpPr>
        <p:spPr>
          <a:xfrm>
            <a:off x="457200" y="8183880"/>
            <a:ext cx="8229600" cy="228600"/>
          </a:xfrm>
          <a:prstGeom prst="rect">
            <a:avLst/>
          </a:prstGeom>
          <a:noFill/>
        </p:spPr>
        <p:txBody>
          <a:bodyPr wrap="square">
            <a:spAutoFit/>
          </a:bodyPr>
          <a:lstStyle/>
          <a:p>
            <a:pPr algn="l">
              <a:defRPr sz="1000" b="0">
                <a:latin typeface="Malgun Gothic"/>
              </a:defRPr>
            </a:pPr>
            <a:r>
              <a:t>해조류 활용</a:t>
            </a:r>
            <a:br/>
            <a:r>
              <a:t>블루카본 연구</a:t>
            </a:r>
          </a:p>
        </p:txBody>
      </p:sp>
      <p:sp>
        <p:nvSpPr>
          <p:cNvPr id="18" name="TextBox 17"/>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29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그린 뉴딜 추진전략 분석 (2/3)</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녹색산업 혁신생태계 조성 부문에서는 해상풍력발전의 실증과 지원이 포함되어 있으며, 공단은 해양 신재생에너지 기반 조성과 관리를 주관하는 기관으로 역할을 수행할 수 있으며, 적극적 사업 추진이 요구되고 있음</a:t>
            </a:r>
          </a:p>
        </p:txBody>
      </p:sp>
      <p:sp>
        <p:nvSpPr>
          <p:cNvPr id="4" name="TextBox 3"/>
          <p:cNvSpPr txBox="1"/>
          <p:nvPr/>
        </p:nvSpPr>
        <p:spPr>
          <a:xfrm>
            <a:off x="457200" y="1463040"/>
            <a:ext cx="8229600" cy="228600"/>
          </a:xfrm>
          <a:prstGeom prst="rect">
            <a:avLst/>
          </a:prstGeom>
          <a:noFill/>
        </p:spPr>
        <p:txBody>
          <a:bodyPr wrap="square">
            <a:spAutoFit/>
          </a:bodyPr>
          <a:lstStyle/>
          <a:p>
            <a:pPr algn="l">
              <a:defRPr sz="1000" b="0">
                <a:latin typeface="Malgun Gothic"/>
              </a:defRPr>
            </a:pPr>
            <a:r>
              <a:t>도시·공간·생활</a:t>
            </a:r>
            <a:br/>
            <a:r>
              <a:t>인프라 녹색전환</a:t>
            </a:r>
          </a:p>
        </p:txBody>
      </p:sp>
      <p:sp>
        <p:nvSpPr>
          <p:cNvPr id="5" name="TextBox 4"/>
          <p:cNvSpPr txBox="1"/>
          <p:nvPr/>
        </p:nvSpPr>
        <p:spPr>
          <a:xfrm>
            <a:off x="457200" y="1783080"/>
            <a:ext cx="8229600" cy="228600"/>
          </a:xfrm>
          <a:prstGeom prst="rect">
            <a:avLst/>
          </a:prstGeom>
          <a:noFill/>
        </p:spPr>
        <p:txBody>
          <a:bodyPr wrap="square">
            <a:spAutoFit/>
          </a:bodyPr>
          <a:lstStyle/>
          <a:p>
            <a:pPr algn="l">
              <a:defRPr sz="1000" b="0">
                <a:latin typeface="Malgun Gothic"/>
              </a:defRPr>
            </a:pPr>
            <a:r>
              <a:t>녹색산업</a:t>
            </a:r>
            <a:br/>
            <a:r>
              <a:t>혁신생태계 조성</a:t>
            </a:r>
            <a:br/>
            <a:r>
              <a:t>~22: 10.3조 원</a:t>
            </a:r>
            <a:br/>
            <a:r>
              <a:t>~25: 24.3조 원</a:t>
            </a:r>
          </a:p>
        </p:txBody>
      </p:sp>
      <p:sp>
        <p:nvSpPr>
          <p:cNvPr id="6" name="TextBox 5"/>
          <p:cNvSpPr txBox="1"/>
          <p:nvPr/>
        </p:nvSpPr>
        <p:spPr>
          <a:xfrm>
            <a:off x="457200" y="2103120"/>
            <a:ext cx="8229600" cy="228600"/>
          </a:xfrm>
          <a:prstGeom prst="rect">
            <a:avLst/>
          </a:prstGeom>
          <a:noFill/>
        </p:spPr>
        <p:txBody>
          <a:bodyPr wrap="square">
            <a:spAutoFit/>
          </a:bodyPr>
          <a:lstStyle/>
          <a:p>
            <a:pPr algn="l">
              <a:defRPr sz="1000" b="0">
                <a:latin typeface="Malgun Gothic"/>
              </a:defRPr>
            </a:pPr>
            <a:r>
              <a:t>그린 뉴딜 추진전략 ② 녹색산업 혁신생태계 조성</a:t>
            </a:r>
          </a:p>
        </p:txBody>
      </p:sp>
      <p:sp>
        <p:nvSpPr>
          <p:cNvPr id="7" name="TextBox 6"/>
          <p:cNvSpPr txBox="1"/>
          <p:nvPr/>
        </p:nvSpPr>
        <p:spPr>
          <a:xfrm>
            <a:off x="457200" y="2423160"/>
            <a:ext cx="8229600" cy="228600"/>
          </a:xfrm>
          <a:prstGeom prst="rect">
            <a:avLst/>
          </a:prstGeom>
          <a:noFill/>
        </p:spPr>
        <p:txBody>
          <a:bodyPr wrap="square">
            <a:spAutoFit/>
          </a:bodyPr>
          <a:lstStyle/>
          <a:p>
            <a:pPr algn="l">
              <a:defRPr sz="1000" b="0">
                <a:latin typeface="Malgun Gothic"/>
              </a:defRPr>
            </a:pPr>
            <a:r>
              <a:t>1 에너지관리 효율화 지능형 스마트 그리드 구축</a:t>
            </a:r>
            <a:br/>
            <a:r>
              <a:t>~'25: 2.0조원</a:t>
            </a:r>
          </a:p>
        </p:txBody>
      </p:sp>
      <p:sp>
        <p:nvSpPr>
          <p:cNvPr id="8" name="TextBox 7"/>
          <p:cNvSpPr txBox="1"/>
          <p:nvPr/>
        </p:nvSpPr>
        <p:spPr>
          <a:xfrm>
            <a:off x="457200" y="2743200"/>
            <a:ext cx="8229600" cy="228600"/>
          </a:xfrm>
          <a:prstGeom prst="rect">
            <a:avLst/>
          </a:prstGeom>
          <a:noFill/>
        </p:spPr>
        <p:txBody>
          <a:bodyPr wrap="square">
            <a:spAutoFit/>
          </a:bodyPr>
          <a:lstStyle/>
          <a:p>
            <a:pPr algn="l">
              <a:defRPr sz="1000" b="0">
                <a:latin typeface="Malgun Gothic"/>
              </a:defRPr>
            </a:pPr>
            <a:r>
              <a:t>■ 소비자 중심의 스마트 전력망 및 통합관제</a:t>
            </a:r>
            <a:br/>
            <a:r>
              <a:t>시스템 구축</a:t>
            </a:r>
            <a:br/>
            <a:r>
              <a:t>• 건물에너지 진단 DB 구축</a:t>
            </a:r>
          </a:p>
        </p:txBody>
      </p:sp>
      <p:sp>
        <p:nvSpPr>
          <p:cNvPr id="9" name="TextBox 8"/>
          <p:cNvSpPr txBox="1"/>
          <p:nvPr/>
        </p:nvSpPr>
        <p:spPr>
          <a:xfrm>
            <a:off x="457200" y="3063240"/>
            <a:ext cx="8229600" cy="228600"/>
          </a:xfrm>
          <a:prstGeom prst="rect">
            <a:avLst/>
          </a:prstGeom>
          <a:noFill/>
        </p:spPr>
        <p:txBody>
          <a:bodyPr wrap="square">
            <a:spAutoFit/>
          </a:bodyPr>
          <a:lstStyle/>
          <a:p>
            <a:pPr algn="l">
              <a:defRPr sz="1000" b="0">
                <a:latin typeface="Malgun Gothic"/>
              </a:defRPr>
            </a:pPr>
            <a:r>
              <a:t>2 신재생에너지 확산 기반 구축 및 공정한 전환 지원</a:t>
            </a:r>
            <a:br/>
            <a:r>
              <a:t>~'25: 9.2조원</a:t>
            </a:r>
          </a:p>
        </p:txBody>
      </p:sp>
      <p:sp>
        <p:nvSpPr>
          <p:cNvPr id="10" name="TextBox 9"/>
          <p:cNvSpPr txBox="1"/>
          <p:nvPr/>
        </p:nvSpPr>
        <p:spPr>
          <a:xfrm>
            <a:off x="457200" y="3383280"/>
            <a:ext cx="8229600" cy="685800"/>
          </a:xfrm>
          <a:prstGeom prst="rect">
            <a:avLst/>
          </a:prstGeom>
          <a:noFill/>
        </p:spPr>
        <p:txBody>
          <a:bodyPr wrap="square">
            <a:spAutoFit/>
          </a:bodyPr>
          <a:lstStyle/>
          <a:p>
            <a:pPr algn="l">
              <a:defRPr sz="1000" b="0">
                <a:latin typeface="Malgun Gothic"/>
              </a:defRPr>
            </a:pPr>
            <a:r>
              <a:t>■ 신재생에너지 보급 확대 및 산업 생태계</a:t>
            </a:r>
            <a:br/>
            <a:r>
              <a:t>육성을 위한 연구 인프라 구축</a:t>
            </a:r>
            <a:br/>
            <a:r>
              <a:t>• 융자·보급 지원 등을 통해 신재생에너지 설비</a:t>
            </a:r>
            <a:br/>
            <a:r>
              <a:t>보급 확대</a:t>
            </a:r>
            <a:br/>
            <a:r>
              <a:t>• 사업축소가 예상되는 위기지역 대상</a:t>
            </a:r>
            <a:br/>
            <a:r>
              <a:t>신재생에너지 업종전환 지원</a:t>
            </a:r>
          </a:p>
        </p:txBody>
      </p:sp>
      <p:sp>
        <p:nvSpPr>
          <p:cNvPr id="11" name="TextBox 10"/>
          <p:cNvSpPr txBox="1"/>
          <p:nvPr/>
        </p:nvSpPr>
        <p:spPr>
          <a:xfrm>
            <a:off x="457200" y="4160520"/>
            <a:ext cx="8229600" cy="228600"/>
          </a:xfrm>
          <a:prstGeom prst="rect">
            <a:avLst/>
          </a:prstGeom>
          <a:noFill/>
        </p:spPr>
        <p:txBody>
          <a:bodyPr wrap="square">
            <a:spAutoFit/>
          </a:bodyPr>
          <a:lstStyle/>
          <a:p>
            <a:pPr algn="l">
              <a:defRPr sz="1000" b="0">
                <a:latin typeface="Malgun Gothic"/>
              </a:defRPr>
            </a:pPr>
            <a:r>
              <a:t>해상풍력 실증단지</a:t>
            </a:r>
            <a:br/>
            <a:r>
              <a:t>조성 및 실증 전 예비</a:t>
            </a:r>
            <a:br/>
            <a:r>
              <a:t>타당성 검토</a:t>
            </a:r>
          </a:p>
        </p:txBody>
      </p:sp>
      <p:sp>
        <p:nvSpPr>
          <p:cNvPr id="12" name="TextBox 11"/>
          <p:cNvSpPr txBox="1"/>
          <p:nvPr/>
        </p:nvSpPr>
        <p:spPr>
          <a:xfrm>
            <a:off x="457200" y="4480560"/>
            <a:ext cx="8229600" cy="228600"/>
          </a:xfrm>
          <a:prstGeom prst="rect">
            <a:avLst/>
          </a:prstGeom>
          <a:noFill/>
        </p:spPr>
        <p:txBody>
          <a:bodyPr wrap="square">
            <a:spAutoFit/>
          </a:bodyPr>
          <a:lstStyle/>
          <a:p>
            <a:pPr algn="l">
              <a:defRPr sz="1000" b="0">
                <a:latin typeface="Malgun Gothic"/>
              </a:defRPr>
            </a:pPr>
            <a:r>
              <a:t>해상풍력 후보지</a:t>
            </a:r>
            <a:br/>
            <a:r>
              <a:t>어민, 지자체</a:t>
            </a:r>
            <a:br/>
            <a:r>
              <a:t>협력관계 구축</a:t>
            </a:r>
          </a:p>
        </p:txBody>
      </p:sp>
      <p:sp>
        <p:nvSpPr>
          <p:cNvPr id="13" name="TextBox 12"/>
          <p:cNvSpPr txBox="1"/>
          <p:nvPr/>
        </p:nvSpPr>
        <p:spPr>
          <a:xfrm>
            <a:off x="457200" y="4800600"/>
            <a:ext cx="8229600" cy="228600"/>
          </a:xfrm>
          <a:prstGeom prst="rect">
            <a:avLst/>
          </a:prstGeom>
          <a:noFill/>
        </p:spPr>
        <p:txBody>
          <a:bodyPr wrap="square">
            <a:spAutoFit/>
          </a:bodyPr>
          <a:lstStyle/>
          <a:p>
            <a:pPr algn="l">
              <a:defRPr sz="1000" b="0">
                <a:latin typeface="Malgun Gothic"/>
              </a:defRPr>
            </a:pPr>
            <a:r>
              <a:t>해상풍력단지의</a:t>
            </a:r>
            <a:br/>
            <a:r>
              <a:t>해양환경영향 사전</a:t>
            </a:r>
            <a:br/>
            <a:r>
              <a:t>점검(시뮬레이션)</a:t>
            </a:r>
          </a:p>
        </p:txBody>
      </p:sp>
      <p:sp>
        <p:nvSpPr>
          <p:cNvPr id="14" name="TextBox 13"/>
          <p:cNvSpPr txBox="1"/>
          <p:nvPr/>
        </p:nvSpPr>
        <p:spPr>
          <a:xfrm>
            <a:off x="457200" y="5120640"/>
            <a:ext cx="8229600" cy="228600"/>
          </a:xfrm>
          <a:prstGeom prst="rect">
            <a:avLst/>
          </a:prstGeom>
          <a:noFill/>
        </p:spPr>
        <p:txBody>
          <a:bodyPr wrap="square">
            <a:spAutoFit/>
          </a:bodyPr>
          <a:lstStyle/>
          <a:p>
            <a:pPr algn="l">
              <a:defRPr sz="1000" b="0">
                <a:latin typeface="Malgun Gothic"/>
              </a:defRPr>
            </a:pPr>
            <a:r>
              <a:t>image</a:t>
            </a:r>
          </a:p>
        </p:txBody>
      </p:sp>
      <p:sp>
        <p:nvSpPr>
          <p:cNvPr id="15" name="TextBox 14"/>
          <p:cNvSpPr txBox="1"/>
          <p:nvPr/>
        </p:nvSpPr>
        <p:spPr>
          <a:xfrm>
            <a:off x="457200" y="5440680"/>
            <a:ext cx="8229600" cy="228600"/>
          </a:xfrm>
          <a:prstGeom prst="rect">
            <a:avLst/>
          </a:prstGeom>
          <a:noFill/>
        </p:spPr>
        <p:txBody>
          <a:bodyPr wrap="square">
            <a:spAutoFit/>
          </a:bodyPr>
          <a:lstStyle/>
          <a:p>
            <a:pPr algn="l">
              <a:defRPr sz="1000" b="0">
                <a:latin typeface="Malgun Gothic"/>
              </a:defRPr>
            </a:pPr>
            <a:r>
              <a:t>해상풍력발전 실증 인프라 지원</a:t>
            </a:r>
          </a:p>
        </p:txBody>
      </p:sp>
      <p:sp>
        <p:nvSpPr>
          <p:cNvPr id="16" name="TextBox 15"/>
          <p:cNvSpPr txBox="1"/>
          <p:nvPr/>
        </p:nvSpPr>
        <p:spPr>
          <a:xfrm>
            <a:off x="457200" y="5760720"/>
            <a:ext cx="8229600" cy="228600"/>
          </a:xfrm>
          <a:prstGeom prst="rect">
            <a:avLst/>
          </a:prstGeom>
          <a:noFill/>
        </p:spPr>
        <p:txBody>
          <a:bodyPr wrap="square">
            <a:spAutoFit/>
          </a:bodyPr>
          <a:lstStyle/>
          <a:p>
            <a:pPr algn="l">
              <a:defRPr sz="1000" b="0">
                <a:latin typeface="Malgun Gothic"/>
              </a:defRPr>
            </a:pPr>
            <a:r>
              <a:t>풍황 계측·타당성 조사</a:t>
            </a:r>
            <a:br/>
            <a:r>
              <a:t>(최대 13개 권역)</a:t>
            </a:r>
          </a:p>
        </p:txBody>
      </p:sp>
      <p:sp>
        <p:nvSpPr>
          <p:cNvPr id="17" name="TextBox 16"/>
          <p:cNvSpPr txBox="1"/>
          <p:nvPr/>
        </p:nvSpPr>
        <p:spPr>
          <a:xfrm>
            <a:off x="457200" y="6080760"/>
            <a:ext cx="8229600" cy="228600"/>
          </a:xfrm>
          <a:prstGeom prst="rect">
            <a:avLst/>
          </a:prstGeom>
          <a:noFill/>
        </p:spPr>
        <p:txBody>
          <a:bodyPr wrap="square">
            <a:spAutoFit/>
          </a:bodyPr>
          <a:lstStyle/>
          <a:p>
            <a:pPr algn="l">
              <a:defRPr sz="1000" b="0">
                <a:latin typeface="Malgun Gothic"/>
              </a:defRPr>
            </a:pPr>
            <a:r>
              <a:t>해상풍력터빈 테스트베드 및</a:t>
            </a:r>
            <a:br/>
            <a:r>
              <a:t>실증단지 단계적 구축</a:t>
            </a:r>
          </a:p>
        </p:txBody>
      </p:sp>
      <p:sp>
        <p:nvSpPr>
          <p:cNvPr id="18" name="TextBox 17"/>
          <p:cNvSpPr txBox="1"/>
          <p:nvPr/>
        </p:nvSpPr>
        <p:spPr>
          <a:xfrm>
            <a:off x="457200" y="6400800"/>
            <a:ext cx="8229600" cy="228600"/>
          </a:xfrm>
          <a:prstGeom prst="rect">
            <a:avLst/>
          </a:prstGeom>
          <a:noFill/>
        </p:spPr>
        <p:txBody>
          <a:bodyPr wrap="square">
            <a:spAutoFit/>
          </a:bodyPr>
          <a:lstStyle/>
          <a:p>
            <a:pPr algn="l">
              <a:defRPr sz="1000" b="0">
                <a:latin typeface="Malgun Gothic"/>
              </a:defRPr>
            </a:pPr>
            <a:r>
              <a:t>해상풍력단지 조성 및 운영</a:t>
            </a:r>
          </a:p>
        </p:txBody>
      </p:sp>
      <p:sp>
        <p:nvSpPr>
          <p:cNvPr id="19" name="TextBox 18"/>
          <p:cNvSpPr txBox="1"/>
          <p:nvPr/>
        </p:nvSpPr>
        <p:spPr>
          <a:xfrm>
            <a:off x="457200" y="6720840"/>
            <a:ext cx="8229600" cy="228600"/>
          </a:xfrm>
          <a:prstGeom prst="rect">
            <a:avLst/>
          </a:prstGeom>
          <a:noFill/>
        </p:spPr>
        <p:txBody>
          <a:bodyPr wrap="square">
            <a:spAutoFit/>
          </a:bodyPr>
          <a:lstStyle/>
          <a:p>
            <a:pPr algn="l">
              <a:defRPr sz="1000" b="0">
                <a:latin typeface="Malgun Gothic"/>
              </a:defRPr>
            </a:pPr>
            <a:r>
              <a:t>■ 초대형 풍력 실증단지 구축</a:t>
            </a:r>
            <a:br/>
            <a:r>
              <a:t>• 풍력 너셀 테스트베드 구축</a:t>
            </a:r>
          </a:p>
        </p:txBody>
      </p:sp>
      <p:sp>
        <p:nvSpPr>
          <p:cNvPr id="20" name="TextBox 19"/>
          <p:cNvSpPr txBox="1"/>
          <p:nvPr/>
        </p:nvSpPr>
        <p:spPr>
          <a:xfrm>
            <a:off x="457200" y="7040880"/>
            <a:ext cx="8229600" cy="228600"/>
          </a:xfrm>
          <a:prstGeom prst="rect">
            <a:avLst/>
          </a:prstGeom>
          <a:noFill/>
        </p:spPr>
        <p:txBody>
          <a:bodyPr wrap="square">
            <a:spAutoFit/>
          </a:bodyPr>
          <a:lstStyle/>
          <a:p>
            <a:pPr algn="l">
              <a:defRPr sz="1000" b="0">
                <a:latin typeface="Malgun Gothic"/>
              </a:defRPr>
            </a:pPr>
            <a:r>
              <a:t>2차 사업확장 타당성 검토</a:t>
            </a:r>
          </a:p>
        </p:txBody>
      </p:sp>
      <p:sp>
        <p:nvSpPr>
          <p:cNvPr id="21" name="TextBox 20"/>
          <p:cNvSpPr txBox="1"/>
          <p:nvPr/>
        </p:nvSpPr>
        <p:spPr>
          <a:xfrm>
            <a:off x="457200" y="7360920"/>
            <a:ext cx="8229600" cy="228600"/>
          </a:xfrm>
          <a:prstGeom prst="rect">
            <a:avLst/>
          </a:prstGeom>
          <a:noFill/>
        </p:spPr>
        <p:txBody>
          <a:bodyPr wrap="square">
            <a:spAutoFit/>
          </a:bodyPr>
          <a:lstStyle/>
          <a:p>
            <a:pPr algn="l">
              <a:defRPr sz="1000" b="0">
                <a:latin typeface="Malgun Gothic"/>
              </a:defRPr>
            </a:pPr>
            <a:r>
              <a:t>~'25: 13.1조원</a:t>
            </a:r>
          </a:p>
        </p:txBody>
      </p:sp>
      <p:sp>
        <p:nvSpPr>
          <p:cNvPr id="22" name="TextBox 21"/>
          <p:cNvSpPr txBox="1"/>
          <p:nvPr/>
        </p:nvSpPr>
        <p:spPr>
          <a:xfrm>
            <a:off x="457200" y="7680960"/>
            <a:ext cx="8229600" cy="228600"/>
          </a:xfrm>
          <a:prstGeom prst="rect">
            <a:avLst/>
          </a:prstGeom>
          <a:noFill/>
        </p:spPr>
        <p:txBody>
          <a:bodyPr wrap="square">
            <a:spAutoFit/>
          </a:bodyPr>
          <a:lstStyle/>
          <a:p>
            <a:pPr algn="l">
              <a:defRPr sz="1000" b="0">
                <a:latin typeface="Malgun Gothic"/>
              </a:defRPr>
            </a:pPr>
            <a:r>
              <a:t>3 전기차·수소차 등 그린 모빌리티 보급 확대</a:t>
            </a:r>
          </a:p>
        </p:txBody>
      </p:sp>
      <p:sp>
        <p:nvSpPr>
          <p:cNvPr id="23" name="TextBox 22"/>
          <p:cNvSpPr txBox="1"/>
          <p:nvPr/>
        </p:nvSpPr>
        <p:spPr>
          <a:xfrm>
            <a:off x="457200" y="8001000"/>
            <a:ext cx="8229600" cy="457200"/>
          </a:xfrm>
          <a:prstGeom prst="rect">
            <a:avLst/>
          </a:prstGeom>
          <a:noFill/>
        </p:spPr>
        <p:txBody>
          <a:bodyPr wrap="square">
            <a:spAutoFit/>
          </a:bodyPr>
          <a:lstStyle/>
          <a:p>
            <a:pPr algn="l">
              <a:defRPr sz="1000" b="0">
                <a:latin typeface="Malgun Gothic"/>
              </a:defRPr>
            </a:pPr>
            <a:r>
              <a:t>• 전기·수소차 보급 가속화</a:t>
            </a:r>
            <a:br/>
            <a:r>
              <a:t>• 노후 차량·선박의 친환경(LNG, LPG,</a:t>
            </a:r>
            <a:br/>
            <a:r>
              <a:t>하이브리드 등) 전환 확대</a:t>
            </a:r>
            <a:br/>
            <a:r>
              <a:t>■ 전기차, 수소차, 친환경 선박관련 연구개발</a:t>
            </a:r>
            <a:br/>
            <a:r>
              <a:t>추진</a:t>
            </a:r>
          </a:p>
        </p:txBody>
      </p:sp>
      <p:sp>
        <p:nvSpPr>
          <p:cNvPr id="24" name="TextBox 23"/>
          <p:cNvSpPr txBox="1"/>
          <p:nvPr/>
        </p:nvSpPr>
        <p:spPr>
          <a:xfrm>
            <a:off x="457200" y="8549640"/>
            <a:ext cx="8229600" cy="228600"/>
          </a:xfrm>
          <a:prstGeom prst="rect">
            <a:avLst/>
          </a:prstGeom>
          <a:noFill/>
        </p:spPr>
        <p:txBody>
          <a:bodyPr wrap="square">
            <a:spAutoFit/>
          </a:bodyPr>
          <a:lstStyle/>
          <a:p>
            <a:pPr algn="l">
              <a:defRPr sz="1000" b="0">
                <a:latin typeface="Malgun Gothic"/>
              </a:defRPr>
            </a:pPr>
            <a:r>
              <a:t>저탄소 분산형</a:t>
            </a:r>
            <a:br/>
            <a:r>
              <a:t>에너지 확산</a:t>
            </a:r>
          </a:p>
        </p:txBody>
      </p:sp>
      <p:sp>
        <p:nvSpPr>
          <p:cNvPr id="25" name="TextBox 24"/>
          <p:cNvSpPr txBox="1"/>
          <p:nvPr/>
        </p:nvSpPr>
        <p:spPr>
          <a:xfrm>
            <a:off x="457200" y="8869680"/>
            <a:ext cx="8229600" cy="228600"/>
          </a:xfrm>
          <a:prstGeom prst="rect">
            <a:avLst/>
          </a:prstGeom>
          <a:noFill/>
        </p:spPr>
        <p:txBody>
          <a:bodyPr wrap="square">
            <a:spAutoFit/>
          </a:bodyPr>
          <a:lstStyle/>
          <a:p>
            <a:pPr algn="l">
              <a:defRPr sz="1000" b="0">
                <a:latin typeface="Malgun Gothic"/>
              </a:defRPr>
            </a:pPr>
            <a:r>
              <a:t>Key</a:t>
            </a:r>
            <a:br/>
            <a:r>
              <a:t>Findings</a:t>
            </a:r>
          </a:p>
        </p:txBody>
      </p:sp>
      <p:sp>
        <p:nvSpPr>
          <p:cNvPr id="26" name="TextBox 25"/>
          <p:cNvSpPr txBox="1"/>
          <p:nvPr/>
        </p:nvSpPr>
        <p:spPr>
          <a:xfrm>
            <a:off x="457200" y="9189720"/>
            <a:ext cx="8229600" cy="685800"/>
          </a:xfrm>
          <a:prstGeom prst="rect">
            <a:avLst/>
          </a:prstGeom>
          <a:noFill/>
        </p:spPr>
        <p:txBody>
          <a:bodyPr wrap="square">
            <a:spAutoFit/>
          </a:bodyPr>
          <a:lstStyle/>
          <a:p>
            <a:pPr algn="l">
              <a:defRPr sz="1000" b="0">
                <a:latin typeface="Malgun Gothic"/>
              </a:defRPr>
            </a:pPr>
            <a:r>
              <a:t>✓ 해상풍력발전 사업은 실증 추진 이전 후보지에 대한</a:t>
            </a:r>
            <a:br/>
            <a:r>
              <a:t>예비 타당성 검토, 어민·지자체 협력관계 구축,</a:t>
            </a:r>
            <a:br/>
            <a:r>
              <a:t>해양환경 영향 검토 등 사업기반 조성 역할 필요</a:t>
            </a:r>
            <a:br/>
            <a:r>
              <a:t>✓ 해양 신재생에너지 사업을 주관하여 추진할 가능성이</a:t>
            </a:r>
            <a:br/>
            <a:r>
              <a:t>높은 사업 영역으로, 사업 발굴과 적극적 추진 요구됨</a:t>
            </a:r>
          </a:p>
        </p:txBody>
      </p:sp>
      <p:sp>
        <p:nvSpPr>
          <p:cNvPr id="27" name="TextBox 26"/>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 | Page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그린 뉴딜 추진전략 분석 (3/3)</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저탄소 분산형 에너지 확산 추진에서 공단은 R&amp;D, 기술투자, 자금지원 등 다양한 유형의 지원사업을 수행할 수 있으며, 특히 블루카본, 친환경선박 등 공단이 선도적으로 추진할 수 있는 분야의 사업확대 기회가 제공될 수 있음</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그린 뉴딜 추진전략 ③ 저탄소 분산형 에너지 확산</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도시·공간·생활</a:t>
            </a:r>
            <a:br/>
            <a:r>
              <a:t>인프라 녹색전환</a:t>
            </a:r>
          </a:p>
        </p:txBody>
      </p:sp>
      <p:sp>
        <p:nvSpPr>
          <p:cNvPr id="6" name="TextBox 5"/>
          <p:cNvSpPr txBox="1"/>
          <p:nvPr/>
        </p:nvSpPr>
        <p:spPr>
          <a:xfrm>
            <a:off x="457200" y="2148840"/>
            <a:ext cx="8229600" cy="228600"/>
          </a:xfrm>
          <a:prstGeom prst="rect">
            <a:avLst/>
          </a:prstGeom>
          <a:noFill/>
        </p:spPr>
        <p:txBody>
          <a:bodyPr wrap="square">
            <a:spAutoFit/>
          </a:bodyPr>
          <a:lstStyle/>
          <a:p>
            <a:pPr algn="l">
              <a:defRPr sz="1000" b="0">
                <a:latin typeface="Malgun Gothic"/>
              </a:defRPr>
            </a:pPr>
            <a:r>
              <a:t>녹색산업</a:t>
            </a:r>
            <a:br/>
            <a:r>
              <a:t>혁신생태계 조성</a:t>
            </a:r>
          </a:p>
        </p:txBody>
      </p:sp>
      <p:sp>
        <p:nvSpPr>
          <p:cNvPr id="7" name="TextBox 6"/>
          <p:cNvSpPr txBox="1"/>
          <p:nvPr/>
        </p:nvSpPr>
        <p:spPr>
          <a:xfrm>
            <a:off x="457200" y="2468880"/>
            <a:ext cx="8229600" cy="228600"/>
          </a:xfrm>
          <a:prstGeom prst="rect">
            <a:avLst/>
          </a:prstGeom>
          <a:noFill/>
        </p:spPr>
        <p:txBody>
          <a:bodyPr wrap="square">
            <a:spAutoFit/>
          </a:bodyPr>
          <a:lstStyle/>
          <a:p>
            <a:pPr algn="l">
              <a:defRPr sz="1000" b="0">
                <a:latin typeface="Malgun Gothic"/>
              </a:defRPr>
            </a:pPr>
            <a:r>
              <a:t>저탄소 분산형</a:t>
            </a:r>
            <a:br/>
            <a:r>
              <a:t>에너지 확산</a:t>
            </a:r>
            <a:br/>
            <a:r>
              <a:t>~22: 3.2조 원</a:t>
            </a:r>
            <a:br/>
            <a:r>
              <a:t>~25: 6.3조 원</a:t>
            </a:r>
          </a:p>
        </p:txBody>
      </p:sp>
      <p:sp>
        <p:nvSpPr>
          <p:cNvPr id="8" name="TextBox 7"/>
          <p:cNvSpPr txBox="1"/>
          <p:nvPr/>
        </p:nvSpPr>
        <p:spPr>
          <a:xfrm>
            <a:off x="457200" y="2788920"/>
            <a:ext cx="8229600" cy="228600"/>
          </a:xfrm>
          <a:prstGeom prst="rect">
            <a:avLst/>
          </a:prstGeom>
          <a:noFill/>
        </p:spPr>
        <p:txBody>
          <a:bodyPr wrap="square">
            <a:spAutoFit/>
          </a:bodyPr>
          <a:lstStyle/>
          <a:p>
            <a:pPr algn="l">
              <a:defRPr sz="1000" b="0">
                <a:latin typeface="Malgun Gothic"/>
              </a:defRPr>
            </a:pPr>
            <a:r>
              <a:t>1 녹색 선도 유망기업 육성 및 저탄소 녹색산단 조성</a:t>
            </a:r>
            <a:br/>
            <a:r>
              <a:t>~'25: 3.6조원</a:t>
            </a:r>
          </a:p>
        </p:txBody>
      </p:sp>
      <p:sp>
        <p:nvSpPr>
          <p:cNvPr id="9" name="TextBox 8"/>
          <p:cNvSpPr txBox="1"/>
          <p:nvPr/>
        </p:nvSpPr>
        <p:spPr>
          <a:xfrm>
            <a:off x="457200" y="3108960"/>
            <a:ext cx="8229600" cy="457200"/>
          </a:xfrm>
          <a:prstGeom prst="rect">
            <a:avLst/>
          </a:prstGeom>
          <a:noFill/>
        </p:spPr>
        <p:txBody>
          <a:bodyPr wrap="square">
            <a:spAutoFit/>
          </a:bodyPr>
          <a:lstStyle/>
          <a:p>
            <a:pPr algn="l">
              <a:defRPr sz="1000" b="0">
                <a:latin typeface="Malgun Gothic"/>
              </a:defRPr>
            </a:pPr>
            <a:r>
              <a:t>• 녹색기업 육성과 녹색 융합 클러스터 조성</a:t>
            </a:r>
            <a:br/>
            <a:r>
              <a:t>• 마이크로그리드 기반 스마트 에너지 플랫폼 조성</a:t>
            </a:r>
            <a:br/>
            <a:r>
              <a:t>• 친환경 제조공정을 위한 생산방식 전환</a:t>
            </a:r>
          </a:p>
        </p:txBody>
      </p:sp>
      <p:sp>
        <p:nvSpPr>
          <p:cNvPr id="10" name="TextBox 9"/>
          <p:cNvSpPr txBox="1"/>
          <p:nvPr/>
        </p:nvSpPr>
        <p:spPr>
          <a:xfrm>
            <a:off x="457200" y="3657600"/>
            <a:ext cx="8229600" cy="228600"/>
          </a:xfrm>
          <a:prstGeom prst="rect">
            <a:avLst/>
          </a:prstGeom>
          <a:noFill/>
        </p:spPr>
        <p:txBody>
          <a:bodyPr wrap="square">
            <a:spAutoFit/>
          </a:bodyPr>
          <a:lstStyle/>
          <a:p>
            <a:pPr algn="l">
              <a:defRPr sz="1000" b="0">
                <a:latin typeface="Malgun Gothic"/>
              </a:defRPr>
            </a:pPr>
            <a:r>
              <a:t>2 R&amp;D·금융 등 녹색혁신기반 조성</a:t>
            </a:r>
            <a:br/>
            <a:r>
              <a:t>~'25: 2.7조원</a:t>
            </a:r>
          </a:p>
        </p:txBody>
      </p:sp>
      <p:sp>
        <p:nvSpPr>
          <p:cNvPr id="11" name="TextBox 10"/>
          <p:cNvSpPr txBox="1"/>
          <p:nvPr/>
        </p:nvSpPr>
        <p:spPr>
          <a:xfrm>
            <a:off x="457200" y="3977640"/>
            <a:ext cx="8229600" cy="685800"/>
          </a:xfrm>
          <a:prstGeom prst="rect">
            <a:avLst/>
          </a:prstGeom>
          <a:noFill/>
        </p:spPr>
        <p:txBody>
          <a:bodyPr wrap="square">
            <a:spAutoFit/>
          </a:bodyPr>
          <a:lstStyle/>
          <a:p>
            <a:pPr algn="l">
              <a:defRPr sz="1000" b="0">
                <a:latin typeface="Malgun Gothic"/>
              </a:defRPr>
            </a:pPr>
            <a:r>
              <a:t>• 녹색기술 분야의 기술 개발·평가 시스템 마련</a:t>
            </a:r>
            <a:br/>
            <a:r>
              <a:t>- 온실가스 감축기술개발 지원</a:t>
            </a:r>
            <a:br/>
            <a:r>
              <a:t>- 미세먼지 대응 기술 개발 추진</a:t>
            </a:r>
            <a:br/>
            <a:r>
              <a:t>- 노후 자재 재제조 기술 및 희소금속 회수·활용 기술 개발</a:t>
            </a:r>
            <a:br/>
            <a:r>
              <a:t>• 환경·에너지 관련 공적자금을 제공하고 제도적 기반 마련</a:t>
            </a:r>
          </a:p>
        </p:txBody>
      </p:sp>
      <p:sp>
        <p:nvSpPr>
          <p:cNvPr id="12" name="TextBox 11"/>
          <p:cNvSpPr txBox="1"/>
          <p:nvPr/>
        </p:nvSpPr>
        <p:spPr>
          <a:xfrm>
            <a:off x="457200" y="4754880"/>
            <a:ext cx="8229600" cy="274320"/>
          </a:xfrm>
          <a:prstGeom prst="rect">
            <a:avLst/>
          </a:prstGeom>
          <a:noFill/>
        </p:spPr>
        <p:txBody>
          <a:bodyPr wrap="square">
            <a:spAutoFit/>
          </a:bodyPr>
          <a:lstStyle/>
          <a:p>
            <a:pPr algn="l">
              <a:defRPr sz="1200" b="1">
                <a:solidFill>
                  <a:srgbClr val="003366"/>
                </a:solidFill>
                <a:latin typeface="Malgun Gothic"/>
              </a:defRPr>
            </a:pPr>
            <a:r>
              <a:t>녹색기술 분야 R&amp;D 기술개발 지원</a:t>
            </a:r>
          </a:p>
        </p:txBody>
      </p:sp>
      <p:sp>
        <p:nvSpPr>
          <p:cNvPr id="13" name="TextBox 12"/>
          <p:cNvSpPr txBox="1"/>
          <p:nvPr/>
        </p:nvSpPr>
        <p:spPr>
          <a:xfrm>
            <a:off x="457200" y="5120640"/>
            <a:ext cx="8229600" cy="228600"/>
          </a:xfrm>
          <a:prstGeom prst="rect">
            <a:avLst/>
          </a:prstGeom>
          <a:noFill/>
        </p:spPr>
        <p:txBody>
          <a:bodyPr wrap="square">
            <a:spAutoFit/>
          </a:bodyPr>
          <a:lstStyle/>
          <a:p>
            <a:pPr algn="l">
              <a:defRPr sz="1000" b="0">
                <a:latin typeface="Malgun Gothic"/>
              </a:defRPr>
            </a:pPr>
            <a:r>
              <a:t>탄소포집</a:t>
            </a:r>
          </a:p>
        </p:txBody>
      </p:sp>
      <p:sp>
        <p:nvSpPr>
          <p:cNvPr id="14" name="TextBox 13"/>
          <p:cNvSpPr txBox="1"/>
          <p:nvPr/>
        </p:nvSpPr>
        <p:spPr>
          <a:xfrm>
            <a:off x="457200" y="5440680"/>
            <a:ext cx="8229600" cy="228600"/>
          </a:xfrm>
          <a:prstGeom prst="rect">
            <a:avLst/>
          </a:prstGeom>
          <a:noFill/>
        </p:spPr>
        <p:txBody>
          <a:bodyPr wrap="square">
            <a:spAutoFit/>
          </a:bodyPr>
          <a:lstStyle/>
          <a:p>
            <a:pPr algn="l">
              <a:defRPr sz="1000" b="0">
                <a:latin typeface="Malgun Gothic"/>
              </a:defRPr>
            </a:pPr>
            <a:r>
              <a:t>온실가스 감축</a:t>
            </a:r>
            <a:br/>
            <a:r>
              <a:t>• 이산화탄소 포집·저장·활용 등 온실가스 감축 관련 기술</a:t>
            </a:r>
          </a:p>
        </p:txBody>
      </p:sp>
      <p:sp>
        <p:nvSpPr>
          <p:cNvPr id="15" name="TextBox 14"/>
          <p:cNvSpPr txBox="1"/>
          <p:nvPr/>
        </p:nvSpPr>
        <p:spPr>
          <a:xfrm>
            <a:off x="457200" y="5760720"/>
            <a:ext cx="8229600" cy="228600"/>
          </a:xfrm>
          <a:prstGeom prst="rect">
            <a:avLst/>
          </a:prstGeom>
          <a:noFill/>
        </p:spPr>
        <p:txBody>
          <a:bodyPr wrap="square">
            <a:spAutoFit/>
          </a:bodyPr>
          <a:lstStyle/>
          <a:p>
            <a:pPr algn="l">
              <a:defRPr sz="1000" b="0">
                <a:latin typeface="Malgun Gothic"/>
              </a:defRPr>
            </a:pPr>
            <a:r>
              <a:t>R&amp;D</a:t>
            </a:r>
          </a:p>
        </p:txBody>
      </p:sp>
      <p:sp>
        <p:nvSpPr>
          <p:cNvPr id="16" name="TextBox 15"/>
          <p:cNvSpPr txBox="1"/>
          <p:nvPr/>
        </p:nvSpPr>
        <p:spPr>
          <a:xfrm>
            <a:off x="457200" y="6080760"/>
            <a:ext cx="8229600" cy="228600"/>
          </a:xfrm>
          <a:prstGeom prst="rect">
            <a:avLst/>
          </a:prstGeom>
          <a:noFill/>
        </p:spPr>
        <p:txBody>
          <a:bodyPr wrap="square">
            <a:spAutoFit/>
          </a:bodyPr>
          <a:lstStyle/>
          <a:p>
            <a:pPr algn="l">
              <a:defRPr sz="1000" b="0">
                <a:latin typeface="Malgun Gothic"/>
              </a:defRPr>
            </a:pPr>
            <a:r>
              <a:t>재제조</a:t>
            </a:r>
          </a:p>
        </p:txBody>
      </p:sp>
      <p:sp>
        <p:nvSpPr>
          <p:cNvPr id="17" name="TextBox 16"/>
          <p:cNvSpPr txBox="1"/>
          <p:nvPr/>
        </p:nvSpPr>
        <p:spPr>
          <a:xfrm>
            <a:off x="457200" y="6400800"/>
            <a:ext cx="8229600" cy="228600"/>
          </a:xfrm>
          <a:prstGeom prst="rect">
            <a:avLst/>
          </a:prstGeom>
          <a:noFill/>
        </p:spPr>
        <p:txBody>
          <a:bodyPr wrap="square">
            <a:spAutoFit/>
          </a:bodyPr>
          <a:lstStyle/>
          <a:p>
            <a:pPr algn="l">
              <a:defRPr sz="1000" b="0">
                <a:latin typeface="Malgun Gothic"/>
              </a:defRPr>
            </a:pPr>
            <a:r>
              <a:t>희소금속 회수</a:t>
            </a:r>
          </a:p>
        </p:txBody>
      </p:sp>
      <p:sp>
        <p:nvSpPr>
          <p:cNvPr id="18" name="TextBox 17"/>
          <p:cNvSpPr txBox="1"/>
          <p:nvPr/>
        </p:nvSpPr>
        <p:spPr>
          <a:xfrm>
            <a:off x="457200" y="6720840"/>
            <a:ext cx="8229600" cy="228600"/>
          </a:xfrm>
          <a:prstGeom prst="rect">
            <a:avLst/>
          </a:prstGeom>
          <a:noFill/>
        </p:spPr>
        <p:txBody>
          <a:bodyPr wrap="square">
            <a:spAutoFit/>
          </a:bodyPr>
          <a:lstStyle/>
          <a:p>
            <a:pPr algn="l">
              <a:defRPr sz="1000" b="0">
                <a:latin typeface="Malgun Gothic"/>
              </a:defRPr>
            </a:pPr>
            <a:r>
              <a:t>자연순환 촉진</a:t>
            </a:r>
            <a:br/>
            <a:r>
              <a:t>• 재제조 및 자원순환 촉진 관련 기술 개발</a:t>
            </a:r>
          </a:p>
        </p:txBody>
      </p:sp>
      <p:sp>
        <p:nvSpPr>
          <p:cNvPr id="19" name="TextBox 18"/>
          <p:cNvSpPr txBox="1"/>
          <p:nvPr/>
        </p:nvSpPr>
        <p:spPr>
          <a:xfrm>
            <a:off x="457200" y="7040880"/>
            <a:ext cx="8229600" cy="228600"/>
          </a:xfrm>
          <a:prstGeom prst="rect">
            <a:avLst/>
          </a:prstGeom>
          <a:noFill/>
        </p:spPr>
        <p:txBody>
          <a:bodyPr wrap="square">
            <a:spAutoFit/>
          </a:bodyPr>
          <a:lstStyle/>
          <a:p>
            <a:pPr algn="l">
              <a:defRPr sz="1000" b="0">
                <a:latin typeface="Malgun Gothic"/>
              </a:defRPr>
            </a:pPr>
            <a:r>
              <a:t>기술투자</a:t>
            </a:r>
            <a:br/>
            <a:r>
              <a:t>·자금지원</a:t>
            </a:r>
          </a:p>
        </p:txBody>
      </p:sp>
      <p:sp>
        <p:nvSpPr>
          <p:cNvPr id="20" name="TextBox 19"/>
          <p:cNvSpPr txBox="1"/>
          <p:nvPr/>
        </p:nvSpPr>
        <p:spPr>
          <a:xfrm>
            <a:off x="457200" y="7360920"/>
            <a:ext cx="8229600" cy="228600"/>
          </a:xfrm>
          <a:prstGeom prst="rect">
            <a:avLst/>
          </a:prstGeom>
          <a:noFill/>
        </p:spPr>
        <p:txBody>
          <a:bodyPr wrap="square">
            <a:spAutoFit/>
          </a:bodyPr>
          <a:lstStyle/>
          <a:p>
            <a:pPr algn="l">
              <a:defRPr sz="1000" b="0">
                <a:latin typeface="Malgun Gothic"/>
              </a:defRPr>
            </a:pPr>
            <a:r>
              <a:t>R&amp;D사업</a:t>
            </a:r>
            <a:br/>
            <a:r>
              <a:t>직접 발굴,</a:t>
            </a:r>
            <a:br/>
            <a:r>
              <a:t>수행</a:t>
            </a:r>
          </a:p>
        </p:txBody>
      </p:sp>
      <p:sp>
        <p:nvSpPr>
          <p:cNvPr id="21" name="TextBox 20"/>
          <p:cNvSpPr txBox="1"/>
          <p:nvPr/>
        </p:nvSpPr>
        <p:spPr>
          <a:xfrm>
            <a:off x="457200" y="7680960"/>
            <a:ext cx="8229600" cy="228600"/>
          </a:xfrm>
          <a:prstGeom prst="rect">
            <a:avLst/>
          </a:prstGeom>
          <a:noFill/>
        </p:spPr>
        <p:txBody>
          <a:bodyPr wrap="square">
            <a:spAutoFit/>
          </a:bodyPr>
          <a:lstStyle/>
          <a:p>
            <a:pPr algn="l">
              <a:defRPr sz="1000" b="0">
                <a:latin typeface="Malgun Gothic"/>
              </a:defRPr>
            </a:pPr>
            <a:r>
              <a:t>해양녹색기술</a:t>
            </a:r>
            <a:br/>
            <a:r>
              <a:t>R&amp;D 기업</a:t>
            </a:r>
            <a:br/>
            <a:r>
              <a:t>인큐베이팅</a:t>
            </a:r>
          </a:p>
        </p:txBody>
      </p:sp>
      <p:sp>
        <p:nvSpPr>
          <p:cNvPr id="22" name="TextBox 21"/>
          <p:cNvSpPr txBox="1"/>
          <p:nvPr/>
        </p:nvSpPr>
        <p:spPr>
          <a:xfrm>
            <a:off x="457200" y="8001000"/>
            <a:ext cx="8229600" cy="228600"/>
          </a:xfrm>
          <a:prstGeom prst="rect">
            <a:avLst/>
          </a:prstGeom>
          <a:noFill/>
        </p:spPr>
        <p:txBody>
          <a:bodyPr wrap="square">
            <a:spAutoFit/>
          </a:bodyPr>
          <a:lstStyle/>
          <a:p>
            <a:pPr algn="l">
              <a:defRPr sz="1000" b="0">
                <a:latin typeface="Malgun Gothic"/>
              </a:defRPr>
            </a:pPr>
            <a:r>
              <a:t>블루카본,</a:t>
            </a:r>
            <a:br/>
            <a:r>
              <a:t>친환경선박</a:t>
            </a:r>
            <a:br/>
            <a:r>
              <a:t>기술이양</a:t>
            </a:r>
          </a:p>
        </p:txBody>
      </p:sp>
      <p:sp>
        <p:nvSpPr>
          <p:cNvPr id="23" name="TextBox 22"/>
          <p:cNvSpPr txBox="1"/>
          <p:nvPr/>
        </p:nvSpPr>
        <p:spPr>
          <a:xfrm>
            <a:off x="457200" y="8321040"/>
            <a:ext cx="8229600" cy="274320"/>
          </a:xfrm>
          <a:prstGeom prst="rect">
            <a:avLst/>
          </a:prstGeom>
          <a:noFill/>
        </p:spPr>
        <p:txBody>
          <a:bodyPr wrap="square">
            <a:spAutoFit/>
          </a:bodyPr>
          <a:lstStyle/>
          <a:p>
            <a:pPr algn="l">
              <a:defRPr sz="1200" b="1">
                <a:solidFill>
                  <a:srgbClr val="003366"/>
                </a:solidFill>
                <a:latin typeface="Malgun Gothic"/>
              </a:defRPr>
            </a:pPr>
            <a:r>
              <a:t>Key Findings</a:t>
            </a:r>
          </a:p>
        </p:txBody>
      </p:sp>
      <p:sp>
        <p:nvSpPr>
          <p:cNvPr id="24" name="TextBox 23"/>
          <p:cNvSpPr txBox="1"/>
          <p:nvPr/>
        </p:nvSpPr>
        <p:spPr>
          <a:xfrm>
            <a:off x="457200" y="8686800"/>
            <a:ext cx="8229600" cy="685800"/>
          </a:xfrm>
          <a:prstGeom prst="rect">
            <a:avLst/>
          </a:prstGeom>
          <a:noFill/>
        </p:spPr>
        <p:txBody>
          <a:bodyPr wrap="square">
            <a:spAutoFit/>
          </a:bodyPr>
          <a:lstStyle/>
          <a:p>
            <a:pPr algn="l">
              <a:defRPr sz="1000" b="0">
                <a:latin typeface="Malgun Gothic"/>
              </a:defRPr>
            </a:pPr>
            <a:r>
              <a:t>✓ 공단은 R&amp;D 사업 직접 수행, 투자 및 자금지원, 민간 기업 발굴 및 지원, 기술 민간 이양 및 사업화 등 다양한 형태의 지원사업의 추진이 가능</a:t>
            </a:r>
            <a:br/>
            <a:r>
              <a:t>✓ 특히, 블루카본, 친환경선박 등 공단이 선도적으로 추진할 수 있는 녹색기술 분야에 사업확대 기회 제공</a:t>
            </a:r>
          </a:p>
        </p:txBody>
      </p:sp>
      <p:sp>
        <p:nvSpPr>
          <p:cNvPr id="25" name="TextBox 24"/>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*Source: 한국판 뉴딜 종합계획, 관계부처 합동 (2020.07) | Page 31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정부 2050 탄소중립 추진전략</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정부는 기후변화 국제협약의 이행을 위해 `20. 12월「2050 탄소중립」추진전략'에서 10대 과제를 정하고 능동적 대응을 추진하고 있으며, 해양수산부는 해양수산분야 2050 탄소중립 계획 수립과 추진을 진행하고 있어 공단의 주도적 역할이 기대되고 있음</a:t>
            </a:r>
          </a:p>
        </p:txBody>
      </p:sp>
      <p:sp>
        <p:nvSpPr>
          <p:cNvPr id="4" name="TextBox 3"/>
          <p:cNvSpPr txBox="1"/>
          <p:nvPr/>
        </p:nvSpPr>
        <p:spPr>
          <a:xfrm>
            <a:off x="457200" y="1463040"/>
            <a:ext cx="8229600" cy="457200"/>
          </a:xfrm>
          <a:prstGeom prst="rect">
            <a:avLst/>
          </a:prstGeom>
          <a:noFill/>
        </p:spPr>
        <p:txBody>
          <a:bodyPr wrap="square">
            <a:spAutoFit/>
          </a:bodyPr>
          <a:lstStyle/>
          <a:p>
            <a:pPr algn="l">
              <a:defRPr sz="1000" b="0">
                <a:latin typeface="Malgun Gothic"/>
              </a:defRPr>
            </a:pPr>
            <a:r>
              <a:t>• 파리 기후변화 협약('15)</a:t>
            </a:r>
            <a:br/>
            <a:r>
              <a:t>  - 2030 감축목표 설정</a:t>
            </a:r>
            <a:br/>
            <a:r>
              <a:t>  - 2050 탄소중립 계획 제출</a:t>
            </a:r>
          </a:p>
        </p:txBody>
      </p:sp>
      <p:sp>
        <p:nvSpPr>
          <p:cNvPr id="5" name="TextBox 4"/>
          <p:cNvSpPr txBox="1"/>
          <p:nvPr/>
        </p:nvSpPr>
        <p:spPr>
          <a:xfrm>
            <a:off x="457200" y="2011680"/>
            <a:ext cx="8229600" cy="457200"/>
          </a:xfrm>
          <a:prstGeom prst="rect">
            <a:avLst/>
          </a:prstGeom>
          <a:noFill/>
        </p:spPr>
        <p:txBody>
          <a:bodyPr wrap="square">
            <a:spAutoFit/>
          </a:bodyPr>
          <a:lstStyle/>
          <a:p>
            <a:pPr algn="l">
              <a:defRPr sz="1000" b="0">
                <a:latin typeface="Malgun Gothic"/>
              </a:defRPr>
            </a:pPr>
            <a:r>
              <a:t>• UN 기후정상회의('19)</a:t>
            </a:r>
            <a:br/>
            <a:r>
              <a:t>  - 2050 탄소중립 목표</a:t>
            </a:r>
            <a:br/>
            <a:r>
              <a:t>  - 기후동맹 가입(121개국)</a:t>
            </a:r>
          </a:p>
        </p:txBody>
      </p:sp>
      <p:sp>
        <p:nvSpPr>
          <p:cNvPr id="6" name="TextBox 5"/>
          <p:cNvSpPr txBox="1"/>
          <p:nvPr/>
        </p:nvSpPr>
        <p:spPr>
          <a:xfrm>
            <a:off x="457200" y="2560320"/>
            <a:ext cx="8229600" cy="228600"/>
          </a:xfrm>
          <a:prstGeom prst="rect">
            <a:avLst/>
          </a:prstGeom>
          <a:noFill/>
        </p:spPr>
        <p:txBody>
          <a:bodyPr wrap="square">
            <a:spAutoFit/>
          </a:bodyPr>
          <a:lstStyle/>
          <a:p>
            <a:pPr algn="l">
              <a:defRPr sz="1000" b="0">
                <a:latin typeface="Malgun Gothic"/>
              </a:defRPr>
            </a:pPr>
            <a:r>
              <a:t>• 2030 국가 온실가스 감축</a:t>
            </a:r>
            <a:br/>
            <a:r>
              <a:t>   목표(NDC)</a:t>
            </a:r>
          </a:p>
        </p:txBody>
      </p:sp>
      <p:sp>
        <p:nvSpPr>
          <p:cNvPr id="7" name="TextBox 6"/>
          <p:cNvSpPr txBox="1"/>
          <p:nvPr/>
        </p:nvSpPr>
        <p:spPr>
          <a:xfrm>
            <a:off x="457200" y="2880360"/>
            <a:ext cx="8229600" cy="228600"/>
          </a:xfrm>
          <a:prstGeom prst="rect">
            <a:avLst/>
          </a:prstGeom>
          <a:noFill/>
        </p:spPr>
        <p:txBody>
          <a:bodyPr wrap="square">
            <a:spAutoFit/>
          </a:bodyPr>
          <a:lstStyle/>
          <a:p>
            <a:pPr algn="l">
              <a:defRPr sz="1000" b="0">
                <a:latin typeface="Malgun Gothic"/>
              </a:defRPr>
            </a:pPr>
            <a:r>
              <a:t>• 2050 저탄소 발전전략</a:t>
            </a:r>
            <a:br/>
            <a:r>
              <a:t>   (LEDS) 제출 ('20.12)</a:t>
            </a:r>
          </a:p>
        </p:txBody>
      </p:sp>
      <p:sp>
        <p:nvSpPr>
          <p:cNvPr id="8" name="TextBox 7"/>
          <p:cNvSpPr txBox="1"/>
          <p:nvPr/>
        </p:nvSpPr>
        <p:spPr>
          <a:xfrm>
            <a:off x="457200" y="3200400"/>
            <a:ext cx="8229600" cy="228600"/>
          </a:xfrm>
          <a:prstGeom prst="rect">
            <a:avLst/>
          </a:prstGeom>
          <a:noFill/>
        </p:spPr>
        <p:txBody>
          <a:bodyPr wrap="square">
            <a:spAutoFit/>
          </a:bodyPr>
          <a:lstStyle/>
          <a:p>
            <a:pPr algn="l">
              <a:defRPr sz="1000" b="0">
                <a:latin typeface="Malgun Gothic"/>
              </a:defRPr>
            </a:pPr>
            <a:r>
              <a:t>2050 탄소중립 : “능동적” 대응 전환에 따른 사업추진 및 투자확대</a:t>
            </a:r>
          </a:p>
        </p:txBody>
      </p:sp>
      <p:sp>
        <p:nvSpPr>
          <p:cNvPr id="9" name="TextBox 8"/>
          <p:cNvSpPr txBox="1"/>
          <p:nvPr/>
        </p:nvSpPr>
        <p:spPr>
          <a:xfrm>
            <a:off x="457200" y="3520440"/>
            <a:ext cx="8229600" cy="228600"/>
          </a:xfrm>
          <a:prstGeom prst="rect">
            <a:avLst/>
          </a:prstGeom>
          <a:noFill/>
        </p:spPr>
        <p:txBody>
          <a:bodyPr wrap="square">
            <a:spAutoFit/>
          </a:bodyPr>
          <a:lstStyle/>
          <a:p>
            <a:pPr algn="l">
              <a:defRPr sz="1000" b="0">
                <a:latin typeface="Malgun Gothic"/>
              </a:defRPr>
            </a:pPr>
            <a:r>
              <a:t>비전</a:t>
            </a:r>
          </a:p>
        </p:txBody>
      </p:sp>
      <p:sp>
        <p:nvSpPr>
          <p:cNvPr id="10" name="TextBox 9"/>
          <p:cNvSpPr txBox="1"/>
          <p:nvPr/>
        </p:nvSpPr>
        <p:spPr>
          <a:xfrm>
            <a:off x="457200" y="3840480"/>
            <a:ext cx="8229600" cy="228600"/>
          </a:xfrm>
          <a:prstGeom prst="rect">
            <a:avLst/>
          </a:prstGeom>
          <a:noFill/>
        </p:spPr>
        <p:txBody>
          <a:bodyPr wrap="square">
            <a:spAutoFit/>
          </a:bodyPr>
          <a:lstStyle/>
          <a:p>
            <a:pPr algn="l">
              <a:defRPr sz="1000" b="0">
                <a:latin typeface="Malgun Gothic"/>
              </a:defRPr>
            </a:pPr>
            <a:r>
              <a:t>「2050 탄소중립」추진전략</a:t>
            </a:r>
          </a:p>
        </p:txBody>
      </p:sp>
      <p:sp>
        <p:nvSpPr>
          <p:cNvPr id="11" name="TextBox 10"/>
          <p:cNvSpPr txBox="1"/>
          <p:nvPr/>
        </p:nvSpPr>
        <p:spPr>
          <a:xfrm>
            <a:off x="457200" y="4160520"/>
            <a:ext cx="8229600" cy="457200"/>
          </a:xfrm>
          <a:prstGeom prst="rect">
            <a:avLst/>
          </a:prstGeom>
          <a:noFill/>
        </p:spPr>
        <p:txBody>
          <a:bodyPr wrap="square">
            <a:spAutoFit/>
          </a:bodyPr>
          <a:lstStyle/>
          <a:p>
            <a:pPr algn="l">
              <a:defRPr sz="1000" b="0">
                <a:latin typeface="Malgun Gothic"/>
              </a:defRPr>
            </a:pPr>
            <a:r>
              <a:t>"적응적(Adaptive) 감축”에서 “능동적(Proactive) 대응"으로</a:t>
            </a:r>
            <a:br/>
            <a:r>
              <a:t>: 탄소중립·경제성장·삶의 질 향상 동시 달성</a:t>
            </a:r>
          </a:p>
        </p:txBody>
      </p:sp>
      <p:sp>
        <p:nvSpPr>
          <p:cNvPr id="12" name="TextBox 11"/>
          <p:cNvSpPr txBox="1"/>
          <p:nvPr/>
        </p:nvSpPr>
        <p:spPr>
          <a:xfrm>
            <a:off x="457200" y="4709160"/>
            <a:ext cx="8229600" cy="228600"/>
          </a:xfrm>
          <a:prstGeom prst="rect">
            <a:avLst/>
          </a:prstGeom>
          <a:noFill/>
        </p:spPr>
        <p:txBody>
          <a:bodyPr wrap="square">
            <a:spAutoFit/>
          </a:bodyPr>
          <a:lstStyle/>
          <a:p>
            <a:pPr algn="l">
              <a:defRPr sz="1000" b="0">
                <a:latin typeface="Malgun Gothic"/>
              </a:defRPr>
            </a:pPr>
            <a:r>
              <a:t>3대</a:t>
            </a:r>
            <a:br/>
            <a:r>
              <a:t>정책 경제구조의 저탄소화</a:t>
            </a:r>
          </a:p>
        </p:txBody>
      </p:sp>
      <p:sp>
        <p:nvSpPr>
          <p:cNvPr id="13" name="TextBox 12"/>
          <p:cNvSpPr txBox="1"/>
          <p:nvPr/>
        </p:nvSpPr>
        <p:spPr>
          <a:xfrm>
            <a:off x="457200" y="5029200"/>
            <a:ext cx="8229600" cy="228600"/>
          </a:xfrm>
          <a:prstGeom prst="rect">
            <a:avLst/>
          </a:prstGeom>
          <a:noFill/>
        </p:spPr>
        <p:txBody>
          <a:bodyPr wrap="square">
            <a:spAutoFit/>
          </a:bodyPr>
          <a:lstStyle/>
          <a:p>
            <a:pPr algn="l">
              <a:defRPr sz="1000" b="0">
                <a:latin typeface="Malgun Gothic"/>
              </a:defRPr>
            </a:pPr>
            <a:r>
              <a:t>방향</a:t>
            </a:r>
          </a:p>
        </p:txBody>
      </p:sp>
      <p:sp>
        <p:nvSpPr>
          <p:cNvPr id="14" name="TextBox 13"/>
          <p:cNvSpPr txBox="1"/>
          <p:nvPr/>
        </p:nvSpPr>
        <p:spPr>
          <a:xfrm>
            <a:off x="457200" y="5349240"/>
            <a:ext cx="8229600" cy="228600"/>
          </a:xfrm>
          <a:prstGeom prst="rect">
            <a:avLst/>
          </a:prstGeom>
          <a:noFill/>
        </p:spPr>
        <p:txBody>
          <a:bodyPr wrap="square">
            <a:spAutoFit/>
          </a:bodyPr>
          <a:lstStyle/>
          <a:p>
            <a:pPr algn="l">
              <a:defRPr sz="1000" b="0">
                <a:latin typeface="Malgun Gothic"/>
              </a:defRPr>
            </a:pPr>
            <a:r>
              <a:t>① 에너지 전환 가속화</a:t>
            </a:r>
            <a:br/>
            <a:r>
              <a:t>10대② 고탄소 산업구조 혁신</a:t>
            </a:r>
          </a:p>
        </p:txBody>
      </p:sp>
      <p:sp>
        <p:nvSpPr>
          <p:cNvPr id="15" name="TextBox 14"/>
          <p:cNvSpPr txBox="1"/>
          <p:nvPr/>
        </p:nvSpPr>
        <p:spPr>
          <a:xfrm>
            <a:off x="457200" y="5669280"/>
            <a:ext cx="8229600" cy="228600"/>
          </a:xfrm>
          <a:prstGeom prst="rect">
            <a:avLst/>
          </a:prstGeom>
          <a:noFill/>
        </p:spPr>
        <p:txBody>
          <a:bodyPr wrap="square">
            <a:spAutoFit/>
          </a:bodyPr>
          <a:lstStyle/>
          <a:p>
            <a:pPr algn="l">
              <a:defRPr sz="1000" b="0">
                <a:latin typeface="Malgun Gothic"/>
              </a:defRPr>
            </a:pPr>
            <a:r>
              <a:t>과제 ③ 미래 모빌리티로 전환</a:t>
            </a:r>
            <a:br/>
            <a:r>
              <a:t>④ 도시·국토 저탄소화</a:t>
            </a:r>
          </a:p>
        </p:txBody>
      </p:sp>
      <p:sp>
        <p:nvSpPr>
          <p:cNvPr id="16" name="TextBox 15"/>
          <p:cNvSpPr txBox="1"/>
          <p:nvPr/>
        </p:nvSpPr>
        <p:spPr>
          <a:xfrm>
            <a:off x="457200" y="5989320"/>
            <a:ext cx="8229600" cy="228600"/>
          </a:xfrm>
          <a:prstGeom prst="rect">
            <a:avLst/>
          </a:prstGeom>
          <a:noFill/>
        </p:spPr>
        <p:txBody>
          <a:bodyPr wrap="square">
            <a:spAutoFit/>
          </a:bodyPr>
          <a:lstStyle/>
          <a:p>
            <a:pPr algn="l">
              <a:defRPr sz="1000" b="0">
                <a:latin typeface="Malgun Gothic"/>
              </a:defRPr>
            </a:pPr>
            <a:r>
              <a:t>新유망 저탄소산업</a:t>
            </a:r>
            <a:br/>
            <a:r>
              <a:t>생태계 조성</a:t>
            </a:r>
          </a:p>
        </p:txBody>
      </p:sp>
      <p:sp>
        <p:nvSpPr>
          <p:cNvPr id="17" name="TextBox 16"/>
          <p:cNvSpPr txBox="1"/>
          <p:nvPr/>
        </p:nvSpPr>
        <p:spPr>
          <a:xfrm>
            <a:off x="457200" y="6309360"/>
            <a:ext cx="8229600" cy="228600"/>
          </a:xfrm>
          <a:prstGeom prst="rect">
            <a:avLst/>
          </a:prstGeom>
          <a:noFill/>
        </p:spPr>
        <p:txBody>
          <a:bodyPr wrap="square">
            <a:spAutoFit/>
          </a:bodyPr>
          <a:lstStyle/>
          <a:p>
            <a:pPr algn="l">
              <a:defRPr sz="1000" b="0">
                <a:latin typeface="Malgun Gothic"/>
              </a:defRPr>
            </a:pPr>
            <a:r>
              <a:t>① 新유망 산업 육성</a:t>
            </a:r>
            <a:br/>
            <a:r>
              <a:t>② 혁신 생태계 저변</a:t>
            </a:r>
            <a:br/>
            <a:r>
              <a:t>   구축</a:t>
            </a:r>
            <a:br/>
            <a:r>
              <a:t>③ 순환경제 활성화</a:t>
            </a:r>
          </a:p>
        </p:txBody>
      </p:sp>
      <p:sp>
        <p:nvSpPr>
          <p:cNvPr id="18" name="TextBox 17"/>
          <p:cNvSpPr txBox="1"/>
          <p:nvPr/>
        </p:nvSpPr>
        <p:spPr>
          <a:xfrm>
            <a:off x="457200" y="6629400"/>
            <a:ext cx="8229600" cy="228600"/>
          </a:xfrm>
          <a:prstGeom prst="rect">
            <a:avLst/>
          </a:prstGeom>
          <a:noFill/>
        </p:spPr>
        <p:txBody>
          <a:bodyPr wrap="square">
            <a:spAutoFit/>
          </a:bodyPr>
          <a:lstStyle/>
          <a:p>
            <a:pPr algn="l">
              <a:defRPr sz="1000" b="0">
                <a:latin typeface="Malgun Gothic"/>
              </a:defRPr>
            </a:pPr>
            <a:r>
              <a:t>탄소중립 사회로의</a:t>
            </a:r>
            <a:br/>
            <a:r>
              <a:t>공정전환</a:t>
            </a:r>
          </a:p>
        </p:txBody>
      </p:sp>
      <p:sp>
        <p:nvSpPr>
          <p:cNvPr id="19" name="TextBox 18"/>
          <p:cNvSpPr txBox="1"/>
          <p:nvPr/>
        </p:nvSpPr>
        <p:spPr>
          <a:xfrm>
            <a:off x="457200" y="6949440"/>
            <a:ext cx="8229600" cy="228600"/>
          </a:xfrm>
          <a:prstGeom prst="rect">
            <a:avLst/>
          </a:prstGeom>
          <a:noFill/>
        </p:spPr>
        <p:txBody>
          <a:bodyPr wrap="square">
            <a:spAutoFit/>
          </a:bodyPr>
          <a:lstStyle/>
          <a:p>
            <a:pPr algn="l">
              <a:defRPr sz="1000" b="0">
                <a:latin typeface="Malgun Gothic"/>
              </a:defRPr>
            </a:pPr>
            <a:r>
              <a:t>① 취약 산업·계층 보호</a:t>
            </a:r>
            <a:br/>
            <a:r>
              <a:t>② 지역중심의 탄소중립</a:t>
            </a:r>
            <a:br/>
            <a:r>
              <a:t>   실현</a:t>
            </a:r>
          </a:p>
        </p:txBody>
      </p:sp>
      <p:sp>
        <p:nvSpPr>
          <p:cNvPr id="20" name="TextBox 19"/>
          <p:cNvSpPr txBox="1"/>
          <p:nvPr/>
        </p:nvSpPr>
        <p:spPr>
          <a:xfrm>
            <a:off x="457200" y="7269480"/>
            <a:ext cx="8229600" cy="228600"/>
          </a:xfrm>
          <a:prstGeom prst="rect">
            <a:avLst/>
          </a:prstGeom>
          <a:noFill/>
        </p:spPr>
        <p:txBody>
          <a:bodyPr wrap="square">
            <a:spAutoFit/>
          </a:bodyPr>
          <a:lstStyle/>
          <a:p>
            <a:pPr algn="l">
              <a:defRPr sz="1000" b="0">
                <a:latin typeface="Malgun Gothic"/>
              </a:defRPr>
            </a:pPr>
            <a:r>
              <a:t>③ 탄소중립 사회에 대한</a:t>
            </a:r>
            <a:br/>
            <a:r>
              <a:t>   국민인식 제고</a:t>
            </a:r>
          </a:p>
        </p:txBody>
      </p:sp>
      <p:sp>
        <p:nvSpPr>
          <p:cNvPr id="21" name="TextBox 20"/>
          <p:cNvSpPr txBox="1"/>
          <p:nvPr/>
        </p:nvSpPr>
        <p:spPr>
          <a:xfrm>
            <a:off x="457200" y="7589520"/>
            <a:ext cx="8229600" cy="228600"/>
          </a:xfrm>
          <a:prstGeom prst="rect">
            <a:avLst/>
          </a:prstGeom>
          <a:noFill/>
        </p:spPr>
        <p:txBody>
          <a:bodyPr wrap="square">
            <a:spAutoFit/>
          </a:bodyPr>
          <a:lstStyle/>
          <a:p>
            <a:pPr algn="l">
              <a:defRPr sz="1000" b="0">
                <a:latin typeface="Malgun Gothic"/>
              </a:defRPr>
            </a:pPr>
            <a:r>
              <a:t>+</a:t>
            </a:r>
          </a:p>
        </p:txBody>
      </p:sp>
      <p:sp>
        <p:nvSpPr>
          <p:cNvPr id="22" name="TextBox 21"/>
          <p:cNvSpPr txBox="1"/>
          <p:nvPr/>
        </p:nvSpPr>
        <p:spPr>
          <a:xfrm>
            <a:off x="457200" y="7909560"/>
            <a:ext cx="8229600" cy="228600"/>
          </a:xfrm>
          <a:prstGeom prst="rect">
            <a:avLst/>
          </a:prstGeom>
          <a:noFill/>
        </p:spPr>
        <p:txBody>
          <a:bodyPr wrap="square">
            <a:spAutoFit/>
          </a:bodyPr>
          <a:lstStyle/>
          <a:p>
            <a:pPr algn="l">
              <a:defRPr sz="1000" b="0">
                <a:latin typeface="Malgun Gothic"/>
              </a:defRPr>
            </a:pPr>
            <a:r>
              <a:t>• (정부) 2050 탄소중립을</a:t>
            </a:r>
            <a:br/>
            <a:r>
              <a:t>   위한 추진전략 (`20.12)</a:t>
            </a:r>
          </a:p>
        </p:txBody>
      </p:sp>
      <p:sp>
        <p:nvSpPr>
          <p:cNvPr id="23" name="TextBox 22"/>
          <p:cNvSpPr txBox="1"/>
          <p:nvPr/>
        </p:nvSpPr>
        <p:spPr>
          <a:xfrm>
            <a:off x="457200" y="8229600"/>
            <a:ext cx="8229600" cy="228600"/>
          </a:xfrm>
          <a:prstGeom prst="rect">
            <a:avLst/>
          </a:prstGeom>
          <a:noFill/>
        </p:spPr>
        <p:txBody>
          <a:bodyPr wrap="square">
            <a:spAutoFit/>
          </a:bodyPr>
          <a:lstStyle/>
          <a:p>
            <a:pPr algn="l">
              <a:defRPr sz="1000" b="0">
                <a:latin typeface="Malgun Gothic"/>
              </a:defRPr>
            </a:pPr>
            <a:r>
              <a:t>탄소중립</a:t>
            </a:r>
            <a:br/>
            <a:r>
              <a:t>제도적</a:t>
            </a:r>
          </a:p>
        </p:txBody>
      </p:sp>
      <p:sp>
        <p:nvSpPr>
          <p:cNvPr id="24" name="TextBox 23"/>
          <p:cNvSpPr txBox="1"/>
          <p:nvPr/>
        </p:nvSpPr>
        <p:spPr>
          <a:xfrm>
            <a:off x="457200" y="8549640"/>
            <a:ext cx="8229600" cy="228600"/>
          </a:xfrm>
          <a:prstGeom prst="rect">
            <a:avLst/>
          </a:prstGeom>
          <a:noFill/>
        </p:spPr>
        <p:txBody>
          <a:bodyPr wrap="square">
            <a:spAutoFit/>
          </a:bodyPr>
          <a:lstStyle/>
          <a:p>
            <a:pPr algn="l">
              <a:defRPr sz="1000" b="0">
                <a:latin typeface="Malgun Gothic"/>
              </a:defRPr>
            </a:pPr>
            <a:r>
              <a:t>■ 재정 ■ 녹색금융 R&amp;D 국제협력</a:t>
            </a:r>
          </a:p>
        </p:txBody>
      </p:sp>
      <p:sp>
        <p:nvSpPr>
          <p:cNvPr id="25" name="TextBox 24"/>
          <p:cNvSpPr txBox="1"/>
          <p:nvPr/>
        </p:nvSpPr>
        <p:spPr>
          <a:xfrm>
            <a:off x="457200" y="8869680"/>
            <a:ext cx="8229600" cy="228600"/>
          </a:xfrm>
          <a:prstGeom prst="rect">
            <a:avLst/>
          </a:prstGeom>
          <a:noFill/>
        </p:spPr>
        <p:txBody>
          <a:bodyPr wrap="square">
            <a:spAutoFit/>
          </a:bodyPr>
          <a:lstStyle/>
          <a:p>
            <a:pPr algn="l">
              <a:defRPr sz="1000" b="0">
                <a:latin typeface="Malgun Gothic"/>
              </a:defRPr>
            </a:pPr>
            <a:r>
              <a:t>기반강화 ⇒ 탄소가격 시그널 강화 + 탄소중립 분야 투자 확대 기반 구축</a:t>
            </a:r>
          </a:p>
        </p:txBody>
      </p:sp>
      <p:sp>
        <p:nvSpPr>
          <p:cNvPr id="26" name="TextBox 25"/>
          <p:cNvSpPr txBox="1"/>
          <p:nvPr/>
        </p:nvSpPr>
        <p:spPr>
          <a:xfrm>
            <a:off x="457200" y="9189720"/>
            <a:ext cx="8229600" cy="228600"/>
          </a:xfrm>
          <a:prstGeom prst="rect">
            <a:avLst/>
          </a:prstGeom>
          <a:noFill/>
        </p:spPr>
        <p:txBody>
          <a:bodyPr wrap="square">
            <a:spAutoFit/>
          </a:bodyPr>
          <a:lstStyle/>
          <a:p>
            <a:pPr algn="l">
              <a:defRPr sz="1000" b="0">
                <a:latin typeface="Malgun Gothic"/>
              </a:defRPr>
            </a:pPr>
            <a:r>
              <a:t>▪ (해수부) 해양수산분야</a:t>
            </a:r>
            <a:br/>
            <a:r>
              <a:t>   2050 탄소중립 로드맵</a:t>
            </a:r>
            <a:br/>
            <a:r>
              <a:t>   수립 중 (`21)</a:t>
            </a:r>
          </a:p>
        </p:txBody>
      </p:sp>
      <p:sp>
        <p:nvSpPr>
          <p:cNvPr id="27" name="TextBox 26"/>
          <p:cNvSpPr txBox="1"/>
          <p:nvPr/>
        </p:nvSpPr>
        <p:spPr>
          <a:xfrm>
            <a:off x="457200" y="9509760"/>
            <a:ext cx="8229600" cy="228600"/>
          </a:xfrm>
          <a:prstGeom prst="rect">
            <a:avLst/>
          </a:prstGeom>
          <a:noFill/>
        </p:spPr>
        <p:txBody>
          <a:bodyPr wrap="square">
            <a:spAutoFit/>
          </a:bodyPr>
          <a:lstStyle/>
          <a:p>
            <a:pPr algn="l">
              <a:defRPr sz="1000" b="0">
                <a:latin typeface="Malgun Gothic"/>
              </a:defRPr>
            </a:pPr>
            <a:r>
              <a:t>[조직] 2050 탄소중립위원회 + 2050 탄소중립위원회 사무처</a:t>
            </a:r>
          </a:p>
        </p:txBody>
      </p:sp>
      <p:sp>
        <p:nvSpPr>
          <p:cNvPr id="28" name="TextBox 27"/>
          <p:cNvSpPr txBox="1"/>
          <p:nvPr/>
        </p:nvSpPr>
        <p:spPr>
          <a:xfrm>
            <a:off x="457200" y="9829800"/>
            <a:ext cx="8229600" cy="228600"/>
          </a:xfrm>
          <a:prstGeom prst="rect">
            <a:avLst/>
          </a:prstGeom>
          <a:noFill/>
        </p:spPr>
        <p:txBody>
          <a:bodyPr wrap="square">
            <a:spAutoFit/>
          </a:bodyPr>
          <a:lstStyle/>
          <a:p>
            <a:pPr algn="l">
              <a:defRPr sz="1000" b="0">
                <a:latin typeface="Malgun Gothic"/>
              </a:defRPr>
            </a:pPr>
            <a:r>
              <a:t>추진 체계</a:t>
            </a:r>
          </a:p>
        </p:txBody>
      </p:sp>
      <p:sp>
        <p:nvSpPr>
          <p:cNvPr id="29" name="TextBox 28"/>
          <p:cNvSpPr txBox="1"/>
          <p:nvPr/>
        </p:nvSpPr>
        <p:spPr>
          <a:xfrm>
            <a:off x="457200" y="10149840"/>
            <a:ext cx="8229600" cy="228600"/>
          </a:xfrm>
          <a:prstGeom prst="rect">
            <a:avLst/>
          </a:prstGeom>
          <a:noFill/>
        </p:spPr>
        <p:txBody>
          <a:bodyPr wrap="square">
            <a:spAutoFit/>
          </a:bodyPr>
          <a:lstStyle/>
          <a:p>
            <a:pPr algn="l">
              <a:defRPr sz="1000" b="0">
                <a:latin typeface="Malgun Gothic"/>
              </a:defRPr>
            </a:pPr>
            <a:r>
              <a:t>[운용] 사회적 합의 도출 + 전략적 우선순위 설정 → 단계적 성과 확산</a:t>
            </a:r>
          </a:p>
        </p:txBody>
      </p:sp>
      <p:sp>
        <p:nvSpPr>
          <p:cNvPr id="30" name="TextBox 29"/>
          <p:cNvSpPr txBox="1"/>
          <p:nvPr/>
        </p:nvSpPr>
        <p:spPr>
          <a:xfrm>
            <a:off x="457200" y="10469880"/>
            <a:ext cx="8229600" cy="228600"/>
          </a:xfrm>
          <a:prstGeom prst="rect">
            <a:avLst/>
          </a:prstGeom>
          <a:noFill/>
        </p:spPr>
        <p:txBody>
          <a:bodyPr wrap="square">
            <a:spAutoFit/>
          </a:bodyPr>
          <a:lstStyle/>
          <a:p>
            <a:pPr algn="l">
              <a:defRPr sz="1000" b="0">
                <a:latin typeface="Malgun Gothic"/>
              </a:defRPr>
            </a:pPr>
            <a:r>
              <a:t>Key Findings</a:t>
            </a:r>
          </a:p>
        </p:txBody>
      </p:sp>
      <p:sp>
        <p:nvSpPr>
          <p:cNvPr id="31" name="TextBox 30"/>
          <p:cNvSpPr txBox="1"/>
          <p:nvPr/>
        </p:nvSpPr>
        <p:spPr>
          <a:xfrm>
            <a:off x="457200" y="10789920"/>
            <a:ext cx="8229600" cy="685800"/>
          </a:xfrm>
          <a:prstGeom prst="rect">
            <a:avLst/>
          </a:prstGeom>
          <a:noFill/>
        </p:spPr>
        <p:txBody>
          <a:bodyPr wrap="square">
            <a:spAutoFit/>
          </a:bodyPr>
          <a:lstStyle/>
          <a:p>
            <a:pPr algn="l">
              <a:defRPr sz="1000" b="0">
                <a:latin typeface="Malgun Gothic"/>
              </a:defRPr>
            </a:pPr>
            <a:r>
              <a:t>✓ 국가는 기후변화 국제협약에</a:t>
            </a:r>
            <a:br/>
            <a:r>
              <a:t>   따라 2030년까지 2010년</a:t>
            </a:r>
            <a:br/>
            <a:r>
              <a:t>   대비 탄소배출량의 45% 감축,</a:t>
            </a:r>
            <a:br/>
            <a:r>
              <a:t>   2050년까지 넷제로(Net-</a:t>
            </a:r>
            <a:br/>
            <a:r>
              <a:t>   Zero) 도달하는 탄소중립을</a:t>
            </a:r>
            <a:br/>
            <a:r>
              <a:t>   위한 추진계획을 수립하여</a:t>
            </a:r>
            <a:br/>
            <a:r>
              <a:t>   추진하고 있음</a:t>
            </a:r>
          </a:p>
        </p:txBody>
      </p:sp>
      <p:sp>
        <p:nvSpPr>
          <p:cNvPr id="32" name="TextBox 31"/>
          <p:cNvSpPr txBox="1"/>
          <p:nvPr/>
        </p:nvSpPr>
        <p:spPr>
          <a:xfrm>
            <a:off x="457200" y="11567160"/>
            <a:ext cx="8229600" cy="457200"/>
          </a:xfrm>
          <a:prstGeom prst="rect">
            <a:avLst/>
          </a:prstGeom>
          <a:noFill/>
        </p:spPr>
        <p:txBody>
          <a:bodyPr wrap="square">
            <a:spAutoFit/>
          </a:bodyPr>
          <a:lstStyle/>
          <a:p>
            <a:pPr algn="l">
              <a:defRPr sz="1000" b="0">
                <a:latin typeface="Malgun Gothic"/>
              </a:defRPr>
            </a:pPr>
            <a:r>
              <a:t>✓ 배출가스 감축과 탄소중립은</a:t>
            </a:r>
            <a:br/>
            <a:r>
              <a:t>   향후 탄소국경세 도입 등</a:t>
            </a:r>
            <a:br/>
            <a:r>
              <a:t>   국제사회의 움직임에 따라</a:t>
            </a:r>
            <a:br/>
            <a:r>
              <a:t>   국가와 산업 경쟁력에 지대한</a:t>
            </a:r>
            <a:br/>
            <a:r>
              <a:t>   영향을 줄 수 있는 사안임</a:t>
            </a:r>
          </a:p>
        </p:txBody>
      </p:sp>
      <p:sp>
        <p:nvSpPr>
          <p:cNvPr id="33" name="TextBox 32"/>
          <p:cNvSpPr txBox="1"/>
          <p:nvPr/>
        </p:nvSpPr>
        <p:spPr>
          <a:xfrm>
            <a:off x="457200" y="12115800"/>
            <a:ext cx="8229600" cy="685800"/>
          </a:xfrm>
          <a:prstGeom prst="rect">
            <a:avLst/>
          </a:prstGeom>
          <a:noFill/>
        </p:spPr>
        <p:txBody>
          <a:bodyPr wrap="square">
            <a:spAutoFit/>
          </a:bodyPr>
          <a:lstStyle/>
          <a:p>
            <a:pPr algn="l">
              <a:defRPr sz="1000" b="0">
                <a:latin typeface="Malgun Gothic"/>
              </a:defRPr>
            </a:pPr>
            <a:r>
              <a:t>✓ 해양수산분야 배출가스 감축</a:t>
            </a:r>
            <a:br/>
            <a:r>
              <a:t>   및 新 유망산업 육성 등 통한</a:t>
            </a:r>
            <a:br/>
            <a:r>
              <a:t>   해양수산 2050 탄소중립을</a:t>
            </a:r>
            <a:br/>
            <a:r>
              <a:t>   주도적으로 계획, 운영,</a:t>
            </a:r>
            <a:br/>
            <a:r>
              <a:t>   관리할 주관 기관 필요성</a:t>
            </a:r>
            <a:br/>
            <a:r>
              <a:t>   → 공단의 주도적 역할 기대</a:t>
            </a:r>
          </a:p>
        </p:txBody>
      </p:sp>
      <p:sp>
        <p:nvSpPr>
          <p:cNvPr id="34" name="TextBox 3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31 | Page 32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- 2050 탄소중립 주요과제 분석</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2050 탄소중립 과제를 확인해보면, 각 과제 항목별로 해양환경분야 탄소중립 사업을 발굴·연계할 수 있으며, 해양 탄소중립을 위한 산업기반을 조성하고 성장을 지원하는 해양 탄소중립 사업을 주도할 수 있는 기회를 확인할 수 있음</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정책 방향</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적응</a:t>
            </a:r>
          </a:p>
        </p:txBody>
      </p:sp>
      <p:sp>
        <p:nvSpPr>
          <p:cNvPr id="6" name="TextBox 5"/>
          <p:cNvSpPr txBox="1"/>
          <p:nvPr/>
        </p:nvSpPr>
        <p:spPr>
          <a:xfrm>
            <a:off x="457200" y="2148840"/>
            <a:ext cx="8229600" cy="228600"/>
          </a:xfrm>
          <a:prstGeom prst="rect">
            <a:avLst/>
          </a:prstGeom>
          <a:noFill/>
        </p:spPr>
        <p:txBody>
          <a:bodyPr wrap="square">
            <a:spAutoFit/>
          </a:bodyPr>
          <a:lstStyle/>
          <a:p>
            <a:pPr algn="l">
              <a:defRPr sz="1000" b="0">
                <a:latin typeface="Malgun Gothic"/>
              </a:defRPr>
            </a:pPr>
            <a:r>
              <a:t>경제구조의</a:t>
            </a:r>
            <a:br/>
            <a:r>
              <a:t>저탄소화</a:t>
            </a:r>
          </a:p>
        </p:txBody>
      </p:sp>
      <p:sp>
        <p:nvSpPr>
          <p:cNvPr id="7" name="TextBox 6"/>
          <p:cNvSpPr txBox="1"/>
          <p:nvPr/>
        </p:nvSpPr>
        <p:spPr>
          <a:xfrm>
            <a:off x="457200" y="2468880"/>
            <a:ext cx="8229600" cy="228600"/>
          </a:xfrm>
          <a:prstGeom prst="rect">
            <a:avLst/>
          </a:prstGeom>
          <a:noFill/>
        </p:spPr>
        <p:txBody>
          <a:bodyPr wrap="square">
            <a:spAutoFit/>
          </a:bodyPr>
          <a:lstStyle/>
          <a:p>
            <a:pPr algn="l">
              <a:defRPr sz="1000" b="0">
                <a:latin typeface="Malgun Gothic"/>
              </a:defRPr>
            </a:pPr>
            <a:r>
              <a:t>기회</a:t>
            </a:r>
            <a:br/>
            <a:r>
              <a:t>新유망</a:t>
            </a:r>
            <a:br/>
            <a:r>
              <a:t>저탄소산업</a:t>
            </a:r>
            <a:br/>
            <a:r>
              <a:t>생태계 조성</a:t>
            </a:r>
          </a:p>
        </p:txBody>
      </p:sp>
      <p:sp>
        <p:nvSpPr>
          <p:cNvPr id="8" name="TextBox 7"/>
          <p:cNvSpPr txBox="1"/>
          <p:nvPr/>
        </p:nvSpPr>
        <p:spPr>
          <a:xfrm>
            <a:off x="457200" y="2788920"/>
            <a:ext cx="8229600" cy="228600"/>
          </a:xfrm>
          <a:prstGeom prst="rect">
            <a:avLst/>
          </a:prstGeom>
          <a:noFill/>
        </p:spPr>
        <p:txBody>
          <a:bodyPr wrap="square">
            <a:spAutoFit/>
          </a:bodyPr>
          <a:lstStyle/>
          <a:p>
            <a:pPr algn="l">
              <a:defRPr sz="1000" b="0">
                <a:latin typeface="Malgun Gothic"/>
              </a:defRPr>
            </a:pPr>
            <a:r>
              <a:t>공정</a:t>
            </a:r>
            <a:br/>
            <a:r>
              <a:t>탄소중립</a:t>
            </a:r>
            <a:br/>
            <a:r>
              <a:t>사회로의</a:t>
            </a:r>
            <a:br/>
            <a:r>
              <a:t>공정전환</a:t>
            </a:r>
          </a:p>
        </p:txBody>
      </p:sp>
      <p:sp>
        <p:nvSpPr>
          <p:cNvPr id="9" name="TextBox 8"/>
          <p:cNvSpPr txBox="1"/>
          <p:nvPr/>
        </p:nvSpPr>
        <p:spPr>
          <a:xfrm>
            <a:off x="457200" y="3108960"/>
            <a:ext cx="8229600" cy="228600"/>
          </a:xfrm>
          <a:prstGeom prst="rect">
            <a:avLst/>
          </a:prstGeom>
          <a:noFill/>
        </p:spPr>
        <p:txBody>
          <a:bodyPr wrap="square">
            <a:spAutoFit/>
          </a:bodyPr>
          <a:lstStyle/>
          <a:p>
            <a:pPr algn="l">
              <a:defRPr sz="1000" b="0">
                <a:latin typeface="Malgun Gothic"/>
              </a:defRPr>
            </a:pPr>
            <a:r>
              <a:t>기반</a:t>
            </a:r>
            <a:br/>
            <a:r>
              <a:t>탄소중립</a:t>
            </a:r>
            <a:br/>
            <a:r>
              <a:t>인프라 강화</a:t>
            </a:r>
          </a:p>
        </p:txBody>
      </p:sp>
      <p:sp>
        <p:nvSpPr>
          <p:cNvPr id="10" name="TextBox 9"/>
          <p:cNvSpPr txBox="1"/>
          <p:nvPr/>
        </p:nvSpPr>
        <p:spPr>
          <a:xfrm>
            <a:off x="457200" y="3429000"/>
            <a:ext cx="8229600" cy="274320"/>
          </a:xfrm>
          <a:prstGeom prst="rect">
            <a:avLst/>
          </a:prstGeom>
          <a:noFill/>
        </p:spPr>
        <p:txBody>
          <a:bodyPr wrap="square">
            <a:spAutoFit/>
          </a:bodyPr>
          <a:lstStyle/>
          <a:p>
            <a:pPr algn="l">
              <a:defRPr sz="1200" b="1">
                <a:solidFill>
                  <a:srgbClr val="003366"/>
                </a:solidFill>
                <a:latin typeface="Malgun Gothic"/>
              </a:defRPr>
            </a:pPr>
            <a:r>
              <a:t>10대 과제</a:t>
            </a:r>
          </a:p>
        </p:txBody>
      </p:sp>
      <p:sp>
        <p:nvSpPr>
          <p:cNvPr id="11" name="TextBox 10"/>
          <p:cNvSpPr txBox="1"/>
          <p:nvPr/>
        </p:nvSpPr>
        <p:spPr>
          <a:xfrm>
            <a:off x="457200" y="3794760"/>
            <a:ext cx="8229600" cy="228600"/>
          </a:xfrm>
          <a:prstGeom prst="rect">
            <a:avLst/>
          </a:prstGeom>
          <a:noFill/>
        </p:spPr>
        <p:txBody>
          <a:bodyPr wrap="square">
            <a:spAutoFit/>
          </a:bodyPr>
          <a:lstStyle/>
          <a:p>
            <a:pPr algn="l">
              <a:defRPr sz="1000" b="0">
                <a:latin typeface="Malgun Gothic"/>
              </a:defRPr>
            </a:pPr>
            <a:r>
              <a:t>에너지 전환 가속화</a:t>
            </a:r>
          </a:p>
        </p:txBody>
      </p:sp>
      <p:sp>
        <p:nvSpPr>
          <p:cNvPr id="12" name="TextBox 11"/>
          <p:cNvSpPr txBox="1"/>
          <p:nvPr/>
        </p:nvSpPr>
        <p:spPr>
          <a:xfrm>
            <a:off x="457200" y="4114800"/>
            <a:ext cx="8229600" cy="228600"/>
          </a:xfrm>
          <a:prstGeom prst="rect">
            <a:avLst/>
          </a:prstGeom>
          <a:noFill/>
        </p:spPr>
        <p:txBody>
          <a:bodyPr wrap="square">
            <a:spAutoFit/>
          </a:bodyPr>
          <a:lstStyle/>
          <a:p>
            <a:pPr algn="l">
              <a:defRPr sz="1000" b="0">
                <a:latin typeface="Malgun Gothic"/>
              </a:defRPr>
            </a:pPr>
            <a:r>
              <a:t>고탄소 산업구조 혁신</a:t>
            </a:r>
          </a:p>
        </p:txBody>
      </p:sp>
      <p:sp>
        <p:nvSpPr>
          <p:cNvPr id="13" name="TextBox 12"/>
          <p:cNvSpPr txBox="1"/>
          <p:nvPr/>
        </p:nvSpPr>
        <p:spPr>
          <a:xfrm>
            <a:off x="457200" y="4434840"/>
            <a:ext cx="8229600" cy="228600"/>
          </a:xfrm>
          <a:prstGeom prst="rect">
            <a:avLst/>
          </a:prstGeom>
          <a:noFill/>
        </p:spPr>
        <p:txBody>
          <a:bodyPr wrap="square">
            <a:spAutoFit/>
          </a:bodyPr>
          <a:lstStyle/>
          <a:p>
            <a:pPr algn="l">
              <a:defRPr sz="1000" b="0">
                <a:latin typeface="Malgun Gothic"/>
              </a:defRPr>
            </a:pPr>
            <a:r>
              <a:t>미래 모빌리티로 전환</a:t>
            </a:r>
          </a:p>
        </p:txBody>
      </p:sp>
      <p:sp>
        <p:nvSpPr>
          <p:cNvPr id="14" name="TextBox 13"/>
          <p:cNvSpPr txBox="1"/>
          <p:nvPr/>
        </p:nvSpPr>
        <p:spPr>
          <a:xfrm>
            <a:off x="457200" y="4754880"/>
            <a:ext cx="8229600" cy="228600"/>
          </a:xfrm>
          <a:prstGeom prst="rect">
            <a:avLst/>
          </a:prstGeom>
          <a:noFill/>
        </p:spPr>
        <p:txBody>
          <a:bodyPr wrap="square">
            <a:spAutoFit/>
          </a:bodyPr>
          <a:lstStyle/>
          <a:p>
            <a:pPr algn="l">
              <a:defRPr sz="1000" b="0">
                <a:latin typeface="Malgun Gothic"/>
              </a:defRPr>
            </a:pPr>
            <a:r>
              <a:t>도시·국토 저탄소화</a:t>
            </a:r>
          </a:p>
        </p:txBody>
      </p:sp>
      <p:sp>
        <p:nvSpPr>
          <p:cNvPr id="15" name="TextBox 14"/>
          <p:cNvSpPr txBox="1"/>
          <p:nvPr/>
        </p:nvSpPr>
        <p:spPr>
          <a:xfrm>
            <a:off x="457200" y="5074920"/>
            <a:ext cx="8229600" cy="228600"/>
          </a:xfrm>
          <a:prstGeom prst="rect">
            <a:avLst/>
          </a:prstGeom>
          <a:noFill/>
        </p:spPr>
        <p:txBody>
          <a:bodyPr wrap="square">
            <a:spAutoFit/>
          </a:bodyPr>
          <a:lstStyle/>
          <a:p>
            <a:pPr algn="l">
              <a:defRPr sz="1000" b="0">
                <a:latin typeface="Malgun Gothic"/>
              </a:defRPr>
            </a:pPr>
            <a:r>
              <a:t>新유망 산업 육성</a:t>
            </a:r>
          </a:p>
        </p:txBody>
      </p:sp>
      <p:sp>
        <p:nvSpPr>
          <p:cNvPr id="16" name="TextBox 15"/>
          <p:cNvSpPr txBox="1"/>
          <p:nvPr/>
        </p:nvSpPr>
        <p:spPr>
          <a:xfrm>
            <a:off x="457200" y="5394960"/>
            <a:ext cx="8229600" cy="228600"/>
          </a:xfrm>
          <a:prstGeom prst="rect">
            <a:avLst/>
          </a:prstGeom>
          <a:noFill/>
        </p:spPr>
        <p:txBody>
          <a:bodyPr wrap="square">
            <a:spAutoFit/>
          </a:bodyPr>
          <a:lstStyle/>
          <a:p>
            <a:pPr algn="l">
              <a:defRPr sz="1000" b="0">
                <a:latin typeface="Malgun Gothic"/>
              </a:defRPr>
            </a:pPr>
            <a:r>
              <a:t>혁신 생태계 저변 구축</a:t>
            </a:r>
          </a:p>
        </p:txBody>
      </p:sp>
      <p:sp>
        <p:nvSpPr>
          <p:cNvPr id="17" name="TextBox 16"/>
          <p:cNvSpPr txBox="1"/>
          <p:nvPr/>
        </p:nvSpPr>
        <p:spPr>
          <a:xfrm>
            <a:off x="457200" y="5715000"/>
            <a:ext cx="8229600" cy="228600"/>
          </a:xfrm>
          <a:prstGeom prst="rect">
            <a:avLst/>
          </a:prstGeom>
          <a:noFill/>
        </p:spPr>
        <p:txBody>
          <a:bodyPr wrap="square">
            <a:spAutoFit/>
          </a:bodyPr>
          <a:lstStyle/>
          <a:p>
            <a:pPr algn="l">
              <a:defRPr sz="1000" b="0">
                <a:latin typeface="Malgun Gothic"/>
              </a:defRPr>
            </a:pPr>
            <a:r>
              <a:t>순환경제 활성화</a:t>
            </a:r>
          </a:p>
        </p:txBody>
      </p:sp>
      <p:sp>
        <p:nvSpPr>
          <p:cNvPr id="18" name="TextBox 17"/>
          <p:cNvSpPr txBox="1"/>
          <p:nvPr/>
        </p:nvSpPr>
        <p:spPr>
          <a:xfrm>
            <a:off x="457200" y="6035040"/>
            <a:ext cx="8229600" cy="228600"/>
          </a:xfrm>
          <a:prstGeom prst="rect">
            <a:avLst/>
          </a:prstGeom>
          <a:noFill/>
        </p:spPr>
        <p:txBody>
          <a:bodyPr wrap="square">
            <a:spAutoFit/>
          </a:bodyPr>
          <a:lstStyle/>
          <a:p>
            <a:pPr algn="l">
              <a:defRPr sz="1000" b="0">
                <a:latin typeface="Malgun Gothic"/>
              </a:defRPr>
            </a:pPr>
            <a:r>
              <a:t>취약 산업·계층 보호</a:t>
            </a:r>
          </a:p>
        </p:txBody>
      </p:sp>
      <p:sp>
        <p:nvSpPr>
          <p:cNvPr id="19" name="TextBox 18"/>
          <p:cNvSpPr txBox="1"/>
          <p:nvPr/>
        </p:nvSpPr>
        <p:spPr>
          <a:xfrm>
            <a:off x="457200" y="6355080"/>
            <a:ext cx="8229600" cy="228600"/>
          </a:xfrm>
          <a:prstGeom prst="rect">
            <a:avLst/>
          </a:prstGeom>
          <a:noFill/>
        </p:spPr>
        <p:txBody>
          <a:bodyPr wrap="square">
            <a:spAutoFit/>
          </a:bodyPr>
          <a:lstStyle/>
          <a:p>
            <a:pPr algn="l">
              <a:defRPr sz="1000" b="0">
                <a:latin typeface="Malgun Gothic"/>
              </a:defRPr>
            </a:pPr>
            <a:r>
              <a:t>지역중심의 탄소중립 실현</a:t>
            </a:r>
          </a:p>
        </p:txBody>
      </p:sp>
      <p:sp>
        <p:nvSpPr>
          <p:cNvPr id="20" name="TextBox 19"/>
          <p:cNvSpPr txBox="1"/>
          <p:nvPr/>
        </p:nvSpPr>
        <p:spPr>
          <a:xfrm>
            <a:off x="457200" y="6675120"/>
            <a:ext cx="8229600" cy="228600"/>
          </a:xfrm>
          <a:prstGeom prst="rect">
            <a:avLst/>
          </a:prstGeom>
          <a:noFill/>
        </p:spPr>
        <p:txBody>
          <a:bodyPr wrap="square">
            <a:spAutoFit/>
          </a:bodyPr>
          <a:lstStyle/>
          <a:p>
            <a:pPr algn="l">
              <a:defRPr sz="1000" b="0">
                <a:latin typeface="Malgun Gothic"/>
              </a:defRPr>
            </a:pPr>
            <a:r>
              <a:t>탄소중립 사회에 대한</a:t>
            </a:r>
            <a:br/>
            <a:r>
              <a:t>국민인식 제고</a:t>
            </a:r>
          </a:p>
        </p:txBody>
      </p:sp>
      <p:sp>
        <p:nvSpPr>
          <p:cNvPr id="21" name="TextBox 20"/>
          <p:cNvSpPr txBox="1"/>
          <p:nvPr/>
        </p:nvSpPr>
        <p:spPr>
          <a:xfrm>
            <a:off x="457200" y="6995160"/>
            <a:ext cx="8229600" cy="228600"/>
          </a:xfrm>
          <a:prstGeom prst="rect">
            <a:avLst/>
          </a:prstGeom>
          <a:noFill/>
        </p:spPr>
        <p:txBody>
          <a:bodyPr wrap="square">
            <a:spAutoFit/>
          </a:bodyPr>
          <a:lstStyle/>
          <a:p>
            <a:pPr algn="l">
              <a:defRPr sz="1000" b="0">
                <a:latin typeface="Malgun Gothic"/>
              </a:defRPr>
            </a:pPr>
            <a:r>
              <a:t>재정제도 개선, 녹색금융 활성화,</a:t>
            </a:r>
            <a:br/>
            <a:r>
              <a:t>기술개발 확충, 국제협력</a:t>
            </a:r>
          </a:p>
        </p:txBody>
      </p:sp>
      <p:sp>
        <p:nvSpPr>
          <p:cNvPr id="22" name="TextBox 21"/>
          <p:cNvSpPr txBox="1"/>
          <p:nvPr/>
        </p:nvSpPr>
        <p:spPr>
          <a:xfrm>
            <a:off x="457200" y="7315200"/>
            <a:ext cx="8229600" cy="228600"/>
          </a:xfrm>
          <a:prstGeom prst="rect">
            <a:avLst/>
          </a:prstGeom>
          <a:noFill/>
        </p:spPr>
        <p:txBody>
          <a:bodyPr wrap="square">
            <a:spAutoFit/>
          </a:bodyPr>
          <a:lstStyle/>
          <a:p>
            <a:pPr algn="l">
              <a:defRPr sz="1000" b="0">
                <a:latin typeface="Malgun Gothic"/>
              </a:defRPr>
            </a:pPr>
            <a:r>
              <a:t>탄소가격 시그널 강화 및</a:t>
            </a:r>
            <a:br/>
            <a:r>
              <a:t>효과적인 탄소감축 이행 지원</a:t>
            </a:r>
          </a:p>
        </p:txBody>
      </p:sp>
      <p:sp>
        <p:nvSpPr>
          <p:cNvPr id="23" name="TextBox 22"/>
          <p:cNvSpPr txBox="1"/>
          <p:nvPr/>
        </p:nvSpPr>
        <p:spPr>
          <a:xfrm>
            <a:off x="457200" y="7635240"/>
            <a:ext cx="8229600" cy="274320"/>
          </a:xfrm>
          <a:prstGeom prst="rect">
            <a:avLst/>
          </a:prstGeom>
          <a:noFill/>
        </p:spPr>
        <p:txBody>
          <a:bodyPr wrap="square">
            <a:spAutoFit/>
          </a:bodyPr>
          <a:lstStyle/>
          <a:p>
            <a:pPr algn="l">
              <a:defRPr sz="1200" b="1">
                <a:solidFill>
                  <a:srgbClr val="003366"/>
                </a:solidFill>
                <a:latin typeface="Malgun Gothic"/>
              </a:defRPr>
            </a:pPr>
            <a:r>
              <a:t>2050 탄소중립 : 해양환경분야 사업 발굴 및 추진 필요</a:t>
            </a:r>
          </a:p>
        </p:txBody>
      </p:sp>
      <p:sp>
        <p:nvSpPr>
          <p:cNvPr id="24" name="TextBox 23"/>
          <p:cNvSpPr txBox="1"/>
          <p:nvPr/>
        </p:nvSpPr>
        <p:spPr>
          <a:xfrm>
            <a:off x="457200" y="8001000"/>
            <a:ext cx="8229600" cy="228600"/>
          </a:xfrm>
          <a:prstGeom prst="rect">
            <a:avLst/>
          </a:prstGeom>
          <a:noFill/>
        </p:spPr>
        <p:txBody>
          <a:bodyPr wrap="square">
            <a:spAutoFit/>
          </a:bodyPr>
          <a:lstStyle/>
          <a:p>
            <a:pPr algn="l">
              <a:defRPr sz="1000" b="0">
                <a:latin typeface="Malgun Gothic"/>
              </a:defRPr>
            </a:pPr>
            <a:r>
              <a:t>해양환경분야 탄소중립 사업 (예시적)</a:t>
            </a:r>
          </a:p>
        </p:txBody>
      </p:sp>
      <p:sp>
        <p:nvSpPr>
          <p:cNvPr id="25" name="TextBox 24"/>
          <p:cNvSpPr txBox="1"/>
          <p:nvPr/>
        </p:nvSpPr>
        <p:spPr>
          <a:xfrm>
            <a:off x="457200" y="8321040"/>
            <a:ext cx="8229600" cy="228600"/>
          </a:xfrm>
          <a:prstGeom prst="rect">
            <a:avLst/>
          </a:prstGeom>
          <a:noFill/>
        </p:spPr>
        <p:txBody>
          <a:bodyPr wrap="square">
            <a:spAutoFit/>
          </a:bodyPr>
          <a:lstStyle/>
          <a:p>
            <a:pPr algn="l">
              <a:defRPr sz="1000" b="0">
                <a:latin typeface="Malgun Gothic"/>
              </a:defRPr>
            </a:pPr>
            <a:r>
              <a:t>해양·친환경 에너지 사업 기반조성, 육성 지원</a:t>
            </a:r>
          </a:p>
        </p:txBody>
      </p:sp>
      <p:sp>
        <p:nvSpPr>
          <p:cNvPr id="26" name="TextBox 25"/>
          <p:cNvSpPr txBox="1"/>
          <p:nvPr/>
        </p:nvSpPr>
        <p:spPr>
          <a:xfrm>
            <a:off x="457200" y="8641080"/>
            <a:ext cx="8229600" cy="228600"/>
          </a:xfrm>
          <a:prstGeom prst="rect">
            <a:avLst/>
          </a:prstGeom>
          <a:noFill/>
        </p:spPr>
        <p:txBody>
          <a:bodyPr wrap="square">
            <a:spAutoFit/>
          </a:bodyPr>
          <a:lstStyle/>
          <a:p>
            <a:pPr algn="l">
              <a:defRPr sz="1000" b="0">
                <a:latin typeface="Malgun Gothic"/>
              </a:defRPr>
            </a:pPr>
            <a:r>
              <a:t>해양항만 탄소배출 관리, 해양항만 저탄소 전환 지원</a:t>
            </a:r>
          </a:p>
        </p:txBody>
      </p:sp>
      <p:sp>
        <p:nvSpPr>
          <p:cNvPr id="27" name="TextBox 26"/>
          <p:cNvSpPr txBox="1"/>
          <p:nvPr/>
        </p:nvSpPr>
        <p:spPr>
          <a:xfrm>
            <a:off x="457200" y="8961120"/>
            <a:ext cx="8229600" cy="228600"/>
          </a:xfrm>
          <a:prstGeom prst="rect">
            <a:avLst/>
          </a:prstGeom>
          <a:noFill/>
        </p:spPr>
        <p:txBody>
          <a:bodyPr wrap="square">
            <a:spAutoFit/>
          </a:bodyPr>
          <a:lstStyle/>
          <a:p>
            <a:pPr algn="l">
              <a:defRPr sz="1000" b="0">
                <a:latin typeface="Malgun Gothic"/>
              </a:defRPr>
            </a:pPr>
            <a:r>
              <a:t>친환경선박 기술 개발·보급, 기준수립, 친환경선박 전환 선도</a:t>
            </a:r>
          </a:p>
        </p:txBody>
      </p:sp>
      <p:sp>
        <p:nvSpPr>
          <p:cNvPr id="28" name="TextBox 27"/>
          <p:cNvSpPr txBox="1"/>
          <p:nvPr/>
        </p:nvSpPr>
        <p:spPr>
          <a:xfrm>
            <a:off x="457200" y="9281160"/>
            <a:ext cx="8229600" cy="228600"/>
          </a:xfrm>
          <a:prstGeom prst="rect">
            <a:avLst/>
          </a:prstGeom>
          <a:noFill/>
        </p:spPr>
        <p:txBody>
          <a:bodyPr wrap="square">
            <a:spAutoFit/>
          </a:bodyPr>
          <a:lstStyle/>
          <a:p>
            <a:pPr algn="l">
              <a:defRPr sz="1000" b="0">
                <a:latin typeface="Malgun Gothic"/>
              </a:defRPr>
            </a:pPr>
            <a:r>
              <a:t>갯벌·습지 복원 확대, 저탄소 수산양식업 연구지원·기반확대</a:t>
            </a:r>
          </a:p>
        </p:txBody>
      </p:sp>
      <p:sp>
        <p:nvSpPr>
          <p:cNvPr id="29" name="TextBox 28"/>
          <p:cNvSpPr txBox="1"/>
          <p:nvPr/>
        </p:nvSpPr>
        <p:spPr>
          <a:xfrm>
            <a:off x="457200" y="9601200"/>
            <a:ext cx="8229600" cy="228600"/>
          </a:xfrm>
          <a:prstGeom prst="rect">
            <a:avLst/>
          </a:prstGeom>
          <a:noFill/>
        </p:spPr>
        <p:txBody>
          <a:bodyPr wrap="square">
            <a:spAutoFit/>
          </a:bodyPr>
          <a:lstStyle/>
          <a:p>
            <a:pPr algn="l">
              <a:defRPr sz="1000" b="0">
                <a:latin typeface="Malgun Gothic"/>
              </a:defRPr>
            </a:pPr>
            <a:r>
              <a:t>해양 바이오 산업 연구개발 지원, 해양 탄소저장 지원·실증</a:t>
            </a:r>
          </a:p>
        </p:txBody>
      </p:sp>
      <p:sp>
        <p:nvSpPr>
          <p:cNvPr id="30" name="TextBox 29"/>
          <p:cNvSpPr txBox="1"/>
          <p:nvPr/>
        </p:nvSpPr>
        <p:spPr>
          <a:xfrm>
            <a:off x="457200" y="9921240"/>
            <a:ext cx="8229600" cy="228600"/>
          </a:xfrm>
          <a:prstGeom prst="rect">
            <a:avLst/>
          </a:prstGeom>
          <a:noFill/>
        </p:spPr>
        <p:txBody>
          <a:bodyPr wrap="square">
            <a:spAutoFit/>
          </a:bodyPr>
          <a:lstStyle/>
          <a:p>
            <a:pPr algn="l">
              <a:defRPr sz="1000" b="0">
                <a:latin typeface="Malgun Gothic"/>
              </a:defRPr>
            </a:pPr>
            <a:r>
              <a:t>해양환경 그린 스타트업 지원, 저탄소 Open Innovation 사업</a:t>
            </a:r>
          </a:p>
        </p:txBody>
      </p:sp>
      <p:sp>
        <p:nvSpPr>
          <p:cNvPr id="31" name="TextBox 30"/>
          <p:cNvSpPr txBox="1"/>
          <p:nvPr/>
        </p:nvSpPr>
        <p:spPr>
          <a:xfrm>
            <a:off x="457200" y="10241280"/>
            <a:ext cx="8229600" cy="228600"/>
          </a:xfrm>
          <a:prstGeom prst="rect">
            <a:avLst/>
          </a:prstGeom>
          <a:noFill/>
        </p:spPr>
        <p:txBody>
          <a:bodyPr wrap="square">
            <a:spAutoFit/>
          </a:bodyPr>
          <a:lstStyle/>
          <a:p>
            <a:pPr algn="l">
              <a:defRPr sz="1000" b="0">
                <a:latin typeface="Malgun Gothic"/>
              </a:defRPr>
            </a:pPr>
            <a:r>
              <a:t>국민참여 해양환경 플랫폼: 해양오염원 정보 제공, 인식개선</a:t>
            </a:r>
          </a:p>
        </p:txBody>
      </p:sp>
      <p:sp>
        <p:nvSpPr>
          <p:cNvPr id="32" name="TextBox 31"/>
          <p:cNvSpPr txBox="1"/>
          <p:nvPr/>
        </p:nvSpPr>
        <p:spPr>
          <a:xfrm>
            <a:off x="457200" y="10561320"/>
            <a:ext cx="8229600" cy="228600"/>
          </a:xfrm>
          <a:prstGeom prst="rect">
            <a:avLst/>
          </a:prstGeom>
          <a:noFill/>
        </p:spPr>
        <p:txBody>
          <a:bodyPr wrap="square">
            <a:spAutoFit/>
          </a:bodyPr>
          <a:lstStyle/>
          <a:p>
            <a:pPr algn="l">
              <a:defRPr sz="1000" b="0">
                <a:latin typeface="Malgun Gothic"/>
              </a:defRPr>
            </a:pPr>
            <a:r>
              <a:t>친환경·저탄소 전환에 따른 피해 산업·지역·노동자 지원</a:t>
            </a:r>
          </a:p>
        </p:txBody>
      </p:sp>
      <p:sp>
        <p:nvSpPr>
          <p:cNvPr id="33" name="TextBox 32"/>
          <p:cNvSpPr txBox="1"/>
          <p:nvPr/>
        </p:nvSpPr>
        <p:spPr>
          <a:xfrm>
            <a:off x="457200" y="10881360"/>
            <a:ext cx="8229600" cy="228600"/>
          </a:xfrm>
          <a:prstGeom prst="rect">
            <a:avLst/>
          </a:prstGeom>
          <a:noFill/>
        </p:spPr>
        <p:txBody>
          <a:bodyPr wrap="square">
            <a:spAutoFit/>
          </a:bodyPr>
          <a:lstStyle/>
          <a:p>
            <a:pPr algn="l">
              <a:defRPr sz="1000" b="0">
                <a:latin typeface="Malgun Gothic"/>
              </a:defRPr>
            </a:pPr>
            <a:r>
              <a:t>지역주도 해양 탄소중립 사업, 지역 해양 탄소중립 조사·점검</a:t>
            </a:r>
          </a:p>
        </p:txBody>
      </p:sp>
      <p:sp>
        <p:nvSpPr>
          <p:cNvPr id="34" name="TextBox 33"/>
          <p:cNvSpPr txBox="1"/>
          <p:nvPr/>
        </p:nvSpPr>
        <p:spPr>
          <a:xfrm>
            <a:off x="457200" y="11201400"/>
            <a:ext cx="8229600" cy="228600"/>
          </a:xfrm>
          <a:prstGeom prst="rect">
            <a:avLst/>
          </a:prstGeom>
          <a:noFill/>
        </p:spPr>
        <p:txBody>
          <a:bodyPr wrap="square">
            <a:spAutoFit/>
          </a:bodyPr>
          <a:lstStyle/>
          <a:p>
            <a:pPr algn="l">
              <a:defRPr sz="1000" b="0">
                <a:latin typeface="Malgun Gothic"/>
              </a:defRPr>
            </a:pPr>
            <a:r>
              <a:t>산업 종사자 해양 탄소중립 교육·홍보, 대국민 해양 탄소중립 홍보</a:t>
            </a:r>
          </a:p>
        </p:txBody>
      </p:sp>
      <p:sp>
        <p:nvSpPr>
          <p:cNvPr id="35" name="TextBox 34"/>
          <p:cNvSpPr txBox="1"/>
          <p:nvPr/>
        </p:nvSpPr>
        <p:spPr>
          <a:xfrm>
            <a:off x="457200" y="11521440"/>
            <a:ext cx="8229600" cy="457200"/>
          </a:xfrm>
          <a:prstGeom prst="rect">
            <a:avLst/>
          </a:prstGeom>
          <a:noFill/>
        </p:spPr>
        <p:txBody>
          <a:bodyPr wrap="square">
            <a:spAutoFit/>
          </a:bodyPr>
          <a:lstStyle/>
          <a:p>
            <a:pPr algn="l">
              <a:defRPr sz="1000" b="0">
                <a:latin typeface="Malgun Gothic"/>
              </a:defRPr>
            </a:pPr>
            <a:r>
              <a:t>정부 기금 중 해양 탄소중립 기금 확보, 해양환경분야 탄소중립 신기술·신사업 투자, 해양환경 기후분야 국제협력 강화</a:t>
            </a:r>
          </a:p>
        </p:txBody>
      </p:sp>
      <p:sp>
        <p:nvSpPr>
          <p:cNvPr id="36" name="TextBox 35"/>
          <p:cNvSpPr txBox="1"/>
          <p:nvPr/>
        </p:nvSpPr>
        <p:spPr>
          <a:xfrm>
            <a:off x="457200" y="12070080"/>
            <a:ext cx="8229600" cy="457200"/>
          </a:xfrm>
          <a:prstGeom prst="rect">
            <a:avLst/>
          </a:prstGeom>
          <a:noFill/>
        </p:spPr>
        <p:txBody>
          <a:bodyPr wrap="square">
            <a:spAutoFit/>
          </a:bodyPr>
          <a:lstStyle/>
          <a:p>
            <a:pPr algn="l">
              <a:defRPr sz="1000" b="0">
                <a:latin typeface="Malgun Gothic"/>
              </a:defRPr>
            </a:pPr>
            <a:r>
              <a:t>해양 탄소배출, 탄소흡수 경제적 가치 연구, 지역·기관 (해양)</a:t>
            </a:r>
            <a:br/>
            <a:r>
              <a:t>탄소배출권 거래 시스템 구축·운영</a:t>
            </a:r>
          </a:p>
        </p:txBody>
      </p:sp>
      <p:sp>
        <p:nvSpPr>
          <p:cNvPr id="37" name="Rectangle 36"/>
          <p:cNvSpPr/>
          <p:nvPr/>
        </p:nvSpPr>
        <p:spPr>
          <a:xfrm>
            <a:off x="45720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38" name="TextBox 37"/>
          <p:cNvSpPr txBox="1"/>
          <p:nvPr/>
        </p:nvSpPr>
        <p:spPr>
          <a:xfrm>
            <a:off x="54864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39" name="Rectangle 38"/>
          <p:cNvSpPr/>
          <p:nvPr/>
        </p:nvSpPr>
        <p:spPr>
          <a:xfrm>
            <a:off x="323088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40" name="TextBox 39"/>
          <p:cNvSpPr txBox="1"/>
          <p:nvPr/>
        </p:nvSpPr>
        <p:spPr>
          <a:xfrm>
            <a:off x="332232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41" name="Rectangle 40"/>
          <p:cNvSpPr/>
          <p:nvPr/>
        </p:nvSpPr>
        <p:spPr>
          <a:xfrm>
            <a:off x="600456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42" name="TextBox 41"/>
          <p:cNvSpPr txBox="1"/>
          <p:nvPr/>
        </p:nvSpPr>
        <p:spPr>
          <a:xfrm>
            <a:off x="609600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43" name="TextBox 42"/>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*Source: 「2050 탄소중립」 추진전략, 2020.12.07, 정부 관계부처합동 | Page 33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- 2030 한국형 친환경선박(Greenship-K) 추진전략</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2030 Greenship-K 추진전략의 공공부문 친환경선박 선제적 전환 정책에 따라 공단은 보유 선박 전체를 2030년까지</a:t>
            </a:r>
            <a:br/>
            <a:r>
              <a:t>친환경선박으로 전환하여야 하며, 이는 높은 비용에 따른 재정부담과 사업성 악화 등 문제로 이어질 가능성이 큼</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2030 한국형 친환경선박 추진전략 : 공단 보유 선박의 친환경선박 전환 필요</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비전 및 추진전략</a:t>
            </a:r>
          </a:p>
        </p:txBody>
      </p:sp>
      <p:sp>
        <p:nvSpPr>
          <p:cNvPr id="6" name="TextBox 5"/>
          <p:cNvSpPr txBox="1"/>
          <p:nvPr/>
        </p:nvSpPr>
        <p:spPr>
          <a:xfrm>
            <a:off x="457200" y="2148840"/>
            <a:ext cx="8229600" cy="228600"/>
          </a:xfrm>
          <a:prstGeom prst="rect">
            <a:avLst/>
          </a:prstGeom>
          <a:noFill/>
        </p:spPr>
        <p:txBody>
          <a:bodyPr wrap="square">
            <a:spAutoFit/>
          </a:bodyPr>
          <a:lstStyle/>
          <a:p>
            <a:pPr algn="l">
              <a:defRPr sz="1000" b="0">
                <a:latin typeface="Malgun Gothic"/>
              </a:defRPr>
            </a:pPr>
            <a:r>
              <a:t>비전</a:t>
            </a:r>
          </a:p>
        </p:txBody>
      </p:sp>
      <p:sp>
        <p:nvSpPr>
          <p:cNvPr id="7" name="TextBox 6"/>
          <p:cNvSpPr txBox="1"/>
          <p:nvPr/>
        </p:nvSpPr>
        <p:spPr>
          <a:xfrm>
            <a:off x="457200" y="2468880"/>
            <a:ext cx="8229600" cy="228600"/>
          </a:xfrm>
          <a:prstGeom prst="rect">
            <a:avLst/>
          </a:prstGeom>
          <a:noFill/>
        </p:spPr>
        <p:txBody>
          <a:bodyPr wrap="square">
            <a:spAutoFit/>
          </a:bodyPr>
          <a:lstStyle/>
          <a:p>
            <a:pPr algn="l">
              <a:defRPr sz="1000" b="0">
                <a:latin typeface="Malgun Gothic"/>
              </a:defRPr>
            </a:pPr>
            <a:r>
              <a:t>Greenship-K 기반 구축으로 2050 탄소중립 산업 생태계 구현</a:t>
            </a:r>
          </a:p>
        </p:txBody>
      </p:sp>
      <p:sp>
        <p:nvSpPr>
          <p:cNvPr id="8" name="TextBox 7"/>
          <p:cNvSpPr txBox="1"/>
          <p:nvPr/>
        </p:nvSpPr>
        <p:spPr>
          <a:xfrm>
            <a:off x="457200" y="2788920"/>
            <a:ext cx="8229600" cy="228600"/>
          </a:xfrm>
          <a:prstGeom prst="rect">
            <a:avLst/>
          </a:prstGeom>
          <a:noFill/>
        </p:spPr>
        <p:txBody>
          <a:bodyPr wrap="square">
            <a:spAutoFit/>
          </a:bodyPr>
          <a:lstStyle/>
          <a:p>
            <a:pPr algn="l">
              <a:defRPr sz="1000" b="0">
                <a:latin typeface="Malgun Gothic"/>
              </a:defRPr>
            </a:pPr>
            <a:r>
              <a:t>목표 및</a:t>
            </a:r>
            <a:br/>
            <a:r>
              <a:t>추진전략</a:t>
            </a:r>
          </a:p>
        </p:txBody>
      </p:sp>
      <p:sp>
        <p:nvSpPr>
          <p:cNvPr id="9" name="TextBox 8"/>
          <p:cNvSpPr txBox="1"/>
          <p:nvPr/>
        </p:nvSpPr>
        <p:spPr>
          <a:xfrm>
            <a:off x="457200" y="3108960"/>
            <a:ext cx="8229600" cy="457200"/>
          </a:xfrm>
          <a:prstGeom prst="rect">
            <a:avLst/>
          </a:prstGeom>
          <a:noFill/>
        </p:spPr>
        <p:txBody>
          <a:bodyPr wrap="square">
            <a:spAutoFit/>
          </a:bodyPr>
          <a:lstStyle/>
          <a:p>
            <a:pPr algn="l">
              <a:defRPr sz="1000" b="0">
                <a:latin typeface="Malgun Gothic"/>
              </a:defRPr>
            </a:pPr>
            <a:r>
              <a:t>미래 친환경선박</a:t>
            </a:r>
            <a:br/>
            <a:r>
              <a:t>세계 선도 기술 확보</a:t>
            </a:r>
            <a:br/>
            <a:r>
              <a:t>온실가스 70% 감축기술 개발</a:t>
            </a:r>
            <a:br/>
            <a:r>
              <a:t>['25년 40% → '30년 70%]</a:t>
            </a:r>
          </a:p>
        </p:txBody>
      </p:sp>
      <p:sp>
        <p:nvSpPr>
          <p:cNvPr id="10" name="TextBox 9"/>
          <p:cNvSpPr txBox="1"/>
          <p:nvPr/>
        </p:nvSpPr>
        <p:spPr>
          <a:xfrm>
            <a:off x="457200" y="3657600"/>
            <a:ext cx="8229600" cy="457200"/>
          </a:xfrm>
          <a:prstGeom prst="rect">
            <a:avLst/>
          </a:prstGeom>
          <a:noFill/>
        </p:spPr>
        <p:txBody>
          <a:bodyPr wrap="square">
            <a:spAutoFit/>
          </a:bodyPr>
          <a:lstStyle/>
          <a:p>
            <a:pPr algn="l">
              <a:defRPr sz="1000" b="0">
                <a:latin typeface="Malgun Gothic"/>
              </a:defRPr>
            </a:pPr>
            <a:r>
              <a:t>선박배출 온실가스 감축 및</a:t>
            </a:r>
            <a:br/>
            <a:r>
              <a:t>친환경 新시장 창출</a:t>
            </a:r>
            <a:br/>
            <a:r>
              <a:t>친환경선박 전환율 15% 달성</a:t>
            </a:r>
            <a:br/>
            <a:r>
              <a:t>[전환대상 3,542척 중 528척 전환]</a:t>
            </a:r>
          </a:p>
        </p:txBody>
      </p:sp>
      <p:sp>
        <p:nvSpPr>
          <p:cNvPr id="11" name="TextBox 10"/>
          <p:cNvSpPr txBox="1"/>
          <p:nvPr/>
        </p:nvSpPr>
        <p:spPr>
          <a:xfrm>
            <a:off x="457200" y="4206240"/>
            <a:ext cx="8229600" cy="228600"/>
          </a:xfrm>
          <a:prstGeom prst="rect">
            <a:avLst/>
          </a:prstGeom>
          <a:noFill/>
        </p:spPr>
        <p:txBody>
          <a:bodyPr wrap="square">
            <a:spAutoFit/>
          </a:bodyPr>
          <a:lstStyle/>
          <a:p>
            <a:pPr algn="l">
              <a:defRPr sz="1000" b="0">
                <a:latin typeface="Malgun Gothic"/>
              </a:defRPr>
            </a:pPr>
            <a:r>
              <a:t>1 미래 친환경선박 세계 선도 기술 확보</a:t>
            </a:r>
          </a:p>
        </p:txBody>
      </p:sp>
      <p:sp>
        <p:nvSpPr>
          <p:cNvPr id="12" name="TextBox 11"/>
          <p:cNvSpPr txBox="1"/>
          <p:nvPr/>
        </p:nvSpPr>
        <p:spPr>
          <a:xfrm>
            <a:off x="457200" y="4526280"/>
            <a:ext cx="8229600" cy="228600"/>
          </a:xfrm>
          <a:prstGeom prst="rect">
            <a:avLst/>
          </a:prstGeom>
          <a:noFill/>
        </p:spPr>
        <p:txBody>
          <a:bodyPr wrap="square">
            <a:spAutoFit/>
          </a:bodyPr>
          <a:lstStyle/>
          <a:p>
            <a:pPr algn="l">
              <a:defRPr sz="1000" b="0">
                <a:latin typeface="Malgun Gothic"/>
              </a:defRPr>
            </a:pPr>
            <a:r>
              <a:t>2 新기술 확산을 위한 시험기반 구축</a:t>
            </a:r>
          </a:p>
        </p:txBody>
      </p:sp>
      <p:sp>
        <p:nvSpPr>
          <p:cNvPr id="13" name="TextBox 12"/>
          <p:cNvSpPr txBox="1"/>
          <p:nvPr/>
        </p:nvSpPr>
        <p:spPr>
          <a:xfrm>
            <a:off x="457200" y="4846320"/>
            <a:ext cx="8229600" cy="228600"/>
          </a:xfrm>
          <a:prstGeom prst="rect">
            <a:avLst/>
          </a:prstGeom>
          <a:noFill/>
        </p:spPr>
        <p:txBody>
          <a:bodyPr wrap="square">
            <a:spAutoFit/>
          </a:bodyPr>
          <a:lstStyle/>
          <a:p>
            <a:pPr algn="l">
              <a:defRPr sz="1000" b="0">
                <a:latin typeface="Malgun Gothic"/>
              </a:defRPr>
            </a:pPr>
            <a:r>
              <a:t>3 한국형 실증 프로젝트 [그린쉽-K] 추진</a:t>
            </a:r>
          </a:p>
        </p:txBody>
      </p:sp>
      <p:sp>
        <p:nvSpPr>
          <p:cNvPr id="14" name="TextBox 13"/>
          <p:cNvSpPr txBox="1"/>
          <p:nvPr/>
        </p:nvSpPr>
        <p:spPr>
          <a:xfrm>
            <a:off x="457200" y="5166360"/>
            <a:ext cx="8229600" cy="228600"/>
          </a:xfrm>
          <a:prstGeom prst="rect">
            <a:avLst/>
          </a:prstGeom>
          <a:noFill/>
        </p:spPr>
        <p:txBody>
          <a:bodyPr wrap="square">
            <a:spAutoFit/>
          </a:bodyPr>
          <a:lstStyle/>
          <a:p>
            <a:pPr algn="l">
              <a:defRPr sz="1000" b="0">
                <a:latin typeface="Malgun Gothic"/>
              </a:defRPr>
            </a:pPr>
            <a:r>
              <a:t>중점</a:t>
            </a:r>
            <a:br/>
            <a:r>
              <a:t>추진과제</a:t>
            </a:r>
          </a:p>
        </p:txBody>
      </p:sp>
      <p:sp>
        <p:nvSpPr>
          <p:cNvPr id="15" name="TextBox 14"/>
          <p:cNvSpPr txBox="1"/>
          <p:nvPr/>
        </p:nvSpPr>
        <p:spPr>
          <a:xfrm>
            <a:off x="457200" y="5486400"/>
            <a:ext cx="8229600" cy="228600"/>
          </a:xfrm>
          <a:prstGeom prst="rect">
            <a:avLst/>
          </a:prstGeom>
          <a:noFill/>
        </p:spPr>
        <p:txBody>
          <a:bodyPr wrap="square">
            <a:spAutoFit/>
          </a:bodyPr>
          <a:lstStyle/>
          <a:p>
            <a:pPr algn="l">
              <a:defRPr sz="1000" b="0">
                <a:latin typeface="Malgun Gothic"/>
              </a:defRPr>
            </a:pPr>
            <a:r>
              <a:t>4 연료공급 인프라 확충</a:t>
            </a:r>
          </a:p>
        </p:txBody>
      </p:sp>
      <p:sp>
        <p:nvSpPr>
          <p:cNvPr id="16" name="TextBox 15"/>
          <p:cNvSpPr txBox="1"/>
          <p:nvPr/>
        </p:nvSpPr>
        <p:spPr>
          <a:xfrm>
            <a:off x="457200" y="5806440"/>
            <a:ext cx="8229600" cy="228600"/>
          </a:xfrm>
          <a:prstGeom prst="rect">
            <a:avLst/>
          </a:prstGeom>
          <a:noFill/>
        </p:spPr>
        <p:txBody>
          <a:bodyPr wrap="square">
            <a:spAutoFit/>
          </a:bodyPr>
          <a:lstStyle/>
          <a:p>
            <a:pPr algn="l">
              <a:defRPr sz="1000" b="0">
                <a:latin typeface="Malgun Gothic"/>
              </a:defRPr>
            </a:pPr>
            <a:r>
              <a:t>5 친환경선박 보급 촉진</a:t>
            </a:r>
          </a:p>
        </p:txBody>
      </p:sp>
      <p:sp>
        <p:nvSpPr>
          <p:cNvPr id="17" name="TextBox 16"/>
          <p:cNvSpPr txBox="1"/>
          <p:nvPr/>
        </p:nvSpPr>
        <p:spPr>
          <a:xfrm>
            <a:off x="457200" y="6126480"/>
            <a:ext cx="8229600" cy="228600"/>
          </a:xfrm>
          <a:prstGeom prst="rect">
            <a:avLst/>
          </a:prstGeom>
          <a:noFill/>
        </p:spPr>
        <p:txBody>
          <a:bodyPr wrap="square">
            <a:spAutoFit/>
          </a:bodyPr>
          <a:lstStyle/>
          <a:p>
            <a:pPr algn="l">
              <a:defRPr sz="1000" b="0">
                <a:latin typeface="Malgun Gothic"/>
              </a:defRPr>
            </a:pPr>
            <a:r>
              <a:t>6 친환경 선박시장 주도 생태계 조성</a:t>
            </a:r>
          </a:p>
        </p:txBody>
      </p:sp>
      <p:sp>
        <p:nvSpPr>
          <p:cNvPr id="18" name="TextBox 17"/>
          <p:cNvSpPr txBox="1"/>
          <p:nvPr/>
        </p:nvSpPr>
        <p:spPr>
          <a:xfrm>
            <a:off x="457200" y="6446520"/>
            <a:ext cx="8229600" cy="274320"/>
          </a:xfrm>
          <a:prstGeom prst="rect">
            <a:avLst/>
          </a:prstGeom>
          <a:noFill/>
        </p:spPr>
        <p:txBody>
          <a:bodyPr wrap="square">
            <a:spAutoFit/>
          </a:bodyPr>
          <a:lstStyle/>
          <a:p>
            <a:pPr algn="l">
              <a:defRPr sz="1200" b="1">
                <a:solidFill>
                  <a:srgbClr val="003366"/>
                </a:solidFill>
                <a:latin typeface="Malgun Gothic"/>
              </a:defRPr>
            </a:pPr>
            <a:r>
              <a:t>5. 친환경선박 보급 촉진 - ① 공공부문 선제적 전환</a:t>
            </a:r>
          </a:p>
        </p:txBody>
      </p:sp>
      <p:sp>
        <p:nvSpPr>
          <p:cNvPr id="19" name="TextBox 18"/>
          <p:cNvSpPr txBox="1"/>
          <p:nvPr/>
        </p:nvSpPr>
        <p:spPr>
          <a:xfrm>
            <a:off x="457200" y="6812280"/>
            <a:ext cx="8229600" cy="457200"/>
          </a:xfrm>
          <a:prstGeom prst="rect">
            <a:avLst/>
          </a:prstGeom>
          <a:noFill/>
        </p:spPr>
        <p:txBody>
          <a:bodyPr wrap="square">
            <a:spAutoFit/>
          </a:bodyPr>
          <a:lstStyle/>
          <a:p>
            <a:pPr algn="l">
              <a:defRPr sz="1000" b="0">
                <a:latin typeface="Malgun Gothic"/>
              </a:defRPr>
            </a:pPr>
            <a:r>
              <a:t>공공부문 보유선박의 선제적 전환 및 민간부문 보급 확산</a:t>
            </a:r>
            <a:br/>
            <a:r>
              <a:t>* 2030년까지 528척(관공선 388, 민간 140) 친환경 전환(15%)</a:t>
            </a:r>
          </a:p>
        </p:txBody>
      </p:sp>
      <p:sp>
        <p:nvSpPr>
          <p:cNvPr id="20" name="TextBox 19"/>
          <p:cNvSpPr txBox="1"/>
          <p:nvPr/>
        </p:nvSpPr>
        <p:spPr>
          <a:xfrm>
            <a:off x="457200" y="7360920"/>
            <a:ext cx="8229600" cy="457200"/>
          </a:xfrm>
          <a:prstGeom prst="rect">
            <a:avLst/>
          </a:prstGeom>
          <a:noFill/>
        </p:spPr>
        <p:txBody>
          <a:bodyPr wrap="square">
            <a:spAutoFit/>
          </a:bodyPr>
          <a:lstStyle/>
          <a:p>
            <a:pPr algn="l">
              <a:defRPr sz="1000" b="0">
                <a:latin typeface="Malgun Gothic"/>
              </a:defRPr>
            </a:pPr>
            <a:r>
              <a:t>✓ 공공선박의 친환경선박 전환비율을 '30년까지</a:t>
            </a:r>
            <a:br/>
            <a:r>
              <a:t>83%수준으로 확대</a:t>
            </a:r>
            <a:br/>
            <a:r>
              <a:t>* ('20) 1% → ('25) 20% → ('30) 83%</a:t>
            </a:r>
          </a:p>
        </p:txBody>
      </p:sp>
      <p:sp>
        <p:nvSpPr>
          <p:cNvPr id="21" name="TextBox 20"/>
          <p:cNvSpPr txBox="1"/>
          <p:nvPr/>
        </p:nvSpPr>
        <p:spPr>
          <a:xfrm>
            <a:off x="457200" y="7909560"/>
            <a:ext cx="8229600" cy="457200"/>
          </a:xfrm>
          <a:prstGeom prst="rect">
            <a:avLst/>
          </a:prstGeom>
          <a:noFill/>
        </p:spPr>
        <p:txBody>
          <a:bodyPr wrap="square">
            <a:spAutoFit/>
          </a:bodyPr>
          <a:lstStyle/>
          <a:p>
            <a:pPr algn="l">
              <a:defRPr sz="1000" b="0">
                <a:latin typeface="Malgun Gothic"/>
              </a:defRPr>
            </a:pPr>
            <a:r>
              <a:t>bar chart showing 1% at 2020, 20% at 2025, 83% at 2030</a:t>
            </a:r>
          </a:p>
        </p:txBody>
      </p:sp>
      <p:sp>
        <p:nvSpPr>
          <p:cNvPr id="22" name="TextBox 21"/>
          <p:cNvSpPr txBox="1"/>
          <p:nvPr/>
        </p:nvSpPr>
        <p:spPr>
          <a:xfrm>
            <a:off x="457200" y="8458200"/>
            <a:ext cx="8229600" cy="457200"/>
          </a:xfrm>
          <a:prstGeom prst="rect">
            <a:avLst/>
          </a:prstGeom>
          <a:noFill/>
        </p:spPr>
        <p:txBody>
          <a:bodyPr wrap="square">
            <a:spAutoFit/>
          </a:bodyPr>
          <a:lstStyle/>
          <a:p>
            <a:pPr algn="l">
              <a:defRPr sz="1000" b="0">
                <a:latin typeface="Malgun Gothic"/>
              </a:defRPr>
            </a:pPr>
            <a:r>
              <a:t>✓ 노후관공선 199척을 친환경선박(LNG·하이브리드)으로 대체건조하고,</a:t>
            </a:r>
            <a:br/>
            <a:r>
              <a:t>선령 10년 미만 189척 친환경 개조(저감장치 장착 등)</a:t>
            </a:r>
          </a:p>
        </p:txBody>
      </p:sp>
      <p:sp>
        <p:nvSpPr>
          <p:cNvPr id="23" name="TextBox 22"/>
          <p:cNvSpPr txBox="1"/>
          <p:nvPr/>
        </p:nvSpPr>
        <p:spPr>
          <a:xfrm>
            <a:off x="457200" y="9006840"/>
            <a:ext cx="8229600" cy="914400"/>
          </a:xfrm>
          <a:prstGeom prst="rect">
            <a:avLst/>
          </a:prstGeom>
          <a:noFill/>
        </p:spPr>
        <p:txBody>
          <a:bodyPr wrap="square">
            <a:spAutoFit/>
          </a:bodyPr>
          <a:lstStyle/>
          <a:p>
            <a:pPr algn="l">
              <a:defRPr sz="900" b="0">
                <a:latin typeface="Malgun Gothic"/>
              </a:defRPr>
            </a:pPr>
            <a:r>
              <a:t>[TABLE]</a:t>
            </a:r>
            <a:br/>
            <a:r>
              <a:t>Table with columns: 방식, LNG 추진, 전기추진, 하이브리드, 저감장치장착. Rows: 대상(안), 200톤 이상, 200톤 미만 (운항시간 2시간 이내), 200톤 미만 또는 LNG 또는 전기추진 적용불가 선박, 선령 10년 이하 또는 친환경기술 적용이 어려운 선박</a:t>
            </a:r>
          </a:p>
        </p:txBody>
      </p:sp>
      <p:sp>
        <p:nvSpPr>
          <p:cNvPr id="24" name="TextBox 23"/>
          <p:cNvSpPr txBox="1"/>
          <p:nvPr/>
        </p:nvSpPr>
        <p:spPr>
          <a:xfrm>
            <a:off x="457200" y="10012680"/>
            <a:ext cx="8229600" cy="457200"/>
          </a:xfrm>
          <a:prstGeom prst="rect">
            <a:avLst/>
          </a:prstGeom>
          <a:noFill/>
        </p:spPr>
        <p:txBody>
          <a:bodyPr wrap="square">
            <a:spAutoFit/>
          </a:bodyPr>
          <a:lstStyle/>
          <a:p>
            <a:pPr algn="l">
              <a:defRPr sz="1000" b="0">
                <a:latin typeface="Malgun Gothic"/>
              </a:defRPr>
            </a:pPr>
            <a:r>
              <a:t>※ (한국판 뉴딜, ~'25) : 해수부·해경 소속 관공선·함정 등 총 114척을</a:t>
            </a:r>
            <a:br/>
            <a:r>
              <a:t>친환경선박으로 전환 추진(해수부: 29척 건조, 80척 개조, 해경: 5척 건조)</a:t>
            </a:r>
          </a:p>
        </p:txBody>
      </p:sp>
      <p:sp>
        <p:nvSpPr>
          <p:cNvPr id="25" name="TextBox 24"/>
          <p:cNvSpPr txBox="1"/>
          <p:nvPr/>
        </p:nvSpPr>
        <p:spPr>
          <a:xfrm>
            <a:off x="457200" y="10561320"/>
            <a:ext cx="8229600" cy="228600"/>
          </a:xfrm>
          <a:prstGeom prst="rect">
            <a:avLst/>
          </a:prstGeom>
          <a:noFill/>
        </p:spPr>
        <p:txBody>
          <a:bodyPr wrap="square">
            <a:spAutoFit/>
          </a:bodyPr>
          <a:lstStyle/>
          <a:p>
            <a:pPr algn="l">
              <a:defRPr sz="1000" b="0">
                <a:latin typeface="Malgun Gothic"/>
              </a:defRPr>
            </a:pPr>
            <a:r>
              <a:t>① 공공부문 선제적 전환</a:t>
            </a:r>
            <a:br/>
            <a:r>
              <a:t>② 민간부문 전환 확산</a:t>
            </a:r>
          </a:p>
        </p:txBody>
      </p:sp>
      <p:sp>
        <p:nvSpPr>
          <p:cNvPr id="26" name="TextBox 25"/>
          <p:cNvSpPr txBox="1"/>
          <p:nvPr/>
        </p:nvSpPr>
        <p:spPr>
          <a:xfrm>
            <a:off x="457200" y="10881360"/>
            <a:ext cx="8229600" cy="274320"/>
          </a:xfrm>
          <a:prstGeom prst="rect">
            <a:avLst/>
          </a:prstGeom>
          <a:noFill/>
        </p:spPr>
        <p:txBody>
          <a:bodyPr wrap="square">
            <a:spAutoFit/>
          </a:bodyPr>
          <a:lstStyle/>
          <a:p>
            <a:pPr algn="l">
              <a:defRPr sz="1200" b="1">
                <a:solidFill>
                  <a:srgbClr val="003366"/>
                </a:solidFill>
                <a:latin typeface="Malgun Gothic"/>
              </a:defRPr>
            </a:pPr>
            <a:r>
              <a:t>Key Findings</a:t>
            </a:r>
          </a:p>
        </p:txBody>
      </p:sp>
      <p:sp>
        <p:nvSpPr>
          <p:cNvPr id="27" name="TextBox 26"/>
          <p:cNvSpPr txBox="1"/>
          <p:nvPr/>
        </p:nvSpPr>
        <p:spPr>
          <a:xfrm>
            <a:off x="457200" y="11247120"/>
            <a:ext cx="8229600" cy="685800"/>
          </a:xfrm>
          <a:prstGeom prst="rect">
            <a:avLst/>
          </a:prstGeom>
          <a:noFill/>
        </p:spPr>
        <p:txBody>
          <a:bodyPr wrap="square">
            <a:spAutoFit/>
          </a:bodyPr>
          <a:lstStyle/>
          <a:p>
            <a:pPr algn="l">
              <a:defRPr sz="1000" b="0">
                <a:latin typeface="Malgun Gothic"/>
              </a:defRPr>
            </a:pPr>
            <a:r>
              <a:t>✓ 공단은 공공부문 선제적 전환에 따라 544톤급 LNG 예방선을</a:t>
            </a:r>
            <a:br/>
            <a:r>
              <a:t>건조 중이며, '30년까지 전체 예방선의 전환이 필요함</a:t>
            </a:r>
            <a:br/>
            <a:r>
              <a:t>✓ 친환경선박 전환은 기존 선박보다 높은(LNG 예방선은 3배</a:t>
            </a:r>
            <a:br/>
            <a:r>
              <a:t>수준) 건조비용으로 재정부담 증가, 사업성 등 문제 발생</a:t>
            </a:r>
          </a:p>
        </p:txBody>
      </p:sp>
      <p:sp>
        <p:nvSpPr>
          <p:cNvPr id="28" name="TextBox 27"/>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 Source: 2030 한국형 친환경선박(Greenship-K) 추진전략, 2020. 12. 23, 관계부처 합동</a:t>
            </a:r>
            <a:br/>
            <a:r>
              <a:t>KOEM 해양환경공단 33 | Page 34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제1차 해양폐기물 및 해양오염퇴적물 관리 기본계획 (1/2)</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'제1차 해양폐기물 및 해양오염퇴적물 관리 기본계획'은 예방부터 수거·처리, 인식 개선까지 전주기적 관리 강화에 중점을 두고 있으며, 해양폐기물관리센터의 기능 확대와 전문성 강화 등에서 공단의 역할이 요구되고 있음</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제1차 해양폐기물 및 해양오염퇴적물 관리 기본계획</a:t>
            </a:r>
          </a:p>
        </p:txBody>
      </p:sp>
      <p:sp>
        <p:nvSpPr>
          <p:cNvPr id="5" name="TextBox 4"/>
          <p:cNvSpPr txBox="1"/>
          <p:nvPr/>
        </p:nvSpPr>
        <p:spPr>
          <a:xfrm>
            <a:off x="457200" y="1828800"/>
            <a:ext cx="4023360" cy="457200"/>
          </a:xfrm>
          <a:prstGeom prst="rect">
            <a:avLst/>
          </a:prstGeom>
          <a:noFill/>
        </p:spPr>
        <p:txBody>
          <a:bodyPr wrap="square">
            <a:spAutoFit/>
          </a:bodyPr>
          <a:lstStyle/>
          <a:p>
            <a:pPr algn="l">
              <a:defRPr sz="1000" b="0">
                <a:latin typeface="Malgun Gothic"/>
              </a:defRPr>
            </a:pPr>
            <a:r>
              <a:t>비전</a:t>
            </a:r>
            <a:br/>
            <a:r>
              <a:t>목표</a:t>
            </a:r>
            <a:br/>
            <a:r>
              <a:t>해양플라스틱폐기물 발생량 2030년 60% 감축, 2050년 제로화 달성</a:t>
            </a:r>
            <a:br/>
            <a:r>
              <a:t>(現)6.7만톤 → ('30)2.7만톤→ ('50)0</a:t>
            </a:r>
          </a:p>
        </p:txBody>
      </p:sp>
      <p:sp>
        <p:nvSpPr>
          <p:cNvPr id="6" name="TextBox 5"/>
          <p:cNvSpPr txBox="1"/>
          <p:nvPr/>
        </p:nvSpPr>
        <p:spPr>
          <a:xfrm>
            <a:off x="457200" y="2377440"/>
            <a:ext cx="4023360" cy="457200"/>
          </a:xfrm>
          <a:prstGeom prst="rect">
            <a:avLst/>
          </a:prstGeom>
          <a:noFill/>
        </p:spPr>
        <p:txBody>
          <a:bodyPr wrap="square">
            <a:spAutoFit/>
          </a:bodyPr>
          <a:lstStyle/>
          <a:p>
            <a:pPr algn="l">
              <a:defRPr sz="1000" b="0">
                <a:latin typeface="Malgun Gothic"/>
              </a:defRPr>
            </a:pPr>
            <a:r>
              <a:t>깨끗한 해양환경 조성으로 다 함께 누리는 건강한 미래</a:t>
            </a:r>
            <a:br/>
            <a:r>
              <a:t>해양폐기물 및 해양오염퇴적물 관리체계 개선으로</a:t>
            </a:r>
            <a:br/>
            <a:r>
              <a:t>해양환경의 건강성 조성</a:t>
            </a:r>
          </a:p>
        </p:txBody>
      </p:sp>
      <p:sp>
        <p:nvSpPr>
          <p:cNvPr id="7" name="TextBox 6"/>
          <p:cNvSpPr txBox="1"/>
          <p:nvPr/>
        </p:nvSpPr>
        <p:spPr>
          <a:xfrm>
            <a:off x="457200" y="2926080"/>
            <a:ext cx="4023360" cy="228600"/>
          </a:xfrm>
          <a:prstGeom prst="rect">
            <a:avLst/>
          </a:prstGeom>
          <a:noFill/>
        </p:spPr>
        <p:txBody>
          <a:bodyPr wrap="square">
            <a:spAutoFit/>
          </a:bodyPr>
          <a:lstStyle/>
          <a:p>
            <a:pPr algn="l">
              <a:defRPr sz="1000" b="0">
                <a:latin typeface="Malgun Gothic"/>
              </a:defRPr>
            </a:pPr>
            <a:r>
              <a:t>해양폐기물 관리 전략</a:t>
            </a:r>
          </a:p>
        </p:txBody>
      </p:sp>
      <p:sp>
        <p:nvSpPr>
          <p:cNvPr id="8" name="TextBox 7"/>
          <p:cNvSpPr txBox="1"/>
          <p:nvPr/>
        </p:nvSpPr>
        <p:spPr>
          <a:xfrm>
            <a:off x="457200" y="3246120"/>
            <a:ext cx="4023360" cy="228600"/>
          </a:xfrm>
          <a:prstGeom prst="rect">
            <a:avLst/>
          </a:prstGeom>
          <a:noFill/>
        </p:spPr>
        <p:txBody>
          <a:bodyPr wrap="square">
            <a:spAutoFit/>
          </a:bodyPr>
          <a:lstStyle/>
          <a:p>
            <a:pPr algn="l">
              <a:defRPr sz="1000" b="0">
                <a:latin typeface="Malgun Gothic"/>
              </a:defRPr>
            </a:pPr>
            <a:r>
              <a:t>추진 전략</a:t>
            </a:r>
          </a:p>
        </p:txBody>
      </p:sp>
      <p:sp>
        <p:nvSpPr>
          <p:cNvPr id="9" name="TextBox 8"/>
          <p:cNvSpPr txBox="1"/>
          <p:nvPr/>
        </p:nvSpPr>
        <p:spPr>
          <a:xfrm>
            <a:off x="457200" y="3566160"/>
            <a:ext cx="4023360" cy="228600"/>
          </a:xfrm>
          <a:prstGeom prst="rect">
            <a:avLst/>
          </a:prstGeom>
          <a:noFill/>
        </p:spPr>
        <p:txBody>
          <a:bodyPr wrap="square">
            <a:spAutoFit/>
          </a:bodyPr>
          <a:lstStyle/>
          <a:p>
            <a:pPr algn="l">
              <a:defRPr sz="1000" b="0">
                <a:latin typeface="Malgun Gothic"/>
              </a:defRPr>
            </a:pPr>
            <a:r>
              <a:t>추진 과제</a:t>
            </a:r>
          </a:p>
        </p:txBody>
      </p:sp>
      <p:sp>
        <p:nvSpPr>
          <p:cNvPr id="10" name="TextBox 9"/>
          <p:cNvSpPr txBox="1"/>
          <p:nvPr/>
        </p:nvSpPr>
        <p:spPr>
          <a:xfrm>
            <a:off x="457200" y="3886200"/>
            <a:ext cx="4023360" cy="228600"/>
          </a:xfrm>
          <a:prstGeom prst="rect">
            <a:avLst/>
          </a:prstGeom>
          <a:noFill/>
        </p:spPr>
        <p:txBody>
          <a:bodyPr wrap="square">
            <a:spAutoFit/>
          </a:bodyPr>
          <a:lstStyle/>
          <a:p>
            <a:pPr algn="l">
              <a:defRPr sz="1000" b="0">
                <a:latin typeface="Malgun Gothic"/>
              </a:defRPr>
            </a:pPr>
            <a:r>
              <a:t>① 해상발생원 관리 강화</a:t>
            </a:r>
            <a:br/>
            <a:r>
              <a:t>② 육상 발생원 관리강화</a:t>
            </a:r>
            <a:br/>
            <a:r>
              <a:t>③ 외국 발생원 관리 강화</a:t>
            </a:r>
          </a:p>
        </p:txBody>
      </p:sp>
      <p:sp>
        <p:nvSpPr>
          <p:cNvPr id="11" name="TextBox 10"/>
          <p:cNvSpPr txBox="1"/>
          <p:nvPr/>
        </p:nvSpPr>
        <p:spPr>
          <a:xfrm>
            <a:off x="457200" y="4206240"/>
            <a:ext cx="4023360" cy="228600"/>
          </a:xfrm>
          <a:prstGeom prst="rect">
            <a:avLst/>
          </a:prstGeom>
          <a:noFill/>
        </p:spPr>
        <p:txBody>
          <a:bodyPr wrap="square">
            <a:spAutoFit/>
          </a:bodyPr>
          <a:lstStyle/>
          <a:p>
            <a:pPr algn="l">
              <a:defRPr sz="1000" b="0">
                <a:latin typeface="Malgun Gothic"/>
              </a:defRPr>
            </a:pPr>
            <a:r>
              <a:t>① 수거 사각지대 해소</a:t>
            </a:r>
            <a:br/>
            <a:r>
              <a:t>② 민관협력 및 지역참여 활성화</a:t>
            </a:r>
            <a:br/>
            <a:r>
              <a:t>③ 수거체계 효율화</a:t>
            </a:r>
          </a:p>
        </p:txBody>
      </p:sp>
      <p:sp>
        <p:nvSpPr>
          <p:cNvPr id="12" name="TextBox 11"/>
          <p:cNvSpPr txBox="1"/>
          <p:nvPr/>
        </p:nvSpPr>
        <p:spPr>
          <a:xfrm>
            <a:off x="457200" y="4526280"/>
            <a:ext cx="4023360" cy="228600"/>
          </a:xfrm>
          <a:prstGeom prst="rect">
            <a:avLst/>
          </a:prstGeom>
          <a:noFill/>
        </p:spPr>
        <p:txBody>
          <a:bodyPr wrap="square">
            <a:spAutoFit/>
          </a:bodyPr>
          <a:lstStyle/>
          <a:p>
            <a:pPr algn="l">
              <a:defRPr sz="1000" b="0">
                <a:latin typeface="Malgun Gothic"/>
              </a:defRPr>
            </a:pPr>
            <a:r>
              <a:t>① 처리 인프라 확충 및 관리 강화</a:t>
            </a:r>
            <a:br/>
            <a:r>
              <a:t>② 재활용 활성화 기반 조성</a:t>
            </a:r>
          </a:p>
        </p:txBody>
      </p:sp>
      <p:sp>
        <p:nvSpPr>
          <p:cNvPr id="13" name="TextBox 12"/>
          <p:cNvSpPr txBox="1"/>
          <p:nvPr/>
        </p:nvSpPr>
        <p:spPr>
          <a:xfrm>
            <a:off x="457200" y="4846320"/>
            <a:ext cx="4023360" cy="685800"/>
          </a:xfrm>
          <a:prstGeom prst="rect">
            <a:avLst/>
          </a:prstGeom>
          <a:noFill/>
        </p:spPr>
        <p:txBody>
          <a:bodyPr wrap="square">
            <a:spAutoFit/>
          </a:bodyPr>
          <a:lstStyle/>
          <a:p>
            <a:pPr algn="l">
              <a:defRPr sz="1000" b="0">
                <a:latin typeface="Malgun Gothic"/>
              </a:defRPr>
            </a:pPr>
            <a:r>
              <a:t>① 거버넌스 구축·운영 및 관리</a:t>
            </a:r>
            <a:br/>
            <a:r>
              <a:t>전문성·이행력 강화</a:t>
            </a:r>
            <a:br/>
            <a:r>
              <a:t>② 스마트 관리기반 구축</a:t>
            </a:r>
            <a:br/>
            <a:r>
              <a:t>③ 해양플라스틱 관리 기반 구축</a:t>
            </a:r>
            <a:br/>
            <a:r>
              <a:t>④ 해양배출 관리 기반 구축</a:t>
            </a:r>
            <a:br/>
            <a:r>
              <a:t>⑤ 국제 현안 대응 및 협력 강화</a:t>
            </a:r>
            <a:br/>
            <a:r>
              <a:t>⑥ 재원확보</a:t>
            </a:r>
          </a:p>
        </p:txBody>
      </p:sp>
      <p:sp>
        <p:nvSpPr>
          <p:cNvPr id="14" name="TextBox 13"/>
          <p:cNvSpPr txBox="1"/>
          <p:nvPr/>
        </p:nvSpPr>
        <p:spPr>
          <a:xfrm>
            <a:off x="457200" y="5623560"/>
            <a:ext cx="4023360" cy="228600"/>
          </a:xfrm>
          <a:prstGeom prst="rect">
            <a:avLst/>
          </a:prstGeom>
          <a:noFill/>
        </p:spPr>
        <p:txBody>
          <a:bodyPr wrap="square">
            <a:spAutoFit/>
          </a:bodyPr>
          <a:lstStyle/>
          <a:p>
            <a:pPr algn="l">
              <a:defRPr sz="1000" b="0">
                <a:latin typeface="Malgun Gothic"/>
              </a:defRPr>
            </a:pPr>
            <a:r>
              <a:t>① 국민 참여 확대</a:t>
            </a:r>
            <a:br/>
            <a:r>
              <a:t>② 맞춤형 교육 강화</a:t>
            </a:r>
          </a:p>
        </p:txBody>
      </p:sp>
      <p:sp>
        <p:nvSpPr>
          <p:cNvPr id="15" name="TextBox 14"/>
          <p:cNvSpPr txBox="1"/>
          <p:nvPr/>
        </p:nvSpPr>
        <p:spPr>
          <a:xfrm>
            <a:off x="457200" y="5943600"/>
            <a:ext cx="4023360" cy="228600"/>
          </a:xfrm>
          <a:prstGeom prst="rect">
            <a:avLst/>
          </a:prstGeom>
          <a:noFill/>
        </p:spPr>
        <p:txBody>
          <a:bodyPr wrap="square">
            <a:spAutoFit/>
          </a:bodyPr>
          <a:lstStyle/>
          <a:p>
            <a:pPr algn="l">
              <a:defRPr sz="1000" b="0">
                <a:latin typeface="Malgun Gothic"/>
              </a:defRPr>
            </a:pPr>
            <a:r>
              <a:t>발생 예방</a:t>
            </a:r>
          </a:p>
        </p:txBody>
      </p:sp>
      <p:sp>
        <p:nvSpPr>
          <p:cNvPr id="16" name="TextBox 15"/>
          <p:cNvSpPr txBox="1"/>
          <p:nvPr/>
        </p:nvSpPr>
        <p:spPr>
          <a:xfrm>
            <a:off x="457200" y="6263640"/>
            <a:ext cx="4023360" cy="228600"/>
          </a:xfrm>
          <a:prstGeom prst="rect">
            <a:avLst/>
          </a:prstGeom>
          <a:noFill/>
        </p:spPr>
        <p:txBody>
          <a:bodyPr wrap="square">
            <a:spAutoFit/>
          </a:bodyPr>
          <a:lstStyle/>
          <a:p>
            <a:pPr algn="l">
              <a:defRPr sz="1000" b="0">
                <a:latin typeface="Malgun Gothic"/>
              </a:defRPr>
            </a:pPr>
            <a:r>
              <a:t>수거·운반체계 개선</a:t>
            </a:r>
          </a:p>
        </p:txBody>
      </p:sp>
      <p:sp>
        <p:nvSpPr>
          <p:cNvPr id="17" name="TextBox 16"/>
          <p:cNvSpPr txBox="1"/>
          <p:nvPr/>
        </p:nvSpPr>
        <p:spPr>
          <a:xfrm>
            <a:off x="457200" y="6583680"/>
            <a:ext cx="4023360" cy="228600"/>
          </a:xfrm>
          <a:prstGeom prst="rect">
            <a:avLst/>
          </a:prstGeom>
          <a:noFill/>
        </p:spPr>
        <p:txBody>
          <a:bodyPr wrap="square">
            <a:spAutoFit/>
          </a:bodyPr>
          <a:lstStyle/>
          <a:p>
            <a:pPr algn="l">
              <a:defRPr sz="1000" b="0">
                <a:latin typeface="Malgun Gothic"/>
              </a:defRPr>
            </a:pPr>
            <a:r>
              <a:t>처리·재활용 촉진</a:t>
            </a:r>
          </a:p>
        </p:txBody>
      </p:sp>
      <p:sp>
        <p:nvSpPr>
          <p:cNvPr id="18" name="TextBox 17"/>
          <p:cNvSpPr txBox="1"/>
          <p:nvPr/>
        </p:nvSpPr>
        <p:spPr>
          <a:xfrm>
            <a:off x="457200" y="6903720"/>
            <a:ext cx="4023360" cy="228600"/>
          </a:xfrm>
          <a:prstGeom prst="rect">
            <a:avLst/>
          </a:prstGeom>
          <a:noFill/>
        </p:spPr>
        <p:txBody>
          <a:bodyPr wrap="square">
            <a:spAutoFit/>
          </a:bodyPr>
          <a:lstStyle/>
          <a:p>
            <a:pPr algn="l">
              <a:defRPr sz="1000" b="0">
                <a:latin typeface="Malgun Gothic"/>
              </a:defRPr>
            </a:pPr>
            <a:r>
              <a:t>관리기반 강화</a:t>
            </a:r>
          </a:p>
        </p:txBody>
      </p:sp>
      <p:sp>
        <p:nvSpPr>
          <p:cNvPr id="19" name="TextBox 18"/>
          <p:cNvSpPr txBox="1"/>
          <p:nvPr/>
        </p:nvSpPr>
        <p:spPr>
          <a:xfrm>
            <a:off x="457200" y="7223760"/>
            <a:ext cx="4023360" cy="228600"/>
          </a:xfrm>
          <a:prstGeom prst="rect">
            <a:avLst/>
          </a:prstGeom>
          <a:noFill/>
        </p:spPr>
        <p:txBody>
          <a:bodyPr wrap="square">
            <a:spAutoFit/>
          </a:bodyPr>
          <a:lstStyle/>
          <a:p>
            <a:pPr algn="l">
              <a:defRPr sz="1000" b="0">
                <a:latin typeface="Malgun Gothic"/>
              </a:defRPr>
            </a:pPr>
            <a:r>
              <a:t>국민인식 제고</a:t>
            </a:r>
          </a:p>
        </p:txBody>
      </p:sp>
      <p:sp>
        <p:nvSpPr>
          <p:cNvPr id="20" name="TextBox 19"/>
          <p:cNvSpPr txBox="1"/>
          <p:nvPr/>
        </p:nvSpPr>
        <p:spPr>
          <a:xfrm>
            <a:off x="4663440" y="1828800"/>
            <a:ext cx="4023360" cy="914400"/>
          </a:xfrm>
          <a:prstGeom prst="rect">
            <a:avLst/>
          </a:prstGeom>
          <a:noFill/>
        </p:spPr>
        <p:txBody>
          <a:bodyPr wrap="square">
            <a:spAutoFit/>
          </a:bodyPr>
          <a:lstStyle/>
          <a:p>
            <a:pPr algn="l">
              <a:defRPr sz="1000" b="0">
                <a:latin typeface="Malgun Gothic"/>
              </a:defRPr>
            </a:pPr>
            <a:r>
              <a:t>&lt;강·하천 유역 폐기물 총량관리제 단계적 도입·시행 방안&gt;</a:t>
            </a:r>
            <a:br/>
            <a:r>
              <a:t>(1단계) 5대강 유역 폐기물 발생량 추정 및 하구역 모니터링을 통합 해양 유입량</a:t>
            </a:r>
            <a:br/>
            <a:r>
              <a:t>산정</a:t>
            </a:r>
            <a:br/>
            <a:r>
              <a:t>(2단계) 중장기 감축 목표 설정 및 유역 지자체의 폐기물 중장기 감축량 할당 산정</a:t>
            </a:r>
            <a:br/>
            <a:r>
              <a:t>(3단계) 5대강 중 하나에 시범 적용 및 추진 협의체 구성·운영</a:t>
            </a:r>
          </a:p>
        </p:txBody>
      </p:sp>
      <p:sp>
        <p:nvSpPr>
          <p:cNvPr id="21" name="TextBox 20"/>
          <p:cNvSpPr txBox="1"/>
          <p:nvPr/>
        </p:nvSpPr>
        <p:spPr>
          <a:xfrm>
            <a:off x="4663440" y="2834640"/>
            <a:ext cx="4023360" cy="914400"/>
          </a:xfrm>
          <a:prstGeom prst="rect">
            <a:avLst/>
          </a:prstGeom>
          <a:noFill/>
        </p:spPr>
        <p:txBody>
          <a:bodyPr wrap="square">
            <a:spAutoFit/>
          </a:bodyPr>
          <a:lstStyle/>
          <a:p>
            <a:pPr algn="l">
              <a:defRPr sz="1000" b="0">
                <a:latin typeface="Malgun Gothic"/>
              </a:defRPr>
            </a:pPr>
            <a:r>
              <a:t>• 홍수·태풍 등 재해발생 시 대량 유입되는 폐기물에 대한 대응 체계 마련</a:t>
            </a:r>
            <a:br/>
            <a:r>
              <a:t>• 국립공원 내 해양폐기물 합동 수거 활동 및 관계기관 협의체 운영</a:t>
            </a:r>
            <a:br/>
            <a:r>
              <a:t>• 인공위성, 드론 등을 활용한 ICT 기반 모니터링 체계 개편과 해양폐기물 발생 및</a:t>
            </a:r>
            <a:br/>
            <a:r>
              <a:t>이동경로 등 예측 시스템 개발</a:t>
            </a:r>
            <a:br/>
            <a:r>
              <a:t>■ 해안가 미세플라스틱 및 접근이 어려운 지역의 해양쓰레기 수거 장비 기술 개발</a:t>
            </a:r>
          </a:p>
        </p:txBody>
      </p:sp>
      <p:sp>
        <p:nvSpPr>
          <p:cNvPr id="22" name="TextBox 21"/>
          <p:cNvSpPr txBox="1"/>
          <p:nvPr/>
        </p:nvSpPr>
        <p:spPr>
          <a:xfrm>
            <a:off x="4663440" y="3840480"/>
            <a:ext cx="4023360" cy="457200"/>
          </a:xfrm>
          <a:prstGeom prst="rect">
            <a:avLst/>
          </a:prstGeom>
          <a:noFill/>
        </p:spPr>
        <p:txBody>
          <a:bodyPr wrap="square">
            <a:spAutoFit/>
          </a:bodyPr>
          <a:lstStyle/>
          <a:p>
            <a:pPr algn="l">
              <a:defRPr sz="1000" b="0">
                <a:latin typeface="Malgun Gothic"/>
              </a:defRPr>
            </a:pPr>
            <a:r>
              <a:t>• 해양폐기물관리 위원회를 설치·운영하고, 해양폐기물관리센터의 활성화 및 기능을</a:t>
            </a:r>
            <a:br/>
            <a:r>
              <a:t>확대하여 전문성을 강화</a:t>
            </a:r>
            <a:br/>
            <a:r>
              <a:t>• 미세플라스틱 분표현황의 주기적 조사 및 이동 특성 분석</a:t>
            </a:r>
          </a:p>
        </p:txBody>
      </p:sp>
      <p:sp>
        <p:nvSpPr>
          <p:cNvPr id="23" name="TextBox 22"/>
          <p:cNvSpPr txBox="1"/>
          <p:nvPr/>
        </p:nvSpPr>
        <p:spPr>
          <a:xfrm>
            <a:off x="4663440" y="4389120"/>
            <a:ext cx="4023360" cy="457200"/>
          </a:xfrm>
          <a:prstGeom prst="rect">
            <a:avLst/>
          </a:prstGeom>
          <a:noFill/>
        </p:spPr>
        <p:txBody>
          <a:bodyPr wrap="square">
            <a:spAutoFit/>
          </a:bodyPr>
          <a:lstStyle/>
          <a:p>
            <a:pPr algn="l">
              <a:defRPr sz="1000" b="0">
                <a:latin typeface="Malgun Gothic"/>
              </a:defRPr>
            </a:pPr>
            <a:r>
              <a:t>• 국민의 적극적인 참여를 유도하기 위해 다양한 국민 참여 프로그램 발굴</a:t>
            </a:r>
            <a:br/>
            <a:r>
              <a:t>• 다양한 계층에 대한 교육 프로그램 제작·보급</a:t>
            </a:r>
          </a:p>
        </p:txBody>
      </p:sp>
      <p:sp>
        <p:nvSpPr>
          <p:cNvPr id="24" name="TextBox 23"/>
          <p:cNvSpPr txBox="1"/>
          <p:nvPr/>
        </p:nvSpPr>
        <p:spPr>
          <a:xfrm>
            <a:off x="4663440" y="4937760"/>
            <a:ext cx="4023360" cy="228600"/>
          </a:xfrm>
          <a:prstGeom prst="rect">
            <a:avLst/>
          </a:prstGeom>
          <a:noFill/>
        </p:spPr>
        <p:txBody>
          <a:bodyPr wrap="square">
            <a:spAutoFit/>
          </a:bodyPr>
          <a:lstStyle/>
          <a:p>
            <a:pPr algn="l">
              <a:defRPr sz="1000" b="0">
                <a:latin typeface="Malgun Gothic"/>
              </a:defRPr>
            </a:pPr>
            <a:r>
              <a:t>Key</a:t>
            </a:r>
            <a:br/>
            <a:r>
              <a:t>Findings</a:t>
            </a:r>
          </a:p>
        </p:txBody>
      </p:sp>
      <p:sp>
        <p:nvSpPr>
          <p:cNvPr id="25" name="TextBox 24"/>
          <p:cNvSpPr txBox="1"/>
          <p:nvPr/>
        </p:nvSpPr>
        <p:spPr>
          <a:xfrm>
            <a:off x="4663440" y="5257800"/>
            <a:ext cx="4023360" cy="685800"/>
          </a:xfrm>
          <a:prstGeom prst="rect">
            <a:avLst/>
          </a:prstGeom>
          <a:noFill/>
        </p:spPr>
        <p:txBody>
          <a:bodyPr wrap="square">
            <a:spAutoFit/>
          </a:bodyPr>
          <a:lstStyle/>
          <a:p>
            <a:pPr algn="l">
              <a:defRPr sz="1000" b="0">
                <a:latin typeface="Malgun Gothic"/>
              </a:defRPr>
            </a:pPr>
            <a:r>
              <a:t>✓ 해양폐기물관리센터의 기능 확대와 전문성 제고에 대한</a:t>
            </a:r>
            <a:br/>
            <a:r>
              <a:t>정부의 요구</a:t>
            </a:r>
            <a:br/>
            <a:r>
              <a:t>✓ ICT 기반 모니터링 예측 시스템 개발과 해양쓰레기 수거 장비</a:t>
            </a:r>
            <a:br/>
            <a:r>
              <a:t>기술 개발 등의 R&amp;D 사업 확대 전망</a:t>
            </a:r>
            <a:br/>
            <a:r>
              <a:t>✓ 협의체 구성 및 국민참여 증진을 위한 방안 마련 필요</a:t>
            </a:r>
          </a:p>
        </p:txBody>
      </p:sp>
      <p:sp>
        <p:nvSpPr>
          <p:cNvPr id="26" name="TextBox 25"/>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Ⅱ. 내·외부 환경분석 | Page 35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제1차 해양폐기물 및 해양오염퇴적물 관리 기본계획 (2/2)</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'제1차 해양폐기물 및 해양오염퇴적물 관리 기본계획' 해양오염퇴적물 관리에서 평가부터 정화·복원, 사후관리까지</a:t>
            </a:r>
            <a:br/>
            <a:r>
              <a:t>全주기 관리체계의 구축, 오염도 및 사업 우선순위 평가 등에서 공단의 기대 역할 확대가 예상됨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제1차 해양폐기물 및 해양오염퇴적물 관리 기본계획</a:t>
            </a:r>
          </a:p>
        </p:txBody>
      </p:sp>
      <p:sp>
        <p:nvSpPr>
          <p:cNvPr id="5" name="TextBox 4"/>
          <p:cNvSpPr txBox="1"/>
          <p:nvPr/>
        </p:nvSpPr>
        <p:spPr>
          <a:xfrm>
            <a:off x="457200" y="1828800"/>
            <a:ext cx="4023360" cy="228600"/>
          </a:xfrm>
          <a:prstGeom prst="rect">
            <a:avLst/>
          </a:prstGeom>
          <a:noFill/>
        </p:spPr>
        <p:txBody>
          <a:bodyPr wrap="square">
            <a:spAutoFit/>
          </a:bodyPr>
          <a:lstStyle/>
          <a:p>
            <a:pPr algn="l">
              <a:defRPr sz="1000" b="0">
                <a:latin typeface="Malgun Gothic"/>
              </a:defRPr>
            </a:pPr>
            <a:r>
              <a:t>비전</a:t>
            </a:r>
            <a:br/>
            <a:r>
              <a:t>목표</a:t>
            </a:r>
          </a:p>
        </p:txBody>
      </p:sp>
      <p:sp>
        <p:nvSpPr>
          <p:cNvPr id="6" name="TextBox 5"/>
          <p:cNvSpPr txBox="1"/>
          <p:nvPr/>
        </p:nvSpPr>
        <p:spPr>
          <a:xfrm>
            <a:off x="457200" y="2148840"/>
            <a:ext cx="4023360" cy="457200"/>
          </a:xfrm>
          <a:prstGeom prst="rect">
            <a:avLst/>
          </a:prstGeom>
          <a:noFill/>
        </p:spPr>
        <p:txBody>
          <a:bodyPr wrap="square">
            <a:spAutoFit/>
          </a:bodyPr>
          <a:lstStyle/>
          <a:p>
            <a:pPr algn="l">
              <a:defRPr sz="1000" b="0">
                <a:latin typeface="Malgun Gothic"/>
              </a:defRPr>
            </a:pPr>
            <a:r>
              <a:t>깨끗한 해양환경 조성으로 다 함께 누리는 건강한 미래</a:t>
            </a:r>
            <a:br/>
            <a:r>
              <a:t>해양폐기물 및 해양오염퇴적물 관리체계 개선으로</a:t>
            </a:r>
            <a:br/>
            <a:r>
              <a:t>해양환경의 건강성 조성</a:t>
            </a:r>
          </a:p>
        </p:txBody>
      </p:sp>
      <p:sp>
        <p:nvSpPr>
          <p:cNvPr id="7" name="TextBox 6"/>
          <p:cNvSpPr txBox="1"/>
          <p:nvPr/>
        </p:nvSpPr>
        <p:spPr>
          <a:xfrm>
            <a:off x="457200" y="2697480"/>
            <a:ext cx="4023360" cy="457200"/>
          </a:xfrm>
          <a:prstGeom prst="rect">
            <a:avLst/>
          </a:prstGeom>
          <a:noFill/>
        </p:spPr>
        <p:txBody>
          <a:bodyPr wrap="square">
            <a:spAutoFit/>
          </a:bodyPr>
          <a:lstStyle/>
          <a:p>
            <a:pPr algn="l">
              <a:defRPr sz="1000" b="0">
                <a:latin typeface="Malgun Gothic"/>
              </a:defRPr>
            </a:pPr>
            <a:r>
              <a:t>해양오염퇴적물 현존량 2030년까지 1/2로 감축</a:t>
            </a:r>
            <a:br/>
            <a:r>
              <a:t>(現)1,180만㎡² → ('30)590만m²</a:t>
            </a:r>
          </a:p>
        </p:txBody>
      </p:sp>
      <p:sp>
        <p:nvSpPr>
          <p:cNvPr id="8" name="TextBox 7"/>
          <p:cNvSpPr txBox="1"/>
          <p:nvPr/>
        </p:nvSpPr>
        <p:spPr>
          <a:xfrm>
            <a:off x="457200" y="3246120"/>
            <a:ext cx="4023360" cy="228600"/>
          </a:xfrm>
          <a:prstGeom prst="rect">
            <a:avLst/>
          </a:prstGeom>
          <a:noFill/>
        </p:spPr>
        <p:txBody>
          <a:bodyPr wrap="square">
            <a:spAutoFit/>
          </a:bodyPr>
          <a:lstStyle/>
          <a:p>
            <a:pPr algn="l">
              <a:defRPr sz="1000" b="0">
                <a:latin typeface="Malgun Gothic"/>
              </a:defRPr>
            </a:pPr>
            <a:r>
              <a:t>해양오염퇴적물 추진전략</a:t>
            </a:r>
          </a:p>
        </p:txBody>
      </p:sp>
      <p:sp>
        <p:nvSpPr>
          <p:cNvPr id="9" name="TextBox 8"/>
          <p:cNvSpPr txBox="1"/>
          <p:nvPr/>
        </p:nvSpPr>
        <p:spPr>
          <a:xfrm>
            <a:off x="457200" y="3566160"/>
            <a:ext cx="4023360" cy="228600"/>
          </a:xfrm>
          <a:prstGeom prst="rect">
            <a:avLst/>
          </a:prstGeom>
          <a:noFill/>
        </p:spPr>
        <p:txBody>
          <a:bodyPr wrap="square">
            <a:spAutoFit/>
          </a:bodyPr>
          <a:lstStyle/>
          <a:p>
            <a:pPr algn="l">
              <a:defRPr sz="1000" b="0">
                <a:latin typeface="Malgun Gothic"/>
              </a:defRPr>
            </a:pPr>
            <a:r>
              <a:t>추진 전략</a:t>
            </a:r>
            <a:br/>
            <a:r>
              <a:t>발생 예방</a:t>
            </a:r>
            <a:br/>
            <a:r>
              <a:t>관리강화</a:t>
            </a:r>
            <a:br/>
            <a:r>
              <a:t>기술개발 및</a:t>
            </a:r>
            <a:br/>
            <a:r>
              <a:t>시장 확대</a:t>
            </a:r>
            <a:br/>
            <a:r>
              <a:t>인식 증진</a:t>
            </a:r>
            <a:br/>
            <a:r>
              <a:t>거버넌스 개선</a:t>
            </a:r>
          </a:p>
        </p:txBody>
      </p:sp>
      <p:sp>
        <p:nvSpPr>
          <p:cNvPr id="10" name="TextBox 9"/>
          <p:cNvSpPr txBox="1"/>
          <p:nvPr/>
        </p:nvSpPr>
        <p:spPr>
          <a:xfrm>
            <a:off x="457200" y="3886200"/>
            <a:ext cx="4023360" cy="914400"/>
          </a:xfrm>
          <a:prstGeom prst="rect">
            <a:avLst/>
          </a:prstGeom>
          <a:noFill/>
        </p:spPr>
        <p:txBody>
          <a:bodyPr wrap="square">
            <a:spAutoFit/>
          </a:bodyPr>
          <a:lstStyle/>
          <a:p>
            <a:pPr algn="l">
              <a:defRPr sz="1000" b="0">
                <a:latin typeface="Malgun Gothic"/>
              </a:defRPr>
            </a:pPr>
            <a:r>
              <a:t>추진 과제</a:t>
            </a:r>
            <a:br/>
            <a:r>
              <a:t>① 오염 예방관리 기반 조성</a:t>
            </a:r>
            <a:br/>
            <a:r>
              <a:t>② 연안 발생원 관리 강화</a:t>
            </a:r>
            <a:br/>
            <a:r>
              <a:t>③ 오염원 및 오염경로 규명</a:t>
            </a:r>
            <a:br/>
            <a:r>
              <a:t>① 평가 체계 개선</a:t>
            </a:r>
            <a:br/>
            <a:r>
              <a:t>② 조사·관리 내실화</a:t>
            </a:r>
            <a:br/>
            <a:r>
              <a:t>③ 전주기 환경관리 강화</a:t>
            </a:r>
            <a:br/>
            <a:r>
              <a:t>④ 관리 사각지대 해소</a:t>
            </a:r>
            <a:br/>
            <a:r>
              <a:t>① 정화 기술 개발</a:t>
            </a:r>
            <a:br/>
            <a:r>
              <a:t>② 인력 양성 및 시장 확대</a:t>
            </a:r>
            <a:br/>
            <a:r>
              <a:t>① 협의체 운영</a:t>
            </a:r>
            <a:br/>
            <a:r>
              <a:t>② 교육·홍보 강화</a:t>
            </a:r>
            <a:br/>
            <a:r>
              <a:t>① 통합 관리기반 구축</a:t>
            </a:r>
            <a:br/>
            <a:r>
              <a:t>② 재원 확보</a:t>
            </a:r>
          </a:p>
        </p:txBody>
      </p:sp>
      <p:sp>
        <p:nvSpPr>
          <p:cNvPr id="11" name="TextBox 10"/>
          <p:cNvSpPr txBox="1"/>
          <p:nvPr/>
        </p:nvSpPr>
        <p:spPr>
          <a:xfrm>
            <a:off x="4663440" y="1828800"/>
            <a:ext cx="4023360" cy="2286000"/>
          </a:xfrm>
          <a:prstGeom prst="rect">
            <a:avLst/>
          </a:prstGeom>
          <a:noFill/>
        </p:spPr>
        <p:txBody>
          <a:bodyPr wrap="square">
            <a:spAutoFit/>
          </a:bodyPr>
          <a:lstStyle/>
          <a:p>
            <a:pPr algn="l">
              <a:defRPr sz="1000" b="0">
                <a:latin typeface="Malgun Gothic"/>
              </a:defRPr>
            </a:pPr>
            <a:r>
              <a:t>• 특별관리해역 관리를 강화하고 항만 및 해양시설의 오염물질 유입 차단 추진</a:t>
            </a:r>
            <a:br/>
            <a:r>
              <a:t>• 오염물질별 오염원 및 오염경로 파악</a:t>
            </a:r>
            <a:br/>
            <a:r>
              <a:t>• 오염원 판별 기법, 육상 및 해양기원 유해물질 유입량 산정 기술 개발 추진</a:t>
            </a:r>
            <a:br/>
            <a:r>
              <a:t>• 해양오염퇴적물 평가부터 정화활동, 사후관리가 연계된 전주기적 관리체계 구축</a:t>
            </a:r>
            <a:br/>
            <a:r>
              <a:t>- 해양퇴적물의 오염도 평가 방법 개발, 오염퇴적물 조사 내실화, 정화 복원사업의</a:t>
            </a:r>
            <a:br/>
            <a:r>
              <a:t>우선순위 관리 및 평가 강화 등</a:t>
            </a:r>
            <a:br/>
            <a:r>
              <a:t>• 오염의심해역(37개 해역)에 대한 정화·복원 사업 지속, 정화필요 해역 조사·발굴</a:t>
            </a:r>
            <a:br/>
            <a:r>
              <a:t>• 해양오염퇴적물 정화·복원사업 과정에서 발생하는 처리 산물 유효 활용 기술</a:t>
            </a:r>
            <a:br/>
            <a:r>
              <a:t>개발, 해역 및 오염 특성에 적합한 정화 공법 선정 기준 마련</a:t>
            </a:r>
            <a:br/>
            <a:r>
              <a:t>• 정화업 등록업체 기술력 검증 제도 운영</a:t>
            </a:r>
            <a:br/>
            <a:r>
              <a:t>• 전문 기술 및 평가 인력 양성</a:t>
            </a:r>
            <a:br/>
            <a:r>
              <a:t>• 정화·복원사업 추진을 위한 학술단체, 협회 등 협력 체계 구축</a:t>
            </a:r>
            <a:br/>
            <a:r>
              <a:t>• 연안 지역 맞춤형 환경 관리 교육 지원과 교육 프로그램 개발 지속 추진</a:t>
            </a:r>
          </a:p>
        </p:txBody>
      </p:sp>
      <p:sp>
        <p:nvSpPr>
          <p:cNvPr id="12" name="TextBox 11"/>
          <p:cNvSpPr txBox="1"/>
          <p:nvPr/>
        </p:nvSpPr>
        <p:spPr>
          <a:xfrm>
            <a:off x="4663440" y="4206240"/>
            <a:ext cx="4023360" cy="228600"/>
          </a:xfrm>
          <a:prstGeom prst="rect">
            <a:avLst/>
          </a:prstGeom>
          <a:noFill/>
        </p:spPr>
        <p:txBody>
          <a:bodyPr wrap="square">
            <a:spAutoFit/>
          </a:bodyPr>
          <a:lstStyle/>
          <a:p>
            <a:pPr algn="l">
              <a:defRPr sz="1000" b="0">
                <a:latin typeface="Malgun Gothic"/>
              </a:defRPr>
            </a:pPr>
            <a:r>
              <a:t>Key</a:t>
            </a:r>
            <a:br/>
            <a:r>
              <a:t>Findings</a:t>
            </a:r>
          </a:p>
        </p:txBody>
      </p:sp>
      <p:sp>
        <p:nvSpPr>
          <p:cNvPr id="13" name="TextBox 12"/>
          <p:cNvSpPr txBox="1"/>
          <p:nvPr/>
        </p:nvSpPr>
        <p:spPr>
          <a:xfrm>
            <a:off x="4663440" y="4526280"/>
            <a:ext cx="4023360" cy="685800"/>
          </a:xfrm>
          <a:prstGeom prst="rect">
            <a:avLst/>
          </a:prstGeom>
          <a:noFill/>
        </p:spPr>
        <p:txBody>
          <a:bodyPr wrap="square">
            <a:spAutoFit/>
          </a:bodyPr>
          <a:lstStyle/>
          <a:p>
            <a:pPr algn="l">
              <a:defRPr sz="1000" b="0">
                <a:latin typeface="Malgun Gothic"/>
              </a:defRPr>
            </a:pPr>
            <a:r>
              <a:t>✓ 오염원 경로 파악, 유해물질 유입량 산정 기술, 처리 산물 활용</a:t>
            </a:r>
            <a:br/>
            <a:r>
              <a:t>기술 등의 R&amp;D 확대 전망</a:t>
            </a:r>
            <a:br/>
            <a:r>
              <a:t>✓ 정화·복원 사업의 관리 기준 마련, 해양퇴적물 오염도 평가 등</a:t>
            </a:r>
            <a:br/>
            <a:r>
              <a:t>주관 기관으로서 기대역할 확대</a:t>
            </a:r>
            <a:br/>
            <a:r>
              <a:t>✓ 전문기술과 평가인력 양성을 위한 기관 전문성 강화 필요</a:t>
            </a:r>
          </a:p>
        </p:txBody>
      </p:sp>
      <p:sp>
        <p:nvSpPr>
          <p:cNvPr id="14" name="TextBox 1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Source: 제1차 해양폐기물 및 해양오염퇴적물 관리 기본계획(2021~2030), 2021.05 | Page 36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연료 황 함유량 규제와 방제 방식</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IMO 선박 황산화물 배출 규제 강화에 따라 '20년부터 0.5% m/m 미만 저유황유 사용이 규정화 되었음. 저유황유는 유동점이 평균 20℃로 유출시 빠르게 고형화되어 현재의 액체상태 오일회수 방제 방식은 효율성이 낮음</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IMO 선박 황산화물 배출 제한에 따른 연료유 황 함유량 규제 기준</a:t>
            </a:r>
          </a:p>
        </p:txBody>
      </p:sp>
      <p:sp>
        <p:nvSpPr>
          <p:cNvPr id="5" name="TextBox 4"/>
          <p:cNvSpPr txBox="1"/>
          <p:nvPr/>
        </p:nvSpPr>
        <p:spPr>
          <a:xfrm>
            <a:off x="457200" y="1828800"/>
            <a:ext cx="4023360" cy="1143000"/>
          </a:xfrm>
          <a:prstGeom prst="rect">
            <a:avLst/>
          </a:prstGeom>
          <a:noFill/>
        </p:spPr>
        <p:txBody>
          <a:bodyPr wrap="square">
            <a:spAutoFit/>
          </a:bodyPr>
          <a:lstStyle/>
          <a:p>
            <a:pPr algn="l">
              <a:defRPr sz="1000" b="0">
                <a:latin typeface="Malgun Gothic"/>
              </a:defRPr>
            </a:pPr>
            <a:r>
              <a:t>Bar chart showing the limit values for sulfur content of fuel oils over time (2005-2025) with different levels for 'Global Area' and 'Emission Control Area (ECA, 배출제한구역)'. ECA requires 선박 연료유 0.5% m/m 황 함유량 기준 적용 from 2020 onwards.</a:t>
            </a:r>
          </a:p>
        </p:txBody>
      </p:sp>
      <p:sp>
        <p:nvSpPr>
          <p:cNvPr id="6" name="TextBox 5"/>
          <p:cNvSpPr txBox="1"/>
          <p:nvPr/>
        </p:nvSpPr>
        <p:spPr>
          <a:xfrm>
            <a:off x="457200" y="3063240"/>
            <a:ext cx="4023360" cy="1143000"/>
          </a:xfrm>
          <a:prstGeom prst="rect">
            <a:avLst/>
          </a:prstGeom>
          <a:noFill/>
        </p:spPr>
        <p:txBody>
          <a:bodyPr wrap="square">
            <a:spAutoFit/>
          </a:bodyPr>
          <a:lstStyle/>
          <a:p>
            <a:pPr algn="l">
              <a:defRPr sz="1000" b="0">
                <a:latin typeface="Malgun Gothic"/>
              </a:defRPr>
            </a:pPr>
            <a:r>
              <a:t>• 국제해사기구(IMO) 황산화물 배출 한계 강화에 따라 규정적용 선박은</a:t>
            </a:r>
            <a:br/>
            <a:r>
              <a:t>①저유황유(0.50% m/m 미만) 사용 ②탈황장치(배기가스 세정장치) 부착, ③대체연료 사용 중 대안이 있는데, 경제성 등 이유로 저유황유 사용이 가장 현실적인 대안이 되고 있음</a:t>
            </a:r>
            <a:br/>
            <a:r>
              <a:t>• 저유황유는 유동점(연료가 응고되는 온도)이 평균 20℃로 기존에 주로 사용되는 벙커C유(유동점 평균 13℃)보다 높은 특성을 가짐</a:t>
            </a:r>
          </a:p>
        </p:txBody>
      </p:sp>
      <p:sp>
        <p:nvSpPr>
          <p:cNvPr id="7" name="Rectangle 6"/>
          <p:cNvSpPr/>
          <p:nvPr/>
        </p:nvSpPr>
        <p:spPr>
          <a:xfrm>
            <a:off x="45720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8" name="TextBox 7"/>
          <p:cNvSpPr txBox="1"/>
          <p:nvPr/>
        </p:nvSpPr>
        <p:spPr>
          <a:xfrm>
            <a:off x="54864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9" name="Rectangle 8"/>
          <p:cNvSpPr/>
          <p:nvPr/>
        </p:nvSpPr>
        <p:spPr>
          <a:xfrm>
            <a:off x="323088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0" name="TextBox 9"/>
          <p:cNvSpPr txBox="1"/>
          <p:nvPr/>
        </p:nvSpPr>
        <p:spPr>
          <a:xfrm>
            <a:off x="332232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1" name="Rectangle 10"/>
          <p:cNvSpPr/>
          <p:nvPr/>
        </p:nvSpPr>
        <p:spPr>
          <a:xfrm>
            <a:off x="600456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2" name="TextBox 11"/>
          <p:cNvSpPr txBox="1"/>
          <p:nvPr/>
        </p:nvSpPr>
        <p:spPr>
          <a:xfrm>
            <a:off x="609600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3" name="TextBox 12"/>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 | Page 37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국가 해양방제체계 개편</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국가 해양방제를 총괄하는 해양경찰청은 해양방제체계를 국가-공공-민간 통합방제체계로 개편하면서, 공단에 민간 방제업체와 협력을 통한 상시 민간협력 공동대응 체계를 주도적으로 구축, 운영하는 역할을 부여하고 있음</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 | Page 38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중대재해처벌법 입법 및 시행예고</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중대재해 처벌 등에 대한 법률(중대재해처벌법)은 경영책임자가 직접 사업장 뿐만 아이라 실질적으로 지배·운영·관리하는 임대·용역·도급 사업장과 종사자에 대한 유해·위험방지의무를 정의하고 있어, 공단 및 공단 관리 사업장과 사업자, 종사자에 대한 포괄적인 안전관리 강화가 필요하게 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중대재해처벌법 주요 내용</a:t>
            </a:r>
          </a:p>
        </p:txBody>
      </p:sp>
      <p:sp>
        <p:nvSpPr>
          <p:cNvPr id="5" name="TextBox 4"/>
          <p:cNvSpPr txBox="1"/>
          <p:nvPr/>
        </p:nvSpPr>
        <p:spPr>
          <a:xfrm>
            <a:off x="457200" y="1828800"/>
            <a:ext cx="4023360" cy="685800"/>
          </a:xfrm>
          <a:prstGeom prst="rect">
            <a:avLst/>
          </a:prstGeom>
          <a:noFill/>
        </p:spPr>
        <p:txBody>
          <a:bodyPr wrap="square">
            <a:spAutoFit/>
          </a:bodyPr>
          <a:lstStyle/>
          <a:p>
            <a:pPr algn="l">
              <a:defRPr sz="1000" b="0">
                <a:latin typeface="Malgun Gothic"/>
              </a:defRPr>
            </a:pPr>
            <a:r>
              <a:t>경영책임자 등의 유해·위험방지의무 명시</a:t>
            </a:r>
            <a:br/>
            <a:br/>
            <a:r>
              <a:t>• 개인사업주 및 법인이나 기관의 경영책임자 등에게 실질적으로 지배·운영·관리하는 사업 또는 사업장에서 종사자에 대한 유해·위험방지의무를 명시</a:t>
            </a:r>
            <a:br/>
            <a:r>
              <a:t>• 임대·용역·도급 등을 행한 경우에도 동일한 의무를 부담</a:t>
            </a:r>
          </a:p>
        </p:txBody>
      </p:sp>
      <p:sp>
        <p:nvSpPr>
          <p:cNvPr id="6" name="TextBox 5"/>
          <p:cNvSpPr txBox="1"/>
          <p:nvPr/>
        </p:nvSpPr>
        <p:spPr>
          <a:xfrm>
            <a:off x="457200" y="2606040"/>
            <a:ext cx="4023360" cy="685800"/>
          </a:xfrm>
          <a:prstGeom prst="rect">
            <a:avLst/>
          </a:prstGeom>
          <a:noFill/>
        </p:spPr>
        <p:txBody>
          <a:bodyPr wrap="square">
            <a:spAutoFit/>
          </a:bodyPr>
          <a:lstStyle/>
          <a:p>
            <a:pPr algn="l">
              <a:defRPr sz="1000" b="0">
                <a:latin typeface="Malgun Gothic"/>
              </a:defRPr>
            </a:pPr>
            <a:r>
              <a:t>이용자에 대한 유해·위험방지의무 명시</a:t>
            </a:r>
            <a:br/>
            <a:br/>
            <a:r>
              <a:t>• 경영책임자 등에게 사업장에서 생산·제조·판매·유통 중인 원료나 제조물 및 지배·운영·관리하는 공중이용시설 또는 공중교통수단의 설계, 설치, 관리상의 결함으로 인한 이용자 또는 그 밖의 사람에 대한 안전조치의무를 명시</a:t>
            </a:r>
          </a:p>
        </p:txBody>
      </p:sp>
      <p:sp>
        <p:nvSpPr>
          <p:cNvPr id="7" name="TextBox 6"/>
          <p:cNvSpPr txBox="1"/>
          <p:nvPr/>
        </p:nvSpPr>
        <p:spPr>
          <a:xfrm>
            <a:off x="457200" y="3383280"/>
            <a:ext cx="4023360" cy="1143000"/>
          </a:xfrm>
          <a:prstGeom prst="rect">
            <a:avLst/>
          </a:prstGeom>
          <a:noFill/>
        </p:spPr>
        <p:txBody>
          <a:bodyPr wrap="square">
            <a:spAutoFit/>
          </a:bodyPr>
          <a:lstStyle/>
          <a:p>
            <a:pPr algn="l">
              <a:defRPr sz="1000" b="0">
                <a:latin typeface="Malgun Gothic"/>
              </a:defRPr>
            </a:pPr>
            <a:r>
              <a:t>중대재해 발생에 대한 형사책임 강화</a:t>
            </a:r>
            <a:br/>
            <a:br/>
            <a:r>
              <a:t>• 종사자가 사망하는 중대산업재해 발생 시 경영책임자 등에게 1년 이상의 징역 또는 10억원 이하의 벌금(병과 가능)</a:t>
            </a:r>
            <a:br/>
            <a:r>
              <a:t>• 이용자가 사망하는 중대시민재해 발생 시 경영책임자 등에게 1년 이상의 징역 또는 10억원 이하의 벌금(병과 가능)</a:t>
            </a:r>
            <a:br/>
            <a:r>
              <a:t>• 기업에 대해서는 양벌규정에 따라, 종사자나 이용자가 사망하는 중대재해 발생 시 50억원 이하의 벌금</a:t>
            </a:r>
          </a:p>
        </p:txBody>
      </p:sp>
      <p:sp>
        <p:nvSpPr>
          <p:cNvPr id="8" name="TextBox 7"/>
          <p:cNvSpPr txBox="1"/>
          <p:nvPr/>
        </p:nvSpPr>
        <p:spPr>
          <a:xfrm>
            <a:off x="457200" y="4617720"/>
            <a:ext cx="4023360" cy="457200"/>
          </a:xfrm>
          <a:prstGeom prst="rect">
            <a:avLst/>
          </a:prstGeom>
          <a:noFill/>
        </p:spPr>
        <p:txBody>
          <a:bodyPr wrap="square">
            <a:spAutoFit/>
          </a:bodyPr>
          <a:lstStyle/>
          <a:p>
            <a:pPr algn="l">
              <a:defRPr sz="1000" b="0">
                <a:latin typeface="Malgun Gothic"/>
              </a:defRPr>
            </a:pPr>
            <a:r>
              <a:t>공단 직접 사업장 뿐만 아니라 공단이 관리하는 도급사업장에 대한 포괄적인 중대재해 예방 의무 및 발생 시 책임 부여</a:t>
            </a:r>
          </a:p>
        </p:txBody>
      </p:sp>
      <p:sp>
        <p:nvSpPr>
          <p:cNvPr id="9" name="TextBox 8"/>
          <p:cNvSpPr txBox="1"/>
          <p:nvPr/>
        </p:nvSpPr>
        <p:spPr>
          <a:xfrm>
            <a:off x="457200" y="5166360"/>
            <a:ext cx="8229600" cy="274320"/>
          </a:xfrm>
          <a:prstGeom prst="rect">
            <a:avLst/>
          </a:prstGeom>
          <a:noFill/>
        </p:spPr>
        <p:txBody>
          <a:bodyPr wrap="square">
            <a:spAutoFit/>
          </a:bodyPr>
          <a:lstStyle/>
          <a:p>
            <a:pPr algn="l">
              <a:defRPr sz="1200" b="1">
                <a:solidFill>
                  <a:srgbClr val="003366"/>
                </a:solidFill>
                <a:latin typeface="Malgun Gothic"/>
              </a:defRPr>
            </a:pPr>
            <a:r>
              <a:t>중대재해처벌법 관련 이슈사항</a:t>
            </a:r>
          </a:p>
        </p:txBody>
      </p:sp>
      <p:sp>
        <p:nvSpPr>
          <p:cNvPr id="10" name="TextBox 9"/>
          <p:cNvSpPr txBox="1"/>
          <p:nvPr/>
        </p:nvSpPr>
        <p:spPr>
          <a:xfrm>
            <a:off x="4663440" y="2194560"/>
            <a:ext cx="4023360" cy="228600"/>
          </a:xfrm>
          <a:prstGeom prst="rect">
            <a:avLst/>
          </a:prstGeom>
          <a:noFill/>
        </p:spPr>
        <p:txBody>
          <a:bodyPr wrap="square">
            <a:spAutoFit/>
          </a:bodyPr>
          <a:lstStyle/>
          <a:p>
            <a:pPr algn="l">
              <a:defRPr sz="1000" b="0">
                <a:latin typeface="Malgun Gothic"/>
              </a:defRPr>
            </a:pPr>
            <a:r>
              <a:t>경영책임자</a:t>
            </a:r>
            <a:br/>
            <a:r>
              <a:t>등의 범위</a:t>
            </a:r>
          </a:p>
        </p:txBody>
      </p:sp>
      <p:sp>
        <p:nvSpPr>
          <p:cNvPr id="11" name="TextBox 10"/>
          <p:cNvSpPr txBox="1"/>
          <p:nvPr/>
        </p:nvSpPr>
        <p:spPr>
          <a:xfrm>
            <a:off x="4663440" y="2514600"/>
            <a:ext cx="4023360" cy="914400"/>
          </a:xfrm>
          <a:prstGeom prst="rect">
            <a:avLst/>
          </a:prstGeom>
          <a:noFill/>
        </p:spPr>
        <p:txBody>
          <a:bodyPr wrap="square">
            <a:spAutoFit/>
          </a:bodyPr>
          <a:lstStyle/>
          <a:p>
            <a:pPr algn="l">
              <a:defRPr sz="1000" b="0">
                <a:latin typeface="Malgun Gothic"/>
              </a:defRPr>
            </a:pPr>
            <a:r>
              <a:t>• "①사업을 대표하고 사업을 총괄하는 권한과 책임이 있는</a:t>
            </a:r>
            <a:br/>
            <a:r>
              <a:t>사람 또는 ②이에 준해 안전보건에 관한 업무를 담당하는</a:t>
            </a:r>
            <a:br/>
            <a:r>
              <a:t>사람"이라고 규정</a:t>
            </a:r>
            <a:br/>
            <a:br/>
            <a:r>
              <a:t>• 대표이사가 아니더라도 안전보건 관한 업무를 담당하는 자가</a:t>
            </a:r>
            <a:br/>
            <a:r>
              <a:t>경영책임자로서 유해·위험방지의무를 이행하고 중대재해 발생</a:t>
            </a:r>
            <a:br/>
            <a:r>
              <a:t>시 그에 대한 책임을 부담하게 하는 것이 가능할 것</a:t>
            </a:r>
          </a:p>
        </p:txBody>
      </p:sp>
      <p:sp>
        <p:nvSpPr>
          <p:cNvPr id="12" name="TextBox 11"/>
          <p:cNvSpPr txBox="1"/>
          <p:nvPr/>
        </p:nvSpPr>
        <p:spPr>
          <a:xfrm>
            <a:off x="4663440" y="3520440"/>
            <a:ext cx="4023360" cy="228600"/>
          </a:xfrm>
          <a:prstGeom prst="rect">
            <a:avLst/>
          </a:prstGeom>
          <a:noFill/>
        </p:spPr>
        <p:txBody>
          <a:bodyPr wrap="square">
            <a:spAutoFit/>
          </a:bodyPr>
          <a:lstStyle/>
          <a:p>
            <a:pPr algn="l">
              <a:defRPr sz="1000" b="0">
                <a:latin typeface="Malgun Gothic"/>
              </a:defRPr>
            </a:pPr>
            <a:r>
              <a:t>유해·위험</a:t>
            </a:r>
            <a:br/>
            <a:r>
              <a:t>방지</a:t>
            </a:r>
            <a:br/>
            <a:r>
              <a:t>조치의</a:t>
            </a:r>
            <a:br/>
            <a:r>
              <a:t>이행</a:t>
            </a:r>
            <a:br/>
            <a:r>
              <a:t>가능성</a:t>
            </a:r>
          </a:p>
        </p:txBody>
      </p:sp>
      <p:sp>
        <p:nvSpPr>
          <p:cNvPr id="13" name="TextBox 12"/>
          <p:cNvSpPr txBox="1"/>
          <p:nvPr/>
        </p:nvSpPr>
        <p:spPr>
          <a:xfrm>
            <a:off x="4663440" y="3840480"/>
            <a:ext cx="4023360" cy="914400"/>
          </a:xfrm>
          <a:prstGeom prst="rect">
            <a:avLst/>
          </a:prstGeom>
          <a:noFill/>
        </p:spPr>
        <p:txBody>
          <a:bodyPr wrap="square">
            <a:spAutoFit/>
          </a:bodyPr>
          <a:lstStyle/>
          <a:p>
            <a:pPr algn="l">
              <a:defRPr sz="1000" b="0">
                <a:latin typeface="Malgun Gothic"/>
              </a:defRPr>
            </a:pPr>
            <a:r>
              <a:t>• "안전보건관리체계의 구축 및 그 이행", "의무이행에 필요한</a:t>
            </a:r>
            <a:br/>
            <a:r>
              <a:t>관리상의 조치"로 유해·위험방지조치를 규정함</a:t>
            </a:r>
            <a:br/>
            <a:br/>
            <a:r>
              <a:t>• 종사자가 작업과 관계 없는 돌발적 행동으로 인해 사고가</a:t>
            </a:r>
            <a:br/>
            <a:r>
              <a:t>발생했다는 등 아주 특별한 사정이 없다면 경영책임자 등이</a:t>
            </a:r>
            <a:br/>
            <a:r>
              <a:t>유해·위험방지의무를 완벽히 이행했고, 미흡한 점이 없다고</a:t>
            </a:r>
            <a:br/>
            <a:r>
              <a:t>판단되기는 쉽지 않을 것</a:t>
            </a:r>
          </a:p>
        </p:txBody>
      </p:sp>
      <p:sp>
        <p:nvSpPr>
          <p:cNvPr id="14" name="TextBox 13"/>
          <p:cNvSpPr txBox="1"/>
          <p:nvPr/>
        </p:nvSpPr>
        <p:spPr>
          <a:xfrm>
            <a:off x="4663440" y="4846320"/>
            <a:ext cx="4023360" cy="228600"/>
          </a:xfrm>
          <a:prstGeom prst="rect">
            <a:avLst/>
          </a:prstGeom>
          <a:noFill/>
        </p:spPr>
        <p:txBody>
          <a:bodyPr wrap="square">
            <a:spAutoFit/>
          </a:bodyPr>
          <a:lstStyle/>
          <a:p>
            <a:pPr algn="l">
              <a:defRPr sz="1000" b="0">
                <a:latin typeface="Malgun Gothic"/>
              </a:defRPr>
            </a:pPr>
            <a:r>
              <a:t>유해·위험</a:t>
            </a:r>
            <a:br/>
            <a:r>
              <a:t>방지조치가</a:t>
            </a:r>
            <a:br/>
            <a:r>
              <a:t>필요한</a:t>
            </a:r>
            <a:br/>
            <a:r>
              <a:t>범위 확대</a:t>
            </a:r>
          </a:p>
        </p:txBody>
      </p:sp>
      <p:sp>
        <p:nvSpPr>
          <p:cNvPr id="15" name="TextBox 14"/>
          <p:cNvSpPr txBox="1"/>
          <p:nvPr/>
        </p:nvSpPr>
        <p:spPr>
          <a:xfrm>
            <a:off x="4663440" y="5166360"/>
            <a:ext cx="4023360" cy="1143000"/>
          </a:xfrm>
          <a:prstGeom prst="rect">
            <a:avLst/>
          </a:prstGeom>
          <a:noFill/>
        </p:spPr>
        <p:txBody>
          <a:bodyPr wrap="square">
            <a:spAutoFit/>
          </a:bodyPr>
          <a:lstStyle/>
          <a:p>
            <a:pPr algn="l">
              <a:defRPr sz="1000" b="0">
                <a:latin typeface="Malgun Gothic"/>
              </a:defRPr>
            </a:pPr>
            <a:r>
              <a:t>• 도급, 위탁 등을 행할 때 그 시설, 장비, 장소 등에 대해</a:t>
            </a:r>
            <a:br/>
            <a:r>
              <a:t>실질적으로 지배·운영·관리하는 책임이 있는 경우 경영책임자</a:t>
            </a:r>
            <a:br/>
            <a:r>
              <a:t>등은 유해·위험방지 의무를 부담</a:t>
            </a:r>
            <a:br/>
            <a:br/>
            <a:r>
              <a:t>• 도급인이 지배·운영·관리하는 시설, 장비 등이 도급인의 사업장</a:t>
            </a:r>
            <a:br/>
            <a:r>
              <a:t>아닌 곳에 존재할 수도 있는바, 중대재해처벌법상 도급·위탁 관계</a:t>
            </a:r>
            <a:br/>
            <a:r>
              <a:t>하에서의 유해·위험방지 의무는 산안법상 도급사업주의</a:t>
            </a:r>
            <a:br/>
            <a:r>
              <a:t>안전보건조치 의무보다 범위가 넓어졌다고 볼 수 있음</a:t>
            </a:r>
          </a:p>
        </p:txBody>
      </p:sp>
      <p:sp>
        <p:nvSpPr>
          <p:cNvPr id="16" name="TextBox 15"/>
          <p:cNvSpPr txBox="1"/>
          <p:nvPr/>
        </p:nvSpPr>
        <p:spPr>
          <a:xfrm>
            <a:off x="457200" y="5532120"/>
            <a:ext cx="4023360" cy="457200"/>
          </a:xfrm>
          <a:prstGeom prst="rect">
            <a:avLst/>
          </a:prstGeom>
          <a:noFill/>
        </p:spPr>
        <p:txBody>
          <a:bodyPr wrap="square">
            <a:spAutoFit/>
          </a:bodyPr>
          <a:lstStyle/>
          <a:p>
            <a:pPr algn="l">
              <a:defRPr sz="1000" b="0">
                <a:latin typeface="Malgun Gothic"/>
              </a:defRPr>
            </a:pPr>
            <a:r>
              <a:t>공기업으로서 공단은 확장된 해석에 기반한 방어적 대응이 필요</a:t>
            </a:r>
            <a:br/>
            <a:r>
              <a:t>→ 공단과 공단 관리 사업장, 도급사업자에 대한 안전관리 책임</a:t>
            </a:r>
          </a:p>
        </p:txBody>
      </p:sp>
      <p:sp>
        <p:nvSpPr>
          <p:cNvPr id="17" name="TextBox 16"/>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Source: 중대재해 처벌 등에 관한 법률, '중대재해처벌법 주요 내용 및 이슈'(정대원 변호사), 2021.02.01, 월간노동법률 | Page 39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공공기관 혁신과 사회적 가치 성과창출 요구</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2020년 공공기관 혁신은 사회적 가치의 구체적인 성과창출, 혁신성장에서 공공기관의 능동적·선도적 역할 수행, 투자·재무·인력운영에서 효율성 강화 등 사회적 가치와 혁신성장에서 가시적 성과와 가치창출을 요구하고 있음</a:t>
            </a:r>
          </a:p>
        </p:txBody>
      </p:sp>
      <p:sp>
        <p:nvSpPr>
          <p:cNvPr id="4" name="TextBox 3"/>
          <p:cNvSpPr txBox="1"/>
          <p:nvPr/>
        </p:nvSpPr>
        <p:spPr>
          <a:xfrm>
            <a:off x="457200" y="1463040"/>
            <a:ext cx="8229600" cy="228600"/>
          </a:xfrm>
          <a:prstGeom prst="rect">
            <a:avLst/>
          </a:prstGeom>
          <a:noFill/>
        </p:spPr>
        <p:txBody>
          <a:bodyPr wrap="square">
            <a:spAutoFit/>
          </a:bodyPr>
          <a:lstStyle/>
          <a:p>
            <a:pPr algn="l">
              <a:defRPr sz="1000" b="0">
                <a:latin typeface="Malgun Gothic"/>
              </a:defRPr>
            </a:pPr>
            <a:r>
              <a:t>공공기관 혁신 : 사회적 가치 실현, 혁신성장 가시적 성과창출 요구</a:t>
            </a:r>
          </a:p>
        </p:txBody>
      </p:sp>
      <p:sp>
        <p:nvSpPr>
          <p:cNvPr id="5" name="TextBox 4"/>
          <p:cNvSpPr txBox="1"/>
          <p:nvPr/>
        </p:nvSpPr>
        <p:spPr>
          <a:xfrm>
            <a:off x="457200" y="1783080"/>
            <a:ext cx="8229600" cy="228600"/>
          </a:xfrm>
          <a:prstGeom prst="rect">
            <a:avLst/>
          </a:prstGeom>
          <a:noFill/>
        </p:spPr>
        <p:txBody>
          <a:bodyPr wrap="square">
            <a:spAutoFit/>
          </a:bodyPr>
          <a:lstStyle/>
          <a:p>
            <a:pPr algn="l">
              <a:defRPr sz="1000" b="0">
                <a:latin typeface="Malgun Gothic"/>
              </a:defRPr>
            </a:pPr>
            <a:r>
              <a:t>2019년 혁신과제</a:t>
            </a:r>
          </a:p>
        </p:txBody>
      </p:sp>
      <p:sp>
        <p:nvSpPr>
          <p:cNvPr id="6" name="TextBox 5"/>
          <p:cNvSpPr txBox="1"/>
          <p:nvPr/>
        </p:nvSpPr>
        <p:spPr>
          <a:xfrm>
            <a:off x="457200" y="2103120"/>
            <a:ext cx="8229600" cy="228600"/>
          </a:xfrm>
          <a:prstGeom prst="rect">
            <a:avLst/>
          </a:prstGeom>
          <a:noFill/>
        </p:spPr>
        <p:txBody>
          <a:bodyPr wrap="square">
            <a:spAutoFit/>
          </a:bodyPr>
          <a:lstStyle/>
          <a:p>
            <a:pPr algn="l">
              <a:defRPr sz="1000" b="0">
                <a:latin typeface="Malgun Gothic"/>
              </a:defRPr>
            </a:pPr>
            <a:r>
              <a:t>2020년 혁신과제</a:t>
            </a:r>
          </a:p>
        </p:txBody>
      </p:sp>
      <p:sp>
        <p:nvSpPr>
          <p:cNvPr id="7" name="TextBox 6"/>
          <p:cNvSpPr txBox="1"/>
          <p:nvPr/>
        </p:nvSpPr>
        <p:spPr>
          <a:xfrm>
            <a:off x="457200" y="2423160"/>
            <a:ext cx="8229600" cy="228600"/>
          </a:xfrm>
          <a:prstGeom prst="rect">
            <a:avLst/>
          </a:prstGeom>
          <a:noFill/>
        </p:spPr>
        <p:txBody>
          <a:bodyPr wrap="square">
            <a:spAutoFit/>
          </a:bodyPr>
          <a:lstStyle/>
          <a:p>
            <a:pPr algn="l">
              <a:defRPr sz="1000" b="0">
                <a:latin typeface="Malgun Gothic"/>
              </a:defRPr>
            </a:pPr>
            <a:r>
              <a:t>목표</a:t>
            </a:r>
          </a:p>
        </p:txBody>
      </p:sp>
      <p:sp>
        <p:nvSpPr>
          <p:cNvPr id="8" name="TextBox 7"/>
          <p:cNvSpPr txBox="1"/>
          <p:nvPr/>
        </p:nvSpPr>
        <p:spPr>
          <a:xfrm>
            <a:off x="457200" y="2743200"/>
            <a:ext cx="8229600" cy="228600"/>
          </a:xfrm>
          <a:prstGeom prst="rect">
            <a:avLst/>
          </a:prstGeom>
          <a:noFill/>
        </p:spPr>
        <p:txBody>
          <a:bodyPr wrap="square">
            <a:spAutoFit/>
          </a:bodyPr>
          <a:lstStyle/>
          <a:p>
            <a:pPr algn="l">
              <a:defRPr sz="1000" b="0">
                <a:latin typeface="Malgun Gothic"/>
              </a:defRPr>
            </a:pPr>
            <a:r>
              <a:t>공공기관 혁신을 통한 국민 삶의 질 제고</a:t>
            </a:r>
          </a:p>
        </p:txBody>
      </p:sp>
      <p:sp>
        <p:nvSpPr>
          <p:cNvPr id="9" name="TextBox 8"/>
          <p:cNvSpPr txBox="1"/>
          <p:nvPr/>
        </p:nvSpPr>
        <p:spPr>
          <a:xfrm>
            <a:off x="457200" y="3063240"/>
            <a:ext cx="8229600" cy="228600"/>
          </a:xfrm>
          <a:prstGeom prst="rect">
            <a:avLst/>
          </a:prstGeom>
          <a:noFill/>
        </p:spPr>
        <p:txBody>
          <a:bodyPr wrap="square">
            <a:spAutoFit/>
          </a:bodyPr>
          <a:lstStyle/>
          <a:p>
            <a:pPr algn="l">
              <a:defRPr sz="1000" b="0">
                <a:latin typeface="Malgun Gothic"/>
              </a:defRPr>
            </a:pPr>
            <a:r>
              <a:t>1</a:t>
            </a:r>
          </a:p>
        </p:txBody>
      </p:sp>
      <p:sp>
        <p:nvSpPr>
          <p:cNvPr id="10" name="TextBox 9"/>
          <p:cNvSpPr txBox="1"/>
          <p:nvPr/>
        </p:nvSpPr>
        <p:spPr>
          <a:xfrm>
            <a:off x="457200" y="3383280"/>
            <a:ext cx="8229600" cy="228600"/>
          </a:xfrm>
          <a:prstGeom prst="rect">
            <a:avLst/>
          </a:prstGeom>
          <a:noFill/>
        </p:spPr>
        <p:txBody>
          <a:bodyPr wrap="square">
            <a:spAutoFit/>
          </a:bodyPr>
          <a:lstStyle/>
          <a:p>
            <a:pPr algn="l">
              <a:defRPr sz="1000" b="0">
                <a:latin typeface="Malgun Gothic"/>
              </a:defRPr>
            </a:pPr>
            <a:r>
              <a:t>사회적 가치 중심의 기관 운영</a:t>
            </a:r>
          </a:p>
        </p:txBody>
      </p:sp>
      <p:sp>
        <p:nvSpPr>
          <p:cNvPr id="11" name="TextBox 10"/>
          <p:cNvSpPr txBox="1"/>
          <p:nvPr/>
        </p:nvSpPr>
        <p:spPr>
          <a:xfrm>
            <a:off x="457200" y="3703320"/>
            <a:ext cx="8229600" cy="228600"/>
          </a:xfrm>
          <a:prstGeom prst="rect">
            <a:avLst/>
          </a:prstGeom>
          <a:noFill/>
        </p:spPr>
        <p:txBody>
          <a:bodyPr wrap="square">
            <a:spAutoFit/>
          </a:bodyPr>
          <a:lstStyle/>
          <a:p>
            <a:pPr algn="l">
              <a:defRPr sz="1000" b="0">
                <a:latin typeface="Malgun Gothic"/>
              </a:defRPr>
            </a:pPr>
            <a:r>
              <a:t>① 고유 업무의 공공성 제고</a:t>
            </a:r>
            <a:br/>
            <a:r>
              <a:t>② 포용적 공공서비스 제공 강화</a:t>
            </a:r>
          </a:p>
        </p:txBody>
      </p:sp>
      <p:sp>
        <p:nvSpPr>
          <p:cNvPr id="12" name="TextBox 11"/>
          <p:cNvSpPr txBox="1"/>
          <p:nvPr/>
        </p:nvSpPr>
        <p:spPr>
          <a:xfrm>
            <a:off x="457200" y="4023360"/>
            <a:ext cx="8229600" cy="228600"/>
          </a:xfrm>
          <a:prstGeom prst="rect">
            <a:avLst/>
          </a:prstGeom>
          <a:noFill/>
        </p:spPr>
        <p:txBody>
          <a:bodyPr wrap="square">
            <a:spAutoFit/>
          </a:bodyPr>
          <a:lstStyle/>
          <a:p>
            <a:pPr algn="l">
              <a:defRPr sz="1000" b="0">
                <a:latin typeface="Malgun Gothic"/>
              </a:defRPr>
            </a:pPr>
            <a:r>
              <a:t>1</a:t>
            </a:r>
          </a:p>
        </p:txBody>
      </p:sp>
      <p:sp>
        <p:nvSpPr>
          <p:cNvPr id="13" name="TextBox 12"/>
          <p:cNvSpPr txBox="1"/>
          <p:nvPr/>
        </p:nvSpPr>
        <p:spPr>
          <a:xfrm>
            <a:off x="457200" y="4343400"/>
            <a:ext cx="8229600" cy="228600"/>
          </a:xfrm>
          <a:prstGeom prst="rect">
            <a:avLst/>
          </a:prstGeom>
          <a:noFill/>
        </p:spPr>
        <p:txBody>
          <a:bodyPr wrap="square">
            <a:spAutoFit/>
          </a:bodyPr>
          <a:lstStyle/>
          <a:p>
            <a:pPr algn="l">
              <a:defRPr sz="1000" b="0">
                <a:latin typeface="Malgun Gothic"/>
              </a:defRPr>
            </a:pPr>
            <a:r>
              <a:t>사회적 가치의 확실한 성과 창출</a:t>
            </a:r>
          </a:p>
        </p:txBody>
      </p:sp>
      <p:sp>
        <p:nvSpPr>
          <p:cNvPr id="14" name="TextBox 13"/>
          <p:cNvSpPr txBox="1"/>
          <p:nvPr/>
        </p:nvSpPr>
        <p:spPr>
          <a:xfrm>
            <a:off x="457200" y="4663440"/>
            <a:ext cx="8229600" cy="457200"/>
          </a:xfrm>
          <a:prstGeom prst="rect">
            <a:avLst/>
          </a:prstGeom>
          <a:noFill/>
        </p:spPr>
        <p:txBody>
          <a:bodyPr wrap="square">
            <a:spAutoFit/>
          </a:bodyPr>
          <a:lstStyle/>
          <a:p>
            <a:pPr algn="l">
              <a:defRPr sz="1000" b="0">
                <a:latin typeface="Malgun Gothic"/>
              </a:defRPr>
            </a:pPr>
            <a:r>
              <a:t>① 양질의 일자리 창출 지속</a:t>
            </a:r>
            <a:br/>
            <a:r>
              <a:t>② 안전관리 체계 강화</a:t>
            </a:r>
            <a:br/>
            <a:r>
              <a:t>③ 투명·윤리경영 및 공정경제 강화</a:t>
            </a:r>
            <a:br/>
            <a:r>
              <a:t>④ 사회형평적 인사운영</a:t>
            </a:r>
            <a:br/>
            <a:r>
              <a:t>⑤ 혁신도시 활성화 등 지역상생</a:t>
            </a:r>
          </a:p>
        </p:txBody>
      </p:sp>
      <p:sp>
        <p:nvSpPr>
          <p:cNvPr id="15" name="TextBox 14"/>
          <p:cNvSpPr txBox="1"/>
          <p:nvPr/>
        </p:nvSpPr>
        <p:spPr>
          <a:xfrm>
            <a:off x="457200" y="5212080"/>
            <a:ext cx="8229600" cy="228600"/>
          </a:xfrm>
          <a:prstGeom prst="rect">
            <a:avLst/>
          </a:prstGeom>
          <a:noFill/>
        </p:spPr>
        <p:txBody>
          <a:bodyPr wrap="square">
            <a:spAutoFit/>
          </a:bodyPr>
          <a:lstStyle/>
          <a:p>
            <a:pPr algn="l">
              <a:defRPr sz="1000" b="0">
                <a:latin typeface="Malgun Gothic"/>
              </a:defRPr>
            </a:pPr>
            <a:r>
              <a:t>혁신</a:t>
            </a:r>
            <a:br/>
            <a:r>
              <a:t>과제</a:t>
            </a:r>
          </a:p>
        </p:txBody>
      </p:sp>
      <p:sp>
        <p:nvSpPr>
          <p:cNvPr id="16" name="TextBox 15"/>
          <p:cNvSpPr txBox="1"/>
          <p:nvPr/>
        </p:nvSpPr>
        <p:spPr>
          <a:xfrm>
            <a:off x="457200" y="5532120"/>
            <a:ext cx="8229600" cy="228600"/>
          </a:xfrm>
          <a:prstGeom prst="rect">
            <a:avLst/>
          </a:prstGeom>
          <a:noFill/>
        </p:spPr>
        <p:txBody>
          <a:bodyPr wrap="square">
            <a:spAutoFit/>
          </a:bodyPr>
          <a:lstStyle/>
          <a:p>
            <a:pPr algn="l">
              <a:defRPr sz="1000" b="0">
                <a:latin typeface="Malgun Gothic"/>
              </a:defRPr>
            </a:pPr>
            <a:r>
              <a:t>2</a:t>
            </a:r>
          </a:p>
        </p:txBody>
      </p:sp>
      <p:sp>
        <p:nvSpPr>
          <p:cNvPr id="17" name="TextBox 16"/>
          <p:cNvSpPr txBox="1"/>
          <p:nvPr/>
        </p:nvSpPr>
        <p:spPr>
          <a:xfrm>
            <a:off x="457200" y="5852160"/>
            <a:ext cx="8229600" cy="228600"/>
          </a:xfrm>
          <a:prstGeom prst="rect">
            <a:avLst/>
          </a:prstGeom>
          <a:noFill/>
        </p:spPr>
        <p:txBody>
          <a:bodyPr wrap="square">
            <a:spAutoFit/>
          </a:bodyPr>
          <a:lstStyle/>
          <a:p>
            <a:pPr algn="l">
              <a:defRPr sz="1000" b="0">
                <a:latin typeface="Malgun Gothic"/>
              </a:defRPr>
            </a:pPr>
            <a:r>
              <a:t>혁신적 포용국가 선도</a:t>
            </a:r>
          </a:p>
        </p:txBody>
      </p:sp>
      <p:sp>
        <p:nvSpPr>
          <p:cNvPr id="18" name="TextBox 17"/>
          <p:cNvSpPr txBox="1"/>
          <p:nvPr/>
        </p:nvSpPr>
        <p:spPr>
          <a:xfrm>
            <a:off x="457200" y="6172200"/>
            <a:ext cx="8229600" cy="228600"/>
          </a:xfrm>
          <a:prstGeom prst="rect">
            <a:avLst/>
          </a:prstGeom>
          <a:noFill/>
        </p:spPr>
        <p:txBody>
          <a:bodyPr wrap="square">
            <a:spAutoFit/>
          </a:bodyPr>
          <a:lstStyle/>
          <a:p>
            <a:pPr algn="l">
              <a:defRPr sz="1000" b="0">
                <a:latin typeface="Malgun Gothic"/>
              </a:defRPr>
            </a:pPr>
            <a:r>
              <a:t>③ 경제활력 제고 및 일자리 중심 경제 선도</a:t>
            </a:r>
            <a:br/>
            <a:r>
              <a:t>④ 혁신성장 지원</a:t>
            </a:r>
            <a:br/>
            <a:r>
              <a:t>⑤ 공공경제 기반 구축</a:t>
            </a:r>
          </a:p>
        </p:txBody>
      </p:sp>
      <p:sp>
        <p:nvSpPr>
          <p:cNvPr id="19" name="TextBox 18"/>
          <p:cNvSpPr txBox="1"/>
          <p:nvPr/>
        </p:nvSpPr>
        <p:spPr>
          <a:xfrm>
            <a:off x="457200" y="6492240"/>
            <a:ext cx="8229600" cy="228600"/>
          </a:xfrm>
          <a:prstGeom prst="rect">
            <a:avLst/>
          </a:prstGeom>
          <a:noFill/>
        </p:spPr>
        <p:txBody>
          <a:bodyPr wrap="square">
            <a:spAutoFit/>
          </a:bodyPr>
          <a:lstStyle/>
          <a:p>
            <a:pPr algn="l">
              <a:defRPr sz="1000" b="0">
                <a:latin typeface="Malgun Gothic"/>
              </a:defRPr>
            </a:pPr>
            <a:r>
              <a:t>2</a:t>
            </a:r>
          </a:p>
        </p:txBody>
      </p:sp>
      <p:sp>
        <p:nvSpPr>
          <p:cNvPr id="20" name="TextBox 19"/>
          <p:cNvSpPr txBox="1"/>
          <p:nvPr/>
        </p:nvSpPr>
        <p:spPr>
          <a:xfrm>
            <a:off x="457200" y="6812280"/>
            <a:ext cx="8229600" cy="228600"/>
          </a:xfrm>
          <a:prstGeom prst="rect">
            <a:avLst/>
          </a:prstGeom>
          <a:noFill/>
        </p:spPr>
        <p:txBody>
          <a:bodyPr wrap="square">
            <a:spAutoFit/>
          </a:bodyPr>
          <a:lstStyle/>
          <a:p>
            <a:pPr algn="l">
              <a:defRPr sz="1000" b="0">
                <a:latin typeface="Malgun Gothic"/>
              </a:defRPr>
            </a:pPr>
            <a:r>
              <a:t>혁신성장 강화 및 경제활력 제고</a:t>
            </a:r>
          </a:p>
        </p:txBody>
      </p:sp>
      <p:sp>
        <p:nvSpPr>
          <p:cNvPr id="21" name="TextBox 20"/>
          <p:cNvSpPr txBox="1"/>
          <p:nvPr/>
        </p:nvSpPr>
        <p:spPr>
          <a:xfrm>
            <a:off x="457200" y="7132320"/>
            <a:ext cx="8229600" cy="457200"/>
          </a:xfrm>
          <a:prstGeom prst="rect">
            <a:avLst/>
          </a:prstGeom>
          <a:noFill/>
        </p:spPr>
        <p:txBody>
          <a:bodyPr wrap="square">
            <a:spAutoFit/>
          </a:bodyPr>
          <a:lstStyle/>
          <a:p>
            <a:pPr algn="l">
              <a:defRPr sz="1000" b="0">
                <a:latin typeface="Malgun Gothic"/>
              </a:defRPr>
            </a:pPr>
            <a:r>
              <a:t>⑥ 공공기관의 4차 산업혁명·한국형뉴딜 선도</a:t>
            </a:r>
            <a:br/>
            <a:r>
              <a:t>⑦ 경제활력 제고의 마중물 역할 강화</a:t>
            </a:r>
            <a:br/>
            <a:r>
              <a:t>⑧ 중소기업 규제혁신 및 親기업환경 조성</a:t>
            </a:r>
            <a:br/>
            <a:r>
              <a:t>⑨ 공공기관 혁신장터 구축</a:t>
            </a:r>
            <a:br/>
            <a:r>
              <a:t>⑩ 혁신지향 공공조달 확대</a:t>
            </a:r>
          </a:p>
        </p:txBody>
      </p:sp>
      <p:sp>
        <p:nvSpPr>
          <p:cNvPr id="22" name="TextBox 21"/>
          <p:cNvSpPr txBox="1"/>
          <p:nvPr/>
        </p:nvSpPr>
        <p:spPr>
          <a:xfrm>
            <a:off x="457200" y="7680960"/>
            <a:ext cx="8229600" cy="228600"/>
          </a:xfrm>
          <a:prstGeom prst="rect">
            <a:avLst/>
          </a:prstGeom>
          <a:noFill/>
        </p:spPr>
        <p:txBody>
          <a:bodyPr wrap="square">
            <a:spAutoFit/>
          </a:bodyPr>
          <a:lstStyle/>
          <a:p>
            <a:pPr algn="l">
              <a:defRPr sz="1000" b="0">
                <a:latin typeface="Malgun Gothic"/>
              </a:defRPr>
            </a:pPr>
            <a:r>
              <a:t>3</a:t>
            </a:r>
          </a:p>
        </p:txBody>
      </p:sp>
      <p:sp>
        <p:nvSpPr>
          <p:cNvPr id="23" name="TextBox 22"/>
          <p:cNvSpPr txBox="1"/>
          <p:nvPr/>
        </p:nvSpPr>
        <p:spPr>
          <a:xfrm>
            <a:off x="457200" y="8001000"/>
            <a:ext cx="8229600" cy="228600"/>
          </a:xfrm>
          <a:prstGeom prst="rect">
            <a:avLst/>
          </a:prstGeom>
          <a:noFill/>
        </p:spPr>
        <p:txBody>
          <a:bodyPr wrap="square">
            <a:spAutoFit/>
          </a:bodyPr>
          <a:lstStyle/>
          <a:p>
            <a:pPr algn="l">
              <a:defRPr sz="1000" b="0">
                <a:latin typeface="Malgun Gothic"/>
              </a:defRPr>
            </a:pPr>
            <a:r>
              <a:t>국민신뢰 제고</a:t>
            </a:r>
          </a:p>
        </p:txBody>
      </p:sp>
      <p:sp>
        <p:nvSpPr>
          <p:cNvPr id="24" name="TextBox 23"/>
          <p:cNvSpPr txBox="1"/>
          <p:nvPr/>
        </p:nvSpPr>
        <p:spPr>
          <a:xfrm>
            <a:off x="457200" y="8321040"/>
            <a:ext cx="8229600" cy="457200"/>
          </a:xfrm>
          <a:prstGeom prst="rect">
            <a:avLst/>
          </a:prstGeom>
          <a:noFill/>
        </p:spPr>
        <p:txBody>
          <a:bodyPr wrap="square">
            <a:spAutoFit/>
          </a:bodyPr>
          <a:lstStyle/>
          <a:p>
            <a:pPr algn="l">
              <a:defRPr sz="1000" b="0">
                <a:latin typeface="Malgun Gothic"/>
              </a:defRPr>
            </a:pPr>
            <a:r>
              <a:t>⑥ 적극행정 확산 및 조직운영 혁신</a:t>
            </a:r>
            <a:br/>
            <a:r>
              <a:t>⑦ 투명·윤리경영 강화</a:t>
            </a:r>
            <a:br/>
            <a:r>
              <a:t>⑧ 국민의 참여 확대 및 지역사회 공헌</a:t>
            </a:r>
          </a:p>
        </p:txBody>
      </p:sp>
      <p:sp>
        <p:nvSpPr>
          <p:cNvPr id="25" name="TextBox 24"/>
          <p:cNvSpPr txBox="1"/>
          <p:nvPr/>
        </p:nvSpPr>
        <p:spPr>
          <a:xfrm>
            <a:off x="457200" y="8869680"/>
            <a:ext cx="8229600" cy="228600"/>
          </a:xfrm>
          <a:prstGeom prst="rect">
            <a:avLst/>
          </a:prstGeom>
          <a:noFill/>
        </p:spPr>
        <p:txBody>
          <a:bodyPr wrap="square">
            <a:spAutoFit/>
          </a:bodyPr>
          <a:lstStyle/>
          <a:p>
            <a:pPr algn="l">
              <a:defRPr sz="1000" b="0">
                <a:latin typeface="Malgun Gothic"/>
              </a:defRPr>
            </a:pPr>
            <a:r>
              <a:t>3</a:t>
            </a:r>
          </a:p>
        </p:txBody>
      </p:sp>
      <p:sp>
        <p:nvSpPr>
          <p:cNvPr id="26" name="TextBox 25"/>
          <p:cNvSpPr txBox="1"/>
          <p:nvPr/>
        </p:nvSpPr>
        <p:spPr>
          <a:xfrm>
            <a:off x="457200" y="9189720"/>
            <a:ext cx="8229600" cy="228600"/>
          </a:xfrm>
          <a:prstGeom prst="rect">
            <a:avLst/>
          </a:prstGeom>
          <a:noFill/>
        </p:spPr>
        <p:txBody>
          <a:bodyPr wrap="square">
            <a:spAutoFit/>
          </a:bodyPr>
          <a:lstStyle/>
          <a:p>
            <a:pPr algn="l">
              <a:defRPr sz="1000" b="0">
                <a:latin typeface="Malgun Gothic"/>
              </a:defRPr>
            </a:pPr>
            <a:r>
              <a:t>국민신뢰 제고</a:t>
            </a:r>
          </a:p>
        </p:txBody>
      </p:sp>
      <p:sp>
        <p:nvSpPr>
          <p:cNvPr id="27" name="TextBox 26"/>
          <p:cNvSpPr txBox="1"/>
          <p:nvPr/>
        </p:nvSpPr>
        <p:spPr>
          <a:xfrm>
            <a:off x="457200" y="9509760"/>
            <a:ext cx="8229600" cy="685800"/>
          </a:xfrm>
          <a:prstGeom prst="rect">
            <a:avLst/>
          </a:prstGeom>
          <a:noFill/>
        </p:spPr>
        <p:txBody>
          <a:bodyPr wrap="square">
            <a:spAutoFit/>
          </a:bodyPr>
          <a:lstStyle/>
          <a:p>
            <a:pPr algn="l">
              <a:defRPr sz="1000" b="0">
                <a:latin typeface="Malgun Gothic"/>
              </a:defRPr>
            </a:pPr>
            <a:r>
              <a:t>⑪ 직무중심의 보수체계 확산</a:t>
            </a:r>
            <a:br/>
            <a:r>
              <a:t>⑫ 임금피크제 대상인력의 효율적 활용</a:t>
            </a:r>
            <a:br/>
            <a:r>
              <a:t>⑬ 공공기관 투자활성화·재무건전성 관리</a:t>
            </a:r>
            <a:br/>
            <a:r>
              <a:t>④ 공공기관 적극행정 및 업무방식 변화 유도</a:t>
            </a:r>
            <a:br/>
            <a:r>
              <a:t>⑮ 공공기관 인사운영 3대 혁신</a:t>
            </a:r>
            <a:br/>
            <a:r>
              <a:t>⑯ 과도한 복지방지 등 방만경영 점검</a:t>
            </a:r>
            <a:br/>
            <a:r>
              <a:t>⑰ 알리오 및 알리오플러스 사용자 편의성 강화</a:t>
            </a:r>
          </a:p>
        </p:txBody>
      </p:sp>
      <p:sp>
        <p:nvSpPr>
          <p:cNvPr id="28" name="TextBox 27"/>
          <p:cNvSpPr txBox="1"/>
          <p:nvPr/>
        </p:nvSpPr>
        <p:spPr>
          <a:xfrm>
            <a:off x="457200" y="10287000"/>
            <a:ext cx="8229600" cy="228600"/>
          </a:xfrm>
          <a:prstGeom prst="rect">
            <a:avLst/>
          </a:prstGeom>
          <a:noFill/>
        </p:spPr>
        <p:txBody>
          <a:bodyPr wrap="square">
            <a:spAutoFit/>
          </a:bodyPr>
          <a:lstStyle/>
          <a:p>
            <a:pPr algn="l">
              <a:defRPr sz="1000" b="0">
                <a:latin typeface="Malgun Gothic"/>
              </a:defRPr>
            </a:pPr>
            <a:r>
              <a:t>Key Findings</a:t>
            </a:r>
          </a:p>
        </p:txBody>
      </p:sp>
      <p:sp>
        <p:nvSpPr>
          <p:cNvPr id="29" name="TextBox 28"/>
          <p:cNvSpPr txBox="1"/>
          <p:nvPr/>
        </p:nvSpPr>
        <p:spPr>
          <a:xfrm>
            <a:off x="457200" y="10607040"/>
            <a:ext cx="8229600" cy="228600"/>
          </a:xfrm>
          <a:prstGeom prst="rect">
            <a:avLst/>
          </a:prstGeom>
          <a:noFill/>
        </p:spPr>
        <p:txBody>
          <a:bodyPr wrap="square">
            <a:spAutoFit/>
          </a:bodyPr>
          <a:lstStyle/>
          <a:p>
            <a:pPr algn="l">
              <a:defRPr sz="1000" b="0">
                <a:latin typeface="Malgun Gothic"/>
              </a:defRPr>
            </a:pPr>
            <a:r>
              <a:t>✓ 사회적 가치 반영한 운영에서</a:t>
            </a:r>
            <a:br/>
            <a:r>
              <a:t> 확실한 성과 창출로 전환</a:t>
            </a:r>
          </a:p>
        </p:txBody>
      </p:sp>
      <p:sp>
        <p:nvSpPr>
          <p:cNvPr id="30" name="TextBox 29"/>
          <p:cNvSpPr txBox="1"/>
          <p:nvPr/>
        </p:nvSpPr>
        <p:spPr>
          <a:xfrm>
            <a:off x="457200" y="10927080"/>
            <a:ext cx="8229600" cy="228600"/>
          </a:xfrm>
          <a:prstGeom prst="rect">
            <a:avLst/>
          </a:prstGeom>
          <a:noFill/>
        </p:spPr>
        <p:txBody>
          <a:bodyPr wrap="square">
            <a:spAutoFit/>
          </a:bodyPr>
          <a:lstStyle/>
          <a:p>
            <a:pPr algn="l">
              <a:defRPr sz="1000" b="0">
                <a:latin typeface="Malgun Gothic"/>
              </a:defRPr>
            </a:pPr>
            <a:r>
              <a:t>✓ 안전에 대한 중요성 커지고</a:t>
            </a:r>
            <a:br/>
            <a:r>
              <a:t> 안전관리 관련 업무량 증가됨</a:t>
            </a:r>
          </a:p>
        </p:txBody>
      </p:sp>
      <p:sp>
        <p:nvSpPr>
          <p:cNvPr id="31" name="TextBox 30"/>
          <p:cNvSpPr txBox="1"/>
          <p:nvPr/>
        </p:nvSpPr>
        <p:spPr>
          <a:xfrm>
            <a:off x="457200" y="11247120"/>
            <a:ext cx="8229600" cy="457200"/>
          </a:xfrm>
          <a:prstGeom prst="rect">
            <a:avLst/>
          </a:prstGeom>
          <a:noFill/>
        </p:spPr>
        <p:txBody>
          <a:bodyPr wrap="square">
            <a:spAutoFit/>
          </a:bodyPr>
          <a:lstStyle/>
          <a:p>
            <a:pPr algn="l">
              <a:defRPr sz="1000" b="0">
                <a:latin typeface="Malgun Gothic"/>
              </a:defRPr>
            </a:pPr>
            <a:r>
              <a:t>✓ 일자리 중심 지원성 역할에서</a:t>
            </a:r>
            <a:br/>
            <a:r>
              <a:t> 선도적 사업 추진과 투자 등</a:t>
            </a:r>
            <a:br/>
            <a:r>
              <a:t> 능동적·선도적 역할로 강화</a:t>
            </a:r>
          </a:p>
        </p:txBody>
      </p:sp>
      <p:sp>
        <p:nvSpPr>
          <p:cNvPr id="32" name="TextBox 31"/>
          <p:cNvSpPr txBox="1"/>
          <p:nvPr/>
        </p:nvSpPr>
        <p:spPr>
          <a:xfrm>
            <a:off x="457200" y="11795760"/>
            <a:ext cx="8229600" cy="228600"/>
          </a:xfrm>
          <a:prstGeom prst="rect">
            <a:avLst/>
          </a:prstGeom>
          <a:noFill/>
        </p:spPr>
        <p:txBody>
          <a:bodyPr wrap="square">
            <a:spAutoFit/>
          </a:bodyPr>
          <a:lstStyle/>
          <a:p>
            <a:pPr algn="l">
              <a:defRPr sz="1000" b="0">
                <a:latin typeface="Malgun Gothic"/>
              </a:defRPr>
            </a:pPr>
            <a:r>
              <a:t>✓ 인사제도, 인력운영에 대한</a:t>
            </a:r>
            <a:br/>
            <a:r>
              <a:t> 구체적인 방안의 시행 요구로</a:t>
            </a:r>
            <a:br/>
            <a:r>
              <a:t> 기관에 맞는 제도도입 필요</a:t>
            </a:r>
          </a:p>
        </p:txBody>
      </p:sp>
      <p:sp>
        <p:nvSpPr>
          <p:cNvPr id="33" name="TextBox 32"/>
          <p:cNvSpPr txBox="1"/>
          <p:nvPr/>
        </p:nvSpPr>
        <p:spPr>
          <a:xfrm>
            <a:off x="457200" y="12115800"/>
            <a:ext cx="8229600" cy="228600"/>
          </a:xfrm>
          <a:prstGeom prst="rect">
            <a:avLst/>
          </a:prstGeom>
          <a:noFill/>
        </p:spPr>
        <p:txBody>
          <a:bodyPr wrap="square">
            <a:spAutoFit/>
          </a:bodyPr>
          <a:lstStyle/>
          <a:p>
            <a:pPr algn="l">
              <a:defRPr sz="1000" b="0">
                <a:latin typeface="Malgun Gothic"/>
              </a:defRPr>
            </a:pPr>
            <a:r>
              <a:t>✓ 투자활성화, 재무건전성, 인력</a:t>
            </a:r>
            <a:br/>
            <a:r>
              <a:t> 운영 등 성과지표 기반 운영</a:t>
            </a:r>
            <a:br/>
            <a:r>
              <a:t> 효율성 관리 재부각</a:t>
            </a:r>
          </a:p>
        </p:txBody>
      </p:sp>
      <p:sp>
        <p:nvSpPr>
          <p:cNvPr id="34" name="TextBox 33"/>
          <p:cNvSpPr txBox="1"/>
          <p:nvPr/>
        </p:nvSpPr>
        <p:spPr>
          <a:xfrm>
            <a:off x="457200" y="12435840"/>
            <a:ext cx="8229600" cy="457200"/>
          </a:xfrm>
          <a:prstGeom prst="rect">
            <a:avLst/>
          </a:prstGeom>
          <a:noFill/>
        </p:spPr>
        <p:txBody>
          <a:bodyPr wrap="square">
            <a:spAutoFit/>
          </a:bodyPr>
          <a:lstStyle/>
          <a:p>
            <a:pPr algn="l">
              <a:defRPr sz="1000" b="0">
                <a:latin typeface="Malgun Gothic"/>
              </a:defRPr>
            </a:pPr>
            <a:r>
              <a:t>✓ 사회적 가치, 혁신성장 등</a:t>
            </a:r>
            <a:br/>
            <a:r>
              <a:t> 공공기관 혁신 주요 항목에서</a:t>
            </a:r>
            <a:br/>
            <a:r>
              <a:t> 가시적 성과와 가치 창출에</a:t>
            </a:r>
            <a:br/>
            <a:r>
              <a:t> 대한 요구 강화</a:t>
            </a:r>
          </a:p>
        </p:txBody>
      </p:sp>
      <p:sp>
        <p:nvSpPr>
          <p:cNvPr id="35" name="TextBox 34"/>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40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공공기관 인사운영 3대 혁신 제도</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정부는 기관간 인사교류제도, 특별승진제도, 개방형 계약직제를 인사운영 3대 혁신으로 정하고 적극 추진을 요구하고 있으며, 공단은 인사교류 1인, 개방형계약직 2인을 운영 중이며, 실질적 운영이 되도록 의견과 정책의 조율이 필요함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공공기관 인사운영 3대 혁신 제도 : 기관간 인사교류, 특별승진, 개방형 계약직제</a:t>
            </a:r>
          </a:p>
        </p:txBody>
      </p:sp>
      <p:sp>
        <p:nvSpPr>
          <p:cNvPr id="5" name="TextBox 4"/>
          <p:cNvSpPr txBox="1"/>
          <p:nvPr/>
        </p:nvSpPr>
        <p:spPr>
          <a:xfrm>
            <a:off x="457200" y="1828800"/>
            <a:ext cx="8229600" cy="274320"/>
          </a:xfrm>
          <a:prstGeom prst="rect">
            <a:avLst/>
          </a:prstGeom>
          <a:noFill/>
        </p:spPr>
        <p:txBody>
          <a:bodyPr wrap="square">
            <a:spAutoFit/>
          </a:bodyPr>
          <a:lstStyle/>
          <a:p>
            <a:pPr algn="l">
              <a:defRPr sz="1200" b="1">
                <a:solidFill>
                  <a:srgbClr val="003366"/>
                </a:solidFill>
                <a:latin typeface="Malgun Gothic"/>
              </a:defRPr>
            </a:pPr>
            <a:r>
              <a:t>공공기관간 인사교류제도</a:t>
            </a:r>
          </a:p>
        </p:txBody>
      </p:sp>
      <p:sp>
        <p:nvSpPr>
          <p:cNvPr id="6" name="TextBox 5"/>
          <p:cNvSpPr txBox="1"/>
          <p:nvPr/>
        </p:nvSpPr>
        <p:spPr>
          <a:xfrm>
            <a:off x="457200" y="2194560"/>
            <a:ext cx="8229600" cy="1371600"/>
          </a:xfrm>
          <a:prstGeom prst="rect">
            <a:avLst/>
          </a:prstGeom>
          <a:noFill/>
        </p:spPr>
        <p:txBody>
          <a:bodyPr wrap="square">
            <a:spAutoFit/>
          </a:bodyPr>
          <a:lstStyle/>
          <a:p>
            <a:pPr algn="l">
              <a:defRPr sz="1000" b="0">
                <a:latin typeface="Malgun Gothic"/>
              </a:defRPr>
            </a:pPr>
            <a:r>
              <a:t>▶ [개념] 공공기관 간에 소속직원을 상호 파견 형태로 일정기간 근무하게 하고 原소속기관으로 복귀시키는 제도</a:t>
            </a:r>
            <a:br/>
            <a:r>
              <a:t>→ 상호 협업 필요성이 높은 공공기관간 협력체계를 강화하고, 공공기관 우수인재 육성 등 효과 기대</a:t>
            </a:r>
            <a:br/>
            <a:r>
              <a:t>▶ [현황] 일방의 파견근무는 다수 기관에서 시행 중이나, 상호교류는 제한적</a:t>
            </a:r>
            <a:br/>
            <a:r>
              <a:t>▶ 교류 직위, 상대기관, 대상자, 기간 선정하여 기획재정부와 협의를 거쳐 인사교류 실시</a:t>
            </a:r>
            <a:br/>
            <a:r>
              <a:t>▶ 교류자에 대해 교류수당·주택지원금 지급, 복귀시 희망 보직 우선부여, 승진·성과평가 우대 등 인센티브 제공 가능</a:t>
            </a:r>
          </a:p>
        </p:txBody>
      </p:sp>
      <p:sp>
        <p:nvSpPr>
          <p:cNvPr id="7" name="TextBox 6"/>
          <p:cNvSpPr txBox="1"/>
          <p:nvPr/>
        </p:nvSpPr>
        <p:spPr>
          <a:xfrm>
            <a:off x="457200" y="3657600"/>
            <a:ext cx="8229600" cy="274320"/>
          </a:xfrm>
          <a:prstGeom prst="rect">
            <a:avLst/>
          </a:prstGeom>
          <a:noFill/>
        </p:spPr>
        <p:txBody>
          <a:bodyPr wrap="square">
            <a:spAutoFit/>
          </a:bodyPr>
          <a:lstStyle/>
          <a:p>
            <a:pPr algn="l">
              <a:defRPr sz="1200" b="1">
                <a:solidFill>
                  <a:srgbClr val="003366"/>
                </a:solidFill>
                <a:latin typeface="Malgun Gothic"/>
              </a:defRPr>
            </a:pPr>
            <a:r>
              <a:t>특별승진제도</a:t>
            </a:r>
          </a:p>
        </p:txBody>
      </p:sp>
      <p:sp>
        <p:nvSpPr>
          <p:cNvPr id="8" name="TextBox 7"/>
          <p:cNvSpPr txBox="1"/>
          <p:nvPr/>
        </p:nvSpPr>
        <p:spPr>
          <a:xfrm>
            <a:off x="457200" y="4023360"/>
            <a:ext cx="8229600" cy="1600200"/>
          </a:xfrm>
          <a:prstGeom prst="rect">
            <a:avLst/>
          </a:prstGeom>
          <a:noFill/>
        </p:spPr>
        <p:txBody>
          <a:bodyPr wrap="square">
            <a:spAutoFit/>
          </a:bodyPr>
          <a:lstStyle/>
          <a:p>
            <a:pPr algn="l">
              <a:defRPr sz="1000" b="0">
                <a:latin typeface="Malgun Gothic"/>
              </a:defRPr>
            </a:pPr>
            <a:r>
              <a:t>▶ [개념] 일반승진(주로 연공서열 반영)과 구별되는 요건·절차 등에 따라 우수성과 창출자를 대상으로 승진을 실시하는 제도</a:t>
            </a:r>
            <a:br/>
            <a:r>
              <a:t>→ '일' 중심의 인사관리 전환을 유도하고, 기관 내 적극행정 문화 확산 등 기대</a:t>
            </a:r>
            <a:br/>
            <a:r>
              <a:t>▶ [현황] 다수 기관이 특별승진 제도를 갖추고 있으나, 실제 운영실적은 미미한 것으로 파악</a:t>
            </a:r>
            <a:br/>
            <a:r>
              <a:t>▶ 대상자 요건, 예정인원 결정 후 심사 대상자 선정, 심사·의결하여 승진자 최종 결정</a:t>
            </a:r>
            <a:br/>
            <a:r>
              <a:t>▶ 연간 전체 승진인원의 2% 이상에 대해 시행 (승진인원 50명 미만 경우도 1명 이상 노력)</a:t>
            </a:r>
            <a:br/>
            <a:r>
              <a:t>특별승진 제도 개선·보완 중</a:t>
            </a:r>
            <a:br/>
            <a:r>
              <a:t>(시행은 '21년 부터 연간 2인 계획)</a:t>
            </a:r>
          </a:p>
        </p:txBody>
      </p:sp>
      <p:sp>
        <p:nvSpPr>
          <p:cNvPr id="9" name="TextBox 8"/>
          <p:cNvSpPr txBox="1"/>
          <p:nvPr/>
        </p:nvSpPr>
        <p:spPr>
          <a:xfrm>
            <a:off x="457200" y="5715000"/>
            <a:ext cx="8229600" cy="274320"/>
          </a:xfrm>
          <a:prstGeom prst="rect">
            <a:avLst/>
          </a:prstGeom>
          <a:noFill/>
        </p:spPr>
        <p:txBody>
          <a:bodyPr wrap="square">
            <a:spAutoFit/>
          </a:bodyPr>
          <a:lstStyle/>
          <a:p>
            <a:pPr algn="l">
              <a:defRPr sz="1200" b="1">
                <a:solidFill>
                  <a:srgbClr val="003366"/>
                </a:solidFill>
                <a:latin typeface="Malgun Gothic"/>
              </a:defRPr>
            </a:pPr>
            <a:r>
              <a:t>개방형 계약직제</a:t>
            </a:r>
          </a:p>
        </p:txBody>
      </p:sp>
      <p:sp>
        <p:nvSpPr>
          <p:cNvPr id="10" name="TextBox 9"/>
          <p:cNvSpPr txBox="1"/>
          <p:nvPr/>
        </p:nvSpPr>
        <p:spPr>
          <a:xfrm>
            <a:off x="457200" y="6080760"/>
            <a:ext cx="8229600" cy="1600200"/>
          </a:xfrm>
          <a:prstGeom prst="rect">
            <a:avLst/>
          </a:prstGeom>
          <a:noFill/>
        </p:spPr>
        <p:txBody>
          <a:bodyPr wrap="square">
            <a:spAutoFit/>
          </a:bodyPr>
          <a:lstStyle/>
          <a:p>
            <a:pPr algn="l">
              <a:defRPr sz="1000" b="0">
                <a:latin typeface="Malgun Gothic"/>
              </a:defRPr>
            </a:pPr>
            <a:r>
              <a:t>▶ [개념] 전문능력이 요구되거나 효율적 정책 수행을 위해 필요하다고 인정되는 직위를 민간 등에 개방하는 인력충원 제도</a:t>
            </a:r>
            <a:br/>
            <a:r>
              <a:t>→ 우수인력의 충원기회를 확대하고, 기관 내·외 경쟁체제 도입 등 조직성과 제고 기대</a:t>
            </a:r>
            <a:br/>
            <a:r>
              <a:t>▶ [현황] 116개 공기업·준정부기관에서 본부 관리자의 5% 민간 전문가 등으로 충원. 민간 우수인재 영입, 조직 핵심직위 개방은 미흡</a:t>
            </a:r>
            <a:br/>
            <a:r>
              <a:t>▶ 대상직위 선정, 채용공고, 대상자 선발 심사, 기간·보수 결정, 계약, 채용의 절차로 진행</a:t>
            </a:r>
            <a:br/>
            <a:r>
              <a:t>▶ 원칙적으로 본부 관리자의 5% 수준에서 운영하도록 함 (지사·지방사업소 등 관리자는 적용 직위수 산정 모수에서 제외)</a:t>
            </a:r>
            <a:br/>
            <a:r>
              <a:t>'20년 2명에서 '21년 3명으로 개방형 직위 1명 추가 계획</a:t>
            </a:r>
          </a:p>
        </p:txBody>
      </p:sp>
      <p:sp>
        <p:nvSpPr>
          <p:cNvPr id="11" name="TextBox 10"/>
          <p:cNvSpPr txBox="1"/>
          <p:nvPr/>
        </p:nvSpPr>
        <p:spPr>
          <a:xfrm>
            <a:off x="457200" y="7772400"/>
            <a:ext cx="8229600" cy="274320"/>
          </a:xfrm>
          <a:prstGeom prst="rect">
            <a:avLst/>
          </a:prstGeom>
          <a:noFill/>
        </p:spPr>
        <p:txBody>
          <a:bodyPr wrap="square">
            <a:spAutoFit/>
          </a:bodyPr>
          <a:lstStyle/>
          <a:p>
            <a:pPr algn="l">
              <a:defRPr sz="1200" b="1">
                <a:solidFill>
                  <a:srgbClr val="003366"/>
                </a:solidFill>
                <a:latin typeface="Malgun Gothic"/>
              </a:defRPr>
            </a:pPr>
            <a:r>
              <a:t>Key Findings</a:t>
            </a:r>
          </a:p>
        </p:txBody>
      </p:sp>
      <p:sp>
        <p:nvSpPr>
          <p:cNvPr id="12" name="TextBox 11"/>
          <p:cNvSpPr txBox="1"/>
          <p:nvPr/>
        </p:nvSpPr>
        <p:spPr>
          <a:xfrm>
            <a:off x="457200" y="8138160"/>
            <a:ext cx="8229600" cy="1371600"/>
          </a:xfrm>
          <a:prstGeom prst="rect">
            <a:avLst/>
          </a:prstGeom>
          <a:noFill/>
        </p:spPr>
        <p:txBody>
          <a:bodyPr wrap="square">
            <a:spAutoFit/>
          </a:bodyPr>
          <a:lstStyle/>
          <a:p>
            <a:pPr algn="l">
              <a:defRPr sz="1000" b="0">
                <a:latin typeface="Malgun Gothic"/>
              </a:defRPr>
            </a:pPr>
            <a:r>
              <a:t>✓ 기획재정부는 공공기관간 협력 강화 및 인재육성, 적극행정 문화 확산, 우수인력 충원 및 경쟁체제 개편 등을 위해 기관간 인사교류, 특별승진, 개방형 계약직 등 3대 인사운영 혁신의 도입·운영을 요구하고 있음</a:t>
            </a:r>
            <a:br/>
            <a:r>
              <a:t>✓ 공단은 현재 전문인력 인사교류 1인, 개방형 계약직 2인을 운용하고 있으며, 제도의 개선과 보완을 통해 '21년 특별승진 2인, 개방형 계약직을 3인으로 확대 운영할 계획을 수립함</a:t>
            </a:r>
            <a:br/>
            <a:r>
              <a:t>→ 내실과 현안이슈 해결을 위한 실질적 운영이 될 수 있게 조정</a:t>
            </a:r>
          </a:p>
        </p:txBody>
      </p:sp>
      <p:sp>
        <p:nvSpPr>
          <p:cNvPr id="13" name="TextBox 12"/>
          <p:cNvSpPr txBox="1"/>
          <p:nvPr/>
        </p:nvSpPr>
        <p:spPr>
          <a:xfrm>
            <a:off x="457200" y="9601200"/>
            <a:ext cx="8229600" cy="228600"/>
          </a:xfrm>
          <a:prstGeom prst="rect">
            <a:avLst/>
          </a:prstGeom>
          <a:noFill/>
        </p:spPr>
        <p:txBody>
          <a:bodyPr wrap="square">
            <a:spAutoFit/>
          </a:bodyPr>
          <a:lstStyle/>
          <a:p>
            <a:pPr algn="l">
              <a:defRPr sz="1000" b="0">
                <a:latin typeface="Malgun Gothic"/>
              </a:defRPr>
            </a:pPr>
            <a:r>
              <a:t>정부-공공기관 파견제 활용</a:t>
            </a:r>
            <a:br/>
            <a:r>
              <a:t>인사교류 1인 운용 중</a:t>
            </a:r>
          </a:p>
        </p:txBody>
      </p:sp>
      <p:sp>
        <p:nvSpPr>
          <p:cNvPr id="14" name="TextBox 1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Source: 공공기관 인사운영 혁신방안 - 인사교류·특별승진·개방형계약직제 시행지침, 2020.04, 기획재정부 공공정책국 | Page 41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경기동향 : 저성장·고실업 지속</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우리 경제는 저성장과 고실업이 지속되는 뉴노멀이 고착되고 있으며, 특히 코로나로 GDP 성장률 급감, 실업률 급증 등 저성장, 고실업이 강화되어 정부의 일자리 창출 등 적극적 경제 개입의 확대, 지속이 전망됨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뉴-노멀(New Normal) : 저성장·고실업 지속</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실질 GDP : 성장률 감소 추이</a:t>
            </a:r>
          </a:p>
        </p:txBody>
      </p:sp>
      <p:sp>
        <p:nvSpPr>
          <p:cNvPr id="6" name="TextBox 5"/>
          <p:cNvSpPr txBox="1"/>
          <p:nvPr/>
        </p:nvSpPr>
        <p:spPr>
          <a:xfrm>
            <a:off x="457200" y="2148840"/>
            <a:ext cx="8229600" cy="228600"/>
          </a:xfrm>
          <a:prstGeom prst="rect">
            <a:avLst/>
          </a:prstGeom>
          <a:noFill/>
        </p:spPr>
        <p:txBody>
          <a:bodyPr wrap="square">
            <a:spAutoFit/>
          </a:bodyPr>
          <a:lstStyle/>
          <a:p>
            <a:pPr algn="l">
              <a:defRPr sz="1000" b="0">
                <a:latin typeface="Malgun Gothic"/>
              </a:defRPr>
            </a:pPr>
            <a:r>
              <a:t>실업자 수 : 실업률 및 실업자 수 증가</a:t>
            </a:r>
          </a:p>
        </p:txBody>
      </p:sp>
      <p:sp>
        <p:nvSpPr>
          <p:cNvPr id="7" name="TextBox 6"/>
          <p:cNvSpPr txBox="1"/>
          <p:nvPr/>
        </p:nvSpPr>
        <p:spPr>
          <a:xfrm>
            <a:off x="457200" y="2468880"/>
            <a:ext cx="8229600" cy="228600"/>
          </a:xfrm>
          <a:prstGeom prst="rect">
            <a:avLst/>
          </a:prstGeom>
          <a:noFill/>
        </p:spPr>
        <p:txBody>
          <a:bodyPr wrap="square">
            <a:spAutoFit/>
          </a:bodyPr>
          <a:lstStyle/>
          <a:p>
            <a:pPr algn="l">
              <a:defRPr sz="1000" b="0">
                <a:latin typeface="Malgun Gothic"/>
              </a:defRPr>
            </a:pPr>
            <a:r>
              <a:t>경제성장률 전망 : 저성장 지속</a:t>
            </a:r>
          </a:p>
        </p:txBody>
      </p:sp>
      <p:sp>
        <p:nvSpPr>
          <p:cNvPr id="8" name="TextBox 7"/>
          <p:cNvSpPr txBox="1"/>
          <p:nvPr/>
        </p:nvSpPr>
        <p:spPr>
          <a:xfrm>
            <a:off x="457200" y="2788920"/>
            <a:ext cx="8229600" cy="228600"/>
          </a:xfrm>
          <a:prstGeom prst="rect">
            <a:avLst/>
          </a:prstGeom>
          <a:noFill/>
        </p:spPr>
        <p:txBody>
          <a:bodyPr wrap="square">
            <a:spAutoFit/>
          </a:bodyPr>
          <a:lstStyle/>
          <a:p>
            <a:pPr algn="l">
              <a:defRPr sz="1000" b="0">
                <a:latin typeface="Malgun Gothic"/>
              </a:defRPr>
            </a:pPr>
            <a:r>
              <a:t>Key Findings</a:t>
            </a:r>
          </a:p>
        </p:txBody>
      </p:sp>
      <p:sp>
        <p:nvSpPr>
          <p:cNvPr id="9" name="TextBox 8"/>
          <p:cNvSpPr txBox="1"/>
          <p:nvPr/>
        </p:nvSpPr>
        <p:spPr>
          <a:xfrm>
            <a:off x="457200" y="3108960"/>
            <a:ext cx="8229600" cy="914400"/>
          </a:xfrm>
          <a:prstGeom prst="rect">
            <a:avLst/>
          </a:prstGeom>
          <a:noFill/>
        </p:spPr>
        <p:txBody>
          <a:bodyPr wrap="square">
            <a:spAutoFit/>
          </a:bodyPr>
          <a:lstStyle/>
          <a:p>
            <a:pPr algn="l">
              <a:defRPr sz="1000" b="0">
                <a:latin typeface="Malgun Gothic"/>
              </a:defRPr>
            </a:pPr>
            <a:r>
              <a:t>✓ 세계경제에 소비 및 투자 부진으로 저성장, 고실업이 지속되는 뉴노멀이 지속되고 있으며, 우리나라도 저성장, 고실업이 지속되고 있음</a:t>
            </a:r>
            <a:br/>
            <a:r>
              <a:t>✓ 저성장 국면 전환을 위해 정부는 일자리창출 등 다양한 지원 정책을 통한 경제 개입이 확대되고 있음</a:t>
            </a:r>
            <a:br/>
            <a:r>
              <a:t>✓ 정부의 일자리 창출 등 적극적 개입정책 지속될 전망</a:t>
            </a:r>
          </a:p>
        </p:txBody>
      </p:sp>
      <p:sp>
        <p:nvSpPr>
          <p:cNvPr id="10" name="TextBox 9"/>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42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항만 물동량 추이</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항만물동량은 코로나19로 인한 급격한 물동량 감소 및 '12~'19년 연간 평균 2.9%의 저조한 증가율로 경제 저성장의 영향을 확인할 수 있으며, 예선 등 공단의 항만물류 연관 사업의 운영계획에 반영이 필요함</a:t>
            </a:r>
          </a:p>
        </p:txBody>
      </p:sp>
      <p:sp>
        <p:nvSpPr>
          <p:cNvPr id="4" name="TextBox 3"/>
          <p:cNvSpPr txBox="1"/>
          <p:nvPr/>
        </p:nvSpPr>
        <p:spPr>
          <a:xfrm>
            <a:off x="457200" y="1463040"/>
            <a:ext cx="8229600" cy="457200"/>
          </a:xfrm>
          <a:prstGeom prst="rect">
            <a:avLst/>
          </a:prstGeom>
          <a:noFill/>
        </p:spPr>
        <p:txBody>
          <a:bodyPr wrap="square">
            <a:spAutoFit/>
          </a:bodyPr>
          <a:lstStyle/>
          <a:p>
            <a:pPr algn="l">
              <a:defRPr sz="1000" b="0">
                <a:latin typeface="Malgun Gothic"/>
              </a:defRPr>
            </a:pPr>
            <a:r>
              <a:t>전국 무역항 항만물동량 추이 ('06~'20) showing 물동량(억톤) and 증감율(%)</a:t>
            </a:r>
          </a:p>
        </p:txBody>
      </p:sp>
      <p:sp>
        <p:nvSpPr>
          <p:cNvPr id="5" name="Rectangle 4"/>
          <p:cNvSpPr/>
          <p:nvPr/>
        </p:nvSpPr>
        <p:spPr>
          <a:xfrm>
            <a:off x="45720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6" name="TextBox 5"/>
          <p:cNvSpPr txBox="1"/>
          <p:nvPr/>
        </p:nvSpPr>
        <p:spPr>
          <a:xfrm>
            <a:off x="54864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7" name="Rectangle 6"/>
          <p:cNvSpPr/>
          <p:nvPr/>
        </p:nvSpPr>
        <p:spPr>
          <a:xfrm>
            <a:off x="323088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8" name="TextBox 7"/>
          <p:cNvSpPr txBox="1"/>
          <p:nvPr/>
        </p:nvSpPr>
        <p:spPr>
          <a:xfrm>
            <a:off x="332232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9" name="Rectangle 8"/>
          <p:cNvSpPr/>
          <p:nvPr/>
        </p:nvSpPr>
        <p:spPr>
          <a:xfrm>
            <a:off x="600456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0" name="TextBox 9"/>
          <p:cNvSpPr txBox="1"/>
          <p:nvPr/>
        </p:nvSpPr>
        <p:spPr>
          <a:xfrm>
            <a:off x="609600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1" name="TextBox 10"/>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해양환경공단 | Page 43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해양수산 분야 정보화</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해양수산 지능정보화 계획에 따라 환경, 수산, 해운, 항만 등 해양수산 주요 분야에서 개별적으로 정보시스템을 구축하여 운영하고 있으며, 해양환경은 해양수산 전체 분야와 연계성을 반영한 통합적 정보화 전략이 필요함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해양수산 지능정보화 계획 : 해양수산 전분야 4차산업혁명 기술 접목, 정보화 추진</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해양환경, 해양공간, 해양이용 정보</a:t>
            </a:r>
          </a:p>
        </p:txBody>
      </p:sp>
      <p:sp>
        <p:nvSpPr>
          <p:cNvPr id="6" name="TextBox 5"/>
          <p:cNvSpPr txBox="1"/>
          <p:nvPr/>
        </p:nvSpPr>
        <p:spPr>
          <a:xfrm>
            <a:off x="457200" y="2148840"/>
            <a:ext cx="8229600" cy="228600"/>
          </a:xfrm>
          <a:prstGeom prst="rect">
            <a:avLst/>
          </a:prstGeom>
          <a:noFill/>
        </p:spPr>
        <p:txBody>
          <a:bodyPr wrap="square">
            <a:spAutoFit/>
          </a:bodyPr>
          <a:lstStyle/>
          <a:p>
            <a:pPr algn="l">
              <a:defRPr sz="1000" b="0">
                <a:latin typeface="Malgun Gothic"/>
              </a:defRPr>
            </a:pPr>
            <a:r>
              <a:t>ICT기반의 4차 산업혁명 지원 인프라 조성</a:t>
            </a:r>
          </a:p>
        </p:txBody>
      </p:sp>
      <p:sp>
        <p:nvSpPr>
          <p:cNvPr id="7" name="TextBox 6"/>
          <p:cNvSpPr txBox="1"/>
          <p:nvPr/>
        </p:nvSpPr>
        <p:spPr>
          <a:xfrm>
            <a:off x="457200" y="2468880"/>
            <a:ext cx="8229600" cy="228600"/>
          </a:xfrm>
          <a:prstGeom prst="rect">
            <a:avLst/>
          </a:prstGeom>
          <a:noFill/>
        </p:spPr>
        <p:txBody>
          <a:bodyPr wrap="square">
            <a:spAutoFit/>
          </a:bodyPr>
          <a:lstStyle/>
          <a:p>
            <a:pPr algn="l">
              <a:defRPr sz="1000" b="0">
                <a:latin typeface="Malgun Gothic"/>
              </a:defRPr>
            </a:pPr>
            <a:r>
              <a:t>해양수산정보 공동활용 기반 강화</a:t>
            </a:r>
          </a:p>
        </p:txBody>
      </p:sp>
      <p:sp>
        <p:nvSpPr>
          <p:cNvPr id="8" name="TextBox 7"/>
          <p:cNvSpPr txBox="1"/>
          <p:nvPr/>
        </p:nvSpPr>
        <p:spPr>
          <a:xfrm>
            <a:off x="457200" y="2788920"/>
            <a:ext cx="8229600" cy="228600"/>
          </a:xfrm>
          <a:prstGeom prst="rect">
            <a:avLst/>
          </a:prstGeom>
          <a:noFill/>
        </p:spPr>
        <p:txBody>
          <a:bodyPr wrap="square">
            <a:spAutoFit/>
          </a:bodyPr>
          <a:lstStyle/>
          <a:p>
            <a:pPr algn="l">
              <a:defRPr sz="1000" b="0">
                <a:latin typeface="Malgun Gothic"/>
              </a:defRPr>
            </a:pPr>
            <a:r>
              <a:t>정보보호 인프라 강화</a:t>
            </a:r>
          </a:p>
        </p:txBody>
      </p:sp>
      <p:sp>
        <p:nvSpPr>
          <p:cNvPr id="9" name="TextBox 8"/>
          <p:cNvSpPr txBox="1"/>
          <p:nvPr/>
        </p:nvSpPr>
        <p:spPr>
          <a:xfrm>
            <a:off x="457200" y="3108960"/>
            <a:ext cx="8229600" cy="228600"/>
          </a:xfrm>
          <a:prstGeom prst="rect">
            <a:avLst/>
          </a:prstGeom>
          <a:noFill/>
        </p:spPr>
        <p:txBody>
          <a:bodyPr wrap="square">
            <a:spAutoFit/>
          </a:bodyPr>
          <a:lstStyle/>
          <a:p>
            <a:pPr algn="l">
              <a:defRPr sz="1000" b="0">
                <a:latin typeface="Malgun Gothic"/>
              </a:defRPr>
            </a:pPr>
            <a:r>
              <a:t>정보통신망 구축</a:t>
            </a:r>
          </a:p>
        </p:txBody>
      </p:sp>
      <p:sp>
        <p:nvSpPr>
          <p:cNvPr id="10" name="TextBox 9"/>
          <p:cNvSpPr txBox="1"/>
          <p:nvPr/>
        </p:nvSpPr>
        <p:spPr>
          <a:xfrm>
            <a:off x="457200" y="3429000"/>
            <a:ext cx="8229600" cy="228600"/>
          </a:xfrm>
          <a:prstGeom prst="rect">
            <a:avLst/>
          </a:prstGeom>
          <a:noFill/>
        </p:spPr>
        <p:txBody>
          <a:bodyPr wrap="square">
            <a:spAutoFit/>
          </a:bodyPr>
          <a:lstStyle/>
          <a:p>
            <a:pPr algn="l">
              <a:defRPr sz="1000" b="0">
                <a:latin typeface="Malgun Gothic"/>
              </a:defRPr>
            </a:pPr>
            <a:r>
              <a:t>인지·예측 기반의 안전한 해양환경 조성</a:t>
            </a:r>
          </a:p>
        </p:txBody>
      </p:sp>
      <p:sp>
        <p:nvSpPr>
          <p:cNvPr id="11" name="TextBox 10"/>
          <p:cNvSpPr txBox="1"/>
          <p:nvPr/>
        </p:nvSpPr>
        <p:spPr>
          <a:xfrm>
            <a:off x="457200" y="3749040"/>
            <a:ext cx="8229600" cy="228600"/>
          </a:xfrm>
          <a:prstGeom prst="rect">
            <a:avLst/>
          </a:prstGeom>
          <a:noFill/>
        </p:spPr>
        <p:txBody>
          <a:bodyPr wrap="square">
            <a:spAutoFit/>
          </a:bodyPr>
          <a:lstStyle/>
          <a:p>
            <a:pPr algn="l">
              <a:defRPr sz="1000" b="0">
                <a:latin typeface="Malgun Gothic"/>
              </a:defRPr>
            </a:pPr>
            <a:r>
              <a:t>해양사고 예방 및 신속한 재난대응</a:t>
            </a:r>
          </a:p>
        </p:txBody>
      </p:sp>
      <p:sp>
        <p:nvSpPr>
          <p:cNvPr id="12" name="TextBox 11"/>
          <p:cNvSpPr txBox="1"/>
          <p:nvPr/>
        </p:nvSpPr>
        <p:spPr>
          <a:xfrm>
            <a:off x="457200" y="4069080"/>
            <a:ext cx="8229600" cy="228600"/>
          </a:xfrm>
          <a:prstGeom prst="rect">
            <a:avLst/>
          </a:prstGeom>
          <a:noFill/>
        </p:spPr>
        <p:txBody>
          <a:bodyPr wrap="square">
            <a:spAutoFit/>
          </a:bodyPr>
          <a:lstStyle/>
          <a:p>
            <a:pPr algn="l">
              <a:defRPr sz="1000" b="0">
                <a:latin typeface="Malgun Gothic"/>
              </a:defRPr>
            </a:pPr>
            <a:r>
              <a:t>한국형 e-Nav를 통한 해양안전 강화</a:t>
            </a:r>
          </a:p>
        </p:txBody>
      </p:sp>
      <p:sp>
        <p:nvSpPr>
          <p:cNvPr id="13" name="TextBox 12"/>
          <p:cNvSpPr txBox="1"/>
          <p:nvPr/>
        </p:nvSpPr>
        <p:spPr>
          <a:xfrm>
            <a:off x="457200" y="4389120"/>
            <a:ext cx="8229600" cy="228600"/>
          </a:xfrm>
          <a:prstGeom prst="rect">
            <a:avLst/>
          </a:prstGeom>
          <a:noFill/>
        </p:spPr>
        <p:txBody>
          <a:bodyPr wrap="square">
            <a:spAutoFit/>
          </a:bodyPr>
          <a:lstStyle/>
          <a:p>
            <a:pPr algn="l">
              <a:defRPr sz="1000" b="0">
                <a:latin typeface="Malgun Gothic"/>
              </a:defRPr>
            </a:pPr>
            <a:r>
              <a:t>해양사고 원인분석체계 강화</a:t>
            </a:r>
          </a:p>
        </p:txBody>
      </p:sp>
      <p:sp>
        <p:nvSpPr>
          <p:cNvPr id="14" name="TextBox 13"/>
          <p:cNvSpPr txBox="1"/>
          <p:nvPr/>
        </p:nvSpPr>
        <p:spPr>
          <a:xfrm>
            <a:off x="457200" y="4709160"/>
            <a:ext cx="8229600" cy="228600"/>
          </a:xfrm>
          <a:prstGeom prst="rect">
            <a:avLst/>
          </a:prstGeom>
          <a:noFill/>
        </p:spPr>
        <p:txBody>
          <a:bodyPr wrap="square">
            <a:spAutoFit/>
          </a:bodyPr>
          <a:lstStyle/>
          <a:p>
            <a:pPr algn="l">
              <a:defRPr sz="1000" b="0">
                <a:latin typeface="Malgun Gothic"/>
              </a:defRPr>
            </a:pPr>
            <a:r>
              <a:t>해양방제(예방적 방제), 오염관리</a:t>
            </a:r>
          </a:p>
        </p:txBody>
      </p:sp>
      <p:sp>
        <p:nvSpPr>
          <p:cNvPr id="15" name="TextBox 14"/>
          <p:cNvSpPr txBox="1"/>
          <p:nvPr/>
        </p:nvSpPr>
        <p:spPr>
          <a:xfrm>
            <a:off x="457200" y="5029200"/>
            <a:ext cx="8229600" cy="228600"/>
          </a:xfrm>
          <a:prstGeom prst="rect">
            <a:avLst/>
          </a:prstGeom>
          <a:noFill/>
        </p:spPr>
        <p:txBody>
          <a:bodyPr wrap="square">
            <a:spAutoFit/>
          </a:bodyPr>
          <a:lstStyle/>
          <a:p>
            <a:pPr algn="l">
              <a:defRPr sz="1000" b="0">
                <a:latin typeface="Malgun Gothic"/>
              </a:defRPr>
            </a:pPr>
            <a:r>
              <a:t>해양정보 선순환 생태계 조성으로 해양의 가치 재창출</a:t>
            </a:r>
          </a:p>
        </p:txBody>
      </p:sp>
      <p:sp>
        <p:nvSpPr>
          <p:cNvPr id="16" name="TextBox 15"/>
          <p:cNvSpPr txBox="1"/>
          <p:nvPr/>
        </p:nvSpPr>
        <p:spPr>
          <a:xfrm>
            <a:off x="457200" y="5349240"/>
            <a:ext cx="8229600" cy="228600"/>
          </a:xfrm>
          <a:prstGeom prst="rect">
            <a:avLst/>
          </a:prstGeom>
          <a:noFill/>
        </p:spPr>
        <p:txBody>
          <a:bodyPr wrap="square">
            <a:spAutoFit/>
          </a:bodyPr>
          <a:lstStyle/>
          <a:p>
            <a:pPr algn="l">
              <a:defRPr sz="1000" b="0">
                <a:latin typeface="Malgun Gothic"/>
              </a:defRPr>
            </a:pPr>
            <a:r>
              <a:t>해양 이용·관리의 패러다임 전환</a:t>
            </a:r>
          </a:p>
        </p:txBody>
      </p:sp>
      <p:sp>
        <p:nvSpPr>
          <p:cNvPr id="17" name="TextBox 16"/>
          <p:cNvSpPr txBox="1"/>
          <p:nvPr/>
        </p:nvSpPr>
        <p:spPr>
          <a:xfrm>
            <a:off x="457200" y="5669280"/>
            <a:ext cx="8229600" cy="228600"/>
          </a:xfrm>
          <a:prstGeom prst="rect">
            <a:avLst/>
          </a:prstGeom>
          <a:noFill/>
        </p:spPr>
        <p:txBody>
          <a:bodyPr wrap="square">
            <a:spAutoFit/>
          </a:bodyPr>
          <a:lstStyle/>
          <a:p>
            <a:pPr algn="l">
              <a:defRPr sz="1000" b="0">
                <a:latin typeface="Malgun Gothic"/>
              </a:defRPr>
            </a:pPr>
            <a:r>
              <a:t>해양환경 보전</a:t>
            </a:r>
          </a:p>
        </p:txBody>
      </p:sp>
      <p:sp>
        <p:nvSpPr>
          <p:cNvPr id="18" name="TextBox 17"/>
          <p:cNvSpPr txBox="1"/>
          <p:nvPr/>
        </p:nvSpPr>
        <p:spPr>
          <a:xfrm>
            <a:off x="457200" y="5989320"/>
            <a:ext cx="8229600" cy="228600"/>
          </a:xfrm>
          <a:prstGeom prst="rect">
            <a:avLst/>
          </a:prstGeom>
          <a:noFill/>
        </p:spPr>
        <p:txBody>
          <a:bodyPr wrap="square">
            <a:spAutoFit/>
          </a:bodyPr>
          <a:lstStyle/>
          <a:p>
            <a:pPr algn="l">
              <a:defRPr sz="1000" b="0">
                <a:latin typeface="Malgun Gothic"/>
              </a:defRPr>
            </a:pPr>
            <a:r>
              <a:t>해양정보 산업화 촉진</a:t>
            </a:r>
          </a:p>
        </p:txBody>
      </p:sp>
      <p:sp>
        <p:nvSpPr>
          <p:cNvPr id="19" name="TextBox 18"/>
          <p:cNvSpPr txBox="1"/>
          <p:nvPr/>
        </p:nvSpPr>
        <p:spPr>
          <a:xfrm>
            <a:off x="457200" y="6309360"/>
            <a:ext cx="8229600" cy="228600"/>
          </a:xfrm>
          <a:prstGeom prst="rect">
            <a:avLst/>
          </a:prstGeom>
          <a:noFill/>
        </p:spPr>
        <p:txBody>
          <a:bodyPr wrap="square">
            <a:spAutoFit/>
          </a:bodyPr>
          <a:lstStyle/>
          <a:p>
            <a:pPr algn="l">
              <a:defRPr sz="1000" b="0">
                <a:latin typeface="Malgun Gothic"/>
              </a:defRPr>
            </a:pPr>
            <a:r>
              <a:t>지능정보 구현으로 글로벌 해양강국 실현</a:t>
            </a:r>
          </a:p>
        </p:txBody>
      </p:sp>
      <p:sp>
        <p:nvSpPr>
          <p:cNvPr id="20" name="TextBox 19"/>
          <p:cNvSpPr txBox="1"/>
          <p:nvPr/>
        </p:nvSpPr>
        <p:spPr>
          <a:xfrm>
            <a:off x="457200" y="6629400"/>
            <a:ext cx="8229600" cy="228600"/>
          </a:xfrm>
          <a:prstGeom prst="rect">
            <a:avLst/>
          </a:prstGeom>
          <a:noFill/>
        </p:spPr>
        <p:txBody>
          <a:bodyPr wrap="square">
            <a:spAutoFit/>
          </a:bodyPr>
          <a:lstStyle/>
          <a:p>
            <a:pPr algn="l">
              <a:defRPr sz="1000" b="0">
                <a:latin typeface="Malgun Gothic"/>
              </a:defRPr>
            </a:pPr>
            <a:r>
              <a:t>물류정보 연계·공유를 통한 해운항만물류 경쟁력 강화</a:t>
            </a:r>
          </a:p>
        </p:txBody>
      </p:sp>
      <p:sp>
        <p:nvSpPr>
          <p:cNvPr id="21" name="TextBox 20"/>
          <p:cNvSpPr txBox="1"/>
          <p:nvPr/>
        </p:nvSpPr>
        <p:spPr>
          <a:xfrm>
            <a:off x="457200" y="6949440"/>
            <a:ext cx="8229600" cy="228600"/>
          </a:xfrm>
          <a:prstGeom prst="rect">
            <a:avLst/>
          </a:prstGeom>
          <a:noFill/>
        </p:spPr>
        <p:txBody>
          <a:bodyPr wrap="square">
            <a:spAutoFit/>
          </a:bodyPr>
          <a:lstStyle/>
          <a:p>
            <a:pPr algn="l">
              <a:defRPr sz="1000" b="0">
                <a:latin typeface="Malgun Gothic"/>
              </a:defRPr>
            </a:pPr>
            <a:r>
              <a:t>항만 보안체계 강화</a:t>
            </a:r>
          </a:p>
        </p:txBody>
      </p:sp>
      <p:sp>
        <p:nvSpPr>
          <p:cNvPr id="22" name="TextBox 21"/>
          <p:cNvSpPr txBox="1"/>
          <p:nvPr/>
        </p:nvSpPr>
        <p:spPr>
          <a:xfrm>
            <a:off x="457200" y="7269480"/>
            <a:ext cx="8229600" cy="228600"/>
          </a:xfrm>
          <a:prstGeom prst="rect">
            <a:avLst/>
          </a:prstGeom>
          <a:noFill/>
        </p:spPr>
        <p:txBody>
          <a:bodyPr wrap="square">
            <a:spAutoFit/>
          </a:bodyPr>
          <a:lstStyle/>
          <a:p>
            <a:pPr algn="l">
              <a:defRPr sz="1000" b="0">
                <a:latin typeface="Malgun Gothic"/>
              </a:defRPr>
            </a:pPr>
            <a:r>
              <a:t>해운항만물류 산업지원 강화</a:t>
            </a:r>
          </a:p>
        </p:txBody>
      </p:sp>
      <p:sp>
        <p:nvSpPr>
          <p:cNvPr id="23" name="TextBox 22"/>
          <p:cNvSpPr txBox="1"/>
          <p:nvPr/>
        </p:nvSpPr>
        <p:spPr>
          <a:xfrm>
            <a:off x="457200" y="7589520"/>
            <a:ext cx="8229600" cy="228600"/>
          </a:xfrm>
          <a:prstGeom prst="rect">
            <a:avLst/>
          </a:prstGeom>
          <a:noFill/>
        </p:spPr>
        <p:txBody>
          <a:bodyPr wrap="square">
            <a:spAutoFit/>
          </a:bodyPr>
          <a:lstStyle/>
          <a:p>
            <a:pPr algn="l">
              <a:defRPr sz="1000" b="0">
                <a:latin typeface="Malgun Gothic"/>
              </a:defRPr>
            </a:pPr>
            <a:r>
              <a:t>민원서비스 혁신</a:t>
            </a:r>
          </a:p>
        </p:txBody>
      </p:sp>
      <p:sp>
        <p:nvSpPr>
          <p:cNvPr id="24" name="TextBox 23"/>
          <p:cNvSpPr txBox="1"/>
          <p:nvPr/>
        </p:nvSpPr>
        <p:spPr>
          <a:xfrm>
            <a:off x="457200" y="7909560"/>
            <a:ext cx="8229600" cy="228600"/>
          </a:xfrm>
          <a:prstGeom prst="rect">
            <a:avLst/>
          </a:prstGeom>
          <a:noFill/>
        </p:spPr>
        <p:txBody>
          <a:bodyPr wrap="square">
            <a:spAutoFit/>
          </a:bodyPr>
          <a:lstStyle/>
          <a:p>
            <a:pPr algn="l">
              <a:defRPr sz="1000" b="0">
                <a:latin typeface="Malgun Gothic"/>
              </a:defRPr>
            </a:pPr>
            <a:r>
              <a:t>첨단 ICT 기술을 활용한 수산자원 관리 및 수산업 육성 지원</a:t>
            </a:r>
          </a:p>
        </p:txBody>
      </p:sp>
      <p:sp>
        <p:nvSpPr>
          <p:cNvPr id="25" name="TextBox 24"/>
          <p:cNvSpPr txBox="1"/>
          <p:nvPr/>
        </p:nvSpPr>
        <p:spPr>
          <a:xfrm>
            <a:off x="457200" y="8229600"/>
            <a:ext cx="8229600" cy="228600"/>
          </a:xfrm>
          <a:prstGeom prst="rect">
            <a:avLst/>
          </a:prstGeom>
          <a:noFill/>
        </p:spPr>
        <p:txBody>
          <a:bodyPr wrap="square">
            <a:spAutoFit/>
          </a:bodyPr>
          <a:lstStyle/>
          <a:p>
            <a:pPr algn="l">
              <a:defRPr sz="1000" b="0">
                <a:latin typeface="Malgun Gothic"/>
              </a:defRPr>
            </a:pPr>
            <a:r>
              <a:t>맞춤형 수산정보서비스</a:t>
            </a:r>
          </a:p>
        </p:txBody>
      </p:sp>
      <p:sp>
        <p:nvSpPr>
          <p:cNvPr id="26" name="TextBox 25"/>
          <p:cNvSpPr txBox="1"/>
          <p:nvPr/>
        </p:nvSpPr>
        <p:spPr>
          <a:xfrm>
            <a:off x="457200" y="8549640"/>
            <a:ext cx="8229600" cy="228600"/>
          </a:xfrm>
          <a:prstGeom prst="rect">
            <a:avLst/>
          </a:prstGeom>
          <a:noFill/>
        </p:spPr>
        <p:txBody>
          <a:bodyPr wrap="square">
            <a:spAutoFit/>
          </a:bodyPr>
          <a:lstStyle/>
          <a:p>
            <a:pPr algn="l">
              <a:defRPr sz="1000" b="0">
                <a:latin typeface="Malgun Gothic"/>
              </a:defRPr>
            </a:pPr>
            <a:r>
              <a:t>수산물 안전성 확보</a:t>
            </a:r>
          </a:p>
        </p:txBody>
      </p:sp>
      <p:sp>
        <p:nvSpPr>
          <p:cNvPr id="27" name="TextBox 26"/>
          <p:cNvSpPr txBox="1"/>
          <p:nvPr/>
        </p:nvSpPr>
        <p:spPr>
          <a:xfrm>
            <a:off x="457200" y="8869680"/>
            <a:ext cx="8229600" cy="228600"/>
          </a:xfrm>
          <a:prstGeom prst="rect">
            <a:avLst/>
          </a:prstGeom>
          <a:noFill/>
        </p:spPr>
        <p:txBody>
          <a:bodyPr wrap="square">
            <a:spAutoFit/>
          </a:bodyPr>
          <a:lstStyle/>
          <a:p>
            <a:pPr algn="l">
              <a:defRPr sz="1000" b="0">
                <a:latin typeface="Malgun Gothic"/>
              </a:defRPr>
            </a:pPr>
            <a:r>
              <a:t>ICT 양식산업 육성</a:t>
            </a:r>
          </a:p>
        </p:txBody>
      </p:sp>
      <p:sp>
        <p:nvSpPr>
          <p:cNvPr id="28" name="TextBox 27"/>
          <p:cNvSpPr txBox="1"/>
          <p:nvPr/>
        </p:nvSpPr>
        <p:spPr>
          <a:xfrm>
            <a:off x="457200" y="9189720"/>
            <a:ext cx="8229600" cy="228600"/>
          </a:xfrm>
          <a:prstGeom prst="rect">
            <a:avLst/>
          </a:prstGeom>
          <a:noFill/>
        </p:spPr>
        <p:txBody>
          <a:bodyPr wrap="square">
            <a:spAutoFit/>
          </a:bodyPr>
          <a:lstStyle/>
          <a:p>
            <a:pPr algn="l">
              <a:defRPr sz="1000" b="0">
                <a:latin typeface="Malgun Gothic"/>
              </a:defRPr>
            </a:pPr>
            <a:r>
              <a:t>해양생태계·생물종 관리 정보</a:t>
            </a:r>
          </a:p>
        </p:txBody>
      </p:sp>
      <p:sp>
        <p:nvSpPr>
          <p:cNvPr id="29" name="Rectangle 28"/>
          <p:cNvSpPr/>
          <p:nvPr/>
        </p:nvSpPr>
        <p:spPr>
          <a:xfrm>
            <a:off x="45720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30" name="TextBox 29"/>
          <p:cNvSpPr txBox="1"/>
          <p:nvPr/>
        </p:nvSpPr>
        <p:spPr>
          <a:xfrm>
            <a:off x="54864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31" name="Rectangle 30"/>
          <p:cNvSpPr/>
          <p:nvPr/>
        </p:nvSpPr>
        <p:spPr>
          <a:xfrm>
            <a:off x="323088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32" name="TextBox 31"/>
          <p:cNvSpPr txBox="1"/>
          <p:nvPr/>
        </p:nvSpPr>
        <p:spPr>
          <a:xfrm>
            <a:off x="332232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33" name="Rectangle 32"/>
          <p:cNvSpPr/>
          <p:nvPr/>
        </p:nvSpPr>
        <p:spPr>
          <a:xfrm>
            <a:off x="600456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34" name="TextBox 33"/>
          <p:cNvSpPr txBox="1"/>
          <p:nvPr/>
        </p:nvSpPr>
        <p:spPr>
          <a:xfrm>
            <a:off x="609600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35" name="TextBox 34"/>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*Source: 해양수산부 지능정보화 기본계획(2018~2022), 2018.02, 해양수산부 | Page 44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공단 사업영역 관련 신기술</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예선, 오염방제, 보전 및 쓰레기수거 등 공단 사업에 자율운항선박, 항공/수산 드론 및 5G, AI, IoT가 접목된 원격 측정·조사와 정보의 실시간 분석·공유 등 새로운 기술이 개발·적용되고 있으며, 기술의 지속적인 발전이 예상됨</a:t>
            </a:r>
          </a:p>
        </p:txBody>
      </p:sp>
      <p:sp>
        <p:nvSpPr>
          <p:cNvPr id="4" name="TextBox 3"/>
          <p:cNvSpPr txBox="1"/>
          <p:nvPr/>
        </p:nvSpPr>
        <p:spPr>
          <a:xfrm>
            <a:off x="457200" y="1463040"/>
            <a:ext cx="8229600" cy="228600"/>
          </a:xfrm>
          <a:prstGeom prst="rect">
            <a:avLst/>
          </a:prstGeom>
          <a:noFill/>
        </p:spPr>
        <p:txBody>
          <a:bodyPr wrap="square">
            <a:spAutoFit/>
          </a:bodyPr>
          <a:lstStyle/>
          <a:p>
            <a:pPr algn="l">
              <a:defRPr sz="1000" b="0">
                <a:latin typeface="Malgun Gothic"/>
              </a:defRPr>
            </a:pPr>
            <a:r>
              <a:t>공단 영위 사업 미래기술 : 자율주행선박, AI, 드론, 수퍼 컴퓨터 등</a:t>
            </a:r>
          </a:p>
        </p:txBody>
      </p:sp>
      <p:sp>
        <p:nvSpPr>
          <p:cNvPr id="5" name="Rectangle 4"/>
          <p:cNvSpPr/>
          <p:nvPr/>
        </p:nvSpPr>
        <p:spPr>
          <a:xfrm>
            <a:off x="45720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6" name="TextBox 5"/>
          <p:cNvSpPr txBox="1"/>
          <p:nvPr/>
        </p:nvSpPr>
        <p:spPr>
          <a:xfrm>
            <a:off x="54864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7" name="Rectangle 6"/>
          <p:cNvSpPr/>
          <p:nvPr/>
        </p:nvSpPr>
        <p:spPr>
          <a:xfrm>
            <a:off x="323088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8" name="TextBox 7"/>
          <p:cNvSpPr txBox="1"/>
          <p:nvPr/>
        </p:nvSpPr>
        <p:spPr>
          <a:xfrm>
            <a:off x="332232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9" name="Rectangle 8"/>
          <p:cNvSpPr/>
          <p:nvPr/>
        </p:nvSpPr>
        <p:spPr>
          <a:xfrm>
            <a:off x="600456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0" name="TextBox 9"/>
          <p:cNvSpPr txBox="1"/>
          <p:nvPr/>
        </p:nvSpPr>
        <p:spPr>
          <a:xfrm>
            <a:off x="609600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1" name="Rectangle 10"/>
          <p:cNvSpPr/>
          <p:nvPr/>
        </p:nvSpPr>
        <p:spPr>
          <a:xfrm>
            <a:off x="457200" y="384048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2" name="TextBox 11"/>
          <p:cNvSpPr txBox="1"/>
          <p:nvPr/>
        </p:nvSpPr>
        <p:spPr>
          <a:xfrm>
            <a:off x="548640" y="393192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3" name="Rectangle 12"/>
          <p:cNvSpPr/>
          <p:nvPr/>
        </p:nvSpPr>
        <p:spPr>
          <a:xfrm>
            <a:off x="3230880" y="384048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4" name="TextBox 13"/>
          <p:cNvSpPr txBox="1"/>
          <p:nvPr/>
        </p:nvSpPr>
        <p:spPr>
          <a:xfrm>
            <a:off x="3322320" y="393192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5" name="Rectangle 14"/>
          <p:cNvSpPr/>
          <p:nvPr/>
        </p:nvSpPr>
        <p:spPr>
          <a:xfrm>
            <a:off x="6004560" y="384048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6" name="TextBox 15"/>
          <p:cNvSpPr txBox="1"/>
          <p:nvPr/>
        </p:nvSpPr>
        <p:spPr>
          <a:xfrm>
            <a:off x="6096000" y="393192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7" name="Rectangle 16"/>
          <p:cNvSpPr/>
          <p:nvPr/>
        </p:nvSpPr>
        <p:spPr>
          <a:xfrm>
            <a:off x="457200" y="621792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8" name="TextBox 17"/>
          <p:cNvSpPr txBox="1"/>
          <p:nvPr/>
        </p:nvSpPr>
        <p:spPr>
          <a:xfrm>
            <a:off x="548640" y="630936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9" name="Rectangle 18"/>
          <p:cNvSpPr/>
          <p:nvPr/>
        </p:nvSpPr>
        <p:spPr>
          <a:xfrm>
            <a:off x="3230880" y="621792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20" name="TextBox 19"/>
          <p:cNvSpPr txBox="1"/>
          <p:nvPr/>
        </p:nvSpPr>
        <p:spPr>
          <a:xfrm>
            <a:off x="3322320" y="630936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21" name="Rectangle 20"/>
          <p:cNvSpPr/>
          <p:nvPr/>
        </p:nvSpPr>
        <p:spPr>
          <a:xfrm>
            <a:off x="6004560" y="621792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22" name="TextBox 21"/>
          <p:cNvSpPr txBox="1"/>
          <p:nvPr/>
        </p:nvSpPr>
        <p:spPr>
          <a:xfrm>
            <a:off x="6096000" y="630936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23" name="Rectangle 22"/>
          <p:cNvSpPr/>
          <p:nvPr/>
        </p:nvSpPr>
        <p:spPr>
          <a:xfrm>
            <a:off x="457200" y="859536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24" name="TextBox 23"/>
          <p:cNvSpPr txBox="1"/>
          <p:nvPr/>
        </p:nvSpPr>
        <p:spPr>
          <a:xfrm>
            <a:off x="548640" y="868680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25" name="Rectangle 24"/>
          <p:cNvSpPr/>
          <p:nvPr/>
        </p:nvSpPr>
        <p:spPr>
          <a:xfrm>
            <a:off x="3230880" y="859536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26" name="TextBox 25"/>
          <p:cNvSpPr txBox="1"/>
          <p:nvPr/>
        </p:nvSpPr>
        <p:spPr>
          <a:xfrm>
            <a:off x="3322320" y="868680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27" name="Rectangle 26"/>
          <p:cNvSpPr/>
          <p:nvPr/>
        </p:nvSpPr>
        <p:spPr>
          <a:xfrm>
            <a:off x="6004560" y="859536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28" name="TextBox 27"/>
          <p:cNvSpPr txBox="1"/>
          <p:nvPr/>
        </p:nvSpPr>
        <p:spPr>
          <a:xfrm>
            <a:off x="6096000" y="868680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29" name="Rectangle 28"/>
          <p:cNvSpPr/>
          <p:nvPr/>
        </p:nvSpPr>
        <p:spPr>
          <a:xfrm>
            <a:off x="457200" y="1097280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30" name="TextBox 29"/>
          <p:cNvSpPr txBox="1"/>
          <p:nvPr/>
        </p:nvSpPr>
        <p:spPr>
          <a:xfrm>
            <a:off x="548640" y="1106424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31" name="Rectangle 30"/>
          <p:cNvSpPr/>
          <p:nvPr/>
        </p:nvSpPr>
        <p:spPr>
          <a:xfrm>
            <a:off x="3230880" y="1097280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32" name="TextBox 31"/>
          <p:cNvSpPr txBox="1"/>
          <p:nvPr/>
        </p:nvSpPr>
        <p:spPr>
          <a:xfrm>
            <a:off x="3322320" y="1106424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33" name="Rectangle 32"/>
          <p:cNvSpPr/>
          <p:nvPr/>
        </p:nvSpPr>
        <p:spPr>
          <a:xfrm>
            <a:off x="6004560" y="1097280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34" name="TextBox 33"/>
          <p:cNvSpPr txBox="1"/>
          <p:nvPr/>
        </p:nvSpPr>
        <p:spPr>
          <a:xfrm>
            <a:off x="6096000" y="1106424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35" name="TextBox 34"/>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44 | Page 45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코로나로 인한 디지털전환 가속</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코로나19는 고객의 디지털 수용도를 크게 가속시켜 고객 상호작용이 디지털 중심으로 급격하게 전환 시켰으며, 공단에도 해양환경 교육, 해양환경 종합정보, 시민·지역 참여 등 플랫폼의 신속한 구축과 운영이 요구되고 있음</a:t>
            </a:r>
          </a:p>
        </p:txBody>
      </p:sp>
      <p:sp>
        <p:nvSpPr>
          <p:cNvPr id="4" name="Rectangle 3"/>
          <p:cNvSpPr/>
          <p:nvPr/>
        </p:nvSpPr>
        <p:spPr>
          <a:xfrm>
            <a:off x="45720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5" name="TextBox 4"/>
          <p:cNvSpPr txBox="1"/>
          <p:nvPr/>
        </p:nvSpPr>
        <p:spPr>
          <a:xfrm>
            <a:off x="54864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6" name="Rectangle 5"/>
          <p:cNvSpPr/>
          <p:nvPr/>
        </p:nvSpPr>
        <p:spPr>
          <a:xfrm>
            <a:off x="323088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7" name="TextBox 6"/>
          <p:cNvSpPr txBox="1"/>
          <p:nvPr/>
        </p:nvSpPr>
        <p:spPr>
          <a:xfrm>
            <a:off x="332232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8" name="Rectangle 7"/>
          <p:cNvSpPr/>
          <p:nvPr/>
        </p:nvSpPr>
        <p:spPr>
          <a:xfrm>
            <a:off x="600456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9" name="TextBox 8"/>
          <p:cNvSpPr txBox="1"/>
          <p:nvPr/>
        </p:nvSpPr>
        <p:spPr>
          <a:xfrm>
            <a:off x="609600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0" name="TextBox 9"/>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Key Findings</a:t>
            </a:r>
          </a:p>
        </p:txBody>
      </p:sp>
      <p:sp>
        <p:nvSpPr>
          <p:cNvPr id="11" name="TextBox 10"/>
          <p:cNvSpPr txBox="1"/>
          <p:nvPr/>
        </p:nvSpPr>
        <p:spPr>
          <a:xfrm>
            <a:off x="457200" y="1828800"/>
            <a:ext cx="8229600" cy="1371600"/>
          </a:xfrm>
          <a:prstGeom prst="rect">
            <a:avLst/>
          </a:prstGeom>
          <a:noFill/>
        </p:spPr>
        <p:txBody>
          <a:bodyPr wrap="square">
            <a:spAutoFit/>
          </a:bodyPr>
          <a:lstStyle/>
          <a:p>
            <a:pPr algn="l">
              <a:defRPr sz="1000" b="0">
                <a:latin typeface="Malgun Gothic"/>
              </a:defRPr>
            </a:pPr>
            <a:r>
              <a:t>✓ 코로나 사태로 Un-tact 니즈 증가되면서 거래나 의사소통 등 고객 상호작용의 과반 이상이 디지털로 전환됨</a:t>
            </a:r>
            <a:br/>
            <a:br/>
            <a:r>
              <a:t>✓ 코로나 전 디지털 상호작용 비율이 30~40% 임을 감안하면, 가파른 수용도 상승을 보이고 있고, 이는 기존 디지털 수용도 변화를 3~4년 앞당기는 수준임</a:t>
            </a:r>
            <a:br/>
            <a:br/>
            <a:r>
              <a:t>✓ 해양환경 및 해양생태계 보전, 복원, 관리에 대한 산업 종사자 및 국민 참여와 소통 등 공단 고객과 이해관계자 상호작용 디지털전환에 신속한 대응 필요</a:t>
            </a:r>
            <a:br/>
            <a:br/>
            <a:r>
              <a:t>✓ 해양환경 교육, 해양환경 정보, 시민·지역참여 등 해양환경 통합 플랫폼 구축, 운영 기대</a:t>
            </a:r>
          </a:p>
        </p:txBody>
      </p:sp>
      <p:sp>
        <p:nvSpPr>
          <p:cNvPr id="12" name="TextBox 11"/>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46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해양환경 관련 글로벌 트렌드</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글로벌 해양환경 현안 이슈사항으로는 영구 동토층 해빙, 미세 플라스틱, 저서 생태계 파괴, 무분별한 양식, 자외선 차단제 유입, 과도한 어업활동(남획) 등이 제시되고 있으며, 사안에 대한 공단의 체계적이고 과학적인 대응이 요구됨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해양환경 관련 글로벌 현안 이슈 사항</a:t>
            </a:r>
          </a:p>
        </p:txBody>
      </p:sp>
      <p:sp>
        <p:nvSpPr>
          <p:cNvPr id="5" name="TextBox 4"/>
          <p:cNvSpPr txBox="1"/>
          <p:nvPr/>
        </p:nvSpPr>
        <p:spPr>
          <a:xfrm>
            <a:off x="457200" y="1828800"/>
            <a:ext cx="4023360" cy="228600"/>
          </a:xfrm>
          <a:prstGeom prst="rect">
            <a:avLst/>
          </a:prstGeom>
          <a:noFill/>
        </p:spPr>
        <p:txBody>
          <a:bodyPr wrap="square">
            <a:spAutoFit/>
          </a:bodyPr>
          <a:lstStyle/>
          <a:p>
            <a:pPr algn="l">
              <a:defRPr sz="1000" b="0">
                <a:latin typeface="Malgun Gothic"/>
              </a:defRPr>
            </a:pPr>
            <a:r>
              <a:t>1. 영구 동토층 해빙 (Melting permafrost)</a:t>
            </a:r>
          </a:p>
        </p:txBody>
      </p:sp>
      <p:sp>
        <p:nvSpPr>
          <p:cNvPr id="6" name="TextBox 5"/>
          <p:cNvSpPr txBox="1"/>
          <p:nvPr/>
        </p:nvSpPr>
        <p:spPr>
          <a:xfrm>
            <a:off x="457200" y="2148840"/>
            <a:ext cx="4023360" cy="685800"/>
          </a:xfrm>
          <a:prstGeom prst="rect">
            <a:avLst/>
          </a:prstGeom>
          <a:noFill/>
        </p:spPr>
        <p:txBody>
          <a:bodyPr wrap="square">
            <a:spAutoFit/>
          </a:bodyPr>
          <a:lstStyle/>
          <a:p>
            <a:pPr algn="l">
              <a:defRPr sz="1000" b="0">
                <a:latin typeface="Malgun Gothic"/>
              </a:defRPr>
            </a:pPr>
            <a:r>
              <a:t>• 지구온난화로 영구 동토층이 녹아 결빙된 수은 방출</a:t>
            </a:r>
            <a:br/>
            <a:r>
              <a:t>• 수은이 바다에 도달하여 독성을 내뿜어 해양 생물에 영향을 끼칠 수 있으며, 이로 인해 먹이 사슬과 어업에 부정적인 요인으로 작용</a:t>
            </a:r>
          </a:p>
        </p:txBody>
      </p:sp>
      <p:sp>
        <p:nvSpPr>
          <p:cNvPr id="7" name="TextBox 6"/>
          <p:cNvSpPr txBox="1"/>
          <p:nvPr/>
        </p:nvSpPr>
        <p:spPr>
          <a:xfrm>
            <a:off x="457200" y="2926080"/>
            <a:ext cx="4023360" cy="228600"/>
          </a:xfrm>
          <a:prstGeom prst="rect">
            <a:avLst/>
          </a:prstGeom>
          <a:noFill/>
        </p:spPr>
        <p:txBody>
          <a:bodyPr wrap="square">
            <a:spAutoFit/>
          </a:bodyPr>
          <a:lstStyle/>
          <a:p>
            <a:pPr algn="l">
              <a:defRPr sz="1000" b="0">
                <a:latin typeface="Malgun Gothic"/>
              </a:defRPr>
            </a:pPr>
            <a:r>
              <a:t>2. 미세 플라스틱 (Microplastics)</a:t>
            </a:r>
          </a:p>
        </p:txBody>
      </p:sp>
      <p:sp>
        <p:nvSpPr>
          <p:cNvPr id="8" name="TextBox 7"/>
          <p:cNvSpPr txBox="1"/>
          <p:nvPr/>
        </p:nvSpPr>
        <p:spPr>
          <a:xfrm>
            <a:off x="457200" y="3246120"/>
            <a:ext cx="4023360" cy="685800"/>
          </a:xfrm>
          <a:prstGeom prst="rect">
            <a:avLst/>
          </a:prstGeom>
          <a:noFill/>
        </p:spPr>
        <p:txBody>
          <a:bodyPr wrap="square">
            <a:spAutoFit/>
          </a:bodyPr>
          <a:lstStyle/>
          <a:p>
            <a:pPr algn="l">
              <a:defRPr sz="1000" b="0">
                <a:latin typeface="Malgun Gothic"/>
              </a:defRPr>
            </a:pPr>
            <a:r>
              <a:t>• 플라스틱 폐기물의 91%는 재활용되지 않으며, 대부분 환경에 남아 있음</a:t>
            </a:r>
            <a:br/>
            <a:r>
              <a:t>• 바이오 플라스틱이나 신기술이 개발되고 있으나, 해양환경에 대한 영향은 검토가 요하고, 여전이 환경 발자국을 남길 것임</a:t>
            </a:r>
          </a:p>
        </p:txBody>
      </p:sp>
      <p:sp>
        <p:nvSpPr>
          <p:cNvPr id="9" name="TextBox 8"/>
          <p:cNvSpPr txBox="1"/>
          <p:nvPr/>
        </p:nvSpPr>
        <p:spPr>
          <a:xfrm>
            <a:off x="457200" y="4023360"/>
            <a:ext cx="4023360" cy="228600"/>
          </a:xfrm>
          <a:prstGeom prst="rect">
            <a:avLst/>
          </a:prstGeom>
          <a:noFill/>
        </p:spPr>
        <p:txBody>
          <a:bodyPr wrap="square">
            <a:spAutoFit/>
          </a:bodyPr>
          <a:lstStyle/>
          <a:p>
            <a:pPr algn="l">
              <a:defRPr sz="1000" b="0">
                <a:latin typeface="Malgun Gothic"/>
              </a:defRPr>
            </a:pPr>
            <a:r>
              <a:t>3. 저서 생태계 파괴 (Antarctic benthos)</a:t>
            </a:r>
          </a:p>
        </p:txBody>
      </p:sp>
      <p:sp>
        <p:nvSpPr>
          <p:cNvPr id="10" name="TextBox 9"/>
          <p:cNvSpPr txBox="1"/>
          <p:nvPr/>
        </p:nvSpPr>
        <p:spPr>
          <a:xfrm>
            <a:off x="457200" y="4343400"/>
            <a:ext cx="4023360" cy="685800"/>
          </a:xfrm>
          <a:prstGeom prst="rect">
            <a:avLst/>
          </a:prstGeom>
          <a:noFill/>
        </p:spPr>
        <p:txBody>
          <a:bodyPr wrap="square">
            <a:spAutoFit/>
          </a:bodyPr>
          <a:lstStyle/>
          <a:p>
            <a:pPr algn="l">
              <a:defRPr sz="1000" b="0">
                <a:latin typeface="Malgun Gothic"/>
              </a:defRPr>
            </a:pPr>
            <a:r>
              <a:t>• 남극 저서 생물은 온실기체 조절에 필수적인데, 지구 온난화로 남극의 얼음이 녹아 해저생명 파괴, 탄소저장 저해, 온난화 촉진 등 문제 야기</a:t>
            </a:r>
            <a:br/>
            <a:r>
              <a:t>• 해양환경 영향이 명확하지 않은 식물성플랑크톤을 증가시킬 수 있음</a:t>
            </a:r>
          </a:p>
        </p:txBody>
      </p:sp>
      <p:sp>
        <p:nvSpPr>
          <p:cNvPr id="11" name="TextBox 10"/>
          <p:cNvSpPr txBox="1"/>
          <p:nvPr/>
        </p:nvSpPr>
        <p:spPr>
          <a:xfrm>
            <a:off x="457200" y="5120640"/>
            <a:ext cx="4023360" cy="228600"/>
          </a:xfrm>
          <a:prstGeom prst="rect">
            <a:avLst/>
          </a:prstGeom>
          <a:noFill/>
        </p:spPr>
        <p:txBody>
          <a:bodyPr wrap="square">
            <a:spAutoFit/>
          </a:bodyPr>
          <a:lstStyle/>
          <a:p>
            <a:pPr algn="l">
              <a:defRPr sz="1000" b="0">
                <a:latin typeface="Malgun Gothic"/>
              </a:defRPr>
            </a:pPr>
            <a:r>
              <a:t>4. 무분별한 양식 (Aquaculture production)</a:t>
            </a:r>
          </a:p>
        </p:txBody>
      </p:sp>
      <p:sp>
        <p:nvSpPr>
          <p:cNvPr id="12" name="TextBox 11"/>
          <p:cNvSpPr txBox="1"/>
          <p:nvPr/>
        </p:nvSpPr>
        <p:spPr>
          <a:xfrm>
            <a:off x="457200" y="5440680"/>
            <a:ext cx="4023360" cy="685800"/>
          </a:xfrm>
          <a:prstGeom prst="rect">
            <a:avLst/>
          </a:prstGeom>
          <a:noFill/>
        </p:spPr>
        <p:txBody>
          <a:bodyPr wrap="square">
            <a:spAutoFit/>
          </a:bodyPr>
          <a:lstStyle/>
          <a:p>
            <a:pPr algn="l">
              <a:defRPr sz="1000" b="0">
                <a:latin typeface="Malgun Gothic"/>
              </a:defRPr>
            </a:pPr>
            <a:r>
              <a:t>• 세계인구 증가에 따른 해산물 소비 증가는 수산양식을 증가시킴</a:t>
            </a:r>
            <a:br/>
            <a:r>
              <a:t>• 양어장에는 영양이 풍부한 사료가 필요한데, 이것은 해양 먹이 사슬을 파괴하고 양식장 이용에 대한 이해관계 상충도 발생하게 됨</a:t>
            </a:r>
          </a:p>
        </p:txBody>
      </p:sp>
      <p:sp>
        <p:nvSpPr>
          <p:cNvPr id="13" name="TextBox 12"/>
          <p:cNvSpPr txBox="1"/>
          <p:nvPr/>
        </p:nvSpPr>
        <p:spPr>
          <a:xfrm>
            <a:off x="457200" y="6217920"/>
            <a:ext cx="4023360" cy="228600"/>
          </a:xfrm>
          <a:prstGeom prst="rect">
            <a:avLst/>
          </a:prstGeom>
          <a:noFill/>
        </p:spPr>
        <p:txBody>
          <a:bodyPr wrap="square">
            <a:spAutoFit/>
          </a:bodyPr>
          <a:lstStyle/>
          <a:p>
            <a:pPr algn="l">
              <a:defRPr sz="1000" b="0">
                <a:latin typeface="Malgun Gothic"/>
              </a:defRPr>
            </a:pPr>
            <a:r>
              <a:t>5. 자외선 차단제 유입 (Entering sunscreen)</a:t>
            </a:r>
          </a:p>
        </p:txBody>
      </p:sp>
      <p:sp>
        <p:nvSpPr>
          <p:cNvPr id="14" name="TextBox 13"/>
          <p:cNvSpPr txBox="1"/>
          <p:nvPr/>
        </p:nvSpPr>
        <p:spPr>
          <a:xfrm>
            <a:off x="457200" y="6537960"/>
            <a:ext cx="4023360" cy="685800"/>
          </a:xfrm>
          <a:prstGeom prst="rect">
            <a:avLst/>
          </a:prstGeom>
          <a:noFill/>
        </p:spPr>
        <p:txBody>
          <a:bodyPr wrap="square">
            <a:spAutoFit/>
          </a:bodyPr>
          <a:lstStyle/>
          <a:p>
            <a:pPr algn="l">
              <a:defRPr sz="1000" b="0">
                <a:latin typeface="Malgun Gothic"/>
              </a:defRPr>
            </a:pPr>
            <a:r>
              <a:t>• 매년 약 14,000 톤의 자외선 차단제가 바다로 유입됨</a:t>
            </a:r>
            <a:br/>
            <a:r>
              <a:t>• 자외선 차단제는 일부 해양 생물에 해롭고 산호 표백을 유발할 수 있음</a:t>
            </a:r>
            <a:br/>
            <a:r>
              <a:t>• 해양생물의 피해를 완화하는 녹색 시노린 성분의 자외선 차단제 개발 중</a:t>
            </a:r>
          </a:p>
        </p:txBody>
      </p:sp>
      <p:sp>
        <p:nvSpPr>
          <p:cNvPr id="15" name="TextBox 14"/>
          <p:cNvSpPr txBox="1"/>
          <p:nvPr/>
        </p:nvSpPr>
        <p:spPr>
          <a:xfrm>
            <a:off x="457200" y="7315200"/>
            <a:ext cx="4023360" cy="228600"/>
          </a:xfrm>
          <a:prstGeom prst="rect">
            <a:avLst/>
          </a:prstGeom>
          <a:noFill/>
        </p:spPr>
        <p:txBody>
          <a:bodyPr wrap="square">
            <a:spAutoFit/>
          </a:bodyPr>
          <a:lstStyle/>
          <a:p>
            <a:pPr algn="l">
              <a:defRPr sz="1000" b="0">
                <a:latin typeface="Malgun Gothic"/>
              </a:defRPr>
            </a:pPr>
            <a:r>
              <a:t>6. 과도한 어업활동 (Mesopelagic fisheries)</a:t>
            </a:r>
          </a:p>
        </p:txBody>
      </p:sp>
      <p:sp>
        <p:nvSpPr>
          <p:cNvPr id="16" name="TextBox 15"/>
          <p:cNvSpPr txBox="1"/>
          <p:nvPr/>
        </p:nvSpPr>
        <p:spPr>
          <a:xfrm>
            <a:off x="457200" y="7635240"/>
            <a:ext cx="4023360" cy="685800"/>
          </a:xfrm>
          <a:prstGeom prst="rect">
            <a:avLst/>
          </a:prstGeom>
          <a:noFill/>
        </p:spPr>
        <p:txBody>
          <a:bodyPr wrap="square">
            <a:spAutoFit/>
          </a:bodyPr>
          <a:lstStyle/>
          <a:p>
            <a:pPr algn="l">
              <a:defRPr sz="1000" b="0">
                <a:latin typeface="Malgun Gothic"/>
              </a:defRPr>
            </a:pPr>
            <a:r>
              <a:t>• 어족자원 감소와 수요 증가는 연근해 어업의 부담을 줄이고 심해어족 자원을 남획으로 이어지고 있음</a:t>
            </a:r>
            <a:br/>
            <a:r>
              <a:t>• 심해 어류군은 중요 탄소 흡수원인 동시 개체수 회복이 느려, 남획될 경우 해양 이산화탄소 조절에 어려움을 줄 수 있음</a:t>
            </a:r>
          </a:p>
        </p:txBody>
      </p:sp>
      <p:sp>
        <p:nvSpPr>
          <p:cNvPr id="17" name="Rectangle 16"/>
          <p:cNvSpPr/>
          <p:nvPr/>
        </p:nvSpPr>
        <p:spPr>
          <a:xfrm>
            <a:off x="45720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8" name="TextBox 17"/>
          <p:cNvSpPr txBox="1"/>
          <p:nvPr/>
        </p:nvSpPr>
        <p:spPr>
          <a:xfrm>
            <a:off x="54864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9" name="Rectangle 18"/>
          <p:cNvSpPr/>
          <p:nvPr/>
        </p:nvSpPr>
        <p:spPr>
          <a:xfrm>
            <a:off x="323088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20" name="TextBox 19"/>
          <p:cNvSpPr txBox="1"/>
          <p:nvPr/>
        </p:nvSpPr>
        <p:spPr>
          <a:xfrm>
            <a:off x="332232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21" name="Rectangle 20"/>
          <p:cNvSpPr/>
          <p:nvPr/>
        </p:nvSpPr>
        <p:spPr>
          <a:xfrm>
            <a:off x="600456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22" name="TextBox 21"/>
          <p:cNvSpPr txBox="1"/>
          <p:nvPr/>
        </p:nvSpPr>
        <p:spPr>
          <a:xfrm>
            <a:off x="609600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23" name="TextBox 22"/>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*Source: Emerging marine trends, SAFETY4SEA, (2019) / The State of the Marine Environment, UNEP | Page 47</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블루카본 연구·정책 강화</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기후변화 대응과 탄소중립의 중요한 관리요소로 국제적 관심이 증가하며 부각되고 있는 블루카본은, 서·남해 연안의 염생습지·갯벌의 복원과 유지를 통한 증산·확보가 가능하며, 적극적인 정책과 사업의 개발과 추진이 필요한 영역임</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블루카본에 대한 연구, 정책 강화</a:t>
            </a:r>
          </a:p>
        </p:txBody>
      </p:sp>
      <p:sp>
        <p:nvSpPr>
          <p:cNvPr id="5" name="TextBox 4"/>
          <p:cNvSpPr txBox="1"/>
          <p:nvPr/>
        </p:nvSpPr>
        <p:spPr>
          <a:xfrm>
            <a:off x="457200" y="1828800"/>
            <a:ext cx="4023360" cy="228600"/>
          </a:xfrm>
          <a:prstGeom prst="rect">
            <a:avLst/>
          </a:prstGeom>
          <a:noFill/>
        </p:spPr>
        <p:txBody>
          <a:bodyPr wrap="square">
            <a:spAutoFit/>
          </a:bodyPr>
          <a:lstStyle/>
          <a:p>
            <a:pPr algn="l">
              <a:defRPr sz="1000" b="0">
                <a:latin typeface="Malgun Gothic"/>
              </a:defRPr>
            </a:pPr>
            <a:r>
              <a:t>정의</a:t>
            </a:r>
            <a:br/>
            <a:r>
              <a:t>블루카본은 해안과 해양 생태계에 저장되는 탄소</a:t>
            </a:r>
          </a:p>
        </p:txBody>
      </p:sp>
      <p:sp>
        <p:nvSpPr>
          <p:cNvPr id="6" name="TextBox 5"/>
          <p:cNvSpPr txBox="1"/>
          <p:nvPr/>
        </p:nvSpPr>
        <p:spPr>
          <a:xfrm>
            <a:off x="457200" y="2148840"/>
            <a:ext cx="4023360" cy="457200"/>
          </a:xfrm>
          <a:prstGeom prst="rect">
            <a:avLst/>
          </a:prstGeom>
          <a:noFill/>
        </p:spPr>
        <p:txBody>
          <a:bodyPr wrap="square">
            <a:spAutoFit/>
          </a:bodyPr>
          <a:lstStyle/>
          <a:p>
            <a:pPr algn="l">
              <a:defRPr sz="1000" b="0">
                <a:latin typeface="Malgun Gothic"/>
              </a:defRPr>
            </a:pPr>
            <a:r>
              <a:t>사실</a:t>
            </a:r>
            <a:br/>
            <a:r>
              <a:t>(Facts)</a:t>
            </a:r>
            <a:br/>
            <a:r>
              <a:t>• 전세계 탄소 순환의 83%는 바다를 통해 이루어짐</a:t>
            </a:r>
            <a:br/>
            <a:r>
              <a:t>• 해안생태계는 전체 바다의 2% 미만의 면적임</a:t>
            </a:r>
            <a:br/>
            <a:r>
              <a:t>• 해양침적물 탄소저장의 50%가 해안생태계에서 이루어짐</a:t>
            </a:r>
          </a:p>
        </p:txBody>
      </p:sp>
      <p:sp>
        <p:nvSpPr>
          <p:cNvPr id="7" name="TextBox 6"/>
          <p:cNvSpPr txBox="1"/>
          <p:nvPr/>
        </p:nvSpPr>
        <p:spPr>
          <a:xfrm>
            <a:off x="457200" y="2697480"/>
            <a:ext cx="4023360" cy="1143000"/>
          </a:xfrm>
          <a:prstGeom prst="rect">
            <a:avLst/>
          </a:prstGeom>
          <a:noFill/>
        </p:spPr>
        <p:txBody>
          <a:bodyPr wrap="square">
            <a:spAutoFit/>
          </a:bodyPr>
          <a:lstStyle/>
          <a:p>
            <a:pPr algn="l">
              <a:defRPr sz="1000" b="0">
                <a:latin typeface="Malgun Gothic"/>
              </a:defRPr>
            </a:pPr>
            <a:r>
              <a:t>보호·복원</a:t>
            </a:r>
            <a:br/>
            <a:r>
              <a:t>필요성</a:t>
            </a:r>
            <a:br/>
            <a:r>
              <a:t>• 망그로브 : 매년 2% 소실 추정. 전체 대지의 0.7% 면적이나 산림파괴 탄소배출의 최대 10%에 해당할 것으로 추산</a:t>
            </a:r>
            <a:br/>
            <a:r>
              <a:t>• 염생습지 : 매년 1~2% 소실 추정. 현재 140만 ㎢ 수준으로 과거 면적의 50% 이상이 소실되었을 것으로 추정</a:t>
            </a:r>
            <a:br/>
            <a:r>
              <a:t>• 해초 : 매년 1.5% 소실 추정. 해저 면적의 0.2% 미만이지만 해양 탄소저장의 10%를 저장. 과거 면적의 30% 소실 추정</a:t>
            </a:r>
          </a:p>
        </p:txBody>
      </p:sp>
      <p:sp>
        <p:nvSpPr>
          <p:cNvPr id="8" name="TextBox 7"/>
          <p:cNvSpPr txBox="1"/>
          <p:nvPr/>
        </p:nvSpPr>
        <p:spPr>
          <a:xfrm>
            <a:off x="457200" y="3931920"/>
            <a:ext cx="4023360" cy="228600"/>
          </a:xfrm>
          <a:prstGeom prst="rect">
            <a:avLst/>
          </a:prstGeom>
          <a:noFill/>
        </p:spPr>
        <p:txBody>
          <a:bodyPr wrap="square">
            <a:spAutoFit/>
          </a:bodyPr>
          <a:lstStyle/>
          <a:p>
            <a:pPr algn="l">
              <a:defRPr sz="1000" b="0">
                <a:latin typeface="Malgun Gothic"/>
              </a:defRPr>
            </a:pPr>
            <a:r>
              <a:t>Image of carbon cycle flow</a:t>
            </a:r>
          </a:p>
        </p:txBody>
      </p:sp>
      <p:sp>
        <p:nvSpPr>
          <p:cNvPr id="9" name="TextBox 8"/>
          <p:cNvSpPr txBox="1"/>
          <p:nvPr/>
        </p:nvSpPr>
        <p:spPr>
          <a:xfrm>
            <a:off x="457200" y="4251960"/>
            <a:ext cx="8229600" cy="274320"/>
          </a:xfrm>
          <a:prstGeom prst="rect">
            <a:avLst/>
          </a:prstGeom>
          <a:noFill/>
        </p:spPr>
        <p:txBody>
          <a:bodyPr wrap="square">
            <a:spAutoFit/>
          </a:bodyPr>
          <a:lstStyle/>
          <a:p>
            <a:pPr algn="l">
              <a:defRPr sz="1200" b="1">
                <a:solidFill>
                  <a:srgbClr val="003366"/>
                </a:solidFill>
                <a:latin typeface="Malgun Gothic"/>
              </a:defRPr>
            </a:pPr>
            <a:r>
              <a:t>블루카본 정책 입안을 위한 5단계 절차 구조</a:t>
            </a:r>
          </a:p>
        </p:txBody>
      </p:sp>
      <p:sp>
        <p:nvSpPr>
          <p:cNvPr id="10" name="TextBox 9"/>
          <p:cNvSpPr txBox="1"/>
          <p:nvPr/>
        </p:nvSpPr>
        <p:spPr>
          <a:xfrm>
            <a:off x="4663440" y="2194560"/>
            <a:ext cx="4023360" cy="228600"/>
          </a:xfrm>
          <a:prstGeom prst="rect">
            <a:avLst/>
          </a:prstGeom>
          <a:noFill/>
        </p:spPr>
        <p:txBody>
          <a:bodyPr wrap="square">
            <a:spAutoFit/>
          </a:bodyPr>
          <a:lstStyle/>
          <a:p>
            <a:pPr algn="l">
              <a:defRPr sz="1000" b="0">
                <a:latin typeface="Malgun Gothic"/>
              </a:defRPr>
            </a:pPr>
            <a:r>
              <a:t>1</a:t>
            </a:r>
            <a:br/>
            <a:r>
              <a:t>• 연안 탄소 생태계 현황 및 복원과 관련된 배경정보의 수집</a:t>
            </a:r>
          </a:p>
        </p:txBody>
      </p:sp>
      <p:sp>
        <p:nvSpPr>
          <p:cNvPr id="11" name="TextBox 10"/>
          <p:cNvSpPr txBox="1"/>
          <p:nvPr/>
        </p:nvSpPr>
        <p:spPr>
          <a:xfrm>
            <a:off x="4663440" y="2514600"/>
            <a:ext cx="4023360" cy="228600"/>
          </a:xfrm>
          <a:prstGeom prst="rect">
            <a:avLst/>
          </a:prstGeom>
          <a:noFill/>
        </p:spPr>
        <p:txBody>
          <a:bodyPr wrap="square">
            <a:spAutoFit/>
          </a:bodyPr>
          <a:lstStyle/>
          <a:p>
            <a:pPr algn="l">
              <a:defRPr sz="1000" b="0">
                <a:latin typeface="Malgun Gothic"/>
              </a:defRPr>
            </a:pPr>
            <a:r>
              <a:t>2</a:t>
            </a:r>
            <a:br/>
            <a:r>
              <a:t>• 법, 정책, 경제, 책임기관 등 정책이행의 조건·조항 확인</a:t>
            </a:r>
          </a:p>
        </p:txBody>
      </p:sp>
      <p:sp>
        <p:nvSpPr>
          <p:cNvPr id="12" name="TextBox 11"/>
          <p:cNvSpPr txBox="1"/>
          <p:nvPr/>
        </p:nvSpPr>
        <p:spPr>
          <a:xfrm>
            <a:off x="4663440" y="2834640"/>
            <a:ext cx="4023360" cy="228600"/>
          </a:xfrm>
          <a:prstGeom prst="rect">
            <a:avLst/>
          </a:prstGeom>
          <a:noFill/>
        </p:spPr>
        <p:txBody>
          <a:bodyPr wrap="square">
            <a:spAutoFit/>
          </a:bodyPr>
          <a:lstStyle/>
          <a:p>
            <a:pPr algn="l">
              <a:defRPr sz="1000" b="0">
                <a:latin typeface="Malgun Gothic"/>
              </a:defRPr>
            </a:pPr>
            <a:r>
              <a:t>3</a:t>
            </a:r>
            <a:br/>
            <a:r>
              <a:t>• 평가 도구를 활용하여 조건과 조항의 현재 상황 확인·정의</a:t>
            </a:r>
          </a:p>
        </p:txBody>
      </p:sp>
      <p:sp>
        <p:nvSpPr>
          <p:cNvPr id="13" name="TextBox 12"/>
          <p:cNvSpPr txBox="1"/>
          <p:nvPr/>
        </p:nvSpPr>
        <p:spPr>
          <a:xfrm>
            <a:off x="4663440" y="3154680"/>
            <a:ext cx="4023360" cy="228600"/>
          </a:xfrm>
          <a:prstGeom prst="rect">
            <a:avLst/>
          </a:prstGeom>
          <a:noFill/>
        </p:spPr>
        <p:txBody>
          <a:bodyPr wrap="square">
            <a:spAutoFit/>
          </a:bodyPr>
          <a:lstStyle/>
          <a:p>
            <a:pPr algn="l">
              <a:defRPr sz="1000" b="0">
                <a:latin typeface="Malgun Gothic"/>
              </a:defRPr>
            </a:pPr>
            <a:r>
              <a:t>4</a:t>
            </a:r>
            <a:br/>
            <a:r>
              <a:t>• 정책 우선순위의 결정 (법, 정책, 경제, 기관 중 핵심요인)</a:t>
            </a:r>
          </a:p>
        </p:txBody>
      </p:sp>
      <p:sp>
        <p:nvSpPr>
          <p:cNvPr id="14" name="TextBox 13"/>
          <p:cNvSpPr txBox="1"/>
          <p:nvPr/>
        </p:nvSpPr>
        <p:spPr>
          <a:xfrm>
            <a:off x="4663440" y="3474720"/>
            <a:ext cx="4023360" cy="228600"/>
          </a:xfrm>
          <a:prstGeom prst="rect">
            <a:avLst/>
          </a:prstGeom>
          <a:noFill/>
        </p:spPr>
        <p:txBody>
          <a:bodyPr wrap="square">
            <a:spAutoFit/>
          </a:bodyPr>
          <a:lstStyle/>
          <a:p>
            <a:pPr algn="l">
              <a:defRPr sz="1000" b="0">
                <a:latin typeface="Malgun Gothic"/>
              </a:defRPr>
            </a:pPr>
            <a:r>
              <a:t>5</a:t>
            </a:r>
            <a:br/>
            <a:r>
              <a:t>• 정책 우선순위에 따른 실행가능한 전략과 정책옵션 개발</a:t>
            </a:r>
          </a:p>
        </p:txBody>
      </p:sp>
      <p:sp>
        <p:nvSpPr>
          <p:cNvPr id="15" name="TextBox 14"/>
          <p:cNvSpPr txBox="1"/>
          <p:nvPr/>
        </p:nvSpPr>
        <p:spPr>
          <a:xfrm>
            <a:off x="4663440" y="3794760"/>
            <a:ext cx="4023360" cy="914400"/>
          </a:xfrm>
          <a:prstGeom prst="rect">
            <a:avLst/>
          </a:prstGeom>
          <a:noFill/>
        </p:spPr>
        <p:txBody>
          <a:bodyPr wrap="square">
            <a:spAutoFit/>
          </a:bodyPr>
          <a:lstStyle/>
          <a:p>
            <a:pPr algn="l">
              <a:defRPr sz="1000" b="0">
                <a:latin typeface="Malgun Gothic"/>
              </a:defRPr>
            </a:pPr>
            <a:r>
              <a:t>Key</a:t>
            </a:r>
            <a:br/>
            <a:r>
              <a:t>Findings</a:t>
            </a:r>
            <a:br/>
            <a:r>
              <a:t>✓ 한국 서·남해는 세계 5대 갯벌 중 하나로, 염생습지 및 갯벌 등 대규모 연안 블루카본 생태계를 보유하고 있음</a:t>
            </a:r>
            <a:br/>
            <a:r>
              <a:t>✓ 기후변화에 대한 대응과 탄소중립 도달을 위한 주요 사업 중 하나로 염생습지·갯벌의 복원과 유지(소실방지) 관리를 통한 블루카본 증산 및 탄소배출권 환산·확보 등 정책과 사업의 개발과 추진 필요함</a:t>
            </a:r>
          </a:p>
        </p:txBody>
      </p:sp>
      <p:sp>
        <p:nvSpPr>
          <p:cNvPr id="16" name="TextBox 15"/>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48</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외부 환경분석 - 외부 환경분석 종합</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외부 환경변화 요인의 각 사업부문별 영향(기회/위협)은 다음과 같이 분류해 볼 수 있음</a:t>
            </a:r>
          </a:p>
        </p:txBody>
      </p:sp>
      <p:sp>
        <p:nvSpPr>
          <p:cNvPr id="4" name="TextBox 3"/>
          <p:cNvSpPr txBox="1"/>
          <p:nvPr/>
        </p:nvSpPr>
        <p:spPr>
          <a:xfrm>
            <a:off x="457200" y="1463040"/>
            <a:ext cx="8229600" cy="1828800"/>
          </a:xfrm>
          <a:prstGeom prst="rect">
            <a:avLst/>
          </a:prstGeom>
          <a:noFill/>
        </p:spPr>
        <p:txBody>
          <a:bodyPr wrap="square">
            <a:spAutoFit/>
          </a:bodyPr>
          <a:lstStyle/>
          <a:p>
            <a:pPr algn="l">
              <a:defRPr sz="900" b="0">
                <a:latin typeface="Malgun Gothic"/>
              </a:defRPr>
            </a:pPr>
            <a:r>
              <a:t>[TABLE]</a:t>
            </a:r>
            <a:br/>
            <a:r>
              <a:t>The table shows an external environment analysis, categorizing factors and their potential impact (opportunity/threat) across various business sectors. The rows represent factors grouped under Policy, Economy, Society, Technology, and Environment/Industry. Columns represent potential impacts: Preservation, Prevention, Marine(Expected), Research, and Future Growth.</a:t>
            </a:r>
          </a:p>
        </p:txBody>
      </p:sp>
      <p:sp>
        <p:nvSpPr>
          <p:cNvPr id="5" name="TextBox 4"/>
          <p:cNvSpPr txBox="1"/>
          <p:nvPr/>
        </p:nvSpPr>
        <p:spPr>
          <a:xfrm>
            <a:off x="457200" y="3383280"/>
            <a:ext cx="8229600" cy="11430000"/>
          </a:xfrm>
          <a:prstGeom prst="rect">
            <a:avLst/>
          </a:prstGeom>
          <a:noFill/>
        </p:spPr>
        <p:txBody>
          <a:bodyPr wrap="square">
            <a:spAutoFit/>
          </a:bodyPr>
          <a:lstStyle/>
          <a:p>
            <a:pPr algn="l">
              <a:defRPr sz="1000" b="0">
                <a:latin typeface="Malgun Gothic"/>
              </a:defRPr>
            </a:pPr>
            <a:r>
              <a:t>Policy:</a:t>
            </a:r>
            <a:br/>
            <a:r>
              <a:t>- 5th Marine Environment Comprehensive Plan Implementation: Opportunity across all impact areas.</a:t>
            </a:r>
            <a:br/>
            <a:r>
              <a:t>- Korean New Deal (Digital, Green, Safety) Promotion: Opportunity across all impact areas.</a:t>
            </a:r>
            <a:br/>
            <a:r>
              <a:t>- Continuous Strengthening of Climate Change Response and Carbon Neutrality (Carbon Neutrality 2050): Opportunity across all impact areas.</a:t>
            </a:r>
            <a:br/>
            <a:r>
              <a:t>- 2030 Eco-Friendly Ship Promotion Strategy: Proactive Eco-Friendly Ship Transition Policy for the Public Sector: Threat in Preservation and Prevention.</a:t>
            </a:r>
            <a:br/>
            <a:r>
              <a:t>- Reorganization of the National Marine Disaster Prevention System: Transition to Joint Response System with Private Sector (Led by Corporation): Opportunity in Preservation; Neutral in Marine(Expected).</a:t>
            </a:r>
            <a:br/>
            <a:br/>
            <a:r>
              <a:t>Economy:</a:t>
            </a:r>
            <a:br/>
            <a:r>
              <a:t>- Continued Trend of Low Growth and High Unemployment (New Normal): Neutral in Preservation; Threat in Marine(Expected); Neutral in Future Growth.</a:t>
            </a:r>
            <a:br/>
            <a:r>
              <a:t>- Decrease in Port Cargo Volume Due to COVID-19 and Economic Growth Decline: Threat in Prevention and Marine(Expected).</a:t>
            </a:r>
            <a:br/>
            <a:r>
              <a:t>- Increase in Business Failures and Small Business Closures Leading to Income Disparities: Threat in Marine(Expected); Opportunity in Future Growth.</a:t>
            </a:r>
            <a:br/>
            <a:br/>
            <a:r>
              <a:t>Society:</a:t>
            </a:r>
            <a:br/>
            <a:r>
              <a:t>- Low Birth Rate, Increased Elderly Population Ratio, etc., Leading to Changes in Population Structure: Neutral in Preservation; Neutral in Future Growth.</a:t>
            </a:r>
            <a:br/>
            <a:r>
              <a:t>- Continued Population Decline in Coastal Areas and Aging in Rural Fishing Villages: Neutral in Preservation; Opportunity in Future Growth.</a:t>
            </a:r>
            <a:br/>
            <a:r>
              <a:t>- Non-Face-to-Face and Digital Consumption Pattern Changes Due to COVID-19: Threat in Preservation.</a:t>
            </a:r>
            <a:br/>
            <a:br/>
            <a:r>
              <a:t>Technology:</a:t>
            </a:r>
            <a:br/>
            <a:r>
              <a:t>- Development and Commercialization of New Technologies such as Autonomous Vessels, AI, IoT, 5G: Neutral in Preservation; Opportunity in Prevention; Threat in Marine(Expected); Neutral in Research; Opportunity in Future Growth.</a:t>
            </a:r>
            <a:br/>
            <a:r>
              <a:t>- Acceleration of Digital Transformation Due to COVID-19: Neutral in Preservation and Prevention; Opportunity in Research and Future Growth.</a:t>
            </a:r>
            <a:br/>
            <a:r>
              <a:t>- Acceleration of Marine Environment Informatization and New Technology Application: Opportunity across all impact areas.</a:t>
            </a:r>
            <a:br/>
            <a:br/>
            <a:r>
              <a:t>Environment/Industry:</a:t>
            </a:r>
            <a:br/>
            <a:r>
              <a:t>- Changes in Trends and Issues Related to Marine Environment, such as New Pollutants: Opportunity in Preservation and Prevention; Neutral in Research; Opportunity in Future Growth.</a:t>
            </a:r>
            <a:br/>
            <a:r>
              <a:t>- Strengthening Research and Policy Interest in Blue Carbon: Opportunity across all impact areas.</a:t>
            </a:r>
            <a:br/>
            <a:r>
              <a:t>- Increased Influence of International Agreements and International Organizations Related to Marine Environment: Neutral in Preservation; Opportunity in Future Growth.</a:t>
            </a:r>
          </a:p>
        </p:txBody>
      </p:sp>
      <p:sp>
        <p:nvSpPr>
          <p:cNvPr id="6" name="TextBox 5"/>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None | Page 49</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내부 환경·역량 분석</a:t>
            </a:r>
          </a:p>
        </p:txBody>
      </p:sp>
      <p:sp>
        <p:nvSpPr>
          <p:cNvPr id="3" name="TextBox 2"/>
          <p:cNvSpPr txBox="1"/>
          <p:nvPr/>
        </p:nvSpPr>
        <p:spPr>
          <a:xfrm>
            <a:off x="457200" y="1463040"/>
            <a:ext cx="8229600" cy="228600"/>
          </a:xfrm>
          <a:prstGeom prst="rect">
            <a:avLst/>
          </a:prstGeom>
          <a:noFill/>
        </p:spPr>
        <p:txBody>
          <a:bodyPr wrap="square">
            <a:spAutoFit/>
          </a:bodyPr>
          <a:lstStyle/>
          <a:p>
            <a:pPr algn="l">
              <a:defRPr sz="1000" b="0">
                <a:latin typeface="Malgun Gothic"/>
              </a:defRPr>
            </a:pPr>
            <a:r>
              <a:t>KOEM 해양환경공단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None | Page 50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내부 환경·역량 분석 - 해양환경정책과 공단 연혁 (1/2)</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해양환경종합계획 정책과 공단 연혁 (1/2)</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제1차 해양오염방지 5개년 계획</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추진</a:t>
            </a:r>
            <a:br/>
            <a:r>
              <a:t>방향</a:t>
            </a:r>
          </a:p>
        </p:txBody>
      </p:sp>
      <p:sp>
        <p:nvSpPr>
          <p:cNvPr id="6" name="TextBox 5"/>
          <p:cNvSpPr txBox="1"/>
          <p:nvPr/>
        </p:nvSpPr>
        <p:spPr>
          <a:xfrm>
            <a:off x="457200" y="2148840"/>
            <a:ext cx="8229600" cy="457200"/>
          </a:xfrm>
          <a:prstGeom prst="rect">
            <a:avLst/>
          </a:prstGeom>
          <a:noFill/>
        </p:spPr>
        <p:txBody>
          <a:bodyPr wrap="square">
            <a:spAutoFit/>
          </a:bodyPr>
          <a:lstStyle/>
          <a:p>
            <a:pPr algn="l">
              <a:defRPr sz="1000" b="0">
                <a:latin typeface="Malgun Gothic"/>
              </a:defRPr>
            </a:pPr>
            <a:r>
              <a:t>• 대규모 유해성 적조 및 유류오염사고</a:t>
            </a:r>
            <a:br/>
            <a:r>
              <a:t>  예방</a:t>
            </a:r>
            <a:br/>
            <a:r>
              <a:t>• 적조방지종합대책 수립, 시행</a:t>
            </a:r>
            <a:br/>
            <a:r>
              <a:t>• 해양오염사고 방제기능 강화</a:t>
            </a:r>
          </a:p>
        </p:txBody>
      </p:sp>
      <p:sp>
        <p:nvSpPr>
          <p:cNvPr id="7" name="TextBox 6"/>
          <p:cNvSpPr txBox="1"/>
          <p:nvPr/>
        </p:nvSpPr>
        <p:spPr>
          <a:xfrm>
            <a:off x="457200" y="2697480"/>
            <a:ext cx="8229600" cy="228600"/>
          </a:xfrm>
          <a:prstGeom prst="rect">
            <a:avLst/>
          </a:prstGeom>
          <a:noFill/>
        </p:spPr>
        <p:txBody>
          <a:bodyPr wrap="square">
            <a:spAutoFit/>
          </a:bodyPr>
          <a:lstStyle/>
          <a:p>
            <a:pPr algn="l">
              <a:defRPr sz="1000" b="0">
                <a:latin typeface="Malgun Gothic"/>
              </a:defRPr>
            </a:pPr>
            <a:r>
              <a:t>성과</a:t>
            </a:r>
          </a:p>
        </p:txBody>
      </p:sp>
      <p:sp>
        <p:nvSpPr>
          <p:cNvPr id="8" name="TextBox 7"/>
          <p:cNvSpPr txBox="1"/>
          <p:nvPr/>
        </p:nvSpPr>
        <p:spPr>
          <a:xfrm>
            <a:off x="457200" y="3017520"/>
            <a:ext cx="8229600" cy="457200"/>
          </a:xfrm>
          <a:prstGeom prst="rect">
            <a:avLst/>
          </a:prstGeom>
          <a:noFill/>
        </p:spPr>
        <p:txBody>
          <a:bodyPr wrap="square">
            <a:spAutoFit/>
          </a:bodyPr>
          <a:lstStyle/>
          <a:p>
            <a:pPr algn="l">
              <a:defRPr sz="1000" b="0">
                <a:latin typeface="Malgun Gothic"/>
              </a:defRPr>
            </a:pPr>
            <a:r>
              <a:t>• 적조피해액 및 유류 유출량 감소</a:t>
            </a:r>
            <a:br/>
            <a:r>
              <a:t>• 「연안관리법」, 「습지보전법」,</a:t>
            </a:r>
            <a:br/>
            <a:r>
              <a:t>  「해양오염방지법」 등 관련 법률</a:t>
            </a:r>
            <a:br/>
            <a:r>
              <a:t>  제·개정하여 해양환경보전 기반 확보</a:t>
            </a:r>
          </a:p>
        </p:txBody>
      </p:sp>
      <p:sp>
        <p:nvSpPr>
          <p:cNvPr id="9" name="TextBox 8"/>
          <p:cNvSpPr txBox="1"/>
          <p:nvPr/>
        </p:nvSpPr>
        <p:spPr>
          <a:xfrm>
            <a:off x="457200" y="3566160"/>
            <a:ext cx="8229600" cy="274320"/>
          </a:xfrm>
          <a:prstGeom prst="rect">
            <a:avLst/>
          </a:prstGeom>
          <a:noFill/>
        </p:spPr>
        <p:txBody>
          <a:bodyPr wrap="square">
            <a:spAutoFit/>
          </a:bodyPr>
          <a:lstStyle/>
          <a:p>
            <a:pPr algn="l">
              <a:defRPr sz="1200" b="1">
                <a:solidFill>
                  <a:srgbClr val="003366"/>
                </a:solidFill>
                <a:latin typeface="Malgun Gothic"/>
              </a:defRPr>
            </a:pPr>
            <a:r>
              <a:t>제2차 해양환경보전 종합계획</a:t>
            </a:r>
          </a:p>
        </p:txBody>
      </p:sp>
      <p:sp>
        <p:nvSpPr>
          <p:cNvPr id="10" name="TextBox 9"/>
          <p:cNvSpPr txBox="1"/>
          <p:nvPr/>
        </p:nvSpPr>
        <p:spPr>
          <a:xfrm>
            <a:off x="457200" y="3931920"/>
            <a:ext cx="8229600" cy="457200"/>
          </a:xfrm>
          <a:prstGeom prst="rect">
            <a:avLst/>
          </a:prstGeom>
          <a:noFill/>
        </p:spPr>
        <p:txBody>
          <a:bodyPr wrap="square">
            <a:spAutoFit/>
          </a:bodyPr>
          <a:lstStyle/>
          <a:p>
            <a:pPr algn="l">
              <a:defRPr sz="1000" b="0">
                <a:latin typeface="Malgun Gothic"/>
              </a:defRPr>
            </a:pPr>
            <a:r>
              <a:t>•오염물질의 사후처리에서 사전에</a:t>
            </a:r>
            <a:br/>
            <a:r>
              <a:t> 억제하는 '사전예방적 관리 체제'로 기본</a:t>
            </a:r>
            <a:br/>
            <a:r>
              <a:t> 정책방향 전환</a:t>
            </a:r>
            <a:br/>
            <a:r>
              <a:t>• 육상기인 오염원의 해양유입방지 강화</a:t>
            </a:r>
          </a:p>
        </p:txBody>
      </p:sp>
      <p:sp>
        <p:nvSpPr>
          <p:cNvPr id="11" name="TextBox 10"/>
          <p:cNvSpPr txBox="1"/>
          <p:nvPr/>
        </p:nvSpPr>
        <p:spPr>
          <a:xfrm>
            <a:off x="457200" y="4480560"/>
            <a:ext cx="8229600" cy="685800"/>
          </a:xfrm>
          <a:prstGeom prst="rect">
            <a:avLst/>
          </a:prstGeom>
          <a:noFill/>
        </p:spPr>
        <p:txBody>
          <a:bodyPr wrap="square">
            <a:spAutoFit/>
          </a:bodyPr>
          <a:lstStyle/>
          <a:p>
            <a:pPr algn="l">
              <a:defRPr sz="1000" b="0">
                <a:latin typeface="Malgun Gothic"/>
              </a:defRPr>
            </a:pPr>
            <a:r>
              <a:t>• 연안해역 평균수질 COD기준 II등급 유지</a:t>
            </a:r>
            <a:br/>
            <a:r>
              <a:t>• 해양보호구역 확대 지정</a:t>
            </a:r>
            <a:br/>
            <a:r>
              <a:t>•국민의 해양보전 인식 및 참여 제고,</a:t>
            </a:r>
            <a:br/>
            <a:r>
              <a:t>•해양환경측정망 확대(296개소, 1999년 →</a:t>
            </a:r>
            <a:br/>
            <a:r>
              <a:t> 347개소, 2005년)</a:t>
            </a:r>
          </a:p>
        </p:txBody>
      </p:sp>
      <p:sp>
        <p:nvSpPr>
          <p:cNvPr id="12" name="TextBox 11"/>
          <p:cNvSpPr txBox="1"/>
          <p:nvPr/>
        </p:nvSpPr>
        <p:spPr>
          <a:xfrm>
            <a:off x="457200" y="5257800"/>
            <a:ext cx="8229600" cy="274320"/>
          </a:xfrm>
          <a:prstGeom prst="rect">
            <a:avLst/>
          </a:prstGeom>
          <a:noFill/>
        </p:spPr>
        <p:txBody>
          <a:bodyPr wrap="square">
            <a:spAutoFit/>
          </a:bodyPr>
          <a:lstStyle/>
          <a:p>
            <a:pPr algn="l">
              <a:defRPr sz="1200" b="1">
                <a:solidFill>
                  <a:srgbClr val="003366"/>
                </a:solidFill>
                <a:latin typeface="Malgun Gothic"/>
              </a:defRPr>
            </a:pPr>
            <a:r>
              <a:t>제3차 해양환경보전 종합계획</a:t>
            </a:r>
          </a:p>
        </p:txBody>
      </p:sp>
      <p:sp>
        <p:nvSpPr>
          <p:cNvPr id="13" name="TextBox 12"/>
          <p:cNvSpPr txBox="1"/>
          <p:nvPr/>
        </p:nvSpPr>
        <p:spPr>
          <a:xfrm>
            <a:off x="457200" y="5623560"/>
            <a:ext cx="8229600" cy="685800"/>
          </a:xfrm>
          <a:prstGeom prst="rect">
            <a:avLst/>
          </a:prstGeom>
          <a:noFill/>
        </p:spPr>
        <p:txBody>
          <a:bodyPr wrap="square">
            <a:spAutoFit/>
          </a:bodyPr>
          <a:lstStyle/>
          <a:p>
            <a:pPr algn="l">
              <a:defRPr sz="1000" b="0">
                <a:latin typeface="Malgun Gothic"/>
              </a:defRPr>
            </a:pPr>
            <a:r>
              <a:t>• 해양생태계 중심의 관리</a:t>
            </a:r>
            <a:br/>
            <a:r>
              <a:t>• 인간과 해양환경의 공존·조화 추구를</a:t>
            </a:r>
            <a:br/>
            <a:r>
              <a:t> 기본방향으로 해양생태계 보전·관리</a:t>
            </a:r>
            <a:br/>
            <a:r>
              <a:t>• 육상기인 오염원 관리, 해양환경개선 및</a:t>
            </a:r>
            <a:br/>
            <a:r>
              <a:t> 오염원의 예방적 관리</a:t>
            </a:r>
            <a:br/>
            <a:r>
              <a:t>• 해양환경관리 정책 인프라 강화</a:t>
            </a:r>
          </a:p>
        </p:txBody>
      </p:sp>
      <p:sp>
        <p:nvSpPr>
          <p:cNvPr id="14" name="TextBox 13"/>
          <p:cNvSpPr txBox="1"/>
          <p:nvPr/>
        </p:nvSpPr>
        <p:spPr>
          <a:xfrm>
            <a:off x="457200" y="6400800"/>
            <a:ext cx="8229600" cy="685800"/>
          </a:xfrm>
          <a:prstGeom prst="rect">
            <a:avLst/>
          </a:prstGeom>
          <a:noFill/>
        </p:spPr>
        <p:txBody>
          <a:bodyPr wrap="square">
            <a:spAutoFit/>
          </a:bodyPr>
          <a:lstStyle/>
          <a:p>
            <a:pPr algn="l">
              <a:defRPr sz="1000" b="0">
                <a:latin typeface="Malgun Gothic"/>
              </a:defRPr>
            </a:pPr>
            <a:r>
              <a:t>• 전국 연안의 육상기인 오염원 관리 기본 틀</a:t>
            </a:r>
            <a:br/>
            <a:r>
              <a:t> 마련, 연안오염총량제 성공적 도입</a:t>
            </a:r>
            <a:br/>
            <a:r>
              <a:t>• 유류오염 방제능력 강화, 해양쓰레기 수거처리</a:t>
            </a:r>
            <a:br/>
            <a:r>
              <a:t> 기본계획 수립 및 유역관리책임제 도입</a:t>
            </a:r>
            <a:br/>
            <a:r>
              <a:t>•「해양환경관리법」 제정 및 해양환경관리</a:t>
            </a:r>
            <a:br/>
            <a:r>
              <a:t> 전문기관 '해양환경관리공단' 설립</a:t>
            </a:r>
          </a:p>
        </p:txBody>
      </p:sp>
      <p:sp>
        <p:nvSpPr>
          <p:cNvPr id="15" name="Rectangle 14"/>
          <p:cNvSpPr/>
          <p:nvPr/>
        </p:nvSpPr>
        <p:spPr>
          <a:xfrm>
            <a:off x="45720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6" name="TextBox 15"/>
          <p:cNvSpPr txBox="1"/>
          <p:nvPr/>
        </p:nvSpPr>
        <p:spPr>
          <a:xfrm>
            <a:off x="54864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7" name="Rectangle 16"/>
          <p:cNvSpPr/>
          <p:nvPr/>
        </p:nvSpPr>
        <p:spPr>
          <a:xfrm>
            <a:off x="323088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8" name="TextBox 17"/>
          <p:cNvSpPr txBox="1"/>
          <p:nvPr/>
        </p:nvSpPr>
        <p:spPr>
          <a:xfrm>
            <a:off x="332232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9" name="Rectangle 18"/>
          <p:cNvSpPr/>
          <p:nvPr/>
        </p:nvSpPr>
        <p:spPr>
          <a:xfrm>
            <a:off x="600456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20" name="TextBox 19"/>
          <p:cNvSpPr txBox="1"/>
          <p:nvPr/>
        </p:nvSpPr>
        <p:spPr>
          <a:xfrm>
            <a:off x="609600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21" name="TextBox 20"/>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 | Page 51</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내부 환경·역량 분석 - 해양환경정책과 공단 연혁 (2/2)</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공단은 제4차 해양환경종합계획의 주관 수행기관으로 해양생태계 건강성 유지·보전, 기후변화 대응, 해양환경정보 시스템 등으로 사업 영역을 확대하였으며, 제5차 해양환경종합계획에 따라 역할과 위상을 새롭게 정립할 시점임</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제4차 해양환경 종합계획</a:t>
            </a:r>
          </a:p>
        </p:txBody>
      </p:sp>
      <p:sp>
        <p:nvSpPr>
          <p:cNvPr id="5" name="TextBox 4"/>
          <p:cNvSpPr txBox="1"/>
          <p:nvPr/>
        </p:nvSpPr>
        <p:spPr>
          <a:xfrm>
            <a:off x="457200" y="1828800"/>
            <a:ext cx="4023360" cy="914400"/>
          </a:xfrm>
          <a:prstGeom prst="rect">
            <a:avLst/>
          </a:prstGeom>
          <a:noFill/>
        </p:spPr>
        <p:txBody>
          <a:bodyPr wrap="square">
            <a:spAutoFit/>
          </a:bodyPr>
          <a:lstStyle/>
          <a:p>
            <a:pPr algn="l">
              <a:defRPr sz="1000" b="0">
                <a:latin typeface="Malgun Gothic"/>
              </a:defRPr>
            </a:pPr>
            <a:r>
              <a:t>• 육상기인 오염원 국가관리체계 확립 (해양환경 통합관리 체계)</a:t>
            </a:r>
            <a:br/>
            <a:r>
              <a:t>• 해양기인 오염 대응능력 확충 (예방적 관리, 오염방제 역량 강화)</a:t>
            </a:r>
            <a:br/>
            <a:r>
              <a:t>• 해양생태계 건강성 유지, 보전 (생태계 기반 관리 정착)</a:t>
            </a:r>
            <a:br/>
            <a:r>
              <a:t>• 기후친화적 해양환경 관리 강화 (기후변화 및 온실가스 저감 대응)</a:t>
            </a:r>
            <a:br/>
            <a:r>
              <a:t>• 해양환경정책 인프라 강화 (지역·민간 참여, 국제협력 강화)</a:t>
            </a:r>
          </a:p>
        </p:txBody>
      </p:sp>
      <p:sp>
        <p:nvSpPr>
          <p:cNvPr id="6" name="TextBox 5"/>
          <p:cNvSpPr txBox="1"/>
          <p:nvPr/>
        </p:nvSpPr>
        <p:spPr>
          <a:xfrm>
            <a:off x="457200" y="2834640"/>
            <a:ext cx="4023360" cy="914400"/>
          </a:xfrm>
          <a:prstGeom prst="rect">
            <a:avLst/>
          </a:prstGeom>
          <a:noFill/>
        </p:spPr>
        <p:txBody>
          <a:bodyPr wrap="square">
            <a:spAutoFit/>
          </a:bodyPr>
          <a:lstStyle/>
          <a:p>
            <a:pPr algn="l">
              <a:defRPr sz="1000" b="0">
                <a:latin typeface="Malgun Gothic"/>
              </a:defRPr>
            </a:pPr>
            <a:r>
              <a:t>• 대상 및 공간별 법 분리를 통한 법률·제도를 마련하고, 육상 오염원 등 관리체계 확립</a:t>
            </a:r>
            <a:br/>
            <a:r>
              <a:t>• 해양환경정책 관리대상 확대 : 오염 → 해양생태계, 생물자원 확대</a:t>
            </a:r>
            <a:br/>
            <a:r>
              <a:t>• 과학기술 기반 해양환경 관리 인프라 구축 : 해양환경측정망 및 해양수질자동측정소, 해양환경정보통합시스템, 선박 대기오염물질 관리시스템, 해양오염방제통합시스템 등 구축</a:t>
            </a:r>
          </a:p>
        </p:txBody>
      </p:sp>
      <p:sp>
        <p:nvSpPr>
          <p:cNvPr id="7" name="TextBox 6"/>
          <p:cNvSpPr txBox="1"/>
          <p:nvPr/>
        </p:nvSpPr>
        <p:spPr>
          <a:xfrm>
            <a:off x="457200" y="3840480"/>
            <a:ext cx="8229600" cy="274320"/>
          </a:xfrm>
          <a:prstGeom prst="rect">
            <a:avLst/>
          </a:prstGeom>
          <a:noFill/>
        </p:spPr>
        <p:txBody>
          <a:bodyPr wrap="square">
            <a:spAutoFit/>
          </a:bodyPr>
          <a:lstStyle/>
          <a:p>
            <a:pPr algn="l">
              <a:defRPr sz="1200" b="1">
                <a:solidFill>
                  <a:srgbClr val="003366"/>
                </a:solidFill>
                <a:latin typeface="Malgun Gothic"/>
              </a:defRPr>
            </a:pPr>
            <a:r>
              <a:t>제5차 해양환경 종합계획</a:t>
            </a:r>
          </a:p>
        </p:txBody>
      </p:sp>
      <p:sp>
        <p:nvSpPr>
          <p:cNvPr id="8" name="TextBox 7"/>
          <p:cNvSpPr txBox="1"/>
          <p:nvPr/>
        </p:nvSpPr>
        <p:spPr>
          <a:xfrm>
            <a:off x="4663440" y="2194560"/>
            <a:ext cx="4023360" cy="914400"/>
          </a:xfrm>
          <a:prstGeom prst="rect">
            <a:avLst/>
          </a:prstGeom>
          <a:noFill/>
        </p:spPr>
        <p:txBody>
          <a:bodyPr wrap="square">
            <a:spAutoFit/>
          </a:bodyPr>
          <a:lstStyle/>
          <a:p>
            <a:pPr algn="l">
              <a:defRPr sz="1000" b="0">
                <a:latin typeface="Malgun Gothic"/>
              </a:defRPr>
            </a:pPr>
            <a:r>
              <a:t>•(보전) 해양환경 매체별 관리 강화 : 해양의 가치를 높이기 위한 환경과 생태계에 대한 관리</a:t>
            </a:r>
            <a:br/>
            <a:r>
              <a:t>•(이용) 해양활동의 활용도 제고 : 쾌적한 해양환경을 국민 누구나 쉽게 접근하고 향유</a:t>
            </a:r>
            <a:br/>
            <a:r>
              <a:t>•(성장) 녹색산업의 영역으로 확대 : 해양환경 보전과 활용의 산업적 특성을 발굴하고 지원</a:t>
            </a:r>
          </a:p>
        </p:txBody>
      </p:sp>
      <p:sp>
        <p:nvSpPr>
          <p:cNvPr id="9" name="TextBox 8"/>
          <p:cNvSpPr txBox="1"/>
          <p:nvPr/>
        </p:nvSpPr>
        <p:spPr>
          <a:xfrm>
            <a:off x="4663440" y="3200400"/>
            <a:ext cx="4023360" cy="1143000"/>
          </a:xfrm>
          <a:prstGeom prst="rect">
            <a:avLst/>
          </a:prstGeom>
          <a:noFill/>
        </p:spPr>
        <p:txBody>
          <a:bodyPr wrap="square">
            <a:spAutoFit/>
          </a:bodyPr>
          <a:lstStyle/>
          <a:p>
            <a:pPr algn="l">
              <a:defRPr sz="1000" b="0">
                <a:latin typeface="Malgun Gothic"/>
              </a:defRPr>
            </a:pPr>
            <a:r>
              <a:t>• 해양오염 예방·방제 : 1등급 해역 비율 증대, 해양환경 보호구역 확대, 해양쓰레기 감축·수거, 연안해역 평균수질 COD기준 II등급 유지</a:t>
            </a:r>
            <a:br/>
            <a:r>
              <a:t>• 해양생태계 복원·유지 : 갯벌복원 확대, 해양생물종 강화</a:t>
            </a:r>
            <a:br/>
            <a:r>
              <a:t>• 해양생활 육성 : 해양생태관광자원 확보 및 관광객 증대</a:t>
            </a:r>
            <a:br/>
            <a:r>
              <a:t>• 기후변화 대응 및 해양기술 육성 : 해양 탄소중립, 항만 초미세먼지 배출량 감축, 해양 바이오 산업 육성, 해양 친환경 산업 육성</a:t>
            </a:r>
          </a:p>
        </p:txBody>
      </p:sp>
      <p:sp>
        <p:nvSpPr>
          <p:cNvPr id="10" name="Rectangle 9"/>
          <p:cNvSpPr/>
          <p:nvPr/>
        </p:nvSpPr>
        <p:spPr>
          <a:xfrm>
            <a:off x="45720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1" name="TextBox 10"/>
          <p:cNvSpPr txBox="1"/>
          <p:nvPr/>
        </p:nvSpPr>
        <p:spPr>
          <a:xfrm>
            <a:off x="54864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2" name="Rectangle 11"/>
          <p:cNvSpPr/>
          <p:nvPr/>
        </p:nvSpPr>
        <p:spPr>
          <a:xfrm>
            <a:off x="323088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3" name="TextBox 12"/>
          <p:cNvSpPr txBox="1"/>
          <p:nvPr/>
        </p:nvSpPr>
        <p:spPr>
          <a:xfrm>
            <a:off x="332232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4" name="Rectangle 13"/>
          <p:cNvSpPr/>
          <p:nvPr/>
        </p:nvSpPr>
        <p:spPr>
          <a:xfrm>
            <a:off x="600456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5" name="TextBox 14"/>
          <p:cNvSpPr txBox="1"/>
          <p:nvPr/>
        </p:nvSpPr>
        <p:spPr>
          <a:xfrm>
            <a:off x="609600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6" name="TextBox 15"/>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해양환경공단 | Page 52</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내부 환경·역량 분석 - 공단 설립목적 및 사업영역</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공단은 해양환경의 보전, 관리, 개선과 해양오염 방제 및 정화의 효율적 수행을 목적으로 설립되었으며, 해양환경 보전에 대한 국가·사회적 요구의 확대에 따라 사업과 운영구조에 대한 점검과 개편이 필요한 시점임</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공단 설립목적 및 사업영역 분석 (정관 기준)</a:t>
            </a:r>
          </a:p>
        </p:txBody>
      </p:sp>
      <p:sp>
        <p:nvSpPr>
          <p:cNvPr id="5" name="TextBox 4"/>
          <p:cNvSpPr txBox="1"/>
          <p:nvPr/>
        </p:nvSpPr>
        <p:spPr>
          <a:xfrm>
            <a:off x="457200" y="1828800"/>
            <a:ext cx="8229600" cy="457200"/>
          </a:xfrm>
          <a:prstGeom prst="rect">
            <a:avLst/>
          </a:prstGeom>
          <a:noFill/>
        </p:spPr>
        <p:txBody>
          <a:bodyPr wrap="square">
            <a:spAutoFit/>
          </a:bodyPr>
          <a:lstStyle/>
          <a:p>
            <a:pPr algn="l">
              <a:defRPr sz="1000" b="0">
                <a:latin typeface="Malgun Gothic"/>
              </a:defRPr>
            </a:pPr>
            <a:r>
              <a:t>해양환경 보전·관리·개선을 위한 사업, 해양오염 방제사업, 해양환경·해양오염 관련 기술개발 및 교육훈련을 위한 사업 등을 효율적으로 수행함을 목적으로 함</a:t>
            </a:r>
          </a:p>
        </p:txBody>
      </p:sp>
      <p:sp>
        <p:nvSpPr>
          <p:cNvPr id="6" name="TextBox 5"/>
          <p:cNvSpPr txBox="1"/>
          <p:nvPr/>
        </p:nvSpPr>
        <p:spPr>
          <a:xfrm>
            <a:off x="457200" y="2377440"/>
            <a:ext cx="8229600" cy="274320"/>
          </a:xfrm>
          <a:prstGeom prst="rect">
            <a:avLst/>
          </a:prstGeom>
          <a:noFill/>
        </p:spPr>
        <p:txBody>
          <a:bodyPr wrap="square">
            <a:spAutoFit/>
          </a:bodyPr>
          <a:lstStyle/>
          <a:p>
            <a:pPr algn="l">
              <a:defRPr sz="1200" b="1">
                <a:solidFill>
                  <a:srgbClr val="003366"/>
                </a:solidFill>
                <a:latin typeface="Malgun Gothic"/>
              </a:defRPr>
            </a:pPr>
            <a:r>
              <a:t>설립 목적</a:t>
            </a:r>
          </a:p>
        </p:txBody>
      </p:sp>
      <p:sp>
        <p:nvSpPr>
          <p:cNvPr id="7" name="TextBox 6"/>
          <p:cNvSpPr txBox="1"/>
          <p:nvPr/>
        </p:nvSpPr>
        <p:spPr>
          <a:xfrm>
            <a:off x="457200" y="2743200"/>
            <a:ext cx="8229600" cy="274320"/>
          </a:xfrm>
          <a:prstGeom prst="rect">
            <a:avLst/>
          </a:prstGeom>
          <a:noFill/>
        </p:spPr>
        <p:txBody>
          <a:bodyPr wrap="square">
            <a:spAutoFit/>
          </a:bodyPr>
          <a:lstStyle/>
          <a:p>
            <a:pPr algn="l">
              <a:defRPr sz="1200" b="1">
                <a:solidFill>
                  <a:srgbClr val="003366"/>
                </a:solidFill>
                <a:latin typeface="Malgun Gothic"/>
              </a:defRPr>
            </a:pPr>
            <a:r>
              <a:t>사업 영역</a:t>
            </a:r>
          </a:p>
        </p:txBody>
      </p:sp>
      <p:sp>
        <p:nvSpPr>
          <p:cNvPr id="8" name="TextBox 7"/>
          <p:cNvSpPr txBox="1"/>
          <p:nvPr/>
        </p:nvSpPr>
        <p:spPr>
          <a:xfrm>
            <a:off x="457200" y="3108960"/>
            <a:ext cx="8229600" cy="228600"/>
          </a:xfrm>
          <a:prstGeom prst="rect">
            <a:avLst/>
          </a:prstGeom>
          <a:noFill/>
        </p:spPr>
        <p:txBody>
          <a:bodyPr wrap="square">
            <a:spAutoFit/>
          </a:bodyPr>
          <a:lstStyle/>
          <a:p>
            <a:pPr algn="l">
              <a:defRPr sz="1000" b="0">
                <a:latin typeface="Malgun Gothic"/>
              </a:defRPr>
            </a:pPr>
            <a:r>
              <a:t>해양환경</a:t>
            </a:r>
            <a:br/>
            <a:r>
              <a:t>개선</a:t>
            </a:r>
          </a:p>
        </p:txBody>
      </p:sp>
      <p:sp>
        <p:nvSpPr>
          <p:cNvPr id="9" name="TextBox 8"/>
          <p:cNvSpPr txBox="1"/>
          <p:nvPr/>
        </p:nvSpPr>
        <p:spPr>
          <a:xfrm>
            <a:off x="457200" y="3429000"/>
            <a:ext cx="8229600" cy="228600"/>
          </a:xfrm>
          <a:prstGeom prst="rect">
            <a:avLst/>
          </a:prstGeom>
          <a:noFill/>
        </p:spPr>
        <p:txBody>
          <a:bodyPr wrap="square">
            <a:spAutoFit/>
          </a:bodyPr>
          <a:lstStyle/>
          <a:p>
            <a:pPr algn="l">
              <a:defRPr sz="1000" b="0">
                <a:latin typeface="Malgun Gothic"/>
              </a:defRPr>
            </a:pPr>
            <a:r>
              <a:t>해양오염</a:t>
            </a:r>
            <a:br/>
            <a:r>
              <a:t>방제</a:t>
            </a:r>
          </a:p>
        </p:txBody>
      </p:sp>
      <p:sp>
        <p:nvSpPr>
          <p:cNvPr id="10" name="TextBox 9"/>
          <p:cNvSpPr txBox="1"/>
          <p:nvPr/>
        </p:nvSpPr>
        <p:spPr>
          <a:xfrm>
            <a:off x="457200" y="3749040"/>
            <a:ext cx="8229600" cy="228600"/>
          </a:xfrm>
          <a:prstGeom prst="rect">
            <a:avLst/>
          </a:prstGeom>
          <a:noFill/>
        </p:spPr>
        <p:txBody>
          <a:bodyPr wrap="square">
            <a:spAutoFit/>
          </a:bodyPr>
          <a:lstStyle/>
          <a:p>
            <a:pPr algn="l">
              <a:defRPr sz="1000" b="0">
                <a:latin typeface="Malgun Gothic"/>
              </a:defRPr>
            </a:pPr>
            <a:r>
              <a:t>해양환경</a:t>
            </a:r>
            <a:br/>
            <a:r>
              <a:t>보전·관리</a:t>
            </a:r>
          </a:p>
        </p:txBody>
      </p:sp>
      <p:sp>
        <p:nvSpPr>
          <p:cNvPr id="11" name="TextBox 10"/>
          <p:cNvSpPr txBox="1"/>
          <p:nvPr/>
        </p:nvSpPr>
        <p:spPr>
          <a:xfrm>
            <a:off x="457200" y="4069080"/>
            <a:ext cx="8229600" cy="228600"/>
          </a:xfrm>
          <a:prstGeom prst="rect">
            <a:avLst/>
          </a:prstGeom>
          <a:noFill/>
        </p:spPr>
        <p:txBody>
          <a:bodyPr wrap="square">
            <a:spAutoFit/>
          </a:bodyPr>
          <a:lstStyle/>
          <a:p>
            <a:pPr algn="l">
              <a:defRPr sz="1000" b="0">
                <a:latin typeface="Malgun Gothic"/>
              </a:defRPr>
            </a:pPr>
            <a:r>
              <a:t>조사 및</a:t>
            </a:r>
            <a:br/>
            <a:r>
              <a:t>연구개발</a:t>
            </a:r>
          </a:p>
        </p:txBody>
      </p:sp>
      <p:sp>
        <p:nvSpPr>
          <p:cNvPr id="12" name="TextBox 11"/>
          <p:cNvSpPr txBox="1"/>
          <p:nvPr/>
        </p:nvSpPr>
        <p:spPr>
          <a:xfrm>
            <a:off x="457200" y="4389120"/>
            <a:ext cx="8229600" cy="228600"/>
          </a:xfrm>
          <a:prstGeom prst="rect">
            <a:avLst/>
          </a:prstGeom>
          <a:noFill/>
        </p:spPr>
        <p:txBody>
          <a:bodyPr wrap="square">
            <a:spAutoFit/>
          </a:bodyPr>
          <a:lstStyle/>
          <a:p>
            <a:pPr algn="l">
              <a:defRPr sz="1000" b="0">
                <a:latin typeface="Malgun Gothic"/>
              </a:defRPr>
            </a:pPr>
            <a:r>
              <a:t>해양사업</a:t>
            </a:r>
            <a:br/>
            <a:r>
              <a:t>(수익사업)</a:t>
            </a:r>
          </a:p>
        </p:txBody>
      </p:sp>
      <p:sp>
        <p:nvSpPr>
          <p:cNvPr id="13" name="TextBox 12"/>
          <p:cNvSpPr txBox="1"/>
          <p:nvPr/>
        </p:nvSpPr>
        <p:spPr>
          <a:xfrm>
            <a:off x="457200" y="4709160"/>
            <a:ext cx="8229600" cy="228600"/>
          </a:xfrm>
          <a:prstGeom prst="rect">
            <a:avLst/>
          </a:prstGeom>
          <a:noFill/>
        </p:spPr>
        <p:txBody>
          <a:bodyPr wrap="square">
            <a:spAutoFit/>
          </a:bodyPr>
          <a:lstStyle/>
          <a:p>
            <a:pPr algn="l">
              <a:defRPr sz="1000" b="0">
                <a:latin typeface="Malgun Gothic"/>
              </a:defRPr>
            </a:pPr>
            <a:r>
              <a:t>예선,</a:t>
            </a:r>
            <a:br/>
            <a:r>
              <a:t>기중기,</a:t>
            </a:r>
            <a:br/>
            <a:r>
              <a:t>골재 등</a:t>
            </a:r>
          </a:p>
        </p:txBody>
      </p:sp>
      <p:sp>
        <p:nvSpPr>
          <p:cNvPr id="14" name="TextBox 13"/>
          <p:cNvSpPr txBox="1"/>
          <p:nvPr/>
        </p:nvSpPr>
        <p:spPr>
          <a:xfrm>
            <a:off x="457200" y="5029200"/>
            <a:ext cx="8229600" cy="685800"/>
          </a:xfrm>
          <a:prstGeom prst="rect">
            <a:avLst/>
          </a:prstGeom>
          <a:noFill/>
        </p:spPr>
        <p:txBody>
          <a:bodyPr wrap="square">
            <a:spAutoFit/>
          </a:bodyPr>
          <a:lstStyle/>
          <a:p>
            <a:pPr algn="l">
              <a:defRPr sz="1000" b="0">
                <a:latin typeface="Malgun Gothic"/>
              </a:defRPr>
            </a:pPr>
            <a:r>
              <a:t>• 오염물질의 수거·처리를 위한 사업</a:t>
            </a:r>
            <a:br/>
            <a:r>
              <a:t>• 오염물질 저장시설의 설치·운영 및 수탁관리</a:t>
            </a:r>
            <a:br/>
            <a:r>
              <a:t>• 오염물질의 배출방지를 위한 선박의 인양·예인</a:t>
            </a:r>
            <a:br/>
            <a:r>
              <a:t>• 해양환경 관련 시험·조사·연구·설계·개발 및 공사감리</a:t>
            </a:r>
          </a:p>
        </p:txBody>
      </p:sp>
      <p:sp>
        <p:nvSpPr>
          <p:cNvPr id="15" name="TextBox 14"/>
          <p:cNvSpPr txBox="1"/>
          <p:nvPr/>
        </p:nvSpPr>
        <p:spPr>
          <a:xfrm>
            <a:off x="457200" y="5806440"/>
            <a:ext cx="8229600" cy="914400"/>
          </a:xfrm>
          <a:prstGeom prst="rect">
            <a:avLst/>
          </a:prstGeom>
          <a:noFill/>
        </p:spPr>
        <p:txBody>
          <a:bodyPr wrap="square">
            <a:spAutoFit/>
          </a:bodyPr>
          <a:lstStyle/>
          <a:p>
            <a:pPr algn="l">
              <a:defRPr sz="1000" b="0">
                <a:latin typeface="Malgun Gothic"/>
              </a:defRPr>
            </a:pPr>
            <a:r>
              <a:t>• 해양오염방제 업무 및 방제선 또는 방제장비의 배치·설치</a:t>
            </a:r>
            <a:br/>
            <a:r>
              <a:t>• 해양오염방제에 필요한 자재·약제의 비치 및 보관시설의 설치 등</a:t>
            </a:r>
            <a:br/>
            <a:r>
              <a:t>• 선박해양오염비상계획서 및 해양시설오염비상계획서의 작성 대행</a:t>
            </a:r>
            <a:br/>
            <a:r>
              <a:t>• 해양오염방제 관련 국제협력</a:t>
            </a:r>
            <a:br/>
            <a:r>
              <a:t>• 해양오염방제에 대한 교육·훈련 및 홍보</a:t>
            </a:r>
            <a:br/>
            <a:r>
              <a:t>• 침몰선박(침몰우려 선박, 침수선박 포함)의 관리</a:t>
            </a:r>
          </a:p>
        </p:txBody>
      </p:sp>
      <p:sp>
        <p:nvSpPr>
          <p:cNvPr id="16" name="TextBox 15"/>
          <p:cNvSpPr txBox="1"/>
          <p:nvPr/>
        </p:nvSpPr>
        <p:spPr>
          <a:xfrm>
            <a:off x="457200" y="6812280"/>
            <a:ext cx="8229600" cy="914400"/>
          </a:xfrm>
          <a:prstGeom prst="rect">
            <a:avLst/>
          </a:prstGeom>
          <a:noFill/>
        </p:spPr>
        <p:txBody>
          <a:bodyPr wrap="square">
            <a:spAutoFit/>
          </a:bodyPr>
          <a:lstStyle/>
          <a:p>
            <a:pPr algn="l">
              <a:defRPr sz="1000" b="0">
                <a:latin typeface="Malgun Gothic"/>
              </a:defRPr>
            </a:pPr>
            <a:r>
              <a:t>• 해양환경 관련 시험·조사·연구·개발</a:t>
            </a:r>
            <a:br/>
            <a:r>
              <a:t>• 해양오염방제 관련 연구·개발 및 기술용역사업</a:t>
            </a:r>
            <a:br/>
            <a:r>
              <a:t>• 해양환경 관련 국제협력 및 기술용역사업</a:t>
            </a:r>
            <a:br/>
            <a:r>
              <a:t>• 해양수산 부문의 기후변화대응을 위한 기술개발 업무</a:t>
            </a:r>
            <a:br/>
            <a:r>
              <a:t>• 폐기물의 성분·농도·무게·부피의 측정에 관한 업무</a:t>
            </a:r>
            <a:br/>
            <a:r>
              <a:t>• 해양오염영향조사 및 해역이용영향평가 대행</a:t>
            </a:r>
            <a:br/>
            <a:r>
              <a:t>• 해양환경측정기기 또는 자재·약제에 대한 성능 시험</a:t>
            </a:r>
          </a:p>
        </p:txBody>
      </p:sp>
      <p:sp>
        <p:nvSpPr>
          <p:cNvPr id="17" name="TextBox 16"/>
          <p:cNvSpPr txBox="1"/>
          <p:nvPr/>
        </p:nvSpPr>
        <p:spPr>
          <a:xfrm>
            <a:off x="457200" y="7818120"/>
            <a:ext cx="8229600" cy="457200"/>
          </a:xfrm>
          <a:prstGeom prst="rect">
            <a:avLst/>
          </a:prstGeom>
          <a:noFill/>
        </p:spPr>
        <p:txBody>
          <a:bodyPr wrap="square">
            <a:spAutoFit/>
          </a:bodyPr>
          <a:lstStyle/>
          <a:p>
            <a:pPr algn="l">
              <a:defRPr sz="1000" b="0">
                <a:latin typeface="Malgun Gothic"/>
              </a:defRPr>
            </a:pPr>
            <a:r>
              <a:t>• 입·출항 선박의 이·접안 지원을 위한 예선사업</a:t>
            </a:r>
            <a:br/>
            <a:r>
              <a:t>• 침몰·조난선박의 인양·구조 및 선박건조, 항만·해상교량 건설 등 전용예선사업</a:t>
            </a:r>
          </a:p>
        </p:txBody>
      </p:sp>
      <p:sp>
        <p:nvSpPr>
          <p:cNvPr id="18" name="TextBox 17"/>
          <p:cNvSpPr txBox="1"/>
          <p:nvPr/>
        </p:nvSpPr>
        <p:spPr>
          <a:xfrm>
            <a:off x="457200" y="8366760"/>
            <a:ext cx="8229600" cy="274320"/>
          </a:xfrm>
          <a:prstGeom prst="rect">
            <a:avLst/>
          </a:prstGeom>
          <a:noFill/>
        </p:spPr>
        <p:txBody>
          <a:bodyPr wrap="square">
            <a:spAutoFit/>
          </a:bodyPr>
          <a:lstStyle/>
          <a:p>
            <a:pPr algn="l">
              <a:defRPr sz="1200" b="1">
                <a:solidFill>
                  <a:srgbClr val="003366"/>
                </a:solidFill>
                <a:latin typeface="Malgun Gothic"/>
              </a:defRPr>
            </a:pPr>
            <a:r>
              <a:t>'20 예산</a:t>
            </a:r>
          </a:p>
        </p:txBody>
      </p:sp>
      <p:sp>
        <p:nvSpPr>
          <p:cNvPr id="19" name="TextBox 18"/>
          <p:cNvSpPr txBox="1"/>
          <p:nvPr/>
        </p:nvSpPr>
        <p:spPr>
          <a:xfrm>
            <a:off x="457200" y="8732520"/>
            <a:ext cx="8229600" cy="228600"/>
          </a:xfrm>
          <a:prstGeom prst="rect">
            <a:avLst/>
          </a:prstGeom>
          <a:noFill/>
        </p:spPr>
        <p:txBody>
          <a:bodyPr wrap="square">
            <a:spAutoFit/>
          </a:bodyPr>
          <a:lstStyle/>
          <a:p>
            <a:pPr algn="l">
              <a:defRPr sz="1000" b="0">
                <a:latin typeface="Malgun Gothic"/>
              </a:defRPr>
            </a:pPr>
            <a:r>
              <a:t>411.9</a:t>
            </a:r>
            <a:br/>
            <a:r>
              <a:t>(억원)</a:t>
            </a:r>
          </a:p>
        </p:txBody>
      </p:sp>
      <p:sp>
        <p:nvSpPr>
          <p:cNvPr id="20" name="TextBox 19"/>
          <p:cNvSpPr txBox="1"/>
          <p:nvPr/>
        </p:nvSpPr>
        <p:spPr>
          <a:xfrm>
            <a:off x="457200" y="9052560"/>
            <a:ext cx="8229600" cy="228600"/>
          </a:xfrm>
          <a:prstGeom prst="rect">
            <a:avLst/>
          </a:prstGeom>
          <a:noFill/>
        </p:spPr>
        <p:txBody>
          <a:bodyPr wrap="square">
            <a:spAutoFit/>
          </a:bodyPr>
          <a:lstStyle/>
          <a:p>
            <a:pPr algn="l">
              <a:defRPr sz="1000" b="0">
                <a:latin typeface="Malgun Gothic"/>
              </a:defRPr>
            </a:pPr>
            <a:r>
              <a:t>521.4*</a:t>
            </a:r>
            <a:br/>
            <a:r>
              <a:t>(억원)</a:t>
            </a:r>
          </a:p>
        </p:txBody>
      </p:sp>
      <p:sp>
        <p:nvSpPr>
          <p:cNvPr id="21" name="TextBox 20"/>
          <p:cNvSpPr txBox="1"/>
          <p:nvPr/>
        </p:nvSpPr>
        <p:spPr>
          <a:xfrm>
            <a:off x="457200" y="9372600"/>
            <a:ext cx="8229600" cy="228600"/>
          </a:xfrm>
          <a:prstGeom prst="rect">
            <a:avLst/>
          </a:prstGeom>
          <a:noFill/>
        </p:spPr>
        <p:txBody>
          <a:bodyPr wrap="square">
            <a:spAutoFit/>
          </a:bodyPr>
          <a:lstStyle/>
          <a:p>
            <a:pPr algn="l">
              <a:defRPr sz="1000" b="0">
                <a:latin typeface="Malgun Gothic"/>
              </a:defRPr>
            </a:pPr>
            <a:r>
              <a:t>231.7</a:t>
            </a:r>
            <a:br/>
            <a:r>
              <a:t>(억원)</a:t>
            </a:r>
          </a:p>
        </p:txBody>
      </p:sp>
      <p:sp>
        <p:nvSpPr>
          <p:cNvPr id="22" name="TextBox 21"/>
          <p:cNvSpPr txBox="1"/>
          <p:nvPr/>
        </p:nvSpPr>
        <p:spPr>
          <a:xfrm>
            <a:off x="457200" y="9692640"/>
            <a:ext cx="8229600" cy="228600"/>
          </a:xfrm>
          <a:prstGeom prst="rect">
            <a:avLst/>
          </a:prstGeom>
          <a:noFill/>
        </p:spPr>
        <p:txBody>
          <a:bodyPr wrap="square">
            <a:spAutoFit/>
          </a:bodyPr>
          <a:lstStyle/>
          <a:p>
            <a:pPr algn="l">
              <a:defRPr sz="1000" b="0">
                <a:latin typeface="Malgun Gothic"/>
              </a:defRPr>
            </a:pPr>
            <a:r>
              <a:t>379.3</a:t>
            </a:r>
            <a:br/>
            <a:r>
              <a:t>(억원)</a:t>
            </a:r>
          </a:p>
        </p:txBody>
      </p:sp>
      <p:sp>
        <p:nvSpPr>
          <p:cNvPr id="23" name="TextBox 22"/>
          <p:cNvSpPr txBox="1"/>
          <p:nvPr/>
        </p:nvSpPr>
        <p:spPr>
          <a:xfrm>
            <a:off x="457200" y="10012680"/>
            <a:ext cx="8229600" cy="274320"/>
          </a:xfrm>
          <a:prstGeom prst="rect">
            <a:avLst/>
          </a:prstGeom>
          <a:noFill/>
        </p:spPr>
        <p:txBody>
          <a:bodyPr wrap="square">
            <a:spAutoFit/>
          </a:bodyPr>
          <a:lstStyle/>
          <a:p>
            <a:pPr algn="l">
              <a:defRPr sz="1200" b="1">
                <a:solidFill>
                  <a:srgbClr val="003366"/>
                </a:solidFill>
                <a:latin typeface="Malgun Gothic"/>
              </a:defRPr>
            </a:pPr>
            <a:r>
              <a:t>Key Findings</a:t>
            </a:r>
          </a:p>
        </p:txBody>
      </p:sp>
      <p:sp>
        <p:nvSpPr>
          <p:cNvPr id="24" name="TextBox 23"/>
          <p:cNvSpPr txBox="1"/>
          <p:nvPr/>
        </p:nvSpPr>
        <p:spPr>
          <a:xfrm>
            <a:off x="457200" y="10378440"/>
            <a:ext cx="8229600" cy="457200"/>
          </a:xfrm>
          <a:prstGeom prst="rect">
            <a:avLst/>
          </a:prstGeom>
          <a:noFill/>
        </p:spPr>
        <p:txBody>
          <a:bodyPr wrap="square">
            <a:spAutoFit/>
          </a:bodyPr>
          <a:lstStyle/>
          <a:p>
            <a:pPr algn="l">
              <a:defRPr sz="1000" b="0">
                <a:latin typeface="Malgun Gothic"/>
              </a:defRPr>
            </a:pPr>
            <a:r>
              <a:t>✓ 공단은 해양환경의 보전, 관리, 개선과 해양오염 방제 및 정화를 위한 사업의 효율적 수행을 목적으로 함</a:t>
            </a:r>
          </a:p>
        </p:txBody>
      </p:sp>
      <p:sp>
        <p:nvSpPr>
          <p:cNvPr id="25" name="TextBox 24"/>
          <p:cNvSpPr txBox="1"/>
          <p:nvPr/>
        </p:nvSpPr>
        <p:spPr>
          <a:xfrm>
            <a:off x="457200" y="10927080"/>
            <a:ext cx="8229600" cy="457200"/>
          </a:xfrm>
          <a:prstGeom prst="rect">
            <a:avLst/>
          </a:prstGeom>
          <a:noFill/>
        </p:spPr>
        <p:txBody>
          <a:bodyPr wrap="square">
            <a:spAutoFit/>
          </a:bodyPr>
          <a:lstStyle/>
          <a:p>
            <a:pPr algn="l">
              <a:defRPr sz="1000" b="0">
                <a:latin typeface="Malgun Gothic"/>
              </a:defRPr>
            </a:pPr>
            <a:r>
              <a:t>✓ 공단의 사업은 크게 해양환경 보전·관리 사업과 방제 자원(선박 등)의 상시 활용 해양사업으로 구성됨</a:t>
            </a:r>
          </a:p>
        </p:txBody>
      </p:sp>
      <p:sp>
        <p:nvSpPr>
          <p:cNvPr id="26" name="TextBox 25"/>
          <p:cNvSpPr txBox="1"/>
          <p:nvPr/>
        </p:nvSpPr>
        <p:spPr>
          <a:xfrm>
            <a:off x="457200" y="11475720"/>
            <a:ext cx="8229600" cy="457200"/>
          </a:xfrm>
          <a:prstGeom prst="rect">
            <a:avLst/>
          </a:prstGeom>
          <a:noFill/>
        </p:spPr>
        <p:txBody>
          <a:bodyPr wrap="square">
            <a:spAutoFit/>
          </a:bodyPr>
          <a:lstStyle/>
          <a:p>
            <a:pPr algn="l">
              <a:defRPr sz="1000" b="0">
                <a:latin typeface="Malgun Gothic"/>
              </a:defRPr>
            </a:pPr>
            <a:r>
              <a:t>✓ 해양환경보전·관리 사업과 공단 운영에 필요한 재원을 선박 등 자산의 운용을 통해 충당하는 구조로 운영됨</a:t>
            </a:r>
          </a:p>
        </p:txBody>
      </p:sp>
      <p:sp>
        <p:nvSpPr>
          <p:cNvPr id="27" name="TextBox 26"/>
          <p:cNvSpPr txBox="1"/>
          <p:nvPr/>
        </p:nvSpPr>
        <p:spPr>
          <a:xfrm>
            <a:off x="457200" y="12024360"/>
            <a:ext cx="8229600" cy="457200"/>
          </a:xfrm>
          <a:prstGeom prst="rect">
            <a:avLst/>
          </a:prstGeom>
          <a:noFill/>
        </p:spPr>
        <p:txBody>
          <a:bodyPr wrap="square">
            <a:spAutoFit/>
          </a:bodyPr>
          <a:lstStyle/>
          <a:p>
            <a:pPr algn="l">
              <a:defRPr sz="1000" b="0">
                <a:latin typeface="Malgun Gothic"/>
              </a:defRPr>
            </a:pPr>
            <a:r>
              <a:t>✓ 해양환경에 대한 국가 정책 변화, 사회적 요구 확대에 따라 사업영역의 점검과 개편이 필요함</a:t>
            </a:r>
          </a:p>
        </p:txBody>
      </p:sp>
      <p:sp>
        <p:nvSpPr>
          <p:cNvPr id="28" name="TextBox 27"/>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 | Page 53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내부 환경·역량 분석 - 공단 業의 본질 변화</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국가 해양환경정책의 변화에 따라 공단 業의 영역과 業의 본질이 오염사고 방제 → 해양오염 정화·관리 → 해양환경, 해양생태계 보전·관리로 확대·전환되어 왔으며, 국가 정책 변화에 따라 해양환경의 보전·이용·성장 종합관리로 확대, 재정의가 필요한 시점임</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국가</a:t>
            </a:r>
            <a:br/>
            <a:r>
              <a:t>해양환경</a:t>
            </a:r>
            <a:br/>
            <a:r>
              <a:t>정책</a:t>
            </a:r>
          </a:p>
        </p:txBody>
      </p:sp>
      <p:sp>
        <p:nvSpPr>
          <p:cNvPr id="5" name="TextBox 4"/>
          <p:cNvSpPr txBox="1"/>
          <p:nvPr/>
        </p:nvSpPr>
        <p:spPr>
          <a:xfrm>
            <a:off x="457200" y="1828800"/>
            <a:ext cx="8229600" cy="457200"/>
          </a:xfrm>
          <a:prstGeom prst="rect">
            <a:avLst/>
          </a:prstGeom>
          <a:noFill/>
        </p:spPr>
        <p:txBody>
          <a:bodyPr wrap="square">
            <a:spAutoFit/>
          </a:bodyPr>
          <a:lstStyle/>
          <a:p>
            <a:pPr algn="l">
              <a:defRPr sz="1000" b="0">
                <a:latin typeface="Malgun Gothic"/>
              </a:defRPr>
            </a:pPr>
            <a:r>
              <a:t>해양오염 대응체계 구축</a:t>
            </a:r>
            <a:br/>
            <a:r>
              <a:t>• (대규모) 유류오염사고, 적조 등 해양오염에 대한 대응체계 수립</a:t>
            </a:r>
            <a:br/>
            <a:r>
              <a:t>• 유해성 해양오염 방지 및 사후관리 체계 수립</a:t>
            </a:r>
          </a:p>
        </p:txBody>
      </p:sp>
      <p:sp>
        <p:nvSpPr>
          <p:cNvPr id="6" name="TextBox 5"/>
          <p:cNvSpPr txBox="1"/>
          <p:nvPr/>
        </p:nvSpPr>
        <p:spPr>
          <a:xfrm>
            <a:off x="457200" y="2377440"/>
            <a:ext cx="8229600" cy="274320"/>
          </a:xfrm>
          <a:prstGeom prst="rect">
            <a:avLst/>
          </a:prstGeom>
          <a:noFill/>
        </p:spPr>
        <p:txBody>
          <a:bodyPr wrap="square">
            <a:spAutoFit/>
          </a:bodyPr>
          <a:lstStyle/>
          <a:p>
            <a:pPr algn="l">
              <a:defRPr sz="1200" b="1">
                <a:solidFill>
                  <a:srgbClr val="003366"/>
                </a:solidFill>
                <a:latin typeface="Malgun Gothic"/>
              </a:defRPr>
            </a:pPr>
            <a:r>
              <a:t>공단</a:t>
            </a:r>
            <a:br/>
            <a:r>
              <a:t>業의 영역</a:t>
            </a:r>
          </a:p>
        </p:txBody>
      </p:sp>
      <p:sp>
        <p:nvSpPr>
          <p:cNvPr id="7" name="TextBox 6"/>
          <p:cNvSpPr txBox="1"/>
          <p:nvPr/>
        </p:nvSpPr>
        <p:spPr>
          <a:xfrm>
            <a:off x="457200" y="2743200"/>
            <a:ext cx="8229600" cy="457200"/>
          </a:xfrm>
          <a:prstGeom prst="rect">
            <a:avLst/>
          </a:prstGeom>
          <a:noFill/>
        </p:spPr>
        <p:txBody>
          <a:bodyPr wrap="square">
            <a:spAutoFit/>
          </a:bodyPr>
          <a:lstStyle/>
          <a:p>
            <a:pPr algn="l">
              <a:defRPr sz="1000" b="0">
                <a:latin typeface="Malgun Gothic"/>
              </a:defRPr>
            </a:pPr>
            <a:r>
              <a:t>• 해양오염 방제체계 구축</a:t>
            </a:r>
            <a:br/>
            <a:r>
              <a:t>• 해양오염 방제 수행 (유류, 적조 등 해양오염 방제)</a:t>
            </a:r>
            <a:br/>
            <a:r>
              <a:t>■ 해양오염사고 예방</a:t>
            </a:r>
          </a:p>
        </p:txBody>
      </p:sp>
      <p:sp>
        <p:nvSpPr>
          <p:cNvPr id="8" name="TextBox 7"/>
          <p:cNvSpPr txBox="1"/>
          <p:nvPr/>
        </p:nvSpPr>
        <p:spPr>
          <a:xfrm>
            <a:off x="457200" y="3291840"/>
            <a:ext cx="8229600" cy="274320"/>
          </a:xfrm>
          <a:prstGeom prst="rect">
            <a:avLst/>
          </a:prstGeom>
          <a:noFill/>
        </p:spPr>
        <p:txBody>
          <a:bodyPr wrap="square">
            <a:spAutoFit/>
          </a:bodyPr>
          <a:lstStyle/>
          <a:p>
            <a:pPr algn="l">
              <a:defRPr sz="1200" b="1">
                <a:solidFill>
                  <a:srgbClr val="003366"/>
                </a:solidFill>
                <a:latin typeface="Malgun Gothic"/>
              </a:defRPr>
            </a:pPr>
            <a:r>
              <a:t>공단</a:t>
            </a:r>
            <a:br/>
            <a:r>
              <a:t>業의 본질</a:t>
            </a:r>
          </a:p>
        </p:txBody>
      </p:sp>
      <p:sp>
        <p:nvSpPr>
          <p:cNvPr id="9" name="TextBox 8"/>
          <p:cNvSpPr txBox="1"/>
          <p:nvPr/>
        </p:nvSpPr>
        <p:spPr>
          <a:xfrm>
            <a:off x="457200" y="3657600"/>
            <a:ext cx="8229600" cy="457200"/>
          </a:xfrm>
          <a:prstGeom prst="rect">
            <a:avLst/>
          </a:prstGeom>
          <a:noFill/>
        </p:spPr>
        <p:txBody>
          <a:bodyPr wrap="square">
            <a:spAutoFit/>
          </a:bodyPr>
          <a:lstStyle/>
          <a:p>
            <a:pPr algn="l">
              <a:defRPr sz="1000" b="0">
                <a:latin typeface="Malgun Gothic"/>
              </a:defRPr>
            </a:pPr>
            <a:r>
              <a:t>• 중대 해양사고 및 오염에 대한 방제 수행</a:t>
            </a:r>
            <a:br/>
            <a:r>
              <a:t>- 방제자원확보, 방제수행</a:t>
            </a:r>
            <a:br/>
            <a:r>
              <a:t>• 해양오염 사후 대응(방제) 체계 구축</a:t>
            </a:r>
          </a:p>
        </p:txBody>
      </p:sp>
      <p:sp>
        <p:nvSpPr>
          <p:cNvPr id="10" name="Rectangle 9"/>
          <p:cNvSpPr/>
          <p:nvPr/>
        </p:nvSpPr>
        <p:spPr>
          <a:xfrm>
            <a:off x="45720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1" name="TextBox 10"/>
          <p:cNvSpPr txBox="1"/>
          <p:nvPr/>
        </p:nvSpPr>
        <p:spPr>
          <a:xfrm>
            <a:off x="54864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2" name="Rectangle 11"/>
          <p:cNvSpPr/>
          <p:nvPr/>
        </p:nvSpPr>
        <p:spPr>
          <a:xfrm>
            <a:off x="323088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3" name="TextBox 12"/>
          <p:cNvSpPr txBox="1"/>
          <p:nvPr/>
        </p:nvSpPr>
        <p:spPr>
          <a:xfrm>
            <a:off x="332232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4" name="Rectangle 13"/>
          <p:cNvSpPr/>
          <p:nvPr/>
        </p:nvSpPr>
        <p:spPr>
          <a:xfrm>
            <a:off x="600456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5" name="TextBox 14"/>
          <p:cNvSpPr txBox="1"/>
          <p:nvPr/>
        </p:nvSpPr>
        <p:spPr>
          <a:xfrm>
            <a:off x="609600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6" name="Rectangle 15"/>
          <p:cNvSpPr/>
          <p:nvPr/>
        </p:nvSpPr>
        <p:spPr>
          <a:xfrm>
            <a:off x="457200" y="384048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7" name="TextBox 16"/>
          <p:cNvSpPr txBox="1"/>
          <p:nvPr/>
        </p:nvSpPr>
        <p:spPr>
          <a:xfrm>
            <a:off x="548640" y="393192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8" name="Rectangle 17"/>
          <p:cNvSpPr/>
          <p:nvPr/>
        </p:nvSpPr>
        <p:spPr>
          <a:xfrm>
            <a:off x="3230880" y="384048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9" name="TextBox 18"/>
          <p:cNvSpPr txBox="1"/>
          <p:nvPr/>
        </p:nvSpPr>
        <p:spPr>
          <a:xfrm>
            <a:off x="3322320" y="393192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20" name="Rectangle 19"/>
          <p:cNvSpPr/>
          <p:nvPr/>
        </p:nvSpPr>
        <p:spPr>
          <a:xfrm>
            <a:off x="6004560" y="384048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21" name="TextBox 20"/>
          <p:cNvSpPr txBox="1"/>
          <p:nvPr/>
        </p:nvSpPr>
        <p:spPr>
          <a:xfrm>
            <a:off x="6096000" y="393192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22" name="Rectangle 21"/>
          <p:cNvSpPr/>
          <p:nvPr/>
        </p:nvSpPr>
        <p:spPr>
          <a:xfrm>
            <a:off x="457200" y="621792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23" name="TextBox 22"/>
          <p:cNvSpPr txBox="1"/>
          <p:nvPr/>
        </p:nvSpPr>
        <p:spPr>
          <a:xfrm>
            <a:off x="548640" y="630936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24" name="Rectangle 23"/>
          <p:cNvSpPr/>
          <p:nvPr/>
        </p:nvSpPr>
        <p:spPr>
          <a:xfrm>
            <a:off x="3230880" y="621792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25" name="TextBox 24"/>
          <p:cNvSpPr txBox="1"/>
          <p:nvPr/>
        </p:nvSpPr>
        <p:spPr>
          <a:xfrm>
            <a:off x="3322320" y="630936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26" name="Rectangle 25"/>
          <p:cNvSpPr/>
          <p:nvPr/>
        </p:nvSpPr>
        <p:spPr>
          <a:xfrm>
            <a:off x="6004560" y="621792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27" name="TextBox 26"/>
          <p:cNvSpPr txBox="1"/>
          <p:nvPr/>
        </p:nvSpPr>
        <p:spPr>
          <a:xfrm>
            <a:off x="6096000" y="630936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28" name="TextBox 27"/>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54</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내부 환경·역량 분석 - 가치체계·전략체계 변화</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공단은 정부정책과 환경변화를 반영하여 매년 가치체계·전략체계를 재정립 해 왔으며, 정부 정책기조와 영역확장을 반영해 전략목표와 경영목표를 구체화하고 확대하는 방향으로 전략체계를 개편해왔음</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해양환경공단 가치체계·전략체계 변화</a:t>
            </a:r>
          </a:p>
        </p:txBody>
      </p:sp>
      <p:sp>
        <p:nvSpPr>
          <p:cNvPr id="5" name="TextBox 4"/>
          <p:cNvSpPr txBox="1"/>
          <p:nvPr/>
        </p:nvSpPr>
        <p:spPr>
          <a:xfrm>
            <a:off x="457200" y="1828800"/>
            <a:ext cx="8229600" cy="457200"/>
          </a:xfrm>
          <a:prstGeom prst="rect">
            <a:avLst/>
          </a:prstGeom>
          <a:noFill/>
        </p:spPr>
        <p:txBody>
          <a:bodyPr wrap="square">
            <a:spAutoFit/>
          </a:bodyPr>
          <a:lstStyle/>
          <a:p>
            <a:pPr algn="l">
              <a:defRPr sz="900" b="0">
                <a:latin typeface="Malgun Gothic"/>
              </a:defRPr>
            </a:pPr>
            <a:r>
              <a:t>[TABLE]</a:t>
            </a:r>
            <a:br/>
            <a:r>
              <a:t>Data table showing changes in value and strategic systems across years.</a:t>
            </a:r>
          </a:p>
        </p:txBody>
      </p:sp>
      <p:sp>
        <p:nvSpPr>
          <p:cNvPr id="6" name="TextBox 5"/>
          <p:cNvSpPr txBox="1"/>
          <p:nvPr/>
        </p:nvSpPr>
        <p:spPr>
          <a:xfrm>
            <a:off x="457200" y="2377440"/>
            <a:ext cx="8229600" cy="274320"/>
          </a:xfrm>
          <a:prstGeom prst="rect">
            <a:avLst/>
          </a:prstGeom>
          <a:noFill/>
        </p:spPr>
        <p:txBody>
          <a:bodyPr wrap="square">
            <a:spAutoFit/>
          </a:bodyPr>
          <a:lstStyle/>
          <a:p>
            <a:pPr algn="l">
              <a:defRPr sz="1200" b="1">
                <a:solidFill>
                  <a:srgbClr val="003366"/>
                </a:solidFill>
                <a:latin typeface="Malgun Gothic"/>
              </a:defRPr>
            </a:pPr>
            <a:r>
              <a:t>2018년 사업계획</a:t>
            </a:r>
          </a:p>
        </p:txBody>
      </p:sp>
      <p:sp>
        <p:nvSpPr>
          <p:cNvPr id="7" name="TextBox 6"/>
          <p:cNvSpPr txBox="1"/>
          <p:nvPr/>
        </p:nvSpPr>
        <p:spPr>
          <a:xfrm>
            <a:off x="457200" y="2743200"/>
            <a:ext cx="8229600" cy="1143000"/>
          </a:xfrm>
          <a:prstGeom prst="rect">
            <a:avLst/>
          </a:prstGeom>
          <a:noFill/>
        </p:spPr>
        <p:txBody>
          <a:bodyPr wrap="square">
            <a:spAutoFit/>
          </a:bodyPr>
          <a:lstStyle/>
          <a:p>
            <a:pPr algn="l">
              <a:defRPr sz="1000" b="0">
                <a:latin typeface="Malgun Gothic"/>
              </a:defRPr>
            </a:pPr>
            <a:r>
              <a:t>미션, 비전: 푸른 해양의 미래가치를 창조하는 국민기업</a:t>
            </a:r>
            <a:br/>
            <a:r>
              <a:t>핵심가치: 전문성, 주인의식, 창의적 열정, 청렴성</a:t>
            </a:r>
            <a:br/>
            <a:r>
              <a:t>경영방침: 배려, 소통, 화합, 도약</a:t>
            </a:r>
            <a:br/>
            <a:r>
              <a:t>전략목표:</a:t>
            </a:r>
            <a:br/>
            <a:r>
              <a:t>	•	지속가능 가치창출</a:t>
            </a:r>
            <a:br/>
            <a:r>
              <a:t>	•	공적가치 강화</a:t>
            </a:r>
            <a:br/>
            <a:r>
              <a:t>	•	열린 혁신가치 구현</a:t>
            </a:r>
            <a:br/>
            <a:r>
              <a:t>경영목표:</a:t>
            </a:r>
            <a:br/>
            <a:r>
              <a:t>	•	성장일자리 1,100명</a:t>
            </a:r>
            <a:br/>
            <a:r>
              <a:t>	•	미래 성장매출액 1,600억원</a:t>
            </a:r>
            <a:br/>
            <a:r>
              <a:t>	•	해양오염사고 예방율 40% 이하</a:t>
            </a:r>
            <a:br/>
            <a:r>
              <a:t>	•	해양오염사고 방제율 50% 이상</a:t>
            </a:r>
            <a:br/>
            <a:r>
              <a:t>	•	고객만족도 우수</a:t>
            </a:r>
            <a:br/>
            <a:r>
              <a:t>	•	KOBEX AAA</a:t>
            </a:r>
            <a:br/>
            <a:r>
              <a:t>	•	비정규직 Zero</a:t>
            </a:r>
          </a:p>
        </p:txBody>
      </p:sp>
      <p:sp>
        <p:nvSpPr>
          <p:cNvPr id="8" name="TextBox 7"/>
          <p:cNvSpPr txBox="1"/>
          <p:nvPr/>
        </p:nvSpPr>
        <p:spPr>
          <a:xfrm>
            <a:off x="457200" y="3977640"/>
            <a:ext cx="8229600" cy="274320"/>
          </a:xfrm>
          <a:prstGeom prst="rect">
            <a:avLst/>
          </a:prstGeom>
          <a:noFill/>
        </p:spPr>
        <p:txBody>
          <a:bodyPr wrap="square">
            <a:spAutoFit/>
          </a:bodyPr>
          <a:lstStyle/>
          <a:p>
            <a:pPr algn="l">
              <a:defRPr sz="1200" b="1">
                <a:solidFill>
                  <a:srgbClr val="003366"/>
                </a:solidFill>
                <a:latin typeface="Malgun Gothic"/>
              </a:defRPr>
            </a:pPr>
            <a:r>
              <a:t>2019년 사업계획</a:t>
            </a:r>
          </a:p>
        </p:txBody>
      </p:sp>
      <p:sp>
        <p:nvSpPr>
          <p:cNvPr id="9" name="TextBox 8"/>
          <p:cNvSpPr txBox="1"/>
          <p:nvPr/>
        </p:nvSpPr>
        <p:spPr>
          <a:xfrm>
            <a:off x="457200" y="4343400"/>
            <a:ext cx="8229600" cy="1600200"/>
          </a:xfrm>
          <a:prstGeom prst="rect">
            <a:avLst/>
          </a:prstGeom>
          <a:noFill/>
        </p:spPr>
        <p:txBody>
          <a:bodyPr wrap="square">
            <a:spAutoFit/>
          </a:bodyPr>
          <a:lstStyle/>
          <a:p>
            <a:pPr algn="l">
              <a:defRPr sz="1000" b="0">
                <a:latin typeface="Malgun Gothic"/>
              </a:defRPr>
            </a:pPr>
            <a:r>
              <a:t>깨끗하고 안전한 해양환경을 조성하여 국민의 삶의 질 향상</a:t>
            </a:r>
            <a:br/>
            <a:r>
              <a:t>전문성, 주인의식, 창의적 열정, 청렴성</a:t>
            </a:r>
            <a:br/>
            <a:r>
              <a:t>소통과 화합, 협력과 상생, 열정과 도전, 공정과 신뢰</a:t>
            </a:r>
            <a:br/>
            <a:r>
              <a:t>전략목표:</a:t>
            </a:r>
            <a:br/>
            <a:r>
              <a:t>	•	건강한 해양가치 보전</a:t>
            </a:r>
            <a:br/>
            <a:r>
              <a:t>	•	안전한 해양가치 구현</a:t>
            </a:r>
            <a:br/>
            <a:r>
              <a:t>	•	미래 신성장동력 확보</a:t>
            </a:r>
            <a:br/>
            <a:r>
              <a:t>	•	사회적 가치 실현</a:t>
            </a:r>
            <a:br/>
            <a:r>
              <a:t>경영목표:</a:t>
            </a:r>
            <a:br/>
            <a:r>
              <a:t>	•	해양보호구역 39개소 지정·관리</a:t>
            </a:r>
            <a:br/>
            <a:r>
              <a:t>	•	특별관리해역수질 2등급 이상 100%</a:t>
            </a:r>
            <a:br/>
            <a:r>
              <a:t>	•	해양오염사고 예방률 65% 이상</a:t>
            </a:r>
            <a:br/>
            <a:r>
              <a:t>	•	침몰선박 위해도 조사 100%</a:t>
            </a:r>
            <a:br/>
            <a:r>
              <a:t>	•	미래성장 매출액 1,100억 원</a:t>
            </a:r>
            <a:br/>
            <a:r>
              <a:t>	•	양질의 일자리창출 연간 3,000명</a:t>
            </a:r>
            <a:br/>
            <a:r>
              <a:t>	•	고객만족도 S등급</a:t>
            </a:r>
            <a:br/>
            <a:r>
              <a:t>	•	청렴도 평가 1등급</a:t>
            </a:r>
          </a:p>
        </p:txBody>
      </p:sp>
      <p:sp>
        <p:nvSpPr>
          <p:cNvPr id="10" name="TextBox 9"/>
          <p:cNvSpPr txBox="1"/>
          <p:nvPr/>
        </p:nvSpPr>
        <p:spPr>
          <a:xfrm>
            <a:off x="457200" y="6035040"/>
            <a:ext cx="8229600" cy="274320"/>
          </a:xfrm>
          <a:prstGeom prst="rect">
            <a:avLst/>
          </a:prstGeom>
          <a:noFill/>
        </p:spPr>
        <p:txBody>
          <a:bodyPr wrap="square">
            <a:spAutoFit/>
          </a:bodyPr>
          <a:lstStyle/>
          <a:p>
            <a:pPr algn="l">
              <a:defRPr sz="1200" b="1">
                <a:solidFill>
                  <a:srgbClr val="003366"/>
                </a:solidFill>
                <a:latin typeface="Malgun Gothic"/>
              </a:defRPr>
            </a:pPr>
            <a:r>
              <a:t>2020년 사업계획</a:t>
            </a:r>
          </a:p>
        </p:txBody>
      </p:sp>
      <p:sp>
        <p:nvSpPr>
          <p:cNvPr id="11" name="TextBox 10"/>
          <p:cNvSpPr txBox="1"/>
          <p:nvPr/>
        </p:nvSpPr>
        <p:spPr>
          <a:xfrm>
            <a:off x="457200" y="6400800"/>
            <a:ext cx="8229600" cy="1828800"/>
          </a:xfrm>
          <a:prstGeom prst="rect">
            <a:avLst/>
          </a:prstGeom>
          <a:noFill/>
        </p:spPr>
        <p:txBody>
          <a:bodyPr wrap="square">
            <a:spAutoFit/>
          </a:bodyPr>
          <a:lstStyle/>
          <a:p>
            <a:pPr algn="l">
              <a:defRPr sz="1000" b="0">
                <a:latin typeface="Malgun Gothic"/>
              </a:defRPr>
            </a:pPr>
            <a:r>
              <a:t>건강한 바다, 풍요로운 미래, 행복한 국민 with KOEM</a:t>
            </a:r>
            <a:br/>
            <a:r>
              <a:t>전문역량, 안전우선, 혁신선도, 윤리의식</a:t>
            </a:r>
            <a:br/>
            <a:r>
              <a:t>소통과 화합, 협력과 상생, 열정과 도전, 공정과 신뢰</a:t>
            </a:r>
            <a:br/>
            <a:r>
              <a:t>전략목표:</a:t>
            </a:r>
            <a:br/>
            <a:r>
              <a:t>	•	건강한 해양환경 조성을 통한 생태복지 실현</a:t>
            </a:r>
            <a:br/>
            <a:r>
              <a:t>	•	국민안심 재난·안전대응 체계 공고화</a:t>
            </a:r>
            <a:br/>
            <a:r>
              <a:t>	•	포용적 지속성장 기반 확보</a:t>
            </a:r>
            <a:br/>
            <a:r>
              <a:t>	•	국민공감 혁신체계 구축</a:t>
            </a:r>
            <a:br/>
            <a:r>
              <a:t>경영목표:</a:t>
            </a:r>
            <a:br/>
            <a:r>
              <a:t>	•	해양보호구역 40개소 지정·관리</a:t>
            </a:r>
            <a:br/>
            <a:r>
              <a:t>	•	특별관리해역수질 2등급 이상 100%</a:t>
            </a:r>
            <a:br/>
            <a:r>
              <a:t>	•	해양오염사고 예방률 65% 이상</a:t>
            </a:r>
            <a:br/>
            <a:r>
              <a:t>	•	침몰선박 위해도 조사 100%</a:t>
            </a:r>
            <a:br/>
            <a:r>
              <a:t>	•	미래성장 매출액 1,300억 원</a:t>
            </a:r>
            <a:br/>
            <a:r>
              <a:t>	•	차입금의존도 ZERO</a:t>
            </a:r>
            <a:br/>
            <a:r>
              <a:t>	•	양질의 일자리창출 연간 3,100명</a:t>
            </a:r>
            <a:br/>
            <a:r>
              <a:t>	•	고객만족도 S등급</a:t>
            </a:r>
            <a:br/>
            <a:r>
              <a:t>	•	청렴도 평가 1등급</a:t>
            </a:r>
          </a:p>
        </p:txBody>
      </p:sp>
      <p:sp>
        <p:nvSpPr>
          <p:cNvPr id="12" name="TextBox 11"/>
          <p:cNvSpPr txBox="1"/>
          <p:nvPr/>
        </p:nvSpPr>
        <p:spPr>
          <a:xfrm>
            <a:off x="457200" y="8321040"/>
            <a:ext cx="8229600" cy="274320"/>
          </a:xfrm>
          <a:prstGeom prst="rect">
            <a:avLst/>
          </a:prstGeom>
          <a:noFill/>
        </p:spPr>
        <p:txBody>
          <a:bodyPr wrap="square">
            <a:spAutoFit/>
          </a:bodyPr>
          <a:lstStyle/>
          <a:p>
            <a:pPr algn="l">
              <a:defRPr sz="1200" b="1">
                <a:solidFill>
                  <a:srgbClr val="003366"/>
                </a:solidFill>
                <a:latin typeface="Malgun Gothic"/>
              </a:defRPr>
            </a:pPr>
            <a:r>
              <a:t>2021년 사업계획</a:t>
            </a:r>
          </a:p>
        </p:txBody>
      </p:sp>
      <p:sp>
        <p:nvSpPr>
          <p:cNvPr id="13" name="TextBox 12"/>
          <p:cNvSpPr txBox="1"/>
          <p:nvPr/>
        </p:nvSpPr>
        <p:spPr>
          <a:xfrm>
            <a:off x="457200" y="8686800"/>
            <a:ext cx="8229600" cy="1143000"/>
          </a:xfrm>
          <a:prstGeom prst="rect">
            <a:avLst/>
          </a:prstGeom>
          <a:noFill/>
        </p:spPr>
        <p:txBody>
          <a:bodyPr wrap="square">
            <a:spAutoFit/>
          </a:bodyPr>
          <a:lstStyle/>
          <a:p>
            <a:pPr algn="l">
              <a:defRPr sz="1000" b="0">
                <a:latin typeface="Malgun Gothic"/>
              </a:defRPr>
            </a:pPr>
            <a:r>
              <a:t>전문역량, 안전우선, 혁신선도, 윤리의식</a:t>
            </a:r>
            <a:br/>
            <a:r>
              <a:t>소통과 화합, 협력과 상생, 열정과 도전, 공정과 신뢰</a:t>
            </a:r>
            <a:br/>
            <a:r>
              <a:t>전략목표:</a:t>
            </a:r>
            <a:br/>
            <a:r>
              <a:t>	•	건강한 해양환경 조성을 통한 생태복지 실현</a:t>
            </a:r>
            <a:br/>
            <a:r>
              <a:t>	•	국민안심 재난·안전대응 체계 공고화</a:t>
            </a:r>
            <a:br/>
            <a:r>
              <a:t>	•	함께 성장하는 지속가능 경영</a:t>
            </a:r>
            <a:br/>
            <a:r>
              <a:t>	•	경영혁신을 통한 사회적 가치 실현</a:t>
            </a:r>
            <a:br/>
            <a:r>
              <a:t>경영목표:</a:t>
            </a:r>
            <a:br/>
            <a:r>
              <a:t>	•	해양생태계 보전지수 90 달성</a:t>
            </a:r>
            <a:br/>
            <a:r>
              <a:t>	•	해양오염사고 방제율 50% 이상</a:t>
            </a:r>
            <a:br/>
            <a:r>
              <a:t>	•	미래성장 매출액 1,400억 원</a:t>
            </a:r>
            <a:br/>
            <a:r>
              <a:t>	•	양질의 일자리창출 연간 3,200명</a:t>
            </a:r>
          </a:p>
        </p:txBody>
      </p:sp>
      <p:sp>
        <p:nvSpPr>
          <p:cNvPr id="14" name="TextBox 13"/>
          <p:cNvSpPr txBox="1"/>
          <p:nvPr/>
        </p:nvSpPr>
        <p:spPr>
          <a:xfrm>
            <a:off x="457200" y="9921240"/>
            <a:ext cx="8229600" cy="274320"/>
          </a:xfrm>
          <a:prstGeom prst="rect">
            <a:avLst/>
          </a:prstGeom>
          <a:noFill/>
        </p:spPr>
        <p:txBody>
          <a:bodyPr wrap="square">
            <a:spAutoFit/>
          </a:bodyPr>
          <a:lstStyle/>
          <a:p>
            <a:pPr algn="l">
              <a:defRPr sz="1200" b="1">
                <a:solidFill>
                  <a:srgbClr val="003366"/>
                </a:solidFill>
                <a:latin typeface="Malgun Gothic"/>
              </a:defRPr>
            </a:pPr>
            <a:r>
              <a:t>중점사항</a:t>
            </a:r>
          </a:p>
        </p:txBody>
      </p:sp>
      <p:sp>
        <p:nvSpPr>
          <p:cNvPr id="15" name="TextBox 14"/>
          <p:cNvSpPr txBox="1"/>
          <p:nvPr/>
        </p:nvSpPr>
        <p:spPr>
          <a:xfrm>
            <a:off x="457200" y="10287000"/>
            <a:ext cx="8229600" cy="228600"/>
          </a:xfrm>
          <a:prstGeom prst="rect">
            <a:avLst/>
          </a:prstGeom>
          <a:noFill/>
        </p:spPr>
        <p:txBody>
          <a:bodyPr wrap="square">
            <a:spAutoFit/>
          </a:bodyPr>
          <a:lstStyle/>
          <a:p>
            <a:pPr algn="l">
              <a:defRPr sz="1000" b="0">
                <a:latin typeface="Malgun Gothic"/>
              </a:defRPr>
            </a:pPr>
            <a:r>
              <a:t>✓ 성장·혁신에 중점을 둔 전략, 경영목표 설정</a:t>
            </a:r>
            <a:br/>
            <a:r>
              <a:t>✓ 방제사업 중심 목표수립</a:t>
            </a:r>
          </a:p>
        </p:txBody>
      </p:sp>
      <p:sp>
        <p:nvSpPr>
          <p:cNvPr id="16" name="TextBox 15"/>
          <p:cNvSpPr txBox="1"/>
          <p:nvPr/>
        </p:nvSpPr>
        <p:spPr>
          <a:xfrm>
            <a:off x="457200" y="10607040"/>
            <a:ext cx="8229600" cy="228600"/>
          </a:xfrm>
          <a:prstGeom prst="rect">
            <a:avLst/>
          </a:prstGeom>
          <a:noFill/>
        </p:spPr>
        <p:txBody>
          <a:bodyPr wrap="square">
            <a:spAutoFit/>
          </a:bodyPr>
          <a:lstStyle/>
          <a:p>
            <a:pPr algn="l">
              <a:defRPr sz="1000" b="0">
                <a:latin typeface="Malgun Gothic"/>
              </a:defRPr>
            </a:pPr>
            <a:r>
              <a:t>✓ 일자리창출, 사회적가치 등 정부정책과 국정과제 반영</a:t>
            </a:r>
            <a:br/>
            <a:r>
              <a:t>✓ 해양환경보전부문 목표 확대</a:t>
            </a:r>
          </a:p>
        </p:txBody>
      </p:sp>
      <p:sp>
        <p:nvSpPr>
          <p:cNvPr id="17" name="TextBox 16"/>
          <p:cNvSpPr txBox="1"/>
          <p:nvPr/>
        </p:nvSpPr>
        <p:spPr>
          <a:xfrm>
            <a:off x="457200" y="10927080"/>
            <a:ext cx="8229600" cy="457200"/>
          </a:xfrm>
          <a:prstGeom prst="rect">
            <a:avLst/>
          </a:prstGeom>
          <a:noFill/>
        </p:spPr>
        <p:txBody>
          <a:bodyPr wrap="square">
            <a:spAutoFit/>
          </a:bodyPr>
          <a:lstStyle/>
          <a:p>
            <a:pPr algn="l">
              <a:defRPr sz="1000" b="0">
                <a:latin typeface="Malgun Gothic"/>
              </a:defRPr>
            </a:pPr>
            <a:r>
              <a:t>✓ 전략목표 구체화로 정부 정책 (사회적가치, 안전) 반영 강화</a:t>
            </a:r>
            <a:br/>
            <a:r>
              <a:t>✓ 경영목표 점진적 상향 조정</a:t>
            </a:r>
          </a:p>
        </p:txBody>
      </p:sp>
      <p:sp>
        <p:nvSpPr>
          <p:cNvPr id="18" name="TextBox 17"/>
          <p:cNvSpPr txBox="1"/>
          <p:nvPr/>
        </p:nvSpPr>
        <p:spPr>
          <a:xfrm>
            <a:off x="457200" y="11475720"/>
            <a:ext cx="8229600" cy="457200"/>
          </a:xfrm>
          <a:prstGeom prst="rect">
            <a:avLst/>
          </a:prstGeom>
          <a:noFill/>
        </p:spPr>
        <p:txBody>
          <a:bodyPr wrap="square">
            <a:spAutoFit/>
          </a:bodyPr>
          <a:lstStyle/>
          <a:p>
            <a:pPr algn="l">
              <a:defRPr sz="1000" b="0">
                <a:latin typeface="Malgun Gothic"/>
              </a:defRPr>
            </a:pPr>
            <a:r>
              <a:t>✓ 지속가능경영, 혁신, 사회적가치 실현 등 정부 정책기조 반영</a:t>
            </a:r>
            <a:br/>
            <a:r>
              <a:t>✓ 경영목표에 종합지표 사용</a:t>
            </a:r>
          </a:p>
        </p:txBody>
      </p:sp>
      <p:sp>
        <p:nvSpPr>
          <p:cNvPr id="19" name="TextBox 18"/>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54 | Page 55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내부 환경·역량 분석 - 공단 가치체계 분석</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미션-비전-공유가치를 포함한 가치체계는 설립목적을 기반으로 일관성, 연계성을 확보하고 있으나, 근원적 존재이유, 나아갈 방향성 등 내부와 외부에 공유되어야 할 가치와 위상, 역할에 대한 명확성은 개선이 필요함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KOEM 가치체계</a:t>
            </a:r>
          </a:p>
        </p:txBody>
      </p:sp>
      <p:sp>
        <p:nvSpPr>
          <p:cNvPr id="5" name="TextBox 4"/>
          <p:cNvSpPr txBox="1"/>
          <p:nvPr/>
        </p:nvSpPr>
        <p:spPr>
          <a:xfrm>
            <a:off x="457200" y="1828800"/>
            <a:ext cx="4023360" cy="228600"/>
          </a:xfrm>
          <a:prstGeom prst="rect">
            <a:avLst/>
          </a:prstGeom>
          <a:noFill/>
        </p:spPr>
        <p:txBody>
          <a:bodyPr wrap="square">
            <a:spAutoFit/>
          </a:bodyPr>
          <a:lstStyle/>
          <a:p>
            <a:pPr algn="l">
              <a:defRPr sz="1000" b="0">
                <a:latin typeface="Malgun Gothic"/>
              </a:defRPr>
            </a:pPr>
            <a:r>
              <a:t>설립목적</a:t>
            </a:r>
          </a:p>
        </p:txBody>
      </p:sp>
      <p:sp>
        <p:nvSpPr>
          <p:cNvPr id="6" name="TextBox 5"/>
          <p:cNvSpPr txBox="1"/>
          <p:nvPr/>
        </p:nvSpPr>
        <p:spPr>
          <a:xfrm>
            <a:off x="457200" y="2148840"/>
            <a:ext cx="4023360" cy="685800"/>
          </a:xfrm>
          <a:prstGeom prst="rect">
            <a:avLst/>
          </a:prstGeom>
          <a:noFill/>
        </p:spPr>
        <p:txBody>
          <a:bodyPr wrap="square">
            <a:spAutoFit/>
          </a:bodyPr>
          <a:lstStyle/>
          <a:p>
            <a:pPr algn="l">
              <a:defRPr sz="1000" b="0">
                <a:latin typeface="Malgun Gothic"/>
              </a:defRPr>
            </a:pPr>
            <a:r>
              <a:t>① 생명·생산·생활의 종합 공간인 해양의 훼손 및 오염으로 인한 위해를 예방하고,</a:t>
            </a:r>
            <a:br/>
            <a:r>
              <a:t>② 국민들이 안심하고 이용할 수 있는 깨끗하고 안전한 해양환경을 조성하여,</a:t>
            </a:r>
            <a:br/>
            <a:r>
              <a:t>③ 윤택하고 풍요로운 해양의 지속가능한 이용가치를 창조하여 국민 행복과 삶의 질 향상</a:t>
            </a:r>
          </a:p>
        </p:txBody>
      </p:sp>
      <p:sp>
        <p:nvSpPr>
          <p:cNvPr id="7" name="TextBox 6"/>
          <p:cNvSpPr txBox="1"/>
          <p:nvPr/>
        </p:nvSpPr>
        <p:spPr>
          <a:xfrm>
            <a:off x="457200" y="2926080"/>
            <a:ext cx="4023360" cy="228600"/>
          </a:xfrm>
          <a:prstGeom prst="rect">
            <a:avLst/>
          </a:prstGeom>
          <a:noFill/>
        </p:spPr>
        <p:txBody>
          <a:bodyPr wrap="square">
            <a:spAutoFit/>
          </a:bodyPr>
          <a:lstStyle/>
          <a:p>
            <a:pPr algn="l">
              <a:defRPr sz="1000" b="0">
                <a:latin typeface="Malgun Gothic"/>
              </a:defRPr>
            </a:pPr>
            <a:r>
              <a:t>미션</a:t>
            </a:r>
          </a:p>
        </p:txBody>
      </p:sp>
      <p:sp>
        <p:nvSpPr>
          <p:cNvPr id="8" name="TextBox 7"/>
          <p:cNvSpPr txBox="1"/>
          <p:nvPr/>
        </p:nvSpPr>
        <p:spPr>
          <a:xfrm>
            <a:off x="457200" y="3246120"/>
            <a:ext cx="4023360" cy="228600"/>
          </a:xfrm>
          <a:prstGeom prst="rect">
            <a:avLst/>
          </a:prstGeom>
          <a:noFill/>
        </p:spPr>
        <p:txBody>
          <a:bodyPr wrap="square">
            <a:spAutoFit/>
          </a:bodyPr>
          <a:lstStyle/>
          <a:p>
            <a:pPr algn="l">
              <a:defRPr sz="1000" b="0">
                <a:latin typeface="Malgun Gothic"/>
              </a:defRPr>
            </a:pPr>
            <a:r>
              <a:t>깨끗하고 안전한 해양환경을 조성하여 국민의 삶의 질 향상</a:t>
            </a:r>
          </a:p>
        </p:txBody>
      </p:sp>
      <p:sp>
        <p:nvSpPr>
          <p:cNvPr id="9" name="TextBox 8"/>
          <p:cNvSpPr txBox="1"/>
          <p:nvPr/>
        </p:nvSpPr>
        <p:spPr>
          <a:xfrm>
            <a:off x="457200" y="3566160"/>
            <a:ext cx="4023360" cy="228600"/>
          </a:xfrm>
          <a:prstGeom prst="rect">
            <a:avLst/>
          </a:prstGeom>
          <a:noFill/>
        </p:spPr>
        <p:txBody>
          <a:bodyPr wrap="square">
            <a:spAutoFit/>
          </a:bodyPr>
          <a:lstStyle/>
          <a:p>
            <a:pPr algn="l">
              <a:defRPr sz="1000" b="0">
                <a:latin typeface="Malgun Gothic"/>
              </a:defRPr>
            </a:pPr>
            <a:r>
              <a:t>비전</a:t>
            </a:r>
          </a:p>
        </p:txBody>
      </p:sp>
      <p:sp>
        <p:nvSpPr>
          <p:cNvPr id="10" name="TextBox 9"/>
          <p:cNvSpPr txBox="1"/>
          <p:nvPr/>
        </p:nvSpPr>
        <p:spPr>
          <a:xfrm>
            <a:off x="457200" y="3886200"/>
            <a:ext cx="4023360" cy="228600"/>
          </a:xfrm>
          <a:prstGeom prst="rect">
            <a:avLst/>
          </a:prstGeom>
          <a:noFill/>
        </p:spPr>
        <p:txBody>
          <a:bodyPr wrap="square">
            <a:spAutoFit/>
          </a:bodyPr>
          <a:lstStyle/>
          <a:p>
            <a:pPr algn="l">
              <a:defRPr sz="1000" b="0">
                <a:latin typeface="Malgun Gothic"/>
              </a:defRPr>
            </a:pPr>
            <a:r>
              <a:t>건강한 바다, 풍요로운 미래, 행복한 국민 with KOEM</a:t>
            </a:r>
          </a:p>
        </p:txBody>
      </p:sp>
      <p:sp>
        <p:nvSpPr>
          <p:cNvPr id="11" name="TextBox 10"/>
          <p:cNvSpPr txBox="1"/>
          <p:nvPr/>
        </p:nvSpPr>
        <p:spPr>
          <a:xfrm>
            <a:off x="457200" y="4206240"/>
            <a:ext cx="4023360" cy="228600"/>
          </a:xfrm>
          <a:prstGeom prst="rect">
            <a:avLst/>
          </a:prstGeom>
          <a:noFill/>
        </p:spPr>
        <p:txBody>
          <a:bodyPr wrap="square">
            <a:spAutoFit/>
          </a:bodyPr>
          <a:lstStyle/>
          <a:p>
            <a:pPr algn="l">
              <a:defRPr sz="1000" b="0">
                <a:latin typeface="Malgun Gothic"/>
              </a:defRPr>
            </a:pPr>
            <a:r>
              <a:t>공유가치</a:t>
            </a:r>
          </a:p>
        </p:txBody>
      </p:sp>
      <p:sp>
        <p:nvSpPr>
          <p:cNvPr id="12" name="TextBox 11"/>
          <p:cNvSpPr txBox="1"/>
          <p:nvPr/>
        </p:nvSpPr>
        <p:spPr>
          <a:xfrm>
            <a:off x="457200" y="4526280"/>
            <a:ext cx="4023360" cy="228600"/>
          </a:xfrm>
          <a:prstGeom prst="rect">
            <a:avLst/>
          </a:prstGeom>
          <a:noFill/>
        </p:spPr>
        <p:txBody>
          <a:bodyPr wrap="square">
            <a:spAutoFit/>
          </a:bodyPr>
          <a:lstStyle/>
          <a:p>
            <a:pPr algn="l">
              <a:defRPr sz="1000" b="0">
                <a:latin typeface="Malgun Gothic"/>
              </a:defRPr>
            </a:pPr>
            <a:r>
              <a:t>핵심가치  전문역량  안전우선  혁신선도 윤리의식</a:t>
            </a:r>
          </a:p>
        </p:txBody>
      </p:sp>
      <p:sp>
        <p:nvSpPr>
          <p:cNvPr id="13" name="TextBox 12"/>
          <p:cNvSpPr txBox="1"/>
          <p:nvPr/>
        </p:nvSpPr>
        <p:spPr>
          <a:xfrm>
            <a:off x="457200" y="4846320"/>
            <a:ext cx="4023360" cy="228600"/>
          </a:xfrm>
          <a:prstGeom prst="rect">
            <a:avLst/>
          </a:prstGeom>
          <a:noFill/>
        </p:spPr>
        <p:txBody>
          <a:bodyPr wrap="square">
            <a:spAutoFit/>
          </a:bodyPr>
          <a:lstStyle/>
          <a:p>
            <a:pPr algn="l">
              <a:defRPr sz="1000" b="0">
                <a:latin typeface="Malgun Gothic"/>
              </a:defRPr>
            </a:pPr>
            <a:r>
              <a:t>경영방침</a:t>
            </a:r>
          </a:p>
        </p:txBody>
      </p:sp>
      <p:sp>
        <p:nvSpPr>
          <p:cNvPr id="14" name="TextBox 13"/>
          <p:cNvSpPr txBox="1"/>
          <p:nvPr/>
        </p:nvSpPr>
        <p:spPr>
          <a:xfrm>
            <a:off x="457200" y="5166360"/>
            <a:ext cx="4023360" cy="228600"/>
          </a:xfrm>
          <a:prstGeom prst="rect">
            <a:avLst/>
          </a:prstGeom>
          <a:noFill/>
        </p:spPr>
        <p:txBody>
          <a:bodyPr wrap="square">
            <a:spAutoFit/>
          </a:bodyPr>
          <a:lstStyle/>
          <a:p>
            <a:pPr algn="l">
              <a:defRPr sz="1000" b="0">
                <a:latin typeface="Malgun Gothic"/>
              </a:defRPr>
            </a:pPr>
            <a:r>
              <a:t>소통과 화합 협력과 상생 열정과 도전 공정과 신뢰</a:t>
            </a:r>
          </a:p>
        </p:txBody>
      </p:sp>
      <p:sp>
        <p:nvSpPr>
          <p:cNvPr id="15" name="TextBox 14"/>
          <p:cNvSpPr txBox="1"/>
          <p:nvPr/>
        </p:nvSpPr>
        <p:spPr>
          <a:xfrm>
            <a:off x="457200" y="5486400"/>
            <a:ext cx="4023360" cy="228600"/>
          </a:xfrm>
          <a:prstGeom prst="rect">
            <a:avLst/>
          </a:prstGeom>
          <a:noFill/>
        </p:spPr>
        <p:txBody>
          <a:bodyPr wrap="square">
            <a:spAutoFit/>
          </a:bodyPr>
          <a:lstStyle/>
          <a:p>
            <a:pPr algn="l">
              <a:defRPr sz="1000" b="0">
                <a:latin typeface="Malgun Gothic"/>
              </a:defRPr>
            </a:pPr>
            <a:r>
              <a:t>경영목표</a:t>
            </a:r>
          </a:p>
        </p:txBody>
      </p:sp>
      <p:sp>
        <p:nvSpPr>
          <p:cNvPr id="16" name="TextBox 15"/>
          <p:cNvSpPr txBox="1"/>
          <p:nvPr/>
        </p:nvSpPr>
        <p:spPr>
          <a:xfrm>
            <a:off x="457200" y="5806440"/>
            <a:ext cx="4023360" cy="228600"/>
          </a:xfrm>
          <a:prstGeom prst="rect">
            <a:avLst/>
          </a:prstGeom>
          <a:noFill/>
        </p:spPr>
        <p:txBody>
          <a:bodyPr wrap="square">
            <a:spAutoFit/>
          </a:bodyPr>
          <a:lstStyle/>
          <a:p>
            <a:pPr algn="l">
              <a:defRPr sz="1000" b="0">
                <a:latin typeface="Malgun Gothic"/>
              </a:defRPr>
            </a:pPr>
            <a:r>
              <a:t>깨끗한 바다  건강한 해양환경 조성을 통한 생태 복지실현</a:t>
            </a:r>
          </a:p>
        </p:txBody>
      </p:sp>
      <p:sp>
        <p:nvSpPr>
          <p:cNvPr id="17" name="TextBox 16"/>
          <p:cNvSpPr txBox="1"/>
          <p:nvPr/>
        </p:nvSpPr>
        <p:spPr>
          <a:xfrm>
            <a:off x="457200" y="6126480"/>
            <a:ext cx="4023360" cy="228600"/>
          </a:xfrm>
          <a:prstGeom prst="rect">
            <a:avLst/>
          </a:prstGeom>
          <a:noFill/>
        </p:spPr>
        <p:txBody>
          <a:bodyPr wrap="square">
            <a:spAutoFit/>
          </a:bodyPr>
          <a:lstStyle/>
          <a:p>
            <a:pPr algn="l">
              <a:defRPr sz="1000" b="0">
                <a:latin typeface="Malgun Gothic"/>
              </a:defRPr>
            </a:pPr>
            <a:r>
              <a:t>전략목표</a:t>
            </a:r>
          </a:p>
        </p:txBody>
      </p:sp>
      <p:sp>
        <p:nvSpPr>
          <p:cNvPr id="18" name="TextBox 17"/>
          <p:cNvSpPr txBox="1"/>
          <p:nvPr/>
        </p:nvSpPr>
        <p:spPr>
          <a:xfrm>
            <a:off x="457200" y="6446520"/>
            <a:ext cx="4023360" cy="457200"/>
          </a:xfrm>
          <a:prstGeom prst="rect">
            <a:avLst/>
          </a:prstGeom>
          <a:noFill/>
        </p:spPr>
        <p:txBody>
          <a:bodyPr wrap="square">
            <a:spAutoFit/>
          </a:bodyPr>
          <a:lstStyle/>
          <a:p>
            <a:pPr algn="l">
              <a:defRPr sz="1000" b="0">
                <a:latin typeface="Malgun Gothic"/>
              </a:defRPr>
            </a:pPr>
            <a:r>
              <a:t>안전한 바다  국민 안심 재난·안전대응 체계 공고화</a:t>
            </a:r>
            <a:br/>
            <a:r>
              <a:t>풍요로운 바다  함께 성장하는 지속가능 경영</a:t>
            </a:r>
            <a:br/>
            <a:r>
              <a:t>공감의 바다  경영혁신을 통한 사회적 가치 실현</a:t>
            </a:r>
          </a:p>
        </p:txBody>
      </p:sp>
      <p:sp>
        <p:nvSpPr>
          <p:cNvPr id="19" name="TextBox 18"/>
          <p:cNvSpPr txBox="1"/>
          <p:nvPr/>
        </p:nvSpPr>
        <p:spPr>
          <a:xfrm>
            <a:off x="457200" y="6995160"/>
            <a:ext cx="8229600" cy="274320"/>
          </a:xfrm>
          <a:prstGeom prst="rect">
            <a:avLst/>
          </a:prstGeom>
          <a:noFill/>
        </p:spPr>
        <p:txBody>
          <a:bodyPr wrap="square">
            <a:spAutoFit/>
          </a:bodyPr>
          <a:lstStyle/>
          <a:p>
            <a:pPr algn="l">
              <a:defRPr sz="1200" b="1">
                <a:solidFill>
                  <a:srgbClr val="003366"/>
                </a:solidFill>
                <a:latin typeface="Malgun Gothic"/>
              </a:defRPr>
            </a:pPr>
            <a:r>
              <a:t>진단분석</a:t>
            </a:r>
          </a:p>
        </p:txBody>
      </p:sp>
      <p:sp>
        <p:nvSpPr>
          <p:cNvPr id="20" name="TextBox 19"/>
          <p:cNvSpPr txBox="1"/>
          <p:nvPr/>
        </p:nvSpPr>
        <p:spPr>
          <a:xfrm>
            <a:off x="4663440" y="2194560"/>
            <a:ext cx="4023360" cy="228600"/>
          </a:xfrm>
          <a:prstGeom prst="rect">
            <a:avLst/>
          </a:prstGeom>
          <a:noFill/>
        </p:spPr>
        <p:txBody>
          <a:bodyPr wrap="square">
            <a:spAutoFit/>
          </a:bodyPr>
          <a:lstStyle/>
          <a:p>
            <a:pPr algn="l">
              <a:defRPr sz="1000" b="0">
                <a:latin typeface="Malgun Gothic"/>
              </a:defRPr>
            </a:pPr>
            <a:r>
              <a:t>미션</a:t>
            </a:r>
          </a:p>
        </p:txBody>
      </p:sp>
      <p:sp>
        <p:nvSpPr>
          <p:cNvPr id="21" name="TextBox 20"/>
          <p:cNvSpPr txBox="1"/>
          <p:nvPr/>
        </p:nvSpPr>
        <p:spPr>
          <a:xfrm>
            <a:off x="4663440" y="2514600"/>
            <a:ext cx="4023360" cy="457200"/>
          </a:xfrm>
          <a:prstGeom prst="rect">
            <a:avLst/>
          </a:prstGeom>
          <a:noFill/>
        </p:spPr>
        <p:txBody>
          <a:bodyPr wrap="square">
            <a:spAutoFit/>
          </a:bodyPr>
          <a:lstStyle/>
          <a:p>
            <a:pPr algn="l">
              <a:defRPr sz="1000" b="0">
                <a:latin typeface="Malgun Gothic"/>
              </a:defRPr>
            </a:pPr>
            <a:r>
              <a:t>✓ 설립목적에 명시된 창출 가치와 역할의</a:t>
            </a:r>
            <a:br/>
            <a:r>
              <a:t>   규정은 어느 정도 잘 되어 있음</a:t>
            </a:r>
            <a:br/>
            <a:r>
              <a:t>✓ 공단의 근원적 존재 이유, 'Why?'의 변화에</a:t>
            </a:r>
            <a:br/>
            <a:r>
              <a:t>   대한 검토와 반영 필요</a:t>
            </a:r>
          </a:p>
        </p:txBody>
      </p:sp>
      <p:sp>
        <p:nvSpPr>
          <p:cNvPr id="22" name="TextBox 21"/>
          <p:cNvSpPr txBox="1"/>
          <p:nvPr/>
        </p:nvSpPr>
        <p:spPr>
          <a:xfrm>
            <a:off x="4663440" y="3063240"/>
            <a:ext cx="4023360" cy="228600"/>
          </a:xfrm>
          <a:prstGeom prst="rect">
            <a:avLst/>
          </a:prstGeom>
          <a:noFill/>
        </p:spPr>
        <p:txBody>
          <a:bodyPr wrap="square">
            <a:spAutoFit/>
          </a:bodyPr>
          <a:lstStyle/>
          <a:p>
            <a:pPr algn="l">
              <a:defRPr sz="1000" b="0">
                <a:latin typeface="Malgun Gothic"/>
              </a:defRPr>
            </a:pPr>
            <a:r>
              <a:t>비전</a:t>
            </a:r>
          </a:p>
        </p:txBody>
      </p:sp>
      <p:sp>
        <p:nvSpPr>
          <p:cNvPr id="23" name="TextBox 22"/>
          <p:cNvSpPr txBox="1"/>
          <p:nvPr/>
        </p:nvSpPr>
        <p:spPr>
          <a:xfrm>
            <a:off x="4663440" y="3383280"/>
            <a:ext cx="4023360" cy="457200"/>
          </a:xfrm>
          <a:prstGeom prst="rect">
            <a:avLst/>
          </a:prstGeom>
          <a:noFill/>
        </p:spPr>
        <p:txBody>
          <a:bodyPr wrap="square">
            <a:spAutoFit/>
          </a:bodyPr>
          <a:lstStyle/>
          <a:p>
            <a:pPr algn="l">
              <a:defRPr sz="1000" b="0">
                <a:latin typeface="Malgun Gothic"/>
              </a:defRPr>
            </a:pPr>
            <a:r>
              <a:t>✓ 추구하는 가치에 “with KOEM”을 붙여</a:t>
            </a:r>
            <a:br/>
            <a:r>
              <a:t>   국민과 함께하는 이미지 부각은 긍정적</a:t>
            </a:r>
            <a:br/>
            <a:r>
              <a:t>✓ 나아가야 할 방향성, 가슴 뛰는 미래상,</a:t>
            </a:r>
            <a:br/>
            <a:r>
              <a:t>   위상과 역할의 명확성은 개선 필요</a:t>
            </a:r>
          </a:p>
        </p:txBody>
      </p:sp>
      <p:sp>
        <p:nvSpPr>
          <p:cNvPr id="24" name="TextBox 23"/>
          <p:cNvSpPr txBox="1"/>
          <p:nvPr/>
        </p:nvSpPr>
        <p:spPr>
          <a:xfrm>
            <a:off x="4663440" y="3931920"/>
            <a:ext cx="4023360" cy="228600"/>
          </a:xfrm>
          <a:prstGeom prst="rect">
            <a:avLst/>
          </a:prstGeom>
          <a:noFill/>
        </p:spPr>
        <p:txBody>
          <a:bodyPr wrap="square">
            <a:spAutoFit/>
          </a:bodyPr>
          <a:lstStyle/>
          <a:p>
            <a:pPr algn="l">
              <a:defRPr sz="1000" b="0">
                <a:latin typeface="Malgun Gothic"/>
              </a:defRPr>
            </a:pPr>
            <a:r>
              <a:t>공유</a:t>
            </a:r>
            <a:br/>
            <a:r>
              <a:t>가치</a:t>
            </a:r>
          </a:p>
        </p:txBody>
      </p:sp>
      <p:sp>
        <p:nvSpPr>
          <p:cNvPr id="25" name="TextBox 24"/>
          <p:cNvSpPr txBox="1"/>
          <p:nvPr/>
        </p:nvSpPr>
        <p:spPr>
          <a:xfrm>
            <a:off x="4663440" y="4251960"/>
            <a:ext cx="4023360" cy="457200"/>
          </a:xfrm>
          <a:prstGeom prst="rect">
            <a:avLst/>
          </a:prstGeom>
          <a:noFill/>
        </p:spPr>
        <p:txBody>
          <a:bodyPr wrap="square">
            <a:spAutoFit/>
          </a:bodyPr>
          <a:lstStyle/>
          <a:p>
            <a:pPr algn="l">
              <a:defRPr sz="1000" b="0">
                <a:latin typeface="Malgun Gothic"/>
              </a:defRPr>
            </a:pPr>
            <a:r>
              <a:t>✓ 핵심가치는 안전, 윤리 등 경영평가 반영</a:t>
            </a:r>
            <a:br/>
            <a:r>
              <a:t>   항목과 전문성, 혁신 등 우선 가치로 구성</a:t>
            </a:r>
            <a:br/>
            <a:r>
              <a:t>✓ 경영방침은 경영진의 이념·철학을 반영하고,</a:t>
            </a:r>
            <a:br/>
            <a:r>
              <a:t>   비전의 변화에 맞춰 개편 필요</a:t>
            </a:r>
          </a:p>
        </p:txBody>
      </p:sp>
      <p:sp>
        <p:nvSpPr>
          <p:cNvPr id="26" name="TextBox 25"/>
          <p:cNvSpPr txBox="1"/>
          <p:nvPr/>
        </p:nvSpPr>
        <p:spPr>
          <a:xfrm>
            <a:off x="4663440" y="4800600"/>
            <a:ext cx="4023360" cy="228600"/>
          </a:xfrm>
          <a:prstGeom prst="rect">
            <a:avLst/>
          </a:prstGeom>
          <a:noFill/>
        </p:spPr>
        <p:txBody>
          <a:bodyPr wrap="square">
            <a:spAutoFit/>
          </a:bodyPr>
          <a:lstStyle/>
          <a:p>
            <a:pPr algn="l">
              <a:defRPr sz="1000" b="0">
                <a:latin typeface="Malgun Gothic"/>
              </a:defRPr>
            </a:pPr>
            <a:r>
              <a:t>체계성</a:t>
            </a:r>
          </a:p>
        </p:txBody>
      </p:sp>
      <p:sp>
        <p:nvSpPr>
          <p:cNvPr id="27" name="TextBox 26"/>
          <p:cNvSpPr txBox="1"/>
          <p:nvPr/>
        </p:nvSpPr>
        <p:spPr>
          <a:xfrm>
            <a:off x="4663440" y="5120640"/>
            <a:ext cx="4023360" cy="685800"/>
          </a:xfrm>
          <a:prstGeom prst="rect">
            <a:avLst/>
          </a:prstGeom>
          <a:noFill/>
        </p:spPr>
        <p:txBody>
          <a:bodyPr wrap="square">
            <a:spAutoFit/>
          </a:bodyPr>
          <a:lstStyle/>
          <a:p>
            <a:pPr algn="l">
              <a:defRPr sz="1000" b="0">
                <a:latin typeface="Malgun Gothic"/>
              </a:defRPr>
            </a:pPr>
            <a:r>
              <a:t>✓ 설립목적-미션-비전은 해양환경, 국민행복의</a:t>
            </a:r>
            <a:br/>
            <a:r>
              <a:t>   키워드로 일관성과 연계성 확보</a:t>
            </a:r>
            <a:br/>
            <a:r>
              <a:t>✓ 경영목표, 전략목표는 미션, 비전의 포괄성</a:t>
            </a:r>
            <a:br/>
            <a:r>
              <a:t>   대비 경영평가에 적합하게 구성되어 있는</a:t>
            </a:r>
            <a:br/>
            <a:r>
              <a:t>   양상으로, 비전과 함께 재수립 필요</a:t>
            </a:r>
          </a:p>
        </p:txBody>
      </p:sp>
      <p:sp>
        <p:nvSpPr>
          <p:cNvPr id="28" name="TextBox 27"/>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55 | Page 56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내부 환경·역량 분석 - 공단 전략체계 분석</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공단 전략체계에서 경영목표에 보편적으로 통용되지 않고 있는 자체제작 지수 활용, 경영평가 트렌드에 맞춘 전략목표와 과제 수립으로 비전달성 개연성 저하, 해양환경 영역 포괄적 과제수립 여부는 확인과 검증이 필요함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KOEM 전략체계</a:t>
            </a:r>
          </a:p>
        </p:txBody>
      </p:sp>
      <p:sp>
        <p:nvSpPr>
          <p:cNvPr id="5" name="TextBox 4"/>
          <p:cNvSpPr txBox="1"/>
          <p:nvPr/>
        </p:nvSpPr>
        <p:spPr>
          <a:xfrm>
            <a:off x="457200" y="1828800"/>
            <a:ext cx="4023360" cy="228600"/>
          </a:xfrm>
          <a:prstGeom prst="rect">
            <a:avLst/>
          </a:prstGeom>
          <a:noFill/>
        </p:spPr>
        <p:txBody>
          <a:bodyPr wrap="square">
            <a:spAutoFit/>
          </a:bodyPr>
          <a:lstStyle/>
          <a:p>
            <a:pPr algn="l">
              <a:defRPr sz="1000" b="0">
                <a:latin typeface="Malgun Gothic"/>
              </a:defRPr>
            </a:pPr>
            <a:r>
              <a:t>미션</a:t>
            </a:r>
          </a:p>
        </p:txBody>
      </p:sp>
      <p:sp>
        <p:nvSpPr>
          <p:cNvPr id="6" name="TextBox 5"/>
          <p:cNvSpPr txBox="1"/>
          <p:nvPr/>
        </p:nvSpPr>
        <p:spPr>
          <a:xfrm>
            <a:off x="457200" y="2148840"/>
            <a:ext cx="4023360" cy="228600"/>
          </a:xfrm>
          <a:prstGeom prst="rect">
            <a:avLst/>
          </a:prstGeom>
          <a:noFill/>
        </p:spPr>
        <p:txBody>
          <a:bodyPr wrap="square">
            <a:spAutoFit/>
          </a:bodyPr>
          <a:lstStyle/>
          <a:p>
            <a:pPr algn="l">
              <a:defRPr sz="1000" b="0">
                <a:latin typeface="Malgun Gothic"/>
              </a:defRPr>
            </a:pPr>
            <a:r>
              <a:t>비전</a:t>
            </a:r>
          </a:p>
        </p:txBody>
      </p:sp>
      <p:sp>
        <p:nvSpPr>
          <p:cNvPr id="7" name="TextBox 6"/>
          <p:cNvSpPr txBox="1"/>
          <p:nvPr/>
        </p:nvSpPr>
        <p:spPr>
          <a:xfrm>
            <a:off x="457200" y="2468880"/>
            <a:ext cx="4023360" cy="228600"/>
          </a:xfrm>
          <a:prstGeom prst="rect">
            <a:avLst/>
          </a:prstGeom>
          <a:noFill/>
        </p:spPr>
        <p:txBody>
          <a:bodyPr wrap="square">
            <a:spAutoFit/>
          </a:bodyPr>
          <a:lstStyle/>
          <a:p>
            <a:pPr algn="l">
              <a:defRPr sz="1000" b="0">
                <a:latin typeface="Malgun Gothic"/>
              </a:defRPr>
            </a:pPr>
            <a:r>
              <a:t>경영목표</a:t>
            </a:r>
          </a:p>
        </p:txBody>
      </p:sp>
      <p:sp>
        <p:nvSpPr>
          <p:cNvPr id="8" name="TextBox 7"/>
          <p:cNvSpPr txBox="1"/>
          <p:nvPr/>
        </p:nvSpPr>
        <p:spPr>
          <a:xfrm>
            <a:off x="457200" y="2788920"/>
            <a:ext cx="4023360" cy="228600"/>
          </a:xfrm>
          <a:prstGeom prst="rect">
            <a:avLst/>
          </a:prstGeom>
          <a:noFill/>
        </p:spPr>
        <p:txBody>
          <a:bodyPr wrap="square">
            <a:spAutoFit/>
          </a:bodyPr>
          <a:lstStyle/>
          <a:p>
            <a:pPr algn="l">
              <a:defRPr sz="1000" b="0">
                <a:latin typeface="Malgun Gothic"/>
              </a:defRPr>
            </a:pPr>
            <a:r>
              <a:t>전략목표</a:t>
            </a:r>
            <a:br/>
            <a:r>
              <a:t>전략과제</a:t>
            </a:r>
          </a:p>
        </p:txBody>
      </p:sp>
      <p:sp>
        <p:nvSpPr>
          <p:cNvPr id="9" name="TextBox 8"/>
          <p:cNvSpPr txBox="1"/>
          <p:nvPr/>
        </p:nvSpPr>
        <p:spPr>
          <a:xfrm>
            <a:off x="457200" y="3108960"/>
            <a:ext cx="4023360" cy="228600"/>
          </a:xfrm>
          <a:prstGeom prst="rect">
            <a:avLst/>
          </a:prstGeom>
          <a:noFill/>
        </p:spPr>
        <p:txBody>
          <a:bodyPr wrap="square">
            <a:spAutoFit/>
          </a:bodyPr>
          <a:lstStyle/>
          <a:p>
            <a:pPr algn="l">
              <a:defRPr sz="1000" b="0">
                <a:latin typeface="Malgun Gothic"/>
              </a:defRPr>
            </a:pPr>
            <a:r>
              <a:t>깨끗하고 안전한 해양환경을 조성하여 국민의 삶의 질 향상</a:t>
            </a:r>
          </a:p>
        </p:txBody>
      </p:sp>
      <p:sp>
        <p:nvSpPr>
          <p:cNvPr id="10" name="TextBox 9"/>
          <p:cNvSpPr txBox="1"/>
          <p:nvPr/>
        </p:nvSpPr>
        <p:spPr>
          <a:xfrm>
            <a:off x="457200" y="3429000"/>
            <a:ext cx="4023360" cy="228600"/>
          </a:xfrm>
          <a:prstGeom prst="rect">
            <a:avLst/>
          </a:prstGeom>
          <a:noFill/>
        </p:spPr>
        <p:txBody>
          <a:bodyPr wrap="square">
            <a:spAutoFit/>
          </a:bodyPr>
          <a:lstStyle/>
          <a:p>
            <a:pPr algn="l">
              <a:defRPr sz="1000" b="0">
                <a:latin typeface="Malgun Gothic"/>
              </a:defRPr>
            </a:pPr>
            <a:r>
              <a:t>건강한 바다, 풍요로운 미래, 행복한 국민 with KOEM</a:t>
            </a:r>
          </a:p>
        </p:txBody>
      </p:sp>
      <p:sp>
        <p:nvSpPr>
          <p:cNvPr id="11" name="TextBox 10"/>
          <p:cNvSpPr txBox="1"/>
          <p:nvPr/>
        </p:nvSpPr>
        <p:spPr>
          <a:xfrm>
            <a:off x="457200" y="3749040"/>
            <a:ext cx="4023360" cy="228600"/>
          </a:xfrm>
          <a:prstGeom prst="rect">
            <a:avLst/>
          </a:prstGeom>
          <a:noFill/>
        </p:spPr>
        <p:txBody>
          <a:bodyPr wrap="square">
            <a:spAutoFit/>
          </a:bodyPr>
          <a:lstStyle/>
          <a:p>
            <a:pPr algn="l">
              <a:defRPr sz="1000" b="0">
                <a:latin typeface="Malgun Gothic"/>
              </a:defRPr>
            </a:pPr>
            <a:r>
              <a:t>깨끗한 바다</a:t>
            </a:r>
            <a:br/>
            <a:r>
              <a:t>해양생태계</a:t>
            </a:r>
            <a:br/>
            <a:r>
              <a:t>보전지수 90 달성</a:t>
            </a:r>
          </a:p>
        </p:txBody>
      </p:sp>
      <p:sp>
        <p:nvSpPr>
          <p:cNvPr id="12" name="TextBox 11"/>
          <p:cNvSpPr txBox="1"/>
          <p:nvPr/>
        </p:nvSpPr>
        <p:spPr>
          <a:xfrm>
            <a:off x="457200" y="4069080"/>
            <a:ext cx="4023360" cy="228600"/>
          </a:xfrm>
          <a:prstGeom prst="rect">
            <a:avLst/>
          </a:prstGeom>
          <a:noFill/>
        </p:spPr>
        <p:txBody>
          <a:bodyPr wrap="square">
            <a:spAutoFit/>
          </a:bodyPr>
          <a:lstStyle/>
          <a:p>
            <a:pPr algn="l">
              <a:defRPr sz="1000" b="0">
                <a:latin typeface="Malgun Gothic"/>
              </a:defRPr>
            </a:pPr>
            <a:r>
              <a:t>안전한 바다</a:t>
            </a:r>
            <a:br/>
            <a:r>
              <a:t>해양오염사고</a:t>
            </a:r>
            <a:br/>
            <a:r>
              <a:t>방제율 50% 이상</a:t>
            </a:r>
          </a:p>
        </p:txBody>
      </p:sp>
      <p:sp>
        <p:nvSpPr>
          <p:cNvPr id="13" name="TextBox 12"/>
          <p:cNvSpPr txBox="1"/>
          <p:nvPr/>
        </p:nvSpPr>
        <p:spPr>
          <a:xfrm>
            <a:off x="457200" y="4389120"/>
            <a:ext cx="4023360" cy="228600"/>
          </a:xfrm>
          <a:prstGeom prst="rect">
            <a:avLst/>
          </a:prstGeom>
          <a:noFill/>
        </p:spPr>
        <p:txBody>
          <a:bodyPr wrap="square">
            <a:spAutoFit/>
          </a:bodyPr>
          <a:lstStyle/>
          <a:p>
            <a:pPr algn="l">
              <a:defRPr sz="1000" b="0">
                <a:latin typeface="Malgun Gothic"/>
              </a:defRPr>
            </a:pPr>
            <a:r>
              <a:t>풍요로운 바다</a:t>
            </a:r>
            <a:br/>
            <a:r>
              <a:t>미래성장 매출액</a:t>
            </a:r>
            <a:br/>
            <a:r>
              <a:t>1,400억원</a:t>
            </a:r>
          </a:p>
        </p:txBody>
      </p:sp>
      <p:sp>
        <p:nvSpPr>
          <p:cNvPr id="14" name="TextBox 13"/>
          <p:cNvSpPr txBox="1"/>
          <p:nvPr/>
        </p:nvSpPr>
        <p:spPr>
          <a:xfrm>
            <a:off x="457200" y="4709160"/>
            <a:ext cx="4023360" cy="228600"/>
          </a:xfrm>
          <a:prstGeom prst="rect">
            <a:avLst/>
          </a:prstGeom>
          <a:noFill/>
        </p:spPr>
        <p:txBody>
          <a:bodyPr wrap="square">
            <a:spAutoFit/>
          </a:bodyPr>
          <a:lstStyle/>
          <a:p>
            <a:pPr algn="l">
              <a:defRPr sz="1000" b="0">
                <a:latin typeface="Malgun Gothic"/>
              </a:defRPr>
            </a:pPr>
            <a:r>
              <a:t>공감의 바다</a:t>
            </a:r>
            <a:br/>
            <a:r>
              <a:t>양질의 일자리 창출</a:t>
            </a:r>
            <a:br/>
            <a:r>
              <a:t>연간 3,200명</a:t>
            </a:r>
          </a:p>
        </p:txBody>
      </p:sp>
      <p:sp>
        <p:nvSpPr>
          <p:cNvPr id="15" name="TextBox 14"/>
          <p:cNvSpPr txBox="1"/>
          <p:nvPr/>
        </p:nvSpPr>
        <p:spPr>
          <a:xfrm>
            <a:off x="457200" y="5029200"/>
            <a:ext cx="4023360" cy="228600"/>
          </a:xfrm>
          <a:prstGeom prst="rect">
            <a:avLst/>
          </a:prstGeom>
          <a:noFill/>
        </p:spPr>
        <p:txBody>
          <a:bodyPr wrap="square">
            <a:spAutoFit/>
          </a:bodyPr>
          <a:lstStyle/>
          <a:p>
            <a:pPr algn="l">
              <a:defRPr sz="1000" b="0">
                <a:latin typeface="Malgun Gothic"/>
              </a:defRPr>
            </a:pPr>
            <a:r>
              <a:t>건강한 해양환경</a:t>
            </a:r>
            <a:br/>
            <a:r>
              <a:t>조성을 통한</a:t>
            </a:r>
            <a:br/>
            <a:r>
              <a:t>생태복지 실현</a:t>
            </a:r>
          </a:p>
        </p:txBody>
      </p:sp>
      <p:sp>
        <p:nvSpPr>
          <p:cNvPr id="16" name="TextBox 15"/>
          <p:cNvSpPr txBox="1"/>
          <p:nvPr/>
        </p:nvSpPr>
        <p:spPr>
          <a:xfrm>
            <a:off x="457200" y="5349240"/>
            <a:ext cx="4023360" cy="228600"/>
          </a:xfrm>
          <a:prstGeom prst="rect">
            <a:avLst/>
          </a:prstGeom>
          <a:noFill/>
        </p:spPr>
        <p:txBody>
          <a:bodyPr wrap="square">
            <a:spAutoFit/>
          </a:bodyPr>
          <a:lstStyle/>
          <a:p>
            <a:pPr algn="l">
              <a:defRPr sz="1000" b="0">
                <a:latin typeface="Malgun Gothic"/>
              </a:defRPr>
            </a:pPr>
            <a:r>
              <a:t>국민 안심</a:t>
            </a:r>
            <a:br/>
            <a:r>
              <a:t>재난·안전대응</a:t>
            </a:r>
            <a:br/>
            <a:r>
              <a:t>체계 공고화</a:t>
            </a:r>
          </a:p>
        </p:txBody>
      </p:sp>
      <p:sp>
        <p:nvSpPr>
          <p:cNvPr id="17" name="TextBox 16"/>
          <p:cNvSpPr txBox="1"/>
          <p:nvPr/>
        </p:nvSpPr>
        <p:spPr>
          <a:xfrm>
            <a:off x="457200" y="5669280"/>
            <a:ext cx="4023360" cy="228600"/>
          </a:xfrm>
          <a:prstGeom prst="rect">
            <a:avLst/>
          </a:prstGeom>
          <a:noFill/>
        </p:spPr>
        <p:txBody>
          <a:bodyPr wrap="square">
            <a:spAutoFit/>
          </a:bodyPr>
          <a:lstStyle/>
          <a:p>
            <a:pPr algn="l">
              <a:defRPr sz="1000" b="0">
                <a:latin typeface="Malgun Gothic"/>
              </a:defRPr>
            </a:pPr>
            <a:r>
              <a:t>함께 성장하는</a:t>
            </a:r>
            <a:br/>
            <a:r>
              <a:t>지속가능 경영</a:t>
            </a:r>
          </a:p>
        </p:txBody>
      </p:sp>
      <p:sp>
        <p:nvSpPr>
          <p:cNvPr id="18" name="TextBox 17"/>
          <p:cNvSpPr txBox="1"/>
          <p:nvPr/>
        </p:nvSpPr>
        <p:spPr>
          <a:xfrm>
            <a:off x="457200" y="5989320"/>
            <a:ext cx="4023360" cy="228600"/>
          </a:xfrm>
          <a:prstGeom prst="rect">
            <a:avLst/>
          </a:prstGeom>
          <a:noFill/>
        </p:spPr>
        <p:txBody>
          <a:bodyPr wrap="square">
            <a:spAutoFit/>
          </a:bodyPr>
          <a:lstStyle/>
          <a:p>
            <a:pPr algn="l">
              <a:defRPr sz="1000" b="0">
                <a:latin typeface="Malgun Gothic"/>
              </a:defRPr>
            </a:pPr>
            <a:r>
              <a:t>경영혁신을 통한</a:t>
            </a:r>
            <a:br/>
            <a:r>
              <a:t>사회적가치 실현</a:t>
            </a:r>
          </a:p>
        </p:txBody>
      </p:sp>
      <p:sp>
        <p:nvSpPr>
          <p:cNvPr id="19" name="TextBox 18"/>
          <p:cNvSpPr txBox="1"/>
          <p:nvPr/>
        </p:nvSpPr>
        <p:spPr>
          <a:xfrm>
            <a:off x="457200" y="6309360"/>
            <a:ext cx="4023360" cy="228600"/>
          </a:xfrm>
          <a:prstGeom prst="rect">
            <a:avLst/>
          </a:prstGeom>
          <a:noFill/>
        </p:spPr>
        <p:txBody>
          <a:bodyPr wrap="square">
            <a:spAutoFit/>
          </a:bodyPr>
          <a:lstStyle/>
          <a:p>
            <a:pPr algn="l">
              <a:defRPr sz="1000" b="0">
                <a:latin typeface="Malgun Gothic"/>
              </a:defRPr>
            </a:pPr>
            <a:r>
              <a:t>해양생태계 통합</a:t>
            </a:r>
            <a:br/>
            <a:r>
              <a:t>Solution 제공</a:t>
            </a:r>
          </a:p>
        </p:txBody>
      </p:sp>
      <p:sp>
        <p:nvSpPr>
          <p:cNvPr id="20" name="TextBox 19"/>
          <p:cNvSpPr txBox="1"/>
          <p:nvPr/>
        </p:nvSpPr>
        <p:spPr>
          <a:xfrm>
            <a:off x="457200" y="6629400"/>
            <a:ext cx="4023360" cy="228600"/>
          </a:xfrm>
          <a:prstGeom prst="rect">
            <a:avLst/>
          </a:prstGeom>
          <a:noFill/>
        </p:spPr>
        <p:txBody>
          <a:bodyPr wrap="square">
            <a:spAutoFit/>
          </a:bodyPr>
          <a:lstStyle/>
          <a:p>
            <a:pPr algn="l">
              <a:defRPr sz="1000" b="0">
                <a:latin typeface="Malgun Gothic"/>
              </a:defRPr>
            </a:pPr>
            <a:r>
              <a:t>SMART 해양사고</a:t>
            </a:r>
            <a:br/>
            <a:r>
              <a:t>대응역량 강화</a:t>
            </a:r>
          </a:p>
        </p:txBody>
      </p:sp>
      <p:sp>
        <p:nvSpPr>
          <p:cNvPr id="21" name="TextBox 20"/>
          <p:cNvSpPr txBox="1"/>
          <p:nvPr/>
        </p:nvSpPr>
        <p:spPr>
          <a:xfrm>
            <a:off x="457200" y="6949440"/>
            <a:ext cx="4023360" cy="228600"/>
          </a:xfrm>
          <a:prstGeom prst="rect">
            <a:avLst/>
          </a:prstGeom>
          <a:noFill/>
        </p:spPr>
        <p:txBody>
          <a:bodyPr wrap="square">
            <a:spAutoFit/>
          </a:bodyPr>
          <a:lstStyle/>
          <a:p>
            <a:pPr algn="l">
              <a:defRPr sz="1000" b="0">
                <a:latin typeface="Malgun Gothic"/>
              </a:defRPr>
            </a:pPr>
            <a:r>
              <a:t>미래성장사업</a:t>
            </a:r>
            <a:br/>
            <a:r>
              <a:t>성과창출</a:t>
            </a:r>
          </a:p>
        </p:txBody>
      </p:sp>
      <p:sp>
        <p:nvSpPr>
          <p:cNvPr id="22" name="TextBox 21"/>
          <p:cNvSpPr txBox="1"/>
          <p:nvPr/>
        </p:nvSpPr>
        <p:spPr>
          <a:xfrm>
            <a:off x="457200" y="7269480"/>
            <a:ext cx="4023360" cy="228600"/>
          </a:xfrm>
          <a:prstGeom prst="rect">
            <a:avLst/>
          </a:prstGeom>
          <a:noFill/>
        </p:spPr>
        <p:txBody>
          <a:bodyPr wrap="square">
            <a:spAutoFit/>
          </a:bodyPr>
          <a:lstStyle/>
          <a:p>
            <a:pPr algn="l">
              <a:defRPr sz="1000" b="0">
                <a:latin typeface="Malgun Gothic"/>
              </a:defRPr>
            </a:pPr>
            <a:r>
              <a:t>국민체감</a:t>
            </a:r>
            <a:br/>
            <a:r>
              <a:t>사회적 가치 실현</a:t>
            </a:r>
          </a:p>
        </p:txBody>
      </p:sp>
      <p:sp>
        <p:nvSpPr>
          <p:cNvPr id="23" name="TextBox 22"/>
          <p:cNvSpPr txBox="1"/>
          <p:nvPr/>
        </p:nvSpPr>
        <p:spPr>
          <a:xfrm>
            <a:off x="457200" y="7589520"/>
            <a:ext cx="4023360" cy="228600"/>
          </a:xfrm>
          <a:prstGeom prst="rect">
            <a:avLst/>
          </a:prstGeom>
          <a:noFill/>
        </p:spPr>
        <p:txBody>
          <a:bodyPr wrap="square">
            <a:spAutoFit/>
          </a:bodyPr>
          <a:lstStyle/>
          <a:p>
            <a:pPr algn="l">
              <a:defRPr sz="1000" b="0">
                <a:latin typeface="Malgun Gothic"/>
              </a:defRPr>
            </a:pPr>
            <a:r>
              <a:t>해양환경 대국민</a:t>
            </a:r>
            <a:br/>
            <a:r>
              <a:t>서비스 확대</a:t>
            </a:r>
          </a:p>
        </p:txBody>
      </p:sp>
      <p:sp>
        <p:nvSpPr>
          <p:cNvPr id="24" name="TextBox 23"/>
          <p:cNvSpPr txBox="1"/>
          <p:nvPr/>
        </p:nvSpPr>
        <p:spPr>
          <a:xfrm>
            <a:off x="457200" y="7909560"/>
            <a:ext cx="4023360" cy="228600"/>
          </a:xfrm>
          <a:prstGeom prst="rect">
            <a:avLst/>
          </a:prstGeom>
          <a:noFill/>
        </p:spPr>
        <p:txBody>
          <a:bodyPr wrap="square">
            <a:spAutoFit/>
          </a:bodyPr>
          <a:lstStyle/>
          <a:p>
            <a:pPr algn="l">
              <a:defRPr sz="1000" b="0">
                <a:latin typeface="Malgun Gothic"/>
              </a:defRPr>
            </a:pPr>
            <a:r>
              <a:t>국가해양오염 통합</a:t>
            </a:r>
            <a:br/>
            <a:r>
              <a:t>Go-Work</a:t>
            </a:r>
            <a:br/>
            <a:r>
              <a:t>예방·대응</a:t>
            </a:r>
          </a:p>
        </p:txBody>
      </p:sp>
      <p:sp>
        <p:nvSpPr>
          <p:cNvPr id="25" name="TextBox 24"/>
          <p:cNvSpPr txBox="1"/>
          <p:nvPr/>
        </p:nvSpPr>
        <p:spPr>
          <a:xfrm>
            <a:off x="457200" y="8229600"/>
            <a:ext cx="4023360" cy="228600"/>
          </a:xfrm>
          <a:prstGeom prst="rect">
            <a:avLst/>
          </a:prstGeom>
          <a:noFill/>
        </p:spPr>
        <p:txBody>
          <a:bodyPr wrap="square">
            <a:spAutoFit/>
          </a:bodyPr>
          <a:lstStyle/>
          <a:p>
            <a:pPr algn="l">
              <a:defRPr sz="1000" b="0">
                <a:latin typeface="Malgun Gothic"/>
              </a:defRPr>
            </a:pPr>
            <a:r>
              <a:t>상생협력기반</a:t>
            </a:r>
            <a:br/>
            <a:r>
              <a:t>해양사업</a:t>
            </a:r>
            <a:br/>
            <a:r>
              <a:t>효율성 제고</a:t>
            </a:r>
          </a:p>
        </p:txBody>
      </p:sp>
      <p:sp>
        <p:nvSpPr>
          <p:cNvPr id="26" name="TextBox 25"/>
          <p:cNvSpPr txBox="1"/>
          <p:nvPr/>
        </p:nvSpPr>
        <p:spPr>
          <a:xfrm>
            <a:off x="457200" y="8549640"/>
            <a:ext cx="4023360" cy="228600"/>
          </a:xfrm>
          <a:prstGeom prst="rect">
            <a:avLst/>
          </a:prstGeom>
          <a:noFill/>
        </p:spPr>
        <p:txBody>
          <a:bodyPr wrap="square">
            <a:spAutoFit/>
          </a:bodyPr>
          <a:lstStyle/>
          <a:p>
            <a:pPr algn="l">
              <a:defRPr sz="1000" b="0">
                <a:latin typeface="Malgun Gothic"/>
              </a:defRPr>
            </a:pPr>
            <a:r>
              <a:t>국민소통 경영혁신</a:t>
            </a:r>
          </a:p>
        </p:txBody>
      </p:sp>
      <p:sp>
        <p:nvSpPr>
          <p:cNvPr id="27" name="TextBox 26"/>
          <p:cNvSpPr txBox="1"/>
          <p:nvPr/>
        </p:nvSpPr>
        <p:spPr>
          <a:xfrm>
            <a:off x="457200" y="8869680"/>
            <a:ext cx="4023360" cy="228600"/>
          </a:xfrm>
          <a:prstGeom prst="rect">
            <a:avLst/>
          </a:prstGeom>
          <a:noFill/>
        </p:spPr>
        <p:txBody>
          <a:bodyPr wrap="square">
            <a:spAutoFit/>
          </a:bodyPr>
          <a:lstStyle/>
          <a:p>
            <a:pPr algn="l">
              <a:defRPr sz="1000" b="0">
                <a:latin typeface="Malgun Gothic"/>
              </a:defRPr>
            </a:pPr>
            <a:r>
              <a:t>해양폐기물 정화</a:t>
            </a:r>
            <a:br/>
            <a:r>
              <a:t>및 관리체계</a:t>
            </a:r>
            <a:br/>
            <a:r>
              <a:t>고도화</a:t>
            </a:r>
          </a:p>
        </p:txBody>
      </p:sp>
      <p:sp>
        <p:nvSpPr>
          <p:cNvPr id="28" name="TextBox 27"/>
          <p:cNvSpPr txBox="1"/>
          <p:nvPr/>
        </p:nvSpPr>
        <p:spPr>
          <a:xfrm>
            <a:off x="457200" y="9189720"/>
            <a:ext cx="4023360" cy="228600"/>
          </a:xfrm>
          <a:prstGeom prst="rect">
            <a:avLst/>
          </a:prstGeom>
          <a:noFill/>
        </p:spPr>
        <p:txBody>
          <a:bodyPr wrap="square">
            <a:spAutoFit/>
          </a:bodyPr>
          <a:lstStyle/>
          <a:p>
            <a:pPr algn="l">
              <a:defRPr sz="1000" b="0">
                <a:latin typeface="Malgun Gothic"/>
              </a:defRPr>
            </a:pPr>
            <a:r>
              <a:t>잠재적 해양오염</a:t>
            </a:r>
            <a:br/>
            <a:r>
              <a:t>요인 선제적 대응</a:t>
            </a:r>
          </a:p>
        </p:txBody>
      </p:sp>
      <p:sp>
        <p:nvSpPr>
          <p:cNvPr id="29" name="TextBox 28"/>
          <p:cNvSpPr txBox="1"/>
          <p:nvPr/>
        </p:nvSpPr>
        <p:spPr>
          <a:xfrm>
            <a:off x="457200" y="9509760"/>
            <a:ext cx="4023360" cy="228600"/>
          </a:xfrm>
          <a:prstGeom prst="rect">
            <a:avLst/>
          </a:prstGeom>
          <a:noFill/>
        </p:spPr>
        <p:txBody>
          <a:bodyPr wrap="square">
            <a:spAutoFit/>
          </a:bodyPr>
          <a:lstStyle/>
          <a:p>
            <a:pPr algn="l">
              <a:defRPr sz="1000" b="0">
                <a:latin typeface="Malgun Gothic"/>
              </a:defRPr>
            </a:pPr>
            <a:r>
              <a:t>지속 성장을 위한</a:t>
            </a:r>
            <a:br/>
            <a:r>
              <a:t>재무 건전성 제고</a:t>
            </a:r>
          </a:p>
        </p:txBody>
      </p:sp>
      <p:sp>
        <p:nvSpPr>
          <p:cNvPr id="30" name="TextBox 29"/>
          <p:cNvSpPr txBox="1"/>
          <p:nvPr/>
        </p:nvSpPr>
        <p:spPr>
          <a:xfrm>
            <a:off x="457200" y="9829800"/>
            <a:ext cx="4023360" cy="228600"/>
          </a:xfrm>
          <a:prstGeom prst="rect">
            <a:avLst/>
          </a:prstGeom>
          <a:noFill/>
        </p:spPr>
        <p:txBody>
          <a:bodyPr wrap="square">
            <a:spAutoFit/>
          </a:bodyPr>
          <a:lstStyle/>
          <a:p>
            <a:pPr algn="l">
              <a:defRPr sz="1000" b="0">
                <a:latin typeface="Malgun Gothic"/>
              </a:defRPr>
            </a:pPr>
            <a:r>
              <a:t>사람중심 조직</a:t>
            </a:r>
            <a:br/>
            <a:r>
              <a:t>구현</a:t>
            </a:r>
          </a:p>
        </p:txBody>
      </p:sp>
      <p:sp>
        <p:nvSpPr>
          <p:cNvPr id="31" name="TextBox 30"/>
          <p:cNvSpPr txBox="1"/>
          <p:nvPr/>
        </p:nvSpPr>
        <p:spPr>
          <a:xfrm>
            <a:off x="457200" y="10149840"/>
            <a:ext cx="8229600" cy="274320"/>
          </a:xfrm>
          <a:prstGeom prst="rect">
            <a:avLst/>
          </a:prstGeom>
          <a:noFill/>
        </p:spPr>
        <p:txBody>
          <a:bodyPr wrap="square">
            <a:spAutoFit/>
          </a:bodyPr>
          <a:lstStyle/>
          <a:p>
            <a:pPr algn="l">
              <a:defRPr sz="1200" b="1">
                <a:solidFill>
                  <a:srgbClr val="003366"/>
                </a:solidFill>
                <a:latin typeface="Malgun Gothic"/>
              </a:defRPr>
            </a:pPr>
            <a:r>
              <a:t>진단분석</a:t>
            </a:r>
          </a:p>
        </p:txBody>
      </p:sp>
      <p:sp>
        <p:nvSpPr>
          <p:cNvPr id="32" name="TextBox 31"/>
          <p:cNvSpPr txBox="1"/>
          <p:nvPr/>
        </p:nvSpPr>
        <p:spPr>
          <a:xfrm>
            <a:off x="457200" y="10515600"/>
            <a:ext cx="4023360" cy="228600"/>
          </a:xfrm>
          <a:prstGeom prst="rect">
            <a:avLst/>
          </a:prstGeom>
          <a:noFill/>
        </p:spPr>
        <p:txBody>
          <a:bodyPr wrap="square">
            <a:spAutoFit/>
          </a:bodyPr>
          <a:lstStyle/>
          <a:p>
            <a:pPr algn="l">
              <a:defRPr sz="1000" b="0">
                <a:latin typeface="Malgun Gothic"/>
              </a:defRPr>
            </a:pPr>
            <a:r>
              <a:t>경영</a:t>
            </a:r>
            <a:br/>
            <a:r>
              <a:t>목표</a:t>
            </a:r>
          </a:p>
        </p:txBody>
      </p:sp>
      <p:sp>
        <p:nvSpPr>
          <p:cNvPr id="33" name="TextBox 32"/>
          <p:cNvSpPr txBox="1"/>
          <p:nvPr/>
        </p:nvSpPr>
        <p:spPr>
          <a:xfrm>
            <a:off x="457200" y="10835640"/>
            <a:ext cx="4023360" cy="457200"/>
          </a:xfrm>
          <a:prstGeom prst="rect">
            <a:avLst/>
          </a:prstGeom>
          <a:noFill/>
        </p:spPr>
        <p:txBody>
          <a:bodyPr wrap="square">
            <a:spAutoFit/>
          </a:bodyPr>
          <a:lstStyle/>
          <a:p>
            <a:pPr algn="l">
              <a:defRPr sz="1000" b="0">
                <a:latin typeface="Malgun Gothic"/>
              </a:defRPr>
            </a:pPr>
            <a:r>
              <a:t>비전-전략과제를 연계하는 4개 핵심지표를 선정, 목표로 수립하여 간결성 확보</a:t>
            </a:r>
            <a:br/>
            <a:r>
              <a:t>✓ 공단 자체제작 지수로 보편적으로 통용되는 지표가 아니어서 지표에 대한 설명 필요</a:t>
            </a:r>
          </a:p>
        </p:txBody>
      </p:sp>
      <p:sp>
        <p:nvSpPr>
          <p:cNvPr id="34" name="TextBox 33"/>
          <p:cNvSpPr txBox="1"/>
          <p:nvPr/>
        </p:nvSpPr>
        <p:spPr>
          <a:xfrm>
            <a:off x="457200" y="11384280"/>
            <a:ext cx="4023360" cy="228600"/>
          </a:xfrm>
          <a:prstGeom prst="rect">
            <a:avLst/>
          </a:prstGeom>
          <a:noFill/>
        </p:spPr>
        <p:txBody>
          <a:bodyPr wrap="square">
            <a:spAutoFit/>
          </a:bodyPr>
          <a:lstStyle/>
          <a:p>
            <a:pPr algn="l">
              <a:defRPr sz="1000" b="0">
                <a:latin typeface="Malgun Gothic"/>
              </a:defRPr>
            </a:pPr>
            <a:r>
              <a:t>전략</a:t>
            </a:r>
            <a:br/>
            <a:r>
              <a:t>목표</a:t>
            </a:r>
          </a:p>
        </p:txBody>
      </p:sp>
      <p:sp>
        <p:nvSpPr>
          <p:cNvPr id="35" name="TextBox 34"/>
          <p:cNvSpPr txBox="1"/>
          <p:nvPr/>
        </p:nvSpPr>
        <p:spPr>
          <a:xfrm>
            <a:off x="457200" y="11704320"/>
            <a:ext cx="4023360" cy="457200"/>
          </a:xfrm>
          <a:prstGeom prst="rect">
            <a:avLst/>
          </a:prstGeom>
          <a:noFill/>
        </p:spPr>
        <p:txBody>
          <a:bodyPr wrap="square">
            <a:spAutoFit/>
          </a:bodyPr>
          <a:lstStyle/>
          <a:p>
            <a:pPr algn="l">
              <a:defRPr sz="1000" b="0">
                <a:latin typeface="Malgun Gothic"/>
              </a:defRPr>
            </a:pPr>
            <a:r>
              <a:t>재난·안전, 사회적가치 등 정부 관심사안에 따라 구성한 전략목표 선정</a:t>
            </a:r>
            <a:br/>
            <a:r>
              <a:t>✓ 주요사업 2개, 미래성장 1개, 사회적가치 1개로 최근 경영평가 대응 트렌드 반영함</a:t>
            </a:r>
          </a:p>
        </p:txBody>
      </p:sp>
      <p:sp>
        <p:nvSpPr>
          <p:cNvPr id="36" name="TextBox 35"/>
          <p:cNvSpPr txBox="1"/>
          <p:nvPr/>
        </p:nvSpPr>
        <p:spPr>
          <a:xfrm>
            <a:off x="457200" y="12252960"/>
            <a:ext cx="4023360" cy="228600"/>
          </a:xfrm>
          <a:prstGeom prst="rect">
            <a:avLst/>
          </a:prstGeom>
          <a:noFill/>
        </p:spPr>
        <p:txBody>
          <a:bodyPr wrap="square">
            <a:spAutoFit/>
          </a:bodyPr>
          <a:lstStyle/>
          <a:p>
            <a:pPr algn="l">
              <a:defRPr sz="1000" b="0">
                <a:latin typeface="Malgun Gothic"/>
              </a:defRPr>
            </a:pPr>
            <a:r>
              <a:t>전략</a:t>
            </a:r>
            <a:br/>
            <a:r>
              <a:t>과제</a:t>
            </a:r>
          </a:p>
        </p:txBody>
      </p:sp>
      <p:sp>
        <p:nvSpPr>
          <p:cNvPr id="37" name="TextBox 36"/>
          <p:cNvSpPr txBox="1"/>
          <p:nvPr/>
        </p:nvSpPr>
        <p:spPr>
          <a:xfrm>
            <a:off x="457200" y="12573000"/>
            <a:ext cx="4023360" cy="457200"/>
          </a:xfrm>
          <a:prstGeom prst="rect">
            <a:avLst/>
          </a:prstGeom>
          <a:noFill/>
        </p:spPr>
        <p:txBody>
          <a:bodyPr wrap="square">
            <a:spAutoFit/>
          </a:bodyPr>
          <a:lstStyle/>
          <a:p>
            <a:pPr algn="l">
              <a:defRPr sz="1000" b="0">
                <a:latin typeface="Malgun Gothic"/>
              </a:defRPr>
            </a:pPr>
            <a:r>
              <a:t>경영평가 트렌드를 반영한 전략목표에 맞춘 전략과제 구성으로 비전달성 개연성 저하</a:t>
            </a:r>
            <a:br/>
            <a:r>
              <a:t>✓ (해양환경 대표기관으로서) 해양환경 영역에 대한 포괄적 과제수립 여부 확인 필요</a:t>
            </a:r>
          </a:p>
        </p:txBody>
      </p:sp>
      <p:sp>
        <p:nvSpPr>
          <p:cNvPr id="38" name="TextBox 37"/>
          <p:cNvSpPr txBox="1"/>
          <p:nvPr/>
        </p:nvSpPr>
        <p:spPr>
          <a:xfrm>
            <a:off x="457200" y="13121640"/>
            <a:ext cx="4023360" cy="228600"/>
          </a:xfrm>
          <a:prstGeom prst="rect">
            <a:avLst/>
          </a:prstGeom>
          <a:noFill/>
        </p:spPr>
        <p:txBody>
          <a:bodyPr wrap="square">
            <a:spAutoFit/>
          </a:bodyPr>
          <a:lstStyle/>
          <a:p>
            <a:pPr algn="l">
              <a:defRPr sz="1000" b="0">
                <a:latin typeface="Malgun Gothic"/>
              </a:defRPr>
            </a:pPr>
            <a:r>
              <a:t>체계성</a:t>
            </a:r>
          </a:p>
        </p:txBody>
      </p:sp>
      <p:sp>
        <p:nvSpPr>
          <p:cNvPr id="39" name="TextBox 38"/>
          <p:cNvSpPr txBox="1"/>
          <p:nvPr/>
        </p:nvSpPr>
        <p:spPr>
          <a:xfrm>
            <a:off x="457200" y="13441680"/>
            <a:ext cx="4023360" cy="685800"/>
          </a:xfrm>
          <a:prstGeom prst="rect">
            <a:avLst/>
          </a:prstGeom>
          <a:noFill/>
        </p:spPr>
        <p:txBody>
          <a:bodyPr wrap="square">
            <a:spAutoFit/>
          </a:bodyPr>
          <a:lstStyle/>
          <a:p>
            <a:pPr algn="l">
              <a:defRPr sz="1000" b="0">
                <a:latin typeface="Malgun Gothic"/>
              </a:defRPr>
            </a:pPr>
            <a:r>
              <a:t>✓ 전략목표와 전략과제에 공단 발전 방향성과 확장 영역이 충분하게 나타나지 않음</a:t>
            </a:r>
            <a:br/>
            <a:r>
              <a:t>✓ 비전과 전략목표 달성의 시금석으로 전체를 연결하는 경영목표가 보편적·직관적이지 않아 상호 연계를 모호하게 함</a:t>
            </a:r>
          </a:p>
        </p:txBody>
      </p:sp>
      <p:sp>
        <p:nvSpPr>
          <p:cNvPr id="40" name="TextBox 39"/>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 | Page 57</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내부 환경·역량 분석 - 경영목표 변화</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공단은 정부 정책과 경영평가를 반영하여 매년 경영목표를 조정해 왔으며, 현재의 경영목표는 4개로 간소화 하면서</a:t>
            </a:r>
            <a:br/>
            <a:r>
              <a:t>공단 자체적으로 제정한 보편적으로 사용되지 않는 지표를 채용하여 외부 관점에서는 목표의 모호성이 커짐</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경영목표 변화 분석 : 세분화 목표 → 통합 간소화</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2018년 사업계획</a:t>
            </a:r>
          </a:p>
        </p:txBody>
      </p:sp>
      <p:sp>
        <p:nvSpPr>
          <p:cNvPr id="6" name="TextBox 5"/>
          <p:cNvSpPr txBox="1"/>
          <p:nvPr/>
        </p:nvSpPr>
        <p:spPr>
          <a:xfrm>
            <a:off x="457200" y="2148840"/>
            <a:ext cx="8229600" cy="685800"/>
          </a:xfrm>
          <a:prstGeom prst="rect">
            <a:avLst/>
          </a:prstGeom>
          <a:noFill/>
        </p:spPr>
        <p:txBody>
          <a:bodyPr wrap="square">
            <a:spAutoFit/>
          </a:bodyPr>
          <a:lstStyle/>
          <a:p>
            <a:pPr algn="l">
              <a:defRPr sz="1000" b="0">
                <a:latin typeface="Malgun Gothic"/>
              </a:defRPr>
            </a:pPr>
            <a:r>
              <a:t>• 성장일자리 1,100명</a:t>
            </a:r>
            <a:br/>
            <a:r>
              <a:t>• 미래 성장매출액 1,600억원</a:t>
            </a:r>
            <a:br/>
            <a:r>
              <a:t>• 해양오염사고 예방율 40% 이하</a:t>
            </a:r>
            <a:br/>
            <a:r>
              <a:t>• 해양오염사고 방제율 50% 이상</a:t>
            </a:r>
            <a:br/>
            <a:r>
              <a:t>• 고객만족도 우수</a:t>
            </a:r>
            <a:br/>
            <a:r>
              <a:t>• KOBEX AAA</a:t>
            </a:r>
            <a:br/>
            <a:r>
              <a:t>• 비정규직 Zero</a:t>
            </a:r>
          </a:p>
        </p:txBody>
      </p:sp>
      <p:sp>
        <p:nvSpPr>
          <p:cNvPr id="7" name="TextBox 6"/>
          <p:cNvSpPr txBox="1"/>
          <p:nvPr/>
        </p:nvSpPr>
        <p:spPr>
          <a:xfrm>
            <a:off x="457200" y="2926080"/>
            <a:ext cx="8229600" cy="228600"/>
          </a:xfrm>
          <a:prstGeom prst="rect">
            <a:avLst/>
          </a:prstGeom>
          <a:noFill/>
        </p:spPr>
        <p:txBody>
          <a:bodyPr wrap="square">
            <a:spAutoFit/>
          </a:bodyPr>
          <a:lstStyle/>
          <a:p>
            <a:pPr algn="l">
              <a:defRPr sz="1000" b="0">
                <a:latin typeface="Malgun Gothic"/>
              </a:defRPr>
            </a:pPr>
            <a:r>
              <a:t>2019년 사업계획</a:t>
            </a:r>
          </a:p>
        </p:txBody>
      </p:sp>
      <p:sp>
        <p:nvSpPr>
          <p:cNvPr id="8" name="TextBox 7"/>
          <p:cNvSpPr txBox="1"/>
          <p:nvPr/>
        </p:nvSpPr>
        <p:spPr>
          <a:xfrm>
            <a:off x="457200" y="3246120"/>
            <a:ext cx="8229600" cy="685800"/>
          </a:xfrm>
          <a:prstGeom prst="rect">
            <a:avLst/>
          </a:prstGeom>
          <a:noFill/>
        </p:spPr>
        <p:txBody>
          <a:bodyPr wrap="square">
            <a:spAutoFit/>
          </a:bodyPr>
          <a:lstStyle/>
          <a:p>
            <a:pPr algn="l">
              <a:defRPr sz="1000" b="0">
                <a:latin typeface="Malgun Gothic"/>
              </a:defRPr>
            </a:pPr>
            <a:r>
              <a:t>• 해양보호구역 39개소 지정·관리</a:t>
            </a:r>
            <a:br/>
            <a:r>
              <a:t>• 특별관리해역수질 2등급 이상 100%</a:t>
            </a:r>
            <a:br/>
            <a:r>
              <a:t>• 해양오염사고 예방률 65% 이상</a:t>
            </a:r>
            <a:br/>
            <a:r>
              <a:t>• 침몰선박 위해도 조사 100%</a:t>
            </a:r>
            <a:br/>
            <a:r>
              <a:t>• 미래성장 매출액 1,100억 원</a:t>
            </a:r>
            <a:br/>
            <a:r>
              <a:t>• 양질의 일자리창출 연간 3,000명</a:t>
            </a:r>
            <a:br/>
            <a:r>
              <a:t>• 고객만족도 S등급</a:t>
            </a:r>
            <a:br/>
            <a:r>
              <a:t>• 청렴도 평가 1등급</a:t>
            </a:r>
          </a:p>
        </p:txBody>
      </p:sp>
      <p:sp>
        <p:nvSpPr>
          <p:cNvPr id="9" name="TextBox 8"/>
          <p:cNvSpPr txBox="1"/>
          <p:nvPr/>
        </p:nvSpPr>
        <p:spPr>
          <a:xfrm>
            <a:off x="457200" y="4023360"/>
            <a:ext cx="8229600" cy="228600"/>
          </a:xfrm>
          <a:prstGeom prst="rect">
            <a:avLst/>
          </a:prstGeom>
          <a:noFill/>
        </p:spPr>
        <p:txBody>
          <a:bodyPr wrap="square">
            <a:spAutoFit/>
          </a:bodyPr>
          <a:lstStyle/>
          <a:p>
            <a:pPr algn="l">
              <a:defRPr sz="1000" b="0">
                <a:latin typeface="Malgun Gothic"/>
              </a:defRPr>
            </a:pPr>
            <a:r>
              <a:t>2020년 사업계획</a:t>
            </a:r>
          </a:p>
        </p:txBody>
      </p:sp>
      <p:sp>
        <p:nvSpPr>
          <p:cNvPr id="10" name="TextBox 9"/>
          <p:cNvSpPr txBox="1"/>
          <p:nvPr/>
        </p:nvSpPr>
        <p:spPr>
          <a:xfrm>
            <a:off x="457200" y="4343400"/>
            <a:ext cx="8229600" cy="914400"/>
          </a:xfrm>
          <a:prstGeom prst="rect">
            <a:avLst/>
          </a:prstGeom>
          <a:noFill/>
        </p:spPr>
        <p:txBody>
          <a:bodyPr wrap="square">
            <a:spAutoFit/>
          </a:bodyPr>
          <a:lstStyle/>
          <a:p>
            <a:pPr algn="l">
              <a:defRPr sz="1000" b="0">
                <a:latin typeface="Malgun Gothic"/>
              </a:defRPr>
            </a:pPr>
            <a:r>
              <a:t>• 해양보호구역 40개소 지정·관리</a:t>
            </a:r>
            <a:br/>
            <a:r>
              <a:t>• 특별관리해역수질 2등급 이상 100%</a:t>
            </a:r>
            <a:br/>
            <a:r>
              <a:t>• 해양오염사고 예방률 65% 이상</a:t>
            </a:r>
            <a:br/>
            <a:r>
              <a:t>• 침몰선박 위해도 조사 100%</a:t>
            </a:r>
            <a:br/>
            <a:r>
              <a:t>• 미래성장 매출액 1,300억 원</a:t>
            </a:r>
            <a:br/>
            <a:r>
              <a:t>• 차입금의존도 ZERO</a:t>
            </a:r>
            <a:br/>
            <a:r>
              <a:t>• 양질의 일자리창출 연간 3,100명</a:t>
            </a:r>
            <a:br/>
            <a:r>
              <a:t>• 고객만족도 S등급</a:t>
            </a:r>
            <a:br/>
            <a:r>
              <a:t>• 청렴도 평가 1등급</a:t>
            </a:r>
          </a:p>
        </p:txBody>
      </p:sp>
      <p:sp>
        <p:nvSpPr>
          <p:cNvPr id="11" name="TextBox 10"/>
          <p:cNvSpPr txBox="1"/>
          <p:nvPr/>
        </p:nvSpPr>
        <p:spPr>
          <a:xfrm>
            <a:off x="457200" y="5349240"/>
            <a:ext cx="8229600" cy="228600"/>
          </a:xfrm>
          <a:prstGeom prst="rect">
            <a:avLst/>
          </a:prstGeom>
          <a:noFill/>
        </p:spPr>
        <p:txBody>
          <a:bodyPr wrap="square">
            <a:spAutoFit/>
          </a:bodyPr>
          <a:lstStyle/>
          <a:p>
            <a:pPr algn="l">
              <a:defRPr sz="1000" b="0">
                <a:latin typeface="Malgun Gothic"/>
              </a:defRPr>
            </a:pPr>
            <a:r>
              <a:t>2021년 사업계획</a:t>
            </a:r>
          </a:p>
        </p:txBody>
      </p:sp>
      <p:sp>
        <p:nvSpPr>
          <p:cNvPr id="12" name="TextBox 11"/>
          <p:cNvSpPr txBox="1"/>
          <p:nvPr/>
        </p:nvSpPr>
        <p:spPr>
          <a:xfrm>
            <a:off x="457200" y="5669280"/>
            <a:ext cx="8229600" cy="457200"/>
          </a:xfrm>
          <a:prstGeom prst="rect">
            <a:avLst/>
          </a:prstGeom>
          <a:noFill/>
        </p:spPr>
        <p:txBody>
          <a:bodyPr wrap="square">
            <a:spAutoFit/>
          </a:bodyPr>
          <a:lstStyle/>
          <a:p>
            <a:pPr algn="l">
              <a:defRPr sz="1000" b="0">
                <a:latin typeface="Malgun Gothic"/>
              </a:defRPr>
            </a:pPr>
            <a:r>
              <a:t>• 해양생태계 보전지수 90 달성</a:t>
            </a:r>
            <a:br/>
            <a:r>
              <a:t>• 해양오염사고 방제율 50% 이상</a:t>
            </a:r>
            <a:br/>
            <a:r>
              <a:t>• 미래성장 매출액 1,400억 원</a:t>
            </a:r>
            <a:br/>
            <a:r>
              <a:t>• 양질의 일자리창출 연간 3,200명</a:t>
            </a:r>
          </a:p>
        </p:txBody>
      </p:sp>
      <p:sp>
        <p:nvSpPr>
          <p:cNvPr id="13" name="TextBox 12"/>
          <p:cNvSpPr txBox="1"/>
          <p:nvPr/>
        </p:nvSpPr>
        <p:spPr>
          <a:xfrm>
            <a:off x="457200" y="6217920"/>
            <a:ext cx="8229600" cy="228600"/>
          </a:xfrm>
          <a:prstGeom prst="rect">
            <a:avLst/>
          </a:prstGeom>
          <a:noFill/>
        </p:spPr>
        <p:txBody>
          <a:bodyPr wrap="square">
            <a:spAutoFit/>
          </a:bodyPr>
          <a:lstStyle/>
          <a:p>
            <a:pPr algn="l">
              <a:defRPr sz="1000" b="0">
                <a:latin typeface="Malgun Gothic"/>
              </a:defRPr>
            </a:pPr>
            <a:r>
              <a:t>연도별</a:t>
            </a:r>
            <a:br/>
            <a:r>
              <a:t>경영목표</a:t>
            </a:r>
            <a:br/>
            <a:r>
              <a:t>변동</a:t>
            </a:r>
          </a:p>
        </p:txBody>
      </p:sp>
      <p:sp>
        <p:nvSpPr>
          <p:cNvPr id="14" name="TextBox 13"/>
          <p:cNvSpPr txBox="1"/>
          <p:nvPr/>
        </p:nvSpPr>
        <p:spPr>
          <a:xfrm>
            <a:off x="457200" y="6537960"/>
            <a:ext cx="8229600" cy="457200"/>
          </a:xfrm>
          <a:prstGeom prst="rect">
            <a:avLst/>
          </a:prstGeom>
          <a:noFill/>
        </p:spPr>
        <p:txBody>
          <a:bodyPr wrap="square">
            <a:spAutoFit/>
          </a:bodyPr>
          <a:lstStyle/>
          <a:p>
            <a:pPr algn="l">
              <a:defRPr sz="1000" b="0">
                <a:latin typeface="Malgun Gothic"/>
              </a:defRPr>
            </a:pPr>
            <a:r>
              <a:t>• 정부의 공공기관 관리 정책</a:t>
            </a:r>
            <a:br/>
            <a:r>
              <a:t>및 경영평가 변경에 따른</a:t>
            </a:r>
            <a:br/>
            <a:r>
              <a:t>경영목표 개편</a:t>
            </a:r>
            <a:br/>
            <a:r>
              <a:t>→ 일자리창출 목표 조정 등</a:t>
            </a:r>
          </a:p>
        </p:txBody>
      </p:sp>
      <p:sp>
        <p:nvSpPr>
          <p:cNvPr id="15" name="TextBox 14"/>
          <p:cNvSpPr txBox="1"/>
          <p:nvPr/>
        </p:nvSpPr>
        <p:spPr>
          <a:xfrm>
            <a:off x="457200" y="7086600"/>
            <a:ext cx="8229600" cy="457200"/>
          </a:xfrm>
          <a:prstGeom prst="rect">
            <a:avLst/>
          </a:prstGeom>
          <a:noFill/>
        </p:spPr>
        <p:txBody>
          <a:bodyPr wrap="square">
            <a:spAutoFit/>
          </a:bodyPr>
          <a:lstStyle/>
          <a:p>
            <a:pPr algn="l">
              <a:defRPr sz="1000" b="0">
                <a:latin typeface="Malgun Gothic"/>
              </a:defRPr>
            </a:pPr>
            <a:r>
              <a:t>• 기존 경영목표의 점증 조정</a:t>
            </a:r>
            <a:br/>
            <a:r>
              <a:t>및 성과창출 가능 재무목표</a:t>
            </a:r>
            <a:br/>
            <a:r>
              <a:t>추가 구성</a:t>
            </a:r>
            <a:br/>
            <a:r>
              <a:t>→ 기존 목표의 일부 조정</a:t>
            </a:r>
          </a:p>
        </p:txBody>
      </p:sp>
      <p:sp>
        <p:nvSpPr>
          <p:cNvPr id="16" name="TextBox 15"/>
          <p:cNvSpPr txBox="1"/>
          <p:nvPr/>
        </p:nvSpPr>
        <p:spPr>
          <a:xfrm>
            <a:off x="457200" y="7635240"/>
            <a:ext cx="8229600" cy="228600"/>
          </a:xfrm>
          <a:prstGeom prst="rect">
            <a:avLst/>
          </a:prstGeom>
          <a:noFill/>
        </p:spPr>
        <p:txBody>
          <a:bodyPr wrap="square">
            <a:spAutoFit/>
          </a:bodyPr>
          <a:lstStyle/>
          <a:p>
            <a:pPr algn="l">
              <a:defRPr sz="1000" b="0">
                <a:latin typeface="Malgun Gothic"/>
              </a:defRPr>
            </a:pPr>
            <a:r>
              <a:t>• 핵심지표 4개로 축소 개편</a:t>
            </a:r>
            <a:br/>
            <a:r>
              <a:t>→ “해양생태계 보전지수”를</a:t>
            </a:r>
            <a:br/>
            <a:r>
              <a:t>새로운 제정·사용</a:t>
            </a:r>
          </a:p>
        </p:txBody>
      </p:sp>
      <p:sp>
        <p:nvSpPr>
          <p:cNvPr id="17" name="TextBox 16"/>
          <p:cNvSpPr txBox="1"/>
          <p:nvPr/>
        </p:nvSpPr>
        <p:spPr>
          <a:xfrm>
            <a:off x="457200" y="7955280"/>
            <a:ext cx="8229600" cy="228600"/>
          </a:xfrm>
          <a:prstGeom prst="rect">
            <a:avLst/>
          </a:prstGeom>
          <a:noFill/>
        </p:spPr>
        <p:txBody>
          <a:bodyPr wrap="square">
            <a:spAutoFit/>
          </a:bodyPr>
          <a:lstStyle/>
          <a:p>
            <a:pPr algn="l">
              <a:defRPr sz="1000" b="0">
                <a:latin typeface="Malgun Gothic"/>
              </a:defRPr>
            </a:pPr>
            <a:r>
              <a:t>진단분석</a:t>
            </a:r>
          </a:p>
        </p:txBody>
      </p:sp>
      <p:sp>
        <p:nvSpPr>
          <p:cNvPr id="18" name="TextBox 17"/>
          <p:cNvSpPr txBox="1"/>
          <p:nvPr/>
        </p:nvSpPr>
        <p:spPr>
          <a:xfrm>
            <a:off x="457200" y="8275320"/>
            <a:ext cx="8229600" cy="457200"/>
          </a:xfrm>
          <a:prstGeom prst="rect">
            <a:avLst/>
          </a:prstGeom>
          <a:noFill/>
        </p:spPr>
        <p:txBody>
          <a:bodyPr wrap="square">
            <a:spAutoFit/>
          </a:bodyPr>
          <a:lstStyle/>
          <a:p>
            <a:pPr algn="l">
              <a:defRPr sz="1000" b="0">
                <a:latin typeface="Malgun Gothic"/>
              </a:defRPr>
            </a:pPr>
            <a:r>
              <a:t>✓ '19년 경영목표는 정부 정책과</a:t>
            </a:r>
            <a:br/>
            <a:r>
              <a:t>공공기관 경영평가를 반영하여 개편</a:t>
            </a:r>
            <a:br/>
            <a:r>
              <a:t>✓ '20년 경영목표는 '19년 경영목표를</a:t>
            </a:r>
            <a:br/>
            <a:r>
              <a:t>계승하고 있으며, 기존 목표를 점증</a:t>
            </a:r>
            <a:br/>
            <a:r>
              <a:t>조정하는 수준으로 변경함</a:t>
            </a:r>
          </a:p>
        </p:txBody>
      </p:sp>
      <p:sp>
        <p:nvSpPr>
          <p:cNvPr id="19" name="TextBox 18"/>
          <p:cNvSpPr txBox="1"/>
          <p:nvPr/>
        </p:nvSpPr>
        <p:spPr>
          <a:xfrm>
            <a:off x="457200" y="8823960"/>
            <a:ext cx="8229600" cy="685800"/>
          </a:xfrm>
          <a:prstGeom prst="rect">
            <a:avLst/>
          </a:prstGeom>
          <a:noFill/>
        </p:spPr>
        <p:txBody>
          <a:bodyPr wrap="square">
            <a:spAutoFit/>
          </a:bodyPr>
          <a:lstStyle/>
          <a:p>
            <a:pPr algn="l">
              <a:defRPr sz="1000" b="0">
                <a:latin typeface="Malgun Gothic"/>
              </a:defRPr>
            </a:pPr>
            <a:r>
              <a:t>✓ '21년(현재) 경영목표는 다소 많았던</a:t>
            </a:r>
            <a:br/>
            <a:r>
              <a:t>전년도 경영목표를 자체 지수 제정을</a:t>
            </a:r>
            <a:br/>
            <a:r>
              <a:t>통해 4개의 경영목표로 간소화함</a:t>
            </a:r>
            <a:br/>
            <a:r>
              <a:t>✓ “해양생태계 보전지수”는 직접 제정한</a:t>
            </a:r>
            <a:br/>
            <a:r>
              <a:t>지표로, 보편적으로 사용되지 않음</a:t>
            </a:r>
          </a:p>
        </p:txBody>
      </p:sp>
      <p:sp>
        <p:nvSpPr>
          <p:cNvPr id="20" name="TextBox 19"/>
          <p:cNvSpPr txBox="1"/>
          <p:nvPr/>
        </p:nvSpPr>
        <p:spPr>
          <a:xfrm>
            <a:off x="457200" y="9601200"/>
            <a:ext cx="8229600" cy="457200"/>
          </a:xfrm>
          <a:prstGeom prst="rect">
            <a:avLst/>
          </a:prstGeom>
          <a:noFill/>
        </p:spPr>
        <p:txBody>
          <a:bodyPr wrap="square">
            <a:spAutoFit/>
          </a:bodyPr>
          <a:lstStyle/>
          <a:p>
            <a:pPr algn="l">
              <a:defRPr sz="1000" b="0">
                <a:latin typeface="Malgun Gothic"/>
              </a:defRPr>
            </a:pPr>
            <a:r>
              <a:t>✓ 경영목표의 선택과 운영에서 정부</a:t>
            </a:r>
            <a:br/>
            <a:r>
              <a:t>정책, 경영평가의 영향이 크고,</a:t>
            </a:r>
            <a:br/>
            <a:r>
              <a:t>✓ 명료성을 위한 간소화 과정에서</a:t>
            </a:r>
            <a:br/>
            <a:r>
              <a:t>보편적이지 않은 지표를 활용하여</a:t>
            </a:r>
            <a:br/>
            <a:r>
              <a:t>외부 관점에서는 모호성이 커졌음</a:t>
            </a:r>
          </a:p>
        </p:txBody>
      </p:sp>
      <p:sp>
        <p:nvSpPr>
          <p:cNvPr id="21" name="TextBox 20"/>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58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내부 환경·역량 분석 - 조직구조 관련 현안 이슈</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공단 조직구조와 관련하여, 해양보전본부의 기능·사업, 조사연구원 편제, 미래성장팀 확대 편성, 국민참여 플랫폼 통합운영, 해양사업본부 기능·사업, 지사·사업소 기능확대 검토 등 현안 이슈사항을 가지고 있음</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조직구조 관련 현안 이슈사항 정리</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감사실</a:t>
            </a:r>
          </a:p>
        </p:txBody>
      </p:sp>
      <p:sp>
        <p:nvSpPr>
          <p:cNvPr id="6" name="TextBox 5"/>
          <p:cNvSpPr txBox="1"/>
          <p:nvPr/>
        </p:nvSpPr>
        <p:spPr>
          <a:xfrm>
            <a:off x="457200" y="2148840"/>
            <a:ext cx="8229600" cy="228600"/>
          </a:xfrm>
          <a:prstGeom prst="rect">
            <a:avLst/>
          </a:prstGeom>
          <a:noFill/>
        </p:spPr>
        <p:txBody>
          <a:bodyPr wrap="square">
            <a:spAutoFit/>
          </a:bodyPr>
          <a:lstStyle/>
          <a:p>
            <a:pPr algn="l">
              <a:defRPr sz="1000" b="0">
                <a:latin typeface="Malgun Gothic"/>
              </a:defRPr>
            </a:pPr>
            <a:r>
              <a:t>감사팀</a:t>
            </a:r>
          </a:p>
        </p:txBody>
      </p:sp>
      <p:sp>
        <p:nvSpPr>
          <p:cNvPr id="7" name="TextBox 6"/>
          <p:cNvSpPr txBox="1"/>
          <p:nvPr/>
        </p:nvSpPr>
        <p:spPr>
          <a:xfrm>
            <a:off x="457200" y="2468880"/>
            <a:ext cx="8229600" cy="228600"/>
          </a:xfrm>
          <a:prstGeom prst="rect">
            <a:avLst/>
          </a:prstGeom>
          <a:noFill/>
        </p:spPr>
        <p:txBody>
          <a:bodyPr wrap="square">
            <a:spAutoFit/>
          </a:bodyPr>
          <a:lstStyle/>
          <a:p>
            <a:pPr algn="l">
              <a:defRPr sz="1000" b="0">
                <a:latin typeface="Malgun Gothic"/>
              </a:defRPr>
            </a:pPr>
            <a:r>
              <a:t>미래성장팀</a:t>
            </a:r>
            <a:br/>
            <a:r>
              <a:t>해양치유TF</a:t>
            </a:r>
          </a:p>
        </p:txBody>
      </p:sp>
      <p:sp>
        <p:nvSpPr>
          <p:cNvPr id="8" name="TextBox 7"/>
          <p:cNvSpPr txBox="1"/>
          <p:nvPr/>
        </p:nvSpPr>
        <p:spPr>
          <a:xfrm>
            <a:off x="457200" y="2788920"/>
            <a:ext cx="8229600" cy="228600"/>
          </a:xfrm>
          <a:prstGeom prst="rect">
            <a:avLst/>
          </a:prstGeom>
          <a:noFill/>
        </p:spPr>
        <p:txBody>
          <a:bodyPr wrap="square">
            <a:spAutoFit/>
          </a:bodyPr>
          <a:lstStyle/>
          <a:p>
            <a:pPr algn="l">
              <a:defRPr sz="1000" b="0">
                <a:latin typeface="Malgun Gothic"/>
              </a:defRPr>
            </a:pPr>
            <a:r>
              <a:t>홍보팀</a:t>
            </a:r>
          </a:p>
        </p:txBody>
      </p:sp>
      <p:sp>
        <p:nvSpPr>
          <p:cNvPr id="9" name="TextBox 8"/>
          <p:cNvSpPr txBox="1"/>
          <p:nvPr/>
        </p:nvSpPr>
        <p:spPr>
          <a:xfrm>
            <a:off x="457200" y="3108960"/>
            <a:ext cx="8229600" cy="228600"/>
          </a:xfrm>
          <a:prstGeom prst="rect">
            <a:avLst/>
          </a:prstGeom>
          <a:noFill/>
        </p:spPr>
        <p:txBody>
          <a:bodyPr wrap="square">
            <a:spAutoFit/>
          </a:bodyPr>
          <a:lstStyle/>
          <a:p>
            <a:pPr algn="l">
              <a:defRPr sz="1000" b="0">
                <a:latin typeface="Malgun Gothic"/>
              </a:defRPr>
            </a:pPr>
            <a:r>
              <a:t>경영관리본부</a:t>
            </a:r>
          </a:p>
        </p:txBody>
      </p:sp>
      <p:sp>
        <p:nvSpPr>
          <p:cNvPr id="10" name="TextBox 9"/>
          <p:cNvSpPr txBox="1"/>
          <p:nvPr/>
        </p:nvSpPr>
        <p:spPr>
          <a:xfrm>
            <a:off x="457200" y="3429000"/>
            <a:ext cx="8229600" cy="228600"/>
          </a:xfrm>
          <a:prstGeom prst="rect">
            <a:avLst/>
          </a:prstGeom>
          <a:noFill/>
        </p:spPr>
        <p:txBody>
          <a:bodyPr wrap="square">
            <a:spAutoFit/>
          </a:bodyPr>
          <a:lstStyle/>
          <a:p>
            <a:pPr algn="l">
              <a:defRPr sz="1000" b="0">
                <a:latin typeface="Malgun Gothic"/>
              </a:defRPr>
            </a:pPr>
            <a:r>
              <a:t>운영지원팀</a:t>
            </a:r>
            <a:br/>
            <a:r>
              <a:t>안전관리팀</a:t>
            </a:r>
            <a:br/>
            <a:r>
              <a:t>인적자원팀</a:t>
            </a:r>
            <a:br/>
            <a:r>
              <a:t>노무복지팀</a:t>
            </a:r>
            <a:br/>
            <a:r>
              <a:t>재무회계팀</a:t>
            </a:r>
            <a:br/>
            <a:r>
              <a:t>정보보안팀</a:t>
            </a:r>
          </a:p>
        </p:txBody>
      </p:sp>
      <p:sp>
        <p:nvSpPr>
          <p:cNvPr id="11" name="TextBox 10"/>
          <p:cNvSpPr txBox="1"/>
          <p:nvPr/>
        </p:nvSpPr>
        <p:spPr>
          <a:xfrm>
            <a:off x="457200" y="3749040"/>
            <a:ext cx="8229600" cy="228600"/>
          </a:xfrm>
          <a:prstGeom prst="rect">
            <a:avLst/>
          </a:prstGeom>
          <a:noFill/>
        </p:spPr>
        <p:txBody>
          <a:bodyPr wrap="square">
            <a:spAutoFit/>
          </a:bodyPr>
          <a:lstStyle/>
          <a:p>
            <a:pPr algn="l">
              <a:defRPr sz="1000" b="0">
                <a:latin typeface="Malgun Gothic"/>
              </a:defRPr>
            </a:pPr>
            <a:r>
              <a:t>해양환경조사연구원</a:t>
            </a:r>
          </a:p>
        </p:txBody>
      </p:sp>
      <p:sp>
        <p:nvSpPr>
          <p:cNvPr id="12" name="TextBox 11"/>
          <p:cNvSpPr txBox="1"/>
          <p:nvPr/>
        </p:nvSpPr>
        <p:spPr>
          <a:xfrm>
            <a:off x="457200" y="4069080"/>
            <a:ext cx="8229600" cy="228600"/>
          </a:xfrm>
          <a:prstGeom prst="rect">
            <a:avLst/>
          </a:prstGeom>
          <a:noFill/>
        </p:spPr>
        <p:txBody>
          <a:bodyPr wrap="square">
            <a:spAutoFit/>
          </a:bodyPr>
          <a:lstStyle/>
          <a:p>
            <a:pPr algn="l">
              <a:defRPr sz="1000" b="0">
                <a:latin typeface="Malgun Gothic"/>
              </a:defRPr>
            </a:pPr>
            <a:r>
              <a:t>해양수질팀</a:t>
            </a:r>
            <a:br/>
            <a:r>
              <a:t>해양생태팀</a:t>
            </a:r>
          </a:p>
        </p:txBody>
      </p:sp>
      <p:sp>
        <p:nvSpPr>
          <p:cNvPr id="13" name="TextBox 12"/>
          <p:cNvSpPr txBox="1"/>
          <p:nvPr/>
        </p:nvSpPr>
        <p:spPr>
          <a:xfrm>
            <a:off x="457200" y="4389120"/>
            <a:ext cx="8229600" cy="228600"/>
          </a:xfrm>
          <a:prstGeom prst="rect">
            <a:avLst/>
          </a:prstGeom>
          <a:noFill/>
        </p:spPr>
        <p:txBody>
          <a:bodyPr wrap="square">
            <a:spAutoFit/>
          </a:bodyPr>
          <a:lstStyle/>
          <a:p>
            <a:pPr algn="l">
              <a:defRPr sz="1000" b="0">
                <a:latin typeface="Malgun Gothic"/>
              </a:defRPr>
            </a:pPr>
            <a:r>
              <a:t>이사장</a:t>
            </a:r>
          </a:p>
        </p:txBody>
      </p:sp>
      <p:sp>
        <p:nvSpPr>
          <p:cNvPr id="14" name="TextBox 13"/>
          <p:cNvSpPr txBox="1"/>
          <p:nvPr/>
        </p:nvSpPr>
        <p:spPr>
          <a:xfrm>
            <a:off x="457200" y="4709160"/>
            <a:ext cx="8229600" cy="228600"/>
          </a:xfrm>
          <a:prstGeom prst="rect">
            <a:avLst/>
          </a:prstGeom>
          <a:noFill/>
        </p:spPr>
        <p:txBody>
          <a:bodyPr wrap="square">
            <a:spAutoFit/>
          </a:bodyPr>
          <a:lstStyle/>
          <a:p>
            <a:pPr algn="l">
              <a:defRPr sz="1000" b="0">
                <a:latin typeface="Malgun Gothic"/>
              </a:defRPr>
            </a:pPr>
            <a:r>
              <a:t>기획조정실</a:t>
            </a:r>
          </a:p>
        </p:txBody>
      </p:sp>
      <p:sp>
        <p:nvSpPr>
          <p:cNvPr id="15" name="TextBox 14"/>
          <p:cNvSpPr txBox="1"/>
          <p:nvPr/>
        </p:nvSpPr>
        <p:spPr>
          <a:xfrm>
            <a:off x="457200" y="5029200"/>
            <a:ext cx="8229600" cy="228600"/>
          </a:xfrm>
          <a:prstGeom prst="rect">
            <a:avLst/>
          </a:prstGeom>
          <a:noFill/>
        </p:spPr>
        <p:txBody>
          <a:bodyPr wrap="square">
            <a:spAutoFit/>
          </a:bodyPr>
          <a:lstStyle/>
          <a:p>
            <a:pPr algn="l">
              <a:defRPr sz="1000" b="0">
                <a:latin typeface="Malgun Gothic"/>
              </a:defRPr>
            </a:pPr>
            <a:r>
              <a:t>기획예산팀</a:t>
            </a:r>
            <a:br/>
            <a:r>
              <a:t>사회가치·혁신팀</a:t>
            </a:r>
            <a:br/>
            <a:r>
              <a:t>경영성과팀</a:t>
            </a:r>
          </a:p>
        </p:txBody>
      </p:sp>
      <p:sp>
        <p:nvSpPr>
          <p:cNvPr id="16" name="TextBox 15"/>
          <p:cNvSpPr txBox="1"/>
          <p:nvPr/>
        </p:nvSpPr>
        <p:spPr>
          <a:xfrm>
            <a:off x="457200" y="5349240"/>
            <a:ext cx="8229600" cy="228600"/>
          </a:xfrm>
          <a:prstGeom prst="rect">
            <a:avLst/>
          </a:prstGeom>
          <a:noFill/>
        </p:spPr>
        <p:txBody>
          <a:bodyPr wrap="square">
            <a:spAutoFit/>
          </a:bodyPr>
          <a:lstStyle/>
          <a:p>
            <a:pPr algn="l">
              <a:defRPr sz="1000" b="0">
                <a:latin typeface="Malgun Gothic"/>
              </a:defRPr>
            </a:pPr>
            <a:r>
              <a:t>해양보전본부</a:t>
            </a:r>
          </a:p>
        </p:txBody>
      </p:sp>
      <p:sp>
        <p:nvSpPr>
          <p:cNvPr id="17" name="TextBox 16"/>
          <p:cNvSpPr txBox="1"/>
          <p:nvPr/>
        </p:nvSpPr>
        <p:spPr>
          <a:xfrm>
            <a:off x="457200" y="5669280"/>
            <a:ext cx="8229600" cy="457200"/>
          </a:xfrm>
          <a:prstGeom prst="rect">
            <a:avLst/>
          </a:prstGeom>
          <a:noFill/>
        </p:spPr>
        <p:txBody>
          <a:bodyPr wrap="square">
            <a:spAutoFit/>
          </a:bodyPr>
          <a:lstStyle/>
          <a:p>
            <a:pPr algn="l">
              <a:defRPr sz="1000" b="0">
                <a:latin typeface="Malgun Gothic"/>
              </a:defRPr>
            </a:pPr>
            <a:r>
              <a:t>해양정화팀</a:t>
            </a:r>
            <a:br/>
            <a:r>
              <a:t>골재단지관리팀</a:t>
            </a:r>
            <a:br/>
            <a:r>
              <a:t>해양보호구역팀</a:t>
            </a:r>
            <a:br/>
            <a:r>
              <a:t>국제협력팀</a:t>
            </a:r>
            <a:br/>
            <a:r>
              <a:t>해양공간계획TF</a:t>
            </a:r>
            <a:br/>
            <a:r>
              <a:t>해양폐기물관리센터</a:t>
            </a:r>
            <a:br/>
            <a:r>
              <a:t>해양쓰레기 대응파트</a:t>
            </a:r>
            <a:br/>
            <a:r>
              <a:t>청항·오염물질 관리파트</a:t>
            </a:r>
            <a:br/>
            <a:r>
              <a:t>민간역량활용F</a:t>
            </a:r>
          </a:p>
        </p:txBody>
      </p:sp>
      <p:sp>
        <p:nvSpPr>
          <p:cNvPr id="18" name="TextBox 17"/>
          <p:cNvSpPr txBox="1"/>
          <p:nvPr/>
        </p:nvSpPr>
        <p:spPr>
          <a:xfrm>
            <a:off x="457200" y="6217920"/>
            <a:ext cx="8229600" cy="228600"/>
          </a:xfrm>
          <a:prstGeom prst="rect">
            <a:avLst/>
          </a:prstGeom>
          <a:noFill/>
        </p:spPr>
        <p:txBody>
          <a:bodyPr wrap="square">
            <a:spAutoFit/>
          </a:bodyPr>
          <a:lstStyle/>
          <a:p>
            <a:pPr algn="l">
              <a:defRPr sz="1000" b="0">
                <a:latin typeface="Malgun Gothic"/>
              </a:defRPr>
            </a:pPr>
            <a:r>
              <a:t>해양방제본부</a:t>
            </a:r>
          </a:p>
        </p:txBody>
      </p:sp>
      <p:sp>
        <p:nvSpPr>
          <p:cNvPr id="19" name="TextBox 18"/>
          <p:cNvSpPr txBox="1"/>
          <p:nvPr/>
        </p:nvSpPr>
        <p:spPr>
          <a:xfrm>
            <a:off x="457200" y="6537960"/>
            <a:ext cx="8229600" cy="228600"/>
          </a:xfrm>
          <a:prstGeom prst="rect">
            <a:avLst/>
          </a:prstGeom>
          <a:noFill/>
        </p:spPr>
        <p:txBody>
          <a:bodyPr wrap="square">
            <a:spAutoFit/>
          </a:bodyPr>
          <a:lstStyle/>
          <a:p>
            <a:pPr algn="l">
              <a:defRPr sz="1000" b="0">
                <a:latin typeface="Malgun Gothic"/>
              </a:defRPr>
            </a:pPr>
            <a:r>
              <a:t>방제기획팀</a:t>
            </a:r>
            <a:br/>
            <a:r>
              <a:t>해양오염예방팀</a:t>
            </a:r>
            <a:br/>
            <a:r>
              <a:t>방제대응팀</a:t>
            </a:r>
            <a:br/>
            <a:r>
              <a:t>방제선건조팀</a:t>
            </a:r>
            <a:br/>
            <a:r>
              <a:t>방제자원팀</a:t>
            </a:r>
          </a:p>
        </p:txBody>
      </p:sp>
      <p:sp>
        <p:nvSpPr>
          <p:cNvPr id="20" name="TextBox 19"/>
          <p:cNvSpPr txBox="1"/>
          <p:nvPr/>
        </p:nvSpPr>
        <p:spPr>
          <a:xfrm>
            <a:off x="457200" y="6858000"/>
            <a:ext cx="8229600" cy="228600"/>
          </a:xfrm>
          <a:prstGeom prst="rect">
            <a:avLst/>
          </a:prstGeom>
          <a:noFill/>
        </p:spPr>
        <p:txBody>
          <a:bodyPr wrap="square">
            <a:spAutoFit/>
          </a:bodyPr>
          <a:lstStyle/>
          <a:p>
            <a:pPr algn="l">
              <a:defRPr sz="1000" b="0">
                <a:latin typeface="Malgun Gothic"/>
              </a:defRPr>
            </a:pPr>
            <a:r>
              <a:t>해양사업본부</a:t>
            </a:r>
          </a:p>
        </p:txBody>
      </p:sp>
      <p:sp>
        <p:nvSpPr>
          <p:cNvPr id="21" name="TextBox 20"/>
          <p:cNvSpPr txBox="1"/>
          <p:nvPr/>
        </p:nvSpPr>
        <p:spPr>
          <a:xfrm>
            <a:off x="457200" y="7178040"/>
            <a:ext cx="8229600" cy="228600"/>
          </a:xfrm>
          <a:prstGeom prst="rect">
            <a:avLst/>
          </a:prstGeom>
          <a:noFill/>
        </p:spPr>
        <p:txBody>
          <a:bodyPr wrap="square">
            <a:spAutoFit/>
          </a:bodyPr>
          <a:lstStyle/>
          <a:p>
            <a:pPr algn="l">
              <a:defRPr sz="1000" b="0">
                <a:latin typeface="Malgun Gothic"/>
              </a:defRPr>
            </a:pPr>
            <a:r>
              <a:t>사업기획팀</a:t>
            </a:r>
            <a:br/>
            <a:r>
              <a:t>예선운영팀</a:t>
            </a:r>
          </a:p>
        </p:txBody>
      </p:sp>
      <p:sp>
        <p:nvSpPr>
          <p:cNvPr id="22" name="TextBox 21"/>
          <p:cNvSpPr txBox="1"/>
          <p:nvPr/>
        </p:nvSpPr>
        <p:spPr>
          <a:xfrm>
            <a:off x="457200" y="7498080"/>
            <a:ext cx="8229600" cy="228600"/>
          </a:xfrm>
          <a:prstGeom prst="rect">
            <a:avLst/>
          </a:prstGeom>
          <a:noFill/>
        </p:spPr>
        <p:txBody>
          <a:bodyPr wrap="square">
            <a:spAutoFit/>
          </a:bodyPr>
          <a:lstStyle/>
          <a:p>
            <a:pPr algn="l">
              <a:defRPr sz="1000" b="0">
                <a:latin typeface="Malgun Gothic"/>
              </a:defRPr>
            </a:pPr>
            <a:r>
              <a:t>해양환경교육원</a:t>
            </a:r>
          </a:p>
        </p:txBody>
      </p:sp>
      <p:sp>
        <p:nvSpPr>
          <p:cNvPr id="23" name="TextBox 22"/>
          <p:cNvSpPr txBox="1"/>
          <p:nvPr/>
        </p:nvSpPr>
        <p:spPr>
          <a:xfrm>
            <a:off x="457200" y="7818120"/>
            <a:ext cx="8229600" cy="228600"/>
          </a:xfrm>
          <a:prstGeom prst="rect">
            <a:avLst/>
          </a:prstGeom>
          <a:noFill/>
        </p:spPr>
        <p:txBody>
          <a:bodyPr wrap="square">
            <a:spAutoFit/>
          </a:bodyPr>
          <a:lstStyle/>
          <a:p>
            <a:pPr algn="l">
              <a:defRPr sz="1000" b="0">
                <a:latin typeface="Malgun Gothic"/>
              </a:defRPr>
            </a:pPr>
            <a:r>
              <a:t>교육운영팀</a:t>
            </a:r>
            <a:br/>
            <a:r>
              <a:t>교육개발팀</a:t>
            </a:r>
          </a:p>
        </p:txBody>
      </p:sp>
      <p:sp>
        <p:nvSpPr>
          <p:cNvPr id="24" name="TextBox 23"/>
          <p:cNvSpPr txBox="1"/>
          <p:nvPr/>
        </p:nvSpPr>
        <p:spPr>
          <a:xfrm>
            <a:off x="457200" y="8138160"/>
            <a:ext cx="8229600" cy="228600"/>
          </a:xfrm>
          <a:prstGeom prst="rect">
            <a:avLst/>
          </a:prstGeom>
          <a:noFill/>
        </p:spPr>
        <p:txBody>
          <a:bodyPr wrap="square">
            <a:spAutoFit/>
          </a:bodyPr>
          <a:lstStyle/>
          <a:p>
            <a:pPr algn="l">
              <a:defRPr sz="1000" b="0">
                <a:latin typeface="Malgun Gothic"/>
              </a:defRPr>
            </a:pPr>
            <a:r>
              <a:t>지사(12개)</a:t>
            </a:r>
          </a:p>
        </p:txBody>
      </p:sp>
      <p:sp>
        <p:nvSpPr>
          <p:cNvPr id="25" name="TextBox 24"/>
          <p:cNvSpPr txBox="1"/>
          <p:nvPr/>
        </p:nvSpPr>
        <p:spPr>
          <a:xfrm>
            <a:off x="457200" y="8458200"/>
            <a:ext cx="8229600" cy="228600"/>
          </a:xfrm>
          <a:prstGeom prst="rect">
            <a:avLst/>
          </a:prstGeom>
          <a:noFill/>
        </p:spPr>
        <p:txBody>
          <a:bodyPr wrap="square">
            <a:spAutoFit/>
          </a:bodyPr>
          <a:lstStyle/>
          <a:p>
            <a:pPr algn="l">
              <a:defRPr sz="1000" b="0">
                <a:latin typeface="Malgun Gothic"/>
              </a:defRPr>
            </a:pPr>
            <a:r>
              <a:t>부산 여수</a:t>
            </a:r>
            <a:br/>
            <a:r>
              <a:t>인천 마산</a:t>
            </a:r>
            <a:br/>
            <a:r>
              <a:t>울산 동해</a:t>
            </a:r>
            <a:br/>
            <a:r>
              <a:t>대산 평택</a:t>
            </a:r>
            <a:br/>
            <a:r>
              <a:t>포항 목포</a:t>
            </a:r>
            <a:br/>
            <a:r>
              <a:t>군산 제주</a:t>
            </a:r>
          </a:p>
        </p:txBody>
      </p:sp>
      <p:sp>
        <p:nvSpPr>
          <p:cNvPr id="26" name="TextBox 25"/>
          <p:cNvSpPr txBox="1"/>
          <p:nvPr/>
        </p:nvSpPr>
        <p:spPr>
          <a:xfrm>
            <a:off x="457200" y="8778240"/>
            <a:ext cx="8229600" cy="228600"/>
          </a:xfrm>
          <a:prstGeom prst="rect">
            <a:avLst/>
          </a:prstGeom>
          <a:noFill/>
        </p:spPr>
        <p:txBody>
          <a:bodyPr wrap="square">
            <a:spAutoFit/>
          </a:bodyPr>
          <a:lstStyle/>
          <a:p>
            <a:pPr algn="l">
              <a:defRPr sz="1000" b="0">
                <a:latin typeface="Malgun Gothic"/>
              </a:defRPr>
            </a:pPr>
            <a:r>
              <a:t>사업소(13개)</a:t>
            </a:r>
          </a:p>
        </p:txBody>
      </p:sp>
      <p:sp>
        <p:nvSpPr>
          <p:cNvPr id="27" name="TextBox 26"/>
          <p:cNvSpPr txBox="1"/>
          <p:nvPr/>
        </p:nvSpPr>
        <p:spPr>
          <a:xfrm>
            <a:off x="457200" y="9098280"/>
            <a:ext cx="8229600" cy="228600"/>
          </a:xfrm>
          <a:prstGeom prst="rect">
            <a:avLst/>
          </a:prstGeom>
          <a:noFill/>
        </p:spPr>
        <p:txBody>
          <a:bodyPr wrap="square">
            <a:spAutoFit/>
          </a:bodyPr>
          <a:lstStyle/>
          <a:p>
            <a:pPr algn="l">
              <a:defRPr sz="1000" b="0">
                <a:latin typeface="Malgun Gothic"/>
              </a:defRPr>
            </a:pPr>
            <a:r>
              <a:t>광양 군산</a:t>
            </a:r>
            <a:br/>
            <a:r>
              <a:t>마산 평택</a:t>
            </a:r>
            <a:br/>
            <a:r>
              <a:t>통영 목포</a:t>
            </a:r>
            <a:br/>
            <a:r>
              <a:t>진해 완도</a:t>
            </a:r>
            <a:br/>
            <a:r>
              <a:t>사천 제주</a:t>
            </a:r>
            <a:br/>
            <a:r>
              <a:t>옥계 서귀포</a:t>
            </a:r>
            <a:br/>
            <a:r>
              <a:t>속초</a:t>
            </a:r>
          </a:p>
        </p:txBody>
      </p:sp>
      <p:sp>
        <p:nvSpPr>
          <p:cNvPr id="28" name="TextBox 27"/>
          <p:cNvSpPr txBox="1"/>
          <p:nvPr/>
        </p:nvSpPr>
        <p:spPr>
          <a:xfrm>
            <a:off x="457200" y="9418320"/>
            <a:ext cx="8229600" cy="228600"/>
          </a:xfrm>
          <a:prstGeom prst="rect">
            <a:avLst/>
          </a:prstGeom>
          <a:noFill/>
        </p:spPr>
        <p:txBody>
          <a:bodyPr wrap="square">
            <a:spAutoFit/>
          </a:bodyPr>
          <a:lstStyle/>
          <a:p>
            <a:pPr algn="l">
              <a:defRPr sz="1000" b="0">
                <a:latin typeface="Malgun Gothic"/>
              </a:defRPr>
            </a:pPr>
            <a:r>
              <a:t>이사회</a:t>
            </a:r>
          </a:p>
        </p:txBody>
      </p:sp>
      <p:sp>
        <p:nvSpPr>
          <p:cNvPr id="29" name="TextBox 28"/>
          <p:cNvSpPr txBox="1"/>
          <p:nvPr/>
        </p:nvSpPr>
        <p:spPr>
          <a:xfrm>
            <a:off x="457200" y="9738360"/>
            <a:ext cx="8229600" cy="228600"/>
          </a:xfrm>
          <a:prstGeom prst="rect">
            <a:avLst/>
          </a:prstGeom>
          <a:noFill/>
        </p:spPr>
        <p:txBody>
          <a:bodyPr wrap="square">
            <a:spAutoFit/>
          </a:bodyPr>
          <a:lstStyle/>
          <a:p>
            <a:pPr algn="l">
              <a:defRPr sz="1000" b="0">
                <a:latin typeface="Malgun Gothic"/>
              </a:defRPr>
            </a:pPr>
            <a:r>
              <a:t>✓ 해양보전본부 기능·사업의 횡적 확대</a:t>
            </a:r>
            <a:br/>
            <a:r>
              <a:t>✓ 부서간 공유와 소통, 시너지 창출 부족</a:t>
            </a:r>
          </a:p>
        </p:txBody>
      </p:sp>
      <p:sp>
        <p:nvSpPr>
          <p:cNvPr id="30" name="TextBox 29"/>
          <p:cNvSpPr txBox="1"/>
          <p:nvPr/>
        </p:nvSpPr>
        <p:spPr>
          <a:xfrm>
            <a:off x="457200" y="10058400"/>
            <a:ext cx="8229600" cy="457200"/>
          </a:xfrm>
          <a:prstGeom prst="rect">
            <a:avLst/>
          </a:prstGeom>
          <a:noFill/>
        </p:spPr>
        <p:txBody>
          <a:bodyPr wrap="square">
            <a:spAutoFit/>
          </a:bodyPr>
          <a:lstStyle/>
          <a:p>
            <a:pPr algn="l">
              <a:defRPr sz="1000" b="0">
                <a:latin typeface="Malgun Gothic"/>
              </a:defRPr>
            </a:pPr>
            <a:r>
              <a:t>✓ 정책연구와 종합 계획을 위한 조사연구원</a:t>
            </a:r>
            <a:br/>
            <a:r>
              <a:t>기능·직무 확대 + 독립운영 검토 필요</a:t>
            </a:r>
            <a:br/>
            <a:r>
              <a:t>✓ 사업수행-성과측정(평가) 본부 내 수행</a:t>
            </a:r>
          </a:p>
        </p:txBody>
      </p:sp>
      <p:sp>
        <p:nvSpPr>
          <p:cNvPr id="31" name="TextBox 30"/>
          <p:cNvSpPr txBox="1"/>
          <p:nvPr/>
        </p:nvSpPr>
        <p:spPr>
          <a:xfrm>
            <a:off x="457200" y="10607040"/>
            <a:ext cx="8229600" cy="228600"/>
          </a:xfrm>
          <a:prstGeom prst="rect">
            <a:avLst/>
          </a:prstGeom>
          <a:noFill/>
        </p:spPr>
        <p:txBody>
          <a:bodyPr wrap="square">
            <a:spAutoFit/>
          </a:bodyPr>
          <a:lstStyle/>
          <a:p>
            <a:pPr algn="l">
              <a:defRPr sz="1000" b="0">
                <a:latin typeface="Malgun Gothic"/>
              </a:defRPr>
            </a:pPr>
            <a:r>
              <a:t>✓ 미래성장팀 기능과 인력구성 적정성</a:t>
            </a:r>
            <a:br/>
            <a:r>
              <a:t>✓ 미래성장 추진 기준과 절차 점검 필요</a:t>
            </a:r>
          </a:p>
        </p:txBody>
      </p:sp>
      <p:sp>
        <p:nvSpPr>
          <p:cNvPr id="32" name="TextBox 31"/>
          <p:cNvSpPr txBox="1"/>
          <p:nvPr/>
        </p:nvSpPr>
        <p:spPr>
          <a:xfrm>
            <a:off x="457200" y="10927080"/>
            <a:ext cx="8229600" cy="457200"/>
          </a:xfrm>
          <a:prstGeom prst="rect">
            <a:avLst/>
          </a:prstGeom>
          <a:noFill/>
        </p:spPr>
        <p:txBody>
          <a:bodyPr wrap="square">
            <a:spAutoFit/>
          </a:bodyPr>
          <a:lstStyle/>
          <a:p>
            <a:pPr algn="l">
              <a:defRPr sz="1000" b="0">
                <a:latin typeface="Malgun Gothic"/>
              </a:defRPr>
            </a:pPr>
            <a:r>
              <a:t>✓ 대국민·시민단체 참여와 의사소통 각 부서</a:t>
            </a:r>
            <a:br/>
            <a:r>
              <a:t>개별 업무수행 → 국민참여 통합 플랫폼</a:t>
            </a:r>
            <a:br/>
            <a:r>
              <a:t>통합적 추진 검토</a:t>
            </a:r>
          </a:p>
        </p:txBody>
      </p:sp>
      <p:sp>
        <p:nvSpPr>
          <p:cNvPr id="33" name="TextBox 32"/>
          <p:cNvSpPr txBox="1"/>
          <p:nvPr/>
        </p:nvSpPr>
        <p:spPr>
          <a:xfrm>
            <a:off x="457200" y="11475720"/>
            <a:ext cx="8229600" cy="228600"/>
          </a:xfrm>
          <a:prstGeom prst="rect">
            <a:avLst/>
          </a:prstGeom>
          <a:noFill/>
        </p:spPr>
        <p:txBody>
          <a:bodyPr wrap="square">
            <a:spAutoFit/>
          </a:bodyPr>
          <a:lstStyle/>
          <a:p>
            <a:pPr algn="l">
              <a:defRPr sz="1000" b="0">
                <a:latin typeface="Malgun Gothic"/>
              </a:defRPr>
            </a:pPr>
            <a:r>
              <a:t>✓ 해양사업본부 사업 축소에 따른 기능과</a:t>
            </a:r>
            <a:br/>
            <a:r>
              <a:t>사업전환 또는 효율화 검토</a:t>
            </a:r>
          </a:p>
        </p:txBody>
      </p:sp>
      <p:sp>
        <p:nvSpPr>
          <p:cNvPr id="34" name="TextBox 33"/>
          <p:cNvSpPr txBox="1"/>
          <p:nvPr/>
        </p:nvSpPr>
        <p:spPr>
          <a:xfrm>
            <a:off x="457200" y="11795760"/>
            <a:ext cx="8229600" cy="457200"/>
          </a:xfrm>
          <a:prstGeom prst="rect">
            <a:avLst/>
          </a:prstGeom>
          <a:noFill/>
        </p:spPr>
        <p:txBody>
          <a:bodyPr wrap="square">
            <a:spAutoFit/>
          </a:bodyPr>
          <a:lstStyle/>
          <a:p>
            <a:pPr algn="l">
              <a:defRPr sz="1000" b="0">
                <a:latin typeface="Malgun Gothic"/>
              </a:defRPr>
            </a:pPr>
            <a:r>
              <a:t>✓ 현재 방제·예선, 정화사업 관리 기능 위주의</a:t>
            </a:r>
            <a:br/>
            <a:r>
              <a:t>지사·사업소를 보전·복원·이용사업 등으로</a:t>
            </a:r>
            <a:br/>
            <a:r>
              <a:t>기능과 역할의 확대 검토</a:t>
            </a:r>
          </a:p>
        </p:txBody>
      </p:sp>
      <p:sp>
        <p:nvSpPr>
          <p:cNvPr id="35" name="TextBox 34"/>
          <p:cNvSpPr txBox="1"/>
          <p:nvPr/>
        </p:nvSpPr>
        <p:spPr>
          <a:xfrm>
            <a:off x="457200" y="12344400"/>
            <a:ext cx="8229600" cy="457200"/>
          </a:xfrm>
          <a:prstGeom prst="rect">
            <a:avLst/>
          </a:prstGeom>
          <a:noFill/>
        </p:spPr>
        <p:txBody>
          <a:bodyPr wrap="square">
            <a:spAutoFit/>
          </a:bodyPr>
          <a:lstStyle/>
          <a:p>
            <a:pPr algn="l">
              <a:defRPr sz="1000" b="0">
                <a:latin typeface="Malgun Gothic"/>
              </a:defRPr>
            </a:pPr>
            <a:r>
              <a:t>✓ 해양환경교육원과 교육대상과 내용, 운영에서</a:t>
            </a:r>
            <a:br/>
            <a:r>
              <a:t>다른 성격의 국가해양환경교육센터에 대해</a:t>
            </a:r>
            <a:br/>
            <a:r>
              <a:t>일정 수준의 운영 독립성 부여 필요</a:t>
            </a:r>
          </a:p>
        </p:txBody>
      </p:sp>
      <p:sp>
        <p:nvSpPr>
          <p:cNvPr id="36" name="TextBox 35"/>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 | Page 59</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내부 환경·역량 분석 - 조직구조 관련 현안 이슈 (1/4)</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해양보전본부는 해양정화·해양생태복원에서, 해양이용(개발·활용), 해외지원, 조사·연구로 사업부서가 확대되었는데, 부서간 업무의 공통분모가 크지 않아 공유와 협업 수요가 낮고, 시너지 창출이나 효율화, 소통과 공유를 저해할 수 있음</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Timeline</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해양보전본부 부서 구성 : 공통분모 크지 않은 다수 사업부서 편성</a:t>
            </a:r>
          </a:p>
        </p:txBody>
      </p:sp>
      <p:sp>
        <p:nvSpPr>
          <p:cNvPr id="6" name="TextBox 5"/>
          <p:cNvSpPr txBox="1"/>
          <p:nvPr/>
        </p:nvSpPr>
        <p:spPr>
          <a:xfrm>
            <a:off x="457200" y="2148840"/>
            <a:ext cx="8229600" cy="228600"/>
          </a:xfrm>
          <a:prstGeom prst="rect">
            <a:avLst/>
          </a:prstGeom>
          <a:noFill/>
        </p:spPr>
        <p:txBody>
          <a:bodyPr wrap="square">
            <a:spAutoFit/>
          </a:bodyPr>
          <a:lstStyle/>
          <a:p>
            <a:pPr algn="l">
              <a:defRPr sz="1000" b="0">
                <a:latin typeface="Malgun Gothic"/>
              </a:defRPr>
            </a:pPr>
            <a:r>
              <a:t>사업 영역</a:t>
            </a:r>
          </a:p>
        </p:txBody>
      </p:sp>
      <p:sp>
        <p:nvSpPr>
          <p:cNvPr id="7" name="TextBox 6"/>
          <p:cNvSpPr txBox="1"/>
          <p:nvPr/>
        </p:nvSpPr>
        <p:spPr>
          <a:xfrm>
            <a:off x="457200" y="2468880"/>
            <a:ext cx="8229600" cy="228600"/>
          </a:xfrm>
          <a:prstGeom prst="rect">
            <a:avLst/>
          </a:prstGeom>
          <a:noFill/>
        </p:spPr>
        <p:txBody>
          <a:bodyPr wrap="square">
            <a:spAutoFit/>
          </a:bodyPr>
          <a:lstStyle/>
          <a:p>
            <a:pPr algn="l">
              <a:defRPr sz="1000" b="0">
                <a:latin typeface="Malgun Gothic"/>
              </a:defRPr>
            </a:pPr>
            <a:r>
              <a:t>~2017</a:t>
            </a:r>
          </a:p>
        </p:txBody>
      </p:sp>
      <p:sp>
        <p:nvSpPr>
          <p:cNvPr id="8" name="TextBox 7"/>
          <p:cNvSpPr txBox="1"/>
          <p:nvPr/>
        </p:nvSpPr>
        <p:spPr>
          <a:xfrm>
            <a:off x="457200" y="2788920"/>
            <a:ext cx="8229600" cy="228600"/>
          </a:xfrm>
          <a:prstGeom prst="rect">
            <a:avLst/>
          </a:prstGeom>
          <a:noFill/>
        </p:spPr>
        <p:txBody>
          <a:bodyPr wrap="square">
            <a:spAutoFit/>
          </a:bodyPr>
          <a:lstStyle/>
          <a:p>
            <a:pPr algn="l">
              <a:defRPr sz="1000" b="0">
                <a:latin typeface="Malgun Gothic"/>
              </a:defRPr>
            </a:pPr>
            <a:r>
              <a:t>2018</a:t>
            </a:r>
          </a:p>
        </p:txBody>
      </p:sp>
      <p:sp>
        <p:nvSpPr>
          <p:cNvPr id="9" name="TextBox 8"/>
          <p:cNvSpPr txBox="1"/>
          <p:nvPr/>
        </p:nvSpPr>
        <p:spPr>
          <a:xfrm>
            <a:off x="457200" y="3108960"/>
            <a:ext cx="8229600" cy="228600"/>
          </a:xfrm>
          <a:prstGeom prst="rect">
            <a:avLst/>
          </a:prstGeom>
          <a:noFill/>
        </p:spPr>
        <p:txBody>
          <a:bodyPr wrap="square">
            <a:spAutoFit/>
          </a:bodyPr>
          <a:lstStyle/>
          <a:p>
            <a:pPr algn="l">
              <a:defRPr sz="1000" b="0">
                <a:latin typeface="Malgun Gothic"/>
              </a:defRPr>
            </a:pPr>
            <a:r>
              <a:t>2019</a:t>
            </a:r>
          </a:p>
        </p:txBody>
      </p:sp>
      <p:sp>
        <p:nvSpPr>
          <p:cNvPr id="10" name="TextBox 9"/>
          <p:cNvSpPr txBox="1"/>
          <p:nvPr/>
        </p:nvSpPr>
        <p:spPr>
          <a:xfrm>
            <a:off x="457200" y="3429000"/>
            <a:ext cx="8229600" cy="228600"/>
          </a:xfrm>
          <a:prstGeom prst="rect">
            <a:avLst/>
          </a:prstGeom>
          <a:noFill/>
        </p:spPr>
        <p:txBody>
          <a:bodyPr wrap="square">
            <a:spAutoFit/>
          </a:bodyPr>
          <a:lstStyle/>
          <a:p>
            <a:pPr algn="l">
              <a:defRPr sz="1000" b="0">
                <a:latin typeface="Malgun Gothic"/>
              </a:defRPr>
            </a:pPr>
            <a:r>
              <a:t>2020</a:t>
            </a:r>
          </a:p>
        </p:txBody>
      </p:sp>
      <p:sp>
        <p:nvSpPr>
          <p:cNvPr id="11" name="TextBox 10"/>
          <p:cNvSpPr txBox="1"/>
          <p:nvPr/>
        </p:nvSpPr>
        <p:spPr>
          <a:xfrm>
            <a:off x="457200" y="3749040"/>
            <a:ext cx="8229600" cy="228600"/>
          </a:xfrm>
          <a:prstGeom prst="rect">
            <a:avLst/>
          </a:prstGeom>
          <a:noFill/>
        </p:spPr>
        <p:txBody>
          <a:bodyPr wrap="square">
            <a:spAutoFit/>
          </a:bodyPr>
          <a:lstStyle/>
          <a:p>
            <a:pPr algn="l">
              <a:defRPr sz="1000" b="0">
                <a:latin typeface="Malgun Gothic"/>
              </a:defRPr>
            </a:pPr>
            <a:r>
              <a:t>2021</a:t>
            </a:r>
          </a:p>
        </p:txBody>
      </p:sp>
      <p:sp>
        <p:nvSpPr>
          <p:cNvPr id="12" name="TextBox 11"/>
          <p:cNvSpPr txBox="1"/>
          <p:nvPr/>
        </p:nvSpPr>
        <p:spPr>
          <a:xfrm>
            <a:off x="457200" y="4069080"/>
            <a:ext cx="8229600" cy="228600"/>
          </a:xfrm>
          <a:prstGeom prst="rect">
            <a:avLst/>
          </a:prstGeom>
          <a:noFill/>
        </p:spPr>
        <p:txBody>
          <a:bodyPr wrap="square">
            <a:spAutoFit/>
          </a:bodyPr>
          <a:lstStyle/>
          <a:p>
            <a:pPr algn="l">
              <a:defRPr sz="1000" b="0">
                <a:latin typeface="Malgun Gothic"/>
              </a:defRPr>
            </a:pPr>
            <a:r>
              <a:t>해양정화</a:t>
            </a:r>
          </a:p>
        </p:txBody>
      </p:sp>
      <p:sp>
        <p:nvSpPr>
          <p:cNvPr id="13" name="TextBox 12"/>
          <p:cNvSpPr txBox="1"/>
          <p:nvPr/>
        </p:nvSpPr>
        <p:spPr>
          <a:xfrm>
            <a:off x="457200" y="4389120"/>
            <a:ext cx="8229600" cy="228600"/>
          </a:xfrm>
          <a:prstGeom prst="rect">
            <a:avLst/>
          </a:prstGeom>
          <a:noFill/>
        </p:spPr>
        <p:txBody>
          <a:bodyPr wrap="square">
            <a:spAutoFit/>
          </a:bodyPr>
          <a:lstStyle/>
          <a:p>
            <a:pPr algn="l">
              <a:defRPr sz="1000" b="0">
                <a:latin typeface="Malgun Gothic"/>
              </a:defRPr>
            </a:pPr>
            <a:r>
              <a:t>해양폐기물</a:t>
            </a:r>
            <a:br/>
            <a:r>
              <a:t>관리센터</a:t>
            </a:r>
            <a:br/>
            <a:r>
              <a:t>해양정화팀</a:t>
            </a:r>
          </a:p>
        </p:txBody>
      </p:sp>
      <p:sp>
        <p:nvSpPr>
          <p:cNvPr id="14" name="TextBox 13"/>
          <p:cNvSpPr txBox="1"/>
          <p:nvPr/>
        </p:nvSpPr>
        <p:spPr>
          <a:xfrm>
            <a:off x="457200" y="4709160"/>
            <a:ext cx="8229600" cy="228600"/>
          </a:xfrm>
          <a:prstGeom prst="rect">
            <a:avLst/>
          </a:prstGeom>
          <a:noFill/>
        </p:spPr>
        <p:txBody>
          <a:bodyPr wrap="square">
            <a:spAutoFit/>
          </a:bodyPr>
          <a:lstStyle/>
          <a:p>
            <a:pPr algn="l">
              <a:defRPr sz="1000" b="0">
                <a:latin typeface="Malgun Gothic"/>
              </a:defRPr>
            </a:pPr>
            <a:r>
              <a:t>해양생태</a:t>
            </a:r>
            <a:br/>
            <a:r>
              <a:t>복원</a:t>
            </a:r>
          </a:p>
        </p:txBody>
      </p:sp>
      <p:sp>
        <p:nvSpPr>
          <p:cNvPr id="15" name="TextBox 14"/>
          <p:cNvSpPr txBox="1"/>
          <p:nvPr/>
        </p:nvSpPr>
        <p:spPr>
          <a:xfrm>
            <a:off x="457200" y="5029200"/>
            <a:ext cx="8229600" cy="228600"/>
          </a:xfrm>
          <a:prstGeom prst="rect">
            <a:avLst/>
          </a:prstGeom>
          <a:noFill/>
        </p:spPr>
        <p:txBody>
          <a:bodyPr wrap="square">
            <a:spAutoFit/>
          </a:bodyPr>
          <a:lstStyle/>
          <a:p>
            <a:pPr algn="l">
              <a:defRPr sz="1000" b="0">
                <a:latin typeface="Malgun Gothic"/>
              </a:defRPr>
            </a:pPr>
            <a:r>
              <a:t>해양보호구역팀</a:t>
            </a:r>
          </a:p>
        </p:txBody>
      </p:sp>
      <p:sp>
        <p:nvSpPr>
          <p:cNvPr id="16" name="TextBox 15"/>
          <p:cNvSpPr txBox="1"/>
          <p:nvPr/>
        </p:nvSpPr>
        <p:spPr>
          <a:xfrm>
            <a:off x="457200" y="5349240"/>
            <a:ext cx="8229600" cy="228600"/>
          </a:xfrm>
          <a:prstGeom prst="rect">
            <a:avLst/>
          </a:prstGeom>
          <a:noFill/>
        </p:spPr>
        <p:txBody>
          <a:bodyPr wrap="square">
            <a:spAutoFit/>
          </a:bodyPr>
          <a:lstStyle/>
          <a:p>
            <a:pPr algn="l">
              <a:defRPr sz="1000" b="0">
                <a:latin typeface="Malgun Gothic"/>
              </a:defRPr>
            </a:pPr>
            <a:r>
              <a:t>해양이용</a:t>
            </a:r>
            <a:br/>
            <a:r>
              <a:t>(개발·활용)</a:t>
            </a:r>
          </a:p>
        </p:txBody>
      </p:sp>
      <p:sp>
        <p:nvSpPr>
          <p:cNvPr id="17" name="TextBox 16"/>
          <p:cNvSpPr txBox="1"/>
          <p:nvPr/>
        </p:nvSpPr>
        <p:spPr>
          <a:xfrm>
            <a:off x="457200" y="5669280"/>
            <a:ext cx="8229600" cy="228600"/>
          </a:xfrm>
          <a:prstGeom prst="rect">
            <a:avLst/>
          </a:prstGeom>
          <a:noFill/>
        </p:spPr>
        <p:txBody>
          <a:bodyPr wrap="square">
            <a:spAutoFit/>
          </a:bodyPr>
          <a:lstStyle/>
          <a:p>
            <a:pPr algn="l">
              <a:defRPr sz="1000" b="0">
                <a:latin typeface="Malgun Gothic"/>
              </a:defRPr>
            </a:pPr>
            <a:r>
              <a:t>해외지원</a:t>
            </a:r>
          </a:p>
        </p:txBody>
      </p:sp>
      <p:sp>
        <p:nvSpPr>
          <p:cNvPr id="18" name="TextBox 17"/>
          <p:cNvSpPr txBox="1"/>
          <p:nvPr/>
        </p:nvSpPr>
        <p:spPr>
          <a:xfrm>
            <a:off x="457200" y="5989320"/>
            <a:ext cx="8229600" cy="228600"/>
          </a:xfrm>
          <a:prstGeom prst="rect">
            <a:avLst/>
          </a:prstGeom>
          <a:noFill/>
        </p:spPr>
        <p:txBody>
          <a:bodyPr wrap="square">
            <a:spAutoFit/>
          </a:bodyPr>
          <a:lstStyle/>
          <a:p>
            <a:pPr algn="l">
              <a:defRPr sz="1000" b="0">
                <a:latin typeface="Malgun Gothic"/>
              </a:defRPr>
            </a:pPr>
            <a:r>
              <a:t>해양환경</a:t>
            </a:r>
            <a:br/>
            <a:r>
              <a:t>조사·연구</a:t>
            </a:r>
          </a:p>
        </p:txBody>
      </p:sp>
      <p:sp>
        <p:nvSpPr>
          <p:cNvPr id="19" name="TextBox 18"/>
          <p:cNvSpPr txBox="1"/>
          <p:nvPr/>
        </p:nvSpPr>
        <p:spPr>
          <a:xfrm>
            <a:off x="457200" y="6309360"/>
            <a:ext cx="8229600" cy="228600"/>
          </a:xfrm>
          <a:prstGeom prst="rect">
            <a:avLst/>
          </a:prstGeom>
          <a:noFill/>
        </p:spPr>
        <p:txBody>
          <a:bodyPr wrap="square">
            <a:spAutoFit/>
          </a:bodyPr>
          <a:lstStyle/>
          <a:p>
            <a:pPr algn="l">
              <a:defRPr sz="1000" b="0">
                <a:latin typeface="Malgun Gothic"/>
              </a:defRPr>
            </a:pPr>
            <a:r>
              <a:t>공통분모 크지 않은</a:t>
            </a:r>
            <a:br/>
            <a:r>
              <a:t>새로운 영역으로의</a:t>
            </a:r>
            <a:br/>
            <a:r>
              <a:t>사업 및 부서 확장</a:t>
            </a:r>
          </a:p>
        </p:txBody>
      </p:sp>
      <p:sp>
        <p:nvSpPr>
          <p:cNvPr id="20" name="TextBox 19"/>
          <p:cNvSpPr txBox="1"/>
          <p:nvPr/>
        </p:nvSpPr>
        <p:spPr>
          <a:xfrm>
            <a:off x="457200" y="6629400"/>
            <a:ext cx="8229600" cy="228600"/>
          </a:xfrm>
          <a:prstGeom prst="rect">
            <a:avLst/>
          </a:prstGeom>
          <a:noFill/>
        </p:spPr>
        <p:txBody>
          <a:bodyPr wrap="square">
            <a:spAutoFit/>
          </a:bodyPr>
          <a:lstStyle/>
          <a:p>
            <a:pPr algn="l">
              <a:defRPr sz="1000" b="0">
                <a:latin typeface="Malgun Gothic"/>
              </a:defRPr>
            </a:pPr>
            <a:r>
              <a:t>국제협력팀</a:t>
            </a:r>
            <a:br/>
            <a:r>
              <a:t>CEO 직속에서</a:t>
            </a:r>
            <a:br/>
            <a:r>
              <a:t>편제 변경</a:t>
            </a:r>
          </a:p>
        </p:txBody>
      </p:sp>
      <p:sp>
        <p:nvSpPr>
          <p:cNvPr id="21" name="TextBox 20"/>
          <p:cNvSpPr txBox="1"/>
          <p:nvPr/>
        </p:nvSpPr>
        <p:spPr>
          <a:xfrm>
            <a:off x="457200" y="6949440"/>
            <a:ext cx="8229600" cy="228600"/>
          </a:xfrm>
          <a:prstGeom prst="rect">
            <a:avLst/>
          </a:prstGeom>
          <a:noFill/>
        </p:spPr>
        <p:txBody>
          <a:bodyPr wrap="square">
            <a:spAutoFit/>
          </a:bodyPr>
          <a:lstStyle/>
          <a:p>
            <a:pPr algn="l">
              <a:defRPr sz="1000" b="0">
                <a:latin typeface="Malgun Gothic"/>
              </a:defRPr>
            </a:pPr>
            <a:r>
              <a:t>골재단지관리팀</a:t>
            </a:r>
            <a:br/>
            <a:r>
              <a:t>해양사업본부에서</a:t>
            </a:r>
            <a:br/>
            <a:r>
              <a:t>편제 변경</a:t>
            </a:r>
          </a:p>
        </p:txBody>
      </p:sp>
      <p:sp>
        <p:nvSpPr>
          <p:cNvPr id="22" name="TextBox 21"/>
          <p:cNvSpPr txBox="1"/>
          <p:nvPr/>
        </p:nvSpPr>
        <p:spPr>
          <a:xfrm>
            <a:off x="457200" y="7269480"/>
            <a:ext cx="8229600" cy="228600"/>
          </a:xfrm>
          <a:prstGeom prst="rect">
            <a:avLst/>
          </a:prstGeom>
          <a:noFill/>
        </p:spPr>
        <p:txBody>
          <a:bodyPr wrap="square">
            <a:spAutoFit/>
          </a:bodyPr>
          <a:lstStyle/>
          <a:p>
            <a:pPr algn="l">
              <a:defRPr sz="1000" b="0">
                <a:latin typeface="Malgun Gothic"/>
              </a:defRPr>
            </a:pPr>
            <a:r>
              <a:t>해양환경</a:t>
            </a:r>
            <a:br/>
            <a:r>
              <a:t>조사연구원</a:t>
            </a:r>
            <a:br/>
            <a:r>
              <a:t>직속 독립기관에서</a:t>
            </a:r>
            <a:br/>
            <a:r>
              <a:t>본부소속 편제 변경</a:t>
            </a:r>
          </a:p>
        </p:txBody>
      </p:sp>
      <p:sp>
        <p:nvSpPr>
          <p:cNvPr id="23" name="TextBox 22"/>
          <p:cNvSpPr txBox="1"/>
          <p:nvPr/>
        </p:nvSpPr>
        <p:spPr>
          <a:xfrm>
            <a:off x="457200" y="7589520"/>
            <a:ext cx="8229600" cy="228600"/>
          </a:xfrm>
          <a:prstGeom prst="rect">
            <a:avLst/>
          </a:prstGeom>
          <a:noFill/>
        </p:spPr>
        <p:txBody>
          <a:bodyPr wrap="square">
            <a:spAutoFit/>
          </a:bodyPr>
          <a:lstStyle/>
          <a:p>
            <a:pPr algn="l">
              <a:defRPr sz="1000" b="0">
                <a:latin typeface="Malgun Gothic"/>
              </a:defRPr>
            </a:pPr>
            <a:r>
              <a:t>해양공간계획TF</a:t>
            </a:r>
            <a:br/>
            <a:r>
              <a:t>신규사업, 부서 신설</a:t>
            </a:r>
          </a:p>
        </p:txBody>
      </p:sp>
      <p:sp>
        <p:nvSpPr>
          <p:cNvPr id="24" name="TextBox 23"/>
          <p:cNvSpPr txBox="1"/>
          <p:nvPr/>
        </p:nvSpPr>
        <p:spPr>
          <a:xfrm>
            <a:off x="457200" y="7909560"/>
            <a:ext cx="8229600" cy="274320"/>
          </a:xfrm>
          <a:prstGeom prst="rect">
            <a:avLst/>
          </a:prstGeom>
          <a:noFill/>
        </p:spPr>
        <p:txBody>
          <a:bodyPr wrap="square">
            <a:spAutoFit/>
          </a:bodyPr>
          <a:lstStyle/>
          <a:p>
            <a:pPr algn="l">
              <a:defRPr sz="1200" b="1">
                <a:solidFill>
                  <a:srgbClr val="003366"/>
                </a:solidFill>
                <a:latin typeface="Malgun Gothic"/>
              </a:defRPr>
            </a:pPr>
            <a:r>
              <a:t>Key Findings</a:t>
            </a:r>
          </a:p>
        </p:txBody>
      </p:sp>
      <p:sp>
        <p:nvSpPr>
          <p:cNvPr id="25" name="TextBox 24"/>
          <p:cNvSpPr txBox="1"/>
          <p:nvPr/>
        </p:nvSpPr>
        <p:spPr>
          <a:xfrm>
            <a:off x="457200" y="8275320"/>
            <a:ext cx="8229600" cy="457200"/>
          </a:xfrm>
          <a:prstGeom prst="rect">
            <a:avLst/>
          </a:prstGeom>
          <a:noFill/>
        </p:spPr>
        <p:txBody>
          <a:bodyPr wrap="square">
            <a:spAutoFit/>
          </a:bodyPr>
          <a:lstStyle/>
          <a:p>
            <a:pPr algn="l">
              <a:defRPr sz="1000" b="0">
                <a:latin typeface="Malgun Gothic"/>
              </a:defRPr>
            </a:pPr>
            <a:r>
              <a:t>✓ 기존 정화·복원 중심</a:t>
            </a:r>
            <a:br/>
            <a:r>
              <a:t>사업에서 개발·이용,</a:t>
            </a:r>
            <a:br/>
            <a:r>
              <a:t>해외지원, 조사·연구 등</a:t>
            </a:r>
            <a:br/>
            <a:r>
              <a:t>업무 공통분모가 크지</a:t>
            </a:r>
            <a:br/>
            <a:r>
              <a:t>않은 영역으로 사업과</a:t>
            </a:r>
            <a:br/>
            <a:r>
              <a:t>부서 확장</a:t>
            </a:r>
          </a:p>
        </p:txBody>
      </p:sp>
      <p:sp>
        <p:nvSpPr>
          <p:cNvPr id="26" name="TextBox 25"/>
          <p:cNvSpPr txBox="1"/>
          <p:nvPr/>
        </p:nvSpPr>
        <p:spPr>
          <a:xfrm>
            <a:off x="457200" y="8823960"/>
            <a:ext cx="8229600" cy="228600"/>
          </a:xfrm>
          <a:prstGeom prst="rect">
            <a:avLst/>
          </a:prstGeom>
          <a:noFill/>
        </p:spPr>
        <p:txBody>
          <a:bodyPr wrap="square">
            <a:spAutoFit/>
          </a:bodyPr>
          <a:lstStyle/>
          <a:p>
            <a:pPr algn="l">
              <a:defRPr sz="1000" b="0">
                <a:latin typeface="Malgun Gothic"/>
              </a:defRPr>
            </a:pPr>
            <a:r>
              <a:t>✓ 업무의 공통분모가</a:t>
            </a:r>
            <a:br/>
            <a:r>
              <a:t>부족하여 부서간 정보</a:t>
            </a:r>
            <a:br/>
            <a:r>
              <a:t>공유나 협업의 필요성</a:t>
            </a:r>
            <a:br/>
            <a:r>
              <a:t>크지 않음</a:t>
            </a:r>
          </a:p>
        </p:txBody>
      </p:sp>
      <p:sp>
        <p:nvSpPr>
          <p:cNvPr id="27" name="TextBox 26"/>
          <p:cNvSpPr txBox="1"/>
          <p:nvPr/>
        </p:nvSpPr>
        <p:spPr>
          <a:xfrm>
            <a:off x="457200" y="9144000"/>
            <a:ext cx="8229600" cy="228600"/>
          </a:xfrm>
          <a:prstGeom prst="rect">
            <a:avLst/>
          </a:prstGeom>
          <a:noFill/>
        </p:spPr>
        <p:txBody>
          <a:bodyPr wrap="square">
            <a:spAutoFit/>
          </a:bodyPr>
          <a:lstStyle/>
          <a:p>
            <a:pPr algn="l">
              <a:defRPr sz="1000" b="0">
                <a:latin typeface="Malgun Gothic"/>
              </a:defRPr>
            </a:pPr>
            <a:r>
              <a:t>✓ 부서간 시너지 창출,</a:t>
            </a:r>
            <a:br/>
            <a:r>
              <a:t>공유를 통한 업무</a:t>
            </a:r>
            <a:br/>
            <a:r>
              <a:t>효율화 등 본부 내</a:t>
            </a:r>
            <a:br/>
            <a:r>
              <a:t>운영효율 창출 어려움</a:t>
            </a:r>
          </a:p>
        </p:txBody>
      </p:sp>
      <p:sp>
        <p:nvSpPr>
          <p:cNvPr id="28" name="TextBox 27"/>
          <p:cNvSpPr txBox="1"/>
          <p:nvPr/>
        </p:nvSpPr>
        <p:spPr>
          <a:xfrm>
            <a:off x="457200" y="9464040"/>
            <a:ext cx="8229600" cy="228600"/>
          </a:xfrm>
          <a:prstGeom prst="rect">
            <a:avLst/>
          </a:prstGeom>
          <a:noFill/>
        </p:spPr>
        <p:txBody>
          <a:bodyPr wrap="square">
            <a:spAutoFit/>
          </a:bodyPr>
          <a:lstStyle/>
          <a:p>
            <a:pPr algn="l">
              <a:defRPr sz="1000" b="0">
                <a:latin typeface="Malgun Gothic"/>
              </a:defRPr>
            </a:pPr>
            <a:r>
              <a:t>✓ 부서 내 소통과 공유</a:t>
            </a:r>
            <a:br/>
            <a:r>
              <a:t>부족에 따른 조직문화</a:t>
            </a:r>
            <a:br/>
            <a:r>
              <a:t>저해 우려</a:t>
            </a:r>
          </a:p>
        </p:txBody>
      </p:sp>
      <p:sp>
        <p:nvSpPr>
          <p:cNvPr id="29" name="TextBox 28"/>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59 | Page 60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내부 환경·역량 분석 - 조직구조 관련 현안 이슈 (2/4)</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해양쓰레기 수거, 해양정화, 해양생태계 복원 및 골재채취 사업에서 사업 전 측정·조사 및 사업 후 성과·영향의 측정 및 보고를 해양환경조사연구원에서 수행하게 되어 사업 수행과 성과측정이 동일 본부 내에서 이루어지는 이슈 발생</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사업수행-성과·영향 모니터링의 동일 본부 내 수행 이슈</a:t>
            </a:r>
          </a:p>
        </p:txBody>
      </p:sp>
      <p:sp>
        <p:nvSpPr>
          <p:cNvPr id="5" name="TextBox 4"/>
          <p:cNvSpPr txBox="1"/>
          <p:nvPr/>
        </p:nvSpPr>
        <p:spPr>
          <a:xfrm>
            <a:off x="457200" y="1828800"/>
            <a:ext cx="8229600" cy="2057400"/>
          </a:xfrm>
          <a:prstGeom prst="rect">
            <a:avLst/>
          </a:prstGeom>
          <a:noFill/>
        </p:spPr>
        <p:txBody>
          <a:bodyPr wrap="square">
            <a:spAutoFit/>
          </a:bodyPr>
          <a:lstStyle/>
          <a:p>
            <a:pPr algn="l">
              <a:defRPr sz="900" b="0">
                <a:latin typeface="Malgun Gothic"/>
              </a:defRPr>
            </a:pPr>
            <a:r>
              <a:t>[TABLE]</a:t>
            </a:r>
            <a:br/>
            <a:r>
              <a:t>사업 | 사업 전 측정·조사 | 사업 계획 | 사업 실행 | 사업 후 성과·영향 측정</a:t>
            </a:r>
            <a:br/>
            <a:r>
              <a:t>해양부유 쓰레기 수거사업 | 해양폐기물관리센터, 해양수질팀 | 해양폐기물관리센터 | 해양폐기물관리센터, 해양수질팀 | 해양폐기물관리센터, 해양수질팀</a:t>
            </a:r>
            <a:br/>
            <a:r>
              <a:t>해양침적 폐기물 수거사업 | 해양정화팀, 해양수질팀 | 해양정화팀 | 해양정화팀 | 해양정화팀, 해양수질팀</a:t>
            </a:r>
            <a:br/>
            <a:r>
              <a:t>오염퇴적물 정화사업 | 해양정화팀, 해양수질팀 | 해양정화팀 | 해양정화팀 | 해양정화팀, 해양수질팀</a:t>
            </a:r>
            <a:br/>
            <a:r>
              <a:t>해양생태계 복원사업 | 해양보호구역팀, 해양생태팀 | 해양보호구역팀 | 해양보호구역팀 | 해양보호구역팀, 해양생태팀</a:t>
            </a:r>
            <a:br/>
            <a:r>
              <a:t>골재채취단지 관리·운영 사업 | 해양생태팀 | 골재단지관리팀 | 골재단지관리팀 | 해양수질팀, 해양생태팀</a:t>
            </a:r>
            <a:br/>
            <a:r>
              <a:t>| 해양환경조사연구원 측정·조사 부서 |  해양보전본부 사업부서 |  |</a:t>
            </a:r>
          </a:p>
        </p:txBody>
      </p:sp>
      <p:sp>
        <p:nvSpPr>
          <p:cNvPr id="6" name="TextBox 5"/>
          <p:cNvSpPr txBox="1"/>
          <p:nvPr/>
        </p:nvSpPr>
        <p:spPr>
          <a:xfrm>
            <a:off x="457200" y="3977640"/>
            <a:ext cx="8229600" cy="274320"/>
          </a:xfrm>
          <a:prstGeom prst="rect">
            <a:avLst/>
          </a:prstGeom>
          <a:noFill/>
        </p:spPr>
        <p:txBody>
          <a:bodyPr wrap="square">
            <a:spAutoFit/>
          </a:bodyPr>
          <a:lstStyle/>
          <a:p>
            <a:pPr algn="l">
              <a:defRPr sz="1200" b="1">
                <a:solidFill>
                  <a:srgbClr val="003366"/>
                </a:solidFill>
                <a:latin typeface="Malgun Gothic"/>
              </a:defRPr>
            </a:pPr>
            <a:r>
              <a:t>Key Findings</a:t>
            </a:r>
          </a:p>
        </p:txBody>
      </p:sp>
      <p:sp>
        <p:nvSpPr>
          <p:cNvPr id="7" name="TextBox 6"/>
          <p:cNvSpPr txBox="1"/>
          <p:nvPr/>
        </p:nvSpPr>
        <p:spPr>
          <a:xfrm>
            <a:off x="457200" y="4343400"/>
            <a:ext cx="8229600" cy="1143000"/>
          </a:xfrm>
          <a:prstGeom prst="rect">
            <a:avLst/>
          </a:prstGeom>
          <a:noFill/>
        </p:spPr>
        <p:txBody>
          <a:bodyPr wrap="square">
            <a:spAutoFit/>
          </a:bodyPr>
          <a:lstStyle/>
          <a:p>
            <a:pPr algn="l">
              <a:defRPr sz="1000" b="0">
                <a:latin typeface="Malgun Gothic"/>
              </a:defRPr>
            </a:pPr>
            <a:r>
              <a:t>✓ 해양환경본부 소속으로 편제된 조사연구원은 해양보전본부 각 사업부서의 정화, 이용 사업의 사전 측정·조사 및 사업 실행 후 성과와 영향 측정을 수행함</a:t>
            </a:r>
            <a:br/>
            <a:r>
              <a:t>✓ 동일 본부 내에서 사업 수행과 사업수행 성과 및 영향의 측정과 모니터링이 수행됨</a:t>
            </a:r>
            <a:br/>
            <a:r>
              <a:t>✓ 사업에 대한 수행과 성과 모니터링이 동일 본부에서 이루어져 객관성, 공정성에 대해 외부로 부터의 문제 제기 가능성 있음</a:t>
            </a:r>
          </a:p>
        </p:txBody>
      </p:sp>
      <p:sp>
        <p:nvSpPr>
          <p:cNvPr id="8" name="TextBox 7"/>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60 | Page 61</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내부 환경·역량 분석 - 조직구조 관련 현안 이슈 (3/4)</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신규사업 추진 조직인 미래성장팀에서 인큐베이션과 시범사업 시행까지 담당하는 구조로 운영되는 구조는 추진력을 약화시킬 우려가 있고, 부서별 채널 운영으로 분산된 대국민 소통은 통합채널 대비 방향성, 효율성이 떨어질 수 있음</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신규(미래성장) 사업 추진 조직·과정</a:t>
            </a:r>
          </a:p>
        </p:txBody>
      </p:sp>
      <p:sp>
        <p:nvSpPr>
          <p:cNvPr id="5" name="TextBox 4"/>
          <p:cNvSpPr txBox="1"/>
          <p:nvPr/>
        </p:nvSpPr>
        <p:spPr>
          <a:xfrm>
            <a:off x="457200" y="1828800"/>
            <a:ext cx="4023360" cy="228600"/>
          </a:xfrm>
          <a:prstGeom prst="rect">
            <a:avLst/>
          </a:prstGeom>
          <a:noFill/>
        </p:spPr>
        <p:txBody>
          <a:bodyPr wrap="square">
            <a:spAutoFit/>
          </a:bodyPr>
          <a:lstStyle/>
          <a:p>
            <a:pPr algn="l">
              <a:defRPr sz="1000" b="0">
                <a:latin typeface="Malgun Gothic"/>
              </a:defRPr>
            </a:pPr>
            <a:r>
              <a:t>신규사업 추진 과정</a:t>
            </a:r>
          </a:p>
        </p:txBody>
      </p:sp>
      <p:sp>
        <p:nvSpPr>
          <p:cNvPr id="6" name="TextBox 5"/>
          <p:cNvSpPr txBox="1"/>
          <p:nvPr/>
        </p:nvSpPr>
        <p:spPr>
          <a:xfrm>
            <a:off x="457200" y="2148840"/>
            <a:ext cx="4023360" cy="228600"/>
          </a:xfrm>
          <a:prstGeom prst="rect">
            <a:avLst/>
          </a:prstGeom>
          <a:noFill/>
        </p:spPr>
        <p:txBody>
          <a:bodyPr wrap="square">
            <a:spAutoFit/>
          </a:bodyPr>
          <a:lstStyle/>
          <a:p>
            <a:pPr algn="l">
              <a:defRPr sz="1000" b="0">
                <a:latin typeface="Malgun Gothic"/>
              </a:defRPr>
            </a:pPr>
            <a:r>
              <a:t>사업 후보 발굴</a:t>
            </a:r>
          </a:p>
        </p:txBody>
      </p:sp>
      <p:sp>
        <p:nvSpPr>
          <p:cNvPr id="7" name="TextBox 6"/>
          <p:cNvSpPr txBox="1"/>
          <p:nvPr/>
        </p:nvSpPr>
        <p:spPr>
          <a:xfrm>
            <a:off x="457200" y="2468880"/>
            <a:ext cx="4023360" cy="228600"/>
          </a:xfrm>
          <a:prstGeom prst="rect">
            <a:avLst/>
          </a:prstGeom>
          <a:noFill/>
        </p:spPr>
        <p:txBody>
          <a:bodyPr wrap="square">
            <a:spAutoFit/>
          </a:bodyPr>
          <a:lstStyle/>
          <a:p>
            <a:pPr algn="l">
              <a:defRPr sz="1000" b="0">
                <a:latin typeface="Malgun Gothic"/>
              </a:defRPr>
            </a:pPr>
            <a:r>
              <a:t>사업 타당성 검토</a:t>
            </a:r>
          </a:p>
        </p:txBody>
      </p:sp>
      <p:sp>
        <p:nvSpPr>
          <p:cNvPr id="8" name="TextBox 7"/>
          <p:cNvSpPr txBox="1"/>
          <p:nvPr/>
        </p:nvSpPr>
        <p:spPr>
          <a:xfrm>
            <a:off x="457200" y="2788920"/>
            <a:ext cx="4023360" cy="228600"/>
          </a:xfrm>
          <a:prstGeom prst="rect">
            <a:avLst/>
          </a:prstGeom>
          <a:noFill/>
        </p:spPr>
        <p:txBody>
          <a:bodyPr wrap="square">
            <a:spAutoFit/>
          </a:bodyPr>
          <a:lstStyle/>
          <a:p>
            <a:pPr algn="l">
              <a:defRPr sz="1000" b="0">
                <a:latin typeface="Malgun Gothic"/>
              </a:defRPr>
            </a:pPr>
            <a:r>
              <a:t>사업 인큐베이션</a:t>
            </a:r>
          </a:p>
        </p:txBody>
      </p:sp>
      <p:sp>
        <p:nvSpPr>
          <p:cNvPr id="9" name="TextBox 8"/>
          <p:cNvSpPr txBox="1"/>
          <p:nvPr/>
        </p:nvSpPr>
        <p:spPr>
          <a:xfrm>
            <a:off x="457200" y="3108960"/>
            <a:ext cx="4023360" cy="228600"/>
          </a:xfrm>
          <a:prstGeom prst="rect">
            <a:avLst/>
          </a:prstGeom>
          <a:noFill/>
        </p:spPr>
        <p:txBody>
          <a:bodyPr wrap="square">
            <a:spAutoFit/>
          </a:bodyPr>
          <a:lstStyle/>
          <a:p>
            <a:pPr algn="l">
              <a:defRPr sz="1000" b="0">
                <a:latin typeface="Malgun Gothic"/>
              </a:defRPr>
            </a:pPr>
            <a:r>
              <a:t>시범사업 추진·시행</a:t>
            </a:r>
          </a:p>
        </p:txBody>
      </p:sp>
      <p:sp>
        <p:nvSpPr>
          <p:cNvPr id="10" name="TextBox 9"/>
          <p:cNvSpPr txBox="1"/>
          <p:nvPr/>
        </p:nvSpPr>
        <p:spPr>
          <a:xfrm>
            <a:off x="457200" y="3429000"/>
            <a:ext cx="4023360" cy="228600"/>
          </a:xfrm>
          <a:prstGeom prst="rect">
            <a:avLst/>
          </a:prstGeom>
          <a:noFill/>
        </p:spPr>
        <p:txBody>
          <a:bodyPr wrap="square">
            <a:spAutoFit/>
          </a:bodyPr>
          <a:lstStyle/>
          <a:p>
            <a:pPr algn="l">
              <a:defRPr sz="1000" b="0">
                <a:latin typeface="Malgun Gothic"/>
              </a:defRPr>
            </a:pPr>
            <a:r>
              <a:t>사업확대 검토·기획</a:t>
            </a:r>
          </a:p>
        </p:txBody>
      </p:sp>
      <p:sp>
        <p:nvSpPr>
          <p:cNvPr id="11" name="TextBox 10"/>
          <p:cNvSpPr txBox="1"/>
          <p:nvPr/>
        </p:nvSpPr>
        <p:spPr>
          <a:xfrm>
            <a:off x="457200" y="3749040"/>
            <a:ext cx="4023360" cy="228600"/>
          </a:xfrm>
          <a:prstGeom prst="rect">
            <a:avLst/>
          </a:prstGeom>
          <a:noFill/>
        </p:spPr>
        <p:txBody>
          <a:bodyPr wrap="square">
            <a:spAutoFit/>
          </a:bodyPr>
          <a:lstStyle/>
          <a:p>
            <a:pPr algn="l">
              <a:defRPr sz="1000" b="0">
                <a:latin typeface="Malgun Gothic"/>
              </a:defRPr>
            </a:pPr>
            <a:r>
              <a:t>신규사업 추진·시행</a:t>
            </a:r>
          </a:p>
        </p:txBody>
      </p:sp>
      <p:sp>
        <p:nvSpPr>
          <p:cNvPr id="12" name="TextBox 11"/>
          <p:cNvSpPr txBox="1"/>
          <p:nvPr/>
        </p:nvSpPr>
        <p:spPr>
          <a:xfrm>
            <a:off x="457200" y="4069080"/>
            <a:ext cx="4023360" cy="228600"/>
          </a:xfrm>
          <a:prstGeom prst="rect">
            <a:avLst/>
          </a:prstGeom>
          <a:noFill/>
        </p:spPr>
        <p:txBody>
          <a:bodyPr wrap="square">
            <a:spAutoFit/>
          </a:bodyPr>
          <a:lstStyle/>
          <a:p>
            <a:pPr algn="l">
              <a:defRPr sz="1000" b="0">
                <a:latin typeface="Malgun Gothic"/>
              </a:defRPr>
            </a:pPr>
            <a:r>
              <a:t>미래성장팀</a:t>
            </a:r>
          </a:p>
        </p:txBody>
      </p:sp>
      <p:sp>
        <p:nvSpPr>
          <p:cNvPr id="13" name="TextBox 12"/>
          <p:cNvSpPr txBox="1"/>
          <p:nvPr/>
        </p:nvSpPr>
        <p:spPr>
          <a:xfrm>
            <a:off x="457200" y="4389120"/>
            <a:ext cx="4023360" cy="228600"/>
          </a:xfrm>
          <a:prstGeom prst="rect">
            <a:avLst/>
          </a:prstGeom>
          <a:noFill/>
        </p:spPr>
        <p:txBody>
          <a:bodyPr wrap="square">
            <a:spAutoFit/>
          </a:bodyPr>
          <a:lstStyle/>
          <a:p>
            <a:pPr algn="l">
              <a:defRPr sz="1000" b="0">
                <a:latin typeface="Malgun Gothic"/>
              </a:defRPr>
            </a:pPr>
            <a:r>
              <a:t>사업부서</a:t>
            </a:r>
          </a:p>
        </p:txBody>
      </p:sp>
      <p:sp>
        <p:nvSpPr>
          <p:cNvPr id="14" name="TextBox 13"/>
          <p:cNvSpPr txBox="1"/>
          <p:nvPr/>
        </p:nvSpPr>
        <p:spPr>
          <a:xfrm>
            <a:off x="457200" y="4709160"/>
            <a:ext cx="4023360" cy="228600"/>
          </a:xfrm>
          <a:prstGeom prst="rect">
            <a:avLst/>
          </a:prstGeom>
          <a:noFill/>
        </p:spPr>
        <p:txBody>
          <a:bodyPr wrap="square">
            <a:spAutoFit/>
          </a:bodyPr>
          <a:lstStyle/>
          <a:p>
            <a:pPr algn="l">
              <a:defRPr sz="1000" b="0">
                <a:latin typeface="Malgun Gothic"/>
              </a:defRPr>
            </a:pPr>
            <a:r>
              <a:t>현재는 미래성장팀이 사업 인큐베이션 및 시범사업 추진까지를 담당하고 있음</a:t>
            </a:r>
          </a:p>
        </p:txBody>
      </p:sp>
      <p:sp>
        <p:nvSpPr>
          <p:cNvPr id="15" name="TextBox 14"/>
          <p:cNvSpPr txBox="1"/>
          <p:nvPr/>
        </p:nvSpPr>
        <p:spPr>
          <a:xfrm>
            <a:off x="457200" y="5029200"/>
            <a:ext cx="4023360" cy="228600"/>
          </a:xfrm>
          <a:prstGeom prst="rect">
            <a:avLst/>
          </a:prstGeom>
          <a:noFill/>
        </p:spPr>
        <p:txBody>
          <a:bodyPr wrap="square">
            <a:spAutoFit/>
          </a:bodyPr>
          <a:lstStyle/>
          <a:p>
            <a:pPr algn="l">
              <a:defRPr sz="1000" b="0">
                <a:latin typeface="Malgun Gothic"/>
              </a:defRPr>
            </a:pPr>
            <a:r>
              <a:t>Key Findings</a:t>
            </a:r>
          </a:p>
        </p:txBody>
      </p:sp>
      <p:sp>
        <p:nvSpPr>
          <p:cNvPr id="16" name="TextBox 15"/>
          <p:cNvSpPr txBox="1"/>
          <p:nvPr/>
        </p:nvSpPr>
        <p:spPr>
          <a:xfrm>
            <a:off x="457200" y="5349240"/>
            <a:ext cx="4023360" cy="685800"/>
          </a:xfrm>
          <a:prstGeom prst="rect">
            <a:avLst/>
          </a:prstGeom>
          <a:noFill/>
        </p:spPr>
        <p:txBody>
          <a:bodyPr wrap="square">
            <a:spAutoFit/>
          </a:bodyPr>
          <a:lstStyle/>
          <a:p>
            <a:pPr algn="l">
              <a:defRPr sz="1000" b="0">
                <a:latin typeface="Malgun Gothic"/>
              </a:defRPr>
            </a:pPr>
            <a:r>
              <a:t>✓ 신규사업 추진에서 미래성장팀이 시범사업 추진까지 담당하고 있음</a:t>
            </a:r>
            <a:br/>
            <a:r>
              <a:t>✓ 미래성장팀에 신규(성장)사업을 전적으로 의존하게 되며, 사업부서 신규사업의 추진 시 NIH(Not Invented Here) 현상으로 사업 추진력이 약화될 수 있음</a:t>
            </a:r>
          </a:p>
        </p:txBody>
      </p:sp>
      <p:sp>
        <p:nvSpPr>
          <p:cNvPr id="17" name="TextBox 16"/>
          <p:cNvSpPr txBox="1"/>
          <p:nvPr/>
        </p:nvSpPr>
        <p:spPr>
          <a:xfrm>
            <a:off x="457200" y="6126480"/>
            <a:ext cx="8229600" cy="274320"/>
          </a:xfrm>
          <a:prstGeom prst="rect">
            <a:avLst/>
          </a:prstGeom>
          <a:noFill/>
        </p:spPr>
        <p:txBody>
          <a:bodyPr wrap="square">
            <a:spAutoFit/>
          </a:bodyPr>
          <a:lstStyle/>
          <a:p>
            <a:pPr algn="l">
              <a:defRPr sz="1200" b="1">
                <a:solidFill>
                  <a:srgbClr val="003366"/>
                </a:solidFill>
                <a:latin typeface="Malgun Gothic"/>
              </a:defRPr>
            </a:pPr>
            <a:r>
              <a:t>부서별 개별 채널 운영으로 분산된 대국민 소통</a:t>
            </a:r>
          </a:p>
        </p:txBody>
      </p:sp>
      <p:sp>
        <p:nvSpPr>
          <p:cNvPr id="18" name="TextBox 17"/>
          <p:cNvSpPr txBox="1"/>
          <p:nvPr/>
        </p:nvSpPr>
        <p:spPr>
          <a:xfrm>
            <a:off x="4663440" y="2194560"/>
            <a:ext cx="4023360" cy="228600"/>
          </a:xfrm>
          <a:prstGeom prst="rect">
            <a:avLst/>
          </a:prstGeom>
          <a:noFill/>
        </p:spPr>
        <p:txBody>
          <a:bodyPr wrap="square">
            <a:spAutoFit/>
          </a:bodyPr>
          <a:lstStyle/>
          <a:p>
            <a:pPr algn="l">
              <a:defRPr sz="1000" b="0">
                <a:latin typeface="Malgun Gothic"/>
              </a:defRPr>
            </a:pPr>
            <a:r>
              <a:t>홍보팀</a:t>
            </a:r>
          </a:p>
        </p:txBody>
      </p:sp>
      <p:sp>
        <p:nvSpPr>
          <p:cNvPr id="19" name="TextBox 18"/>
          <p:cNvSpPr txBox="1"/>
          <p:nvPr/>
        </p:nvSpPr>
        <p:spPr>
          <a:xfrm>
            <a:off x="4663440" y="2514600"/>
            <a:ext cx="4023360" cy="228600"/>
          </a:xfrm>
          <a:prstGeom prst="rect">
            <a:avLst/>
          </a:prstGeom>
          <a:noFill/>
        </p:spPr>
        <p:txBody>
          <a:bodyPr wrap="square">
            <a:spAutoFit/>
          </a:bodyPr>
          <a:lstStyle/>
          <a:p>
            <a:pPr algn="l">
              <a:defRPr sz="1000" b="0">
                <a:latin typeface="Malgun Gothic"/>
              </a:defRPr>
            </a:pPr>
            <a:r>
              <a:t>공단PR 대외 홍보활동</a:t>
            </a:r>
          </a:p>
        </p:txBody>
      </p:sp>
      <p:sp>
        <p:nvSpPr>
          <p:cNvPr id="20" name="TextBox 19"/>
          <p:cNvSpPr txBox="1"/>
          <p:nvPr/>
        </p:nvSpPr>
        <p:spPr>
          <a:xfrm>
            <a:off x="4663440" y="2834640"/>
            <a:ext cx="4023360" cy="228600"/>
          </a:xfrm>
          <a:prstGeom prst="rect">
            <a:avLst/>
          </a:prstGeom>
          <a:noFill/>
        </p:spPr>
        <p:txBody>
          <a:bodyPr wrap="square">
            <a:spAutoFit/>
          </a:bodyPr>
          <a:lstStyle/>
          <a:p>
            <a:pPr algn="l">
              <a:defRPr sz="1000" b="0">
                <a:latin typeface="Malgun Gothic"/>
              </a:defRPr>
            </a:pPr>
            <a:r>
              <a:t>사회가치·혁신팀</a:t>
            </a:r>
          </a:p>
        </p:txBody>
      </p:sp>
      <p:sp>
        <p:nvSpPr>
          <p:cNvPr id="21" name="TextBox 20"/>
          <p:cNvSpPr txBox="1"/>
          <p:nvPr/>
        </p:nvSpPr>
        <p:spPr>
          <a:xfrm>
            <a:off x="4663440" y="3154680"/>
            <a:ext cx="4023360" cy="228600"/>
          </a:xfrm>
          <a:prstGeom prst="rect">
            <a:avLst/>
          </a:prstGeom>
          <a:noFill/>
        </p:spPr>
        <p:txBody>
          <a:bodyPr wrap="square">
            <a:spAutoFit/>
          </a:bodyPr>
          <a:lstStyle/>
          <a:p>
            <a:pPr algn="l">
              <a:defRPr sz="1000" b="0">
                <a:latin typeface="Malgun Gothic"/>
              </a:defRPr>
            </a:pPr>
            <a:r>
              <a:t>시민단체 ·시민참여단 소통관리</a:t>
            </a:r>
          </a:p>
        </p:txBody>
      </p:sp>
      <p:sp>
        <p:nvSpPr>
          <p:cNvPr id="22" name="TextBox 21"/>
          <p:cNvSpPr txBox="1"/>
          <p:nvPr/>
        </p:nvSpPr>
        <p:spPr>
          <a:xfrm>
            <a:off x="4663440" y="3474720"/>
            <a:ext cx="4023360" cy="228600"/>
          </a:xfrm>
          <a:prstGeom prst="rect">
            <a:avLst/>
          </a:prstGeom>
          <a:noFill/>
        </p:spPr>
        <p:txBody>
          <a:bodyPr wrap="square">
            <a:spAutoFit/>
          </a:bodyPr>
          <a:lstStyle/>
          <a:p>
            <a:pPr algn="l">
              <a:defRPr sz="1000" b="0">
                <a:latin typeface="Malgun Gothic"/>
              </a:defRPr>
            </a:pPr>
            <a:r>
              <a:t>국가해양환경교육센터</a:t>
            </a:r>
          </a:p>
        </p:txBody>
      </p:sp>
      <p:sp>
        <p:nvSpPr>
          <p:cNvPr id="23" name="TextBox 22"/>
          <p:cNvSpPr txBox="1"/>
          <p:nvPr/>
        </p:nvSpPr>
        <p:spPr>
          <a:xfrm>
            <a:off x="4663440" y="3794760"/>
            <a:ext cx="4023360" cy="228600"/>
          </a:xfrm>
          <a:prstGeom prst="rect">
            <a:avLst/>
          </a:prstGeom>
          <a:noFill/>
        </p:spPr>
        <p:txBody>
          <a:bodyPr wrap="square">
            <a:spAutoFit/>
          </a:bodyPr>
          <a:lstStyle/>
          <a:p>
            <a:pPr algn="l">
              <a:defRPr sz="1000" b="0">
                <a:latin typeface="Malgun Gothic"/>
              </a:defRPr>
            </a:pPr>
            <a:r>
              <a:t>해양오염예방팀</a:t>
            </a:r>
          </a:p>
        </p:txBody>
      </p:sp>
      <p:sp>
        <p:nvSpPr>
          <p:cNvPr id="24" name="TextBox 23"/>
          <p:cNvSpPr txBox="1"/>
          <p:nvPr/>
        </p:nvSpPr>
        <p:spPr>
          <a:xfrm>
            <a:off x="4663440" y="4114800"/>
            <a:ext cx="4023360" cy="228600"/>
          </a:xfrm>
          <a:prstGeom prst="rect">
            <a:avLst/>
          </a:prstGeom>
          <a:noFill/>
        </p:spPr>
        <p:txBody>
          <a:bodyPr wrap="square">
            <a:spAutoFit/>
          </a:bodyPr>
          <a:lstStyle/>
          <a:p>
            <a:pPr algn="l">
              <a:defRPr sz="1000" b="0">
                <a:latin typeface="Malgun Gothic"/>
              </a:defRPr>
            </a:pPr>
            <a:r>
              <a:t>해양오염사고예방 국민홍보</a:t>
            </a:r>
          </a:p>
        </p:txBody>
      </p:sp>
      <p:sp>
        <p:nvSpPr>
          <p:cNvPr id="25" name="TextBox 24"/>
          <p:cNvSpPr txBox="1"/>
          <p:nvPr/>
        </p:nvSpPr>
        <p:spPr>
          <a:xfrm>
            <a:off x="4663440" y="4434840"/>
            <a:ext cx="4023360" cy="228600"/>
          </a:xfrm>
          <a:prstGeom prst="rect">
            <a:avLst/>
          </a:prstGeom>
          <a:noFill/>
        </p:spPr>
        <p:txBody>
          <a:bodyPr wrap="square">
            <a:spAutoFit/>
          </a:bodyPr>
          <a:lstStyle/>
          <a:p>
            <a:pPr algn="l">
              <a:defRPr sz="1000" b="0">
                <a:latin typeface="Malgun Gothic"/>
              </a:defRPr>
            </a:pPr>
            <a:r>
              <a:t>해양폐기물관리센터</a:t>
            </a:r>
          </a:p>
        </p:txBody>
      </p:sp>
      <p:sp>
        <p:nvSpPr>
          <p:cNvPr id="26" name="TextBox 25"/>
          <p:cNvSpPr txBox="1"/>
          <p:nvPr/>
        </p:nvSpPr>
        <p:spPr>
          <a:xfrm>
            <a:off x="4663440" y="4754880"/>
            <a:ext cx="4023360" cy="228600"/>
          </a:xfrm>
          <a:prstGeom prst="rect">
            <a:avLst/>
          </a:prstGeom>
          <a:noFill/>
        </p:spPr>
        <p:txBody>
          <a:bodyPr wrap="square">
            <a:spAutoFit/>
          </a:bodyPr>
          <a:lstStyle/>
          <a:p>
            <a:pPr algn="l">
              <a:defRPr sz="1000" b="0">
                <a:latin typeface="Malgun Gothic"/>
              </a:defRPr>
            </a:pPr>
            <a:r>
              <a:t>해양쓰레기저감 국민홍보</a:t>
            </a:r>
          </a:p>
        </p:txBody>
      </p:sp>
      <p:sp>
        <p:nvSpPr>
          <p:cNvPr id="27" name="TextBox 26"/>
          <p:cNvSpPr txBox="1"/>
          <p:nvPr/>
        </p:nvSpPr>
        <p:spPr>
          <a:xfrm>
            <a:off x="4663440" y="5074920"/>
            <a:ext cx="4023360" cy="228600"/>
          </a:xfrm>
          <a:prstGeom prst="rect">
            <a:avLst/>
          </a:prstGeom>
          <a:noFill/>
        </p:spPr>
        <p:txBody>
          <a:bodyPr wrap="square">
            <a:spAutoFit/>
          </a:bodyPr>
          <a:lstStyle/>
          <a:p>
            <a:pPr algn="l">
              <a:defRPr sz="1000" b="0">
                <a:latin typeface="Malgun Gothic"/>
              </a:defRPr>
            </a:pPr>
            <a:r>
              <a:t>대국민 해양환경교육</a:t>
            </a:r>
          </a:p>
        </p:txBody>
      </p:sp>
      <p:sp>
        <p:nvSpPr>
          <p:cNvPr id="28" name="TextBox 27"/>
          <p:cNvSpPr txBox="1"/>
          <p:nvPr/>
        </p:nvSpPr>
        <p:spPr>
          <a:xfrm>
            <a:off x="457200" y="6492240"/>
            <a:ext cx="4023360" cy="228600"/>
          </a:xfrm>
          <a:prstGeom prst="rect">
            <a:avLst/>
          </a:prstGeom>
          <a:noFill/>
        </p:spPr>
        <p:txBody>
          <a:bodyPr wrap="square">
            <a:spAutoFit/>
          </a:bodyPr>
          <a:lstStyle/>
          <a:p>
            <a:pPr algn="l">
              <a:defRPr sz="1000" b="0">
                <a:latin typeface="Malgun Gothic"/>
              </a:defRPr>
            </a:pPr>
            <a:r>
              <a:t>통합 국민소통 채널 (국민참여 플랫폼)</a:t>
            </a:r>
          </a:p>
        </p:txBody>
      </p:sp>
      <p:sp>
        <p:nvSpPr>
          <p:cNvPr id="29" name="TextBox 28"/>
          <p:cNvSpPr txBox="1"/>
          <p:nvPr/>
        </p:nvSpPr>
        <p:spPr>
          <a:xfrm>
            <a:off x="4663440" y="5394960"/>
            <a:ext cx="4023360" cy="228600"/>
          </a:xfrm>
          <a:prstGeom prst="rect">
            <a:avLst/>
          </a:prstGeom>
          <a:noFill/>
        </p:spPr>
        <p:txBody>
          <a:bodyPr wrap="square">
            <a:spAutoFit/>
          </a:bodyPr>
          <a:lstStyle/>
          <a:p>
            <a:pPr algn="l">
              <a:defRPr sz="1000" b="0">
                <a:latin typeface="Malgun Gothic"/>
              </a:defRPr>
            </a:pPr>
            <a:r>
              <a:t>Key Findings</a:t>
            </a:r>
          </a:p>
        </p:txBody>
      </p:sp>
      <p:sp>
        <p:nvSpPr>
          <p:cNvPr id="30" name="TextBox 29"/>
          <p:cNvSpPr txBox="1"/>
          <p:nvPr/>
        </p:nvSpPr>
        <p:spPr>
          <a:xfrm>
            <a:off x="4663440" y="5715000"/>
            <a:ext cx="4023360" cy="685800"/>
          </a:xfrm>
          <a:prstGeom prst="rect">
            <a:avLst/>
          </a:prstGeom>
          <a:noFill/>
        </p:spPr>
        <p:txBody>
          <a:bodyPr wrap="square">
            <a:spAutoFit/>
          </a:bodyPr>
          <a:lstStyle/>
          <a:p>
            <a:pPr algn="l">
              <a:defRPr sz="1000" b="0">
                <a:latin typeface="Malgun Gothic"/>
              </a:defRPr>
            </a:pPr>
            <a:r>
              <a:t>✓ 홍보팀, 사회가치·혁신팀, 국가해양환경교육센터, 해양폐기물관리센터, 해양오염예방팀에서 각각 대국민 소통채널 개별 운영 중임</a:t>
            </a:r>
            <a:br/>
            <a:r>
              <a:t>✓ 소통의 일관된 방향성 부재, 소통과 참여의 확대를 위한 네트워크 규모 달성 어려움 등 문제 보유</a:t>
            </a:r>
          </a:p>
        </p:txBody>
      </p:sp>
      <p:sp>
        <p:nvSpPr>
          <p:cNvPr id="31" name="TextBox 30"/>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61 | Page 62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내부 환경·역량 분석 - 조직구조 관련 현안 이슈 (4/4)</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해양사업본부 예선, 기중기선 사업 축소로 조직이 통합·축소 되었고 이후로 신규 수익사업 추진이 불투명해 의사결정 및 전환이 필요하고, 지사·사업소는 예선, 방제, 오염정화 기능에 한정되어 있어, 전국 조직으로서 활용이 제한적임</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해양사업본부 사업 축소에 따른 조직 축소</a:t>
            </a:r>
          </a:p>
        </p:txBody>
      </p:sp>
      <p:sp>
        <p:nvSpPr>
          <p:cNvPr id="5" name="TextBox 4"/>
          <p:cNvSpPr txBox="1"/>
          <p:nvPr/>
        </p:nvSpPr>
        <p:spPr>
          <a:xfrm>
            <a:off x="457200" y="1828800"/>
            <a:ext cx="4023360" cy="1143000"/>
          </a:xfrm>
          <a:prstGeom prst="rect">
            <a:avLst/>
          </a:prstGeom>
          <a:noFill/>
        </p:spPr>
        <p:txBody>
          <a:bodyPr wrap="square">
            <a:spAutoFit/>
          </a:bodyPr>
          <a:lstStyle/>
          <a:p>
            <a:pPr algn="l">
              <a:defRPr sz="900" b="0">
                <a:latin typeface="Malgun Gothic"/>
              </a:defRPr>
            </a:pPr>
            <a:r>
              <a:t>[TABLE]</a:t>
            </a:r>
            <a:br/>
            <a:r>
              <a:t>사업구분 | 2017 | 2020</a:t>
            </a:r>
            <a:br/>
            <a:r>
              <a:t>| 선박 | 사업수익 | 선박 | 사업수익</a:t>
            </a:r>
            <a:br/>
            <a:r>
              <a:t>항만예선 | 27척 | 327.3억 원 | 27척 | 268.1억 원</a:t>
            </a:r>
            <a:br/>
            <a:r>
              <a:t>전용예선 | 4척 |  | 2척 |</a:t>
            </a:r>
            <a:br/>
            <a:r>
              <a:t>기중기선 | 1척 | 47.1억 원 | - | 14.5억 원</a:t>
            </a:r>
            <a:br/>
            <a:r>
              <a:t>사업조직 | 항만예선팀 8개 지사(항) | | 예선운영팀 8개 지사(항)</a:t>
            </a:r>
            <a:br/>
            <a:r>
              <a:t>| 전용예선팀 (특수선운영팀) | | 기중기 운영사업 축소(설악호) → 특수선운영팀 통폐합 |</a:t>
            </a:r>
          </a:p>
        </p:txBody>
      </p:sp>
      <p:sp>
        <p:nvSpPr>
          <p:cNvPr id="6" name="TextBox 5"/>
          <p:cNvSpPr txBox="1"/>
          <p:nvPr/>
        </p:nvSpPr>
        <p:spPr>
          <a:xfrm>
            <a:off x="457200" y="3063240"/>
            <a:ext cx="4023360" cy="685800"/>
          </a:xfrm>
          <a:prstGeom prst="rect">
            <a:avLst/>
          </a:prstGeom>
          <a:noFill/>
        </p:spPr>
        <p:txBody>
          <a:bodyPr wrap="square">
            <a:spAutoFit/>
          </a:bodyPr>
          <a:lstStyle/>
          <a:p>
            <a:pPr algn="l">
              <a:defRPr sz="1000" b="0">
                <a:latin typeface="Malgun Gothic"/>
              </a:defRPr>
            </a:pPr>
            <a:r>
              <a:t>사업 축소에 따른 사업조직 축소</a:t>
            </a:r>
            <a:br/>
            <a:r>
              <a:t>✓ 해양사업본부는 예선사업, 특수선(기중기선) 사업의 축소에 따라 조직과 인력이 축소되었음</a:t>
            </a:r>
            <a:br/>
            <a:r>
              <a:t>✓ 예선사업의 사업성 악화에 따른 운영계획 수립, 다목적 방제선 운영전략 재수립 등 중장기 운영전략에 따라 본부 조직의 개편 및 전환 필요</a:t>
            </a:r>
          </a:p>
        </p:txBody>
      </p:sp>
      <p:sp>
        <p:nvSpPr>
          <p:cNvPr id="7" name="TextBox 6"/>
          <p:cNvSpPr txBox="1"/>
          <p:nvPr/>
        </p:nvSpPr>
        <p:spPr>
          <a:xfrm>
            <a:off x="457200" y="3840480"/>
            <a:ext cx="8229600" cy="274320"/>
          </a:xfrm>
          <a:prstGeom prst="rect">
            <a:avLst/>
          </a:prstGeom>
          <a:noFill/>
        </p:spPr>
        <p:txBody>
          <a:bodyPr wrap="square">
            <a:spAutoFit/>
          </a:bodyPr>
          <a:lstStyle/>
          <a:p>
            <a:pPr algn="l">
              <a:defRPr sz="1200" b="1">
                <a:solidFill>
                  <a:srgbClr val="003366"/>
                </a:solidFill>
                <a:latin typeface="Malgun Gothic"/>
              </a:defRPr>
            </a:pPr>
            <a:r>
              <a:t>지사의 본사사업 지원 영역</a:t>
            </a:r>
          </a:p>
        </p:txBody>
      </p:sp>
      <p:sp>
        <p:nvSpPr>
          <p:cNvPr id="8" name="TextBox 7"/>
          <p:cNvSpPr txBox="1"/>
          <p:nvPr/>
        </p:nvSpPr>
        <p:spPr>
          <a:xfrm>
            <a:off x="4663440" y="2194560"/>
            <a:ext cx="4023360" cy="1143000"/>
          </a:xfrm>
          <a:prstGeom prst="rect">
            <a:avLst/>
          </a:prstGeom>
          <a:noFill/>
        </p:spPr>
        <p:txBody>
          <a:bodyPr wrap="square">
            <a:spAutoFit/>
          </a:bodyPr>
          <a:lstStyle/>
          <a:p>
            <a:pPr algn="l">
              <a:defRPr sz="900" b="0">
                <a:latin typeface="Malgun Gothic"/>
              </a:defRPr>
            </a:pPr>
            <a:r>
              <a:t>[TABLE]</a:t>
            </a:r>
            <a:br/>
            <a:r>
              <a:t>공단 사업영역 | 지사·사업소 업무 영역</a:t>
            </a:r>
            <a:br/>
            <a:r>
              <a:t>오염정화 | 사업소 - 청항·폐유관리</a:t>
            </a:r>
            <a:br/>
            <a:r>
              <a:t>생태복원 | ■ 지역 네트워킹 필요하나 단위사업 연속성 등의 문제로 지사·사업소에 기능을 두지 못하고 있음</a:t>
            </a:r>
            <a:br/>
            <a:r>
              <a:t>해양보전 | → 지사·사업소의 역할 한정으로, 보유한 전국 조직의 활용도 제한적임</a:t>
            </a:r>
            <a:br/>
            <a:r>
              <a:t>해양이용 |</a:t>
            </a:r>
            <a:br/>
            <a:r>
              <a:t>해양보전 |</a:t>
            </a:r>
            <a:br/>
            <a:r>
              <a:t>오염예방 | 지사</a:t>
            </a:r>
            <a:br/>
            <a:r>
              <a:t>해양방제 | 방제대응 | - 예방적 방제, 방제대응</a:t>
            </a:r>
            <a:br/>
            <a:r>
              <a:t>예선운영 | - 항만예선, 특수선 운영</a:t>
            </a:r>
            <a:br/>
            <a:r>
              <a:t>해양사업 | 준설·기중기</a:t>
            </a:r>
          </a:p>
        </p:txBody>
      </p:sp>
      <p:sp>
        <p:nvSpPr>
          <p:cNvPr id="9" name="TextBox 8"/>
          <p:cNvSpPr txBox="1"/>
          <p:nvPr/>
        </p:nvSpPr>
        <p:spPr>
          <a:xfrm>
            <a:off x="4663440" y="3429000"/>
            <a:ext cx="4023360" cy="685800"/>
          </a:xfrm>
          <a:prstGeom prst="rect">
            <a:avLst/>
          </a:prstGeom>
          <a:noFill/>
        </p:spPr>
        <p:txBody>
          <a:bodyPr wrap="square">
            <a:spAutoFit/>
          </a:bodyPr>
          <a:lstStyle/>
          <a:p>
            <a:pPr algn="l">
              <a:defRPr sz="1000" b="0">
                <a:latin typeface="Malgun Gothic"/>
              </a:defRPr>
            </a:pPr>
            <a:r>
              <a:t>✓ 현재 지사와 사업소는 방제, 예선운영, 폐기물 시설 운영관리에 한정된 기능으로 운영되고 있음</a:t>
            </a:r>
            <a:br/>
            <a:r>
              <a:t>✓ 전국 조직 보유에도 불구하고 해양보전 사업의 연속성 등의 문제로 전국 조직망의 활용은 제한적일 수 밖에 없는 상태로, 전국 조직망 활용을 위한 대안 마련 필요</a:t>
            </a:r>
          </a:p>
        </p:txBody>
      </p:sp>
      <p:sp>
        <p:nvSpPr>
          <p:cNvPr id="10" name="TextBox 9"/>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63</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내부 환경·역량 분석 - 일반직·기능직 인력구성</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공단 인력은 선박기술직이 288명(41.9%)로 가장 높고, 일반직 286명(41.6%), 공무직 57명(8.3%), 환경기술직 48명 (7.0%)으로 구성되어 있으며, 단일 노조로 선박기술직의 의견이 제일 강하게 작용함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인력구조 : 기술직 정원이 가장 큰 비율, 일반직 정원 상대적으로 작음</a:t>
            </a:r>
          </a:p>
        </p:txBody>
      </p:sp>
      <p:sp>
        <p:nvSpPr>
          <p:cNvPr id="5" name="TextBox 4"/>
          <p:cNvSpPr txBox="1"/>
          <p:nvPr/>
        </p:nvSpPr>
        <p:spPr>
          <a:xfrm>
            <a:off x="457200" y="1828800"/>
            <a:ext cx="4023360" cy="1828800"/>
          </a:xfrm>
          <a:prstGeom prst="rect">
            <a:avLst/>
          </a:prstGeom>
          <a:noFill/>
        </p:spPr>
        <p:txBody>
          <a:bodyPr wrap="square">
            <a:spAutoFit/>
          </a:bodyPr>
          <a:lstStyle/>
          <a:p>
            <a:pPr algn="l">
              <a:defRPr sz="900" b="0">
                <a:latin typeface="Malgun Gothic"/>
              </a:defRPr>
            </a:pPr>
            <a:r>
              <a:t>[TABLE]</a:t>
            </a:r>
            <a:br/>
            <a:r>
              <a:t>공단 정원현황 (2020.11.20 정원표 기준)</a:t>
            </a:r>
            <a:br/>
            <a:r>
              <a:t> 구분	계	임원	일반직	기술직(선박)기술직(환경)	별정직	공무직</a:t>
            </a:r>
            <a:br/>
            <a:r>
              <a:t>계	688	4	286	288	48	5	57</a:t>
            </a:r>
            <a:br/>
            <a:r>
              <a:t>구성비	100.0%	0.6%	41.6%	41.9%	7.0%	0.7%	8.3%</a:t>
            </a:r>
            <a:br/>
            <a:r>
              <a:t>임원	4	4	 	 	 	 	 </a:t>
            </a:r>
            <a:br/>
            <a:r>
              <a:t>소계	286	 	286	 	 	 	 </a:t>
            </a:r>
            <a:br/>
            <a:r>
              <a:t>1급	17	 	17	 	 	 	 </a:t>
            </a:r>
            <a:br/>
            <a:r>
              <a:t>2급	23	 	23	 	 	 	 </a:t>
            </a:r>
            <a:br/>
            <a:r>
              <a:t>일반직	3급	39	 	39	122	13	 	 </a:t>
            </a:r>
            <a:br/>
            <a:r>
              <a:t>4급	63	 	63	82	17	 	 </a:t>
            </a:r>
            <a:br/>
            <a:r>
              <a:t>5급	101	 	101	84	18	 	 </a:t>
            </a:r>
            <a:br/>
            <a:r>
              <a:t>6~7급	43	 	43	 	 	 	 </a:t>
            </a:r>
            <a:br/>
            <a:r>
              <a:t>기술직	336	 	 	336	 	 	 </a:t>
            </a:r>
            <a:br/>
            <a:r>
              <a:t>별정직	5	 	 	 	 	5	 </a:t>
            </a:r>
            <a:br/>
            <a:r>
              <a:t>공무직	57	 	 	 	 	 	57</a:t>
            </a:r>
          </a:p>
        </p:txBody>
      </p:sp>
      <p:sp>
        <p:nvSpPr>
          <p:cNvPr id="6" name="TextBox 5"/>
          <p:cNvSpPr txBox="1"/>
          <p:nvPr/>
        </p:nvSpPr>
        <p:spPr>
          <a:xfrm>
            <a:off x="4663440" y="1828800"/>
            <a:ext cx="4023360" cy="1371600"/>
          </a:xfrm>
          <a:prstGeom prst="rect">
            <a:avLst/>
          </a:prstGeom>
          <a:noFill/>
        </p:spPr>
        <p:txBody>
          <a:bodyPr wrap="square">
            <a:spAutoFit/>
          </a:bodyPr>
          <a:lstStyle/>
          <a:p>
            <a:pPr algn="l">
              <a:defRPr sz="1000" b="0">
                <a:latin typeface="Malgun Gothic"/>
              </a:defRPr>
            </a:pPr>
            <a:r>
              <a:t>Key Findings</a:t>
            </a:r>
            <a:br/>
            <a:r>
              <a:t>✓ 공단은 '20년 11월 정원 기준 선박기술직 인력이 가장 큰 비중(41.9%)를 차지함</a:t>
            </a:r>
            <a:br/>
            <a:r>
              <a:t>✓ 일반직의 비율은 41.6%로 상대적으로 작음</a:t>
            </a:r>
            <a:br/>
            <a:r>
              <a:t>✓ 단일노조로 노조가 운영되고 있어, 일반직보다는 기술직, 공무직 인력의 비율이 높아 의견이 주로 반영됨</a:t>
            </a:r>
            <a:br/>
            <a:r>
              <a:t>✓ '22년 4월 다목적 대형 방제선이 인도되어 운영되면 26~30인의 선박 기술직 인력이 증가할 예정임 (전체의 44.3% 선박기술직)</a:t>
            </a:r>
            <a:br/>
            <a:r>
              <a:t>✓ 예선사업, 방제사업 중장기 운영방침 수립과 실행에 제약요소로 작용할 수 있음</a:t>
            </a:r>
          </a:p>
        </p:txBody>
      </p:sp>
      <p:sp>
        <p:nvSpPr>
          <p:cNvPr id="7" name="TextBox 6"/>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63 | Page 64</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내부 환경·역량 분석 - 정원대비 현원</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공단 일반직 정원은 295명이며, 6월 현재 현원 296명 중 29명이 TF, 휴직 등 정상운용에서 제외되는 비가용 인원으로 전체 부서가 인력이 부족하며(충원율 93.6%), 미래성장팀, 조사연구원의 인력 부족이 큰 것으로 나타남</a:t>
            </a:r>
          </a:p>
        </p:txBody>
      </p:sp>
      <p:sp>
        <p:nvSpPr>
          <p:cNvPr id="4" name="Rectangle 3"/>
          <p:cNvSpPr/>
          <p:nvPr/>
        </p:nvSpPr>
        <p:spPr>
          <a:xfrm>
            <a:off x="45720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5" name="TextBox 4"/>
          <p:cNvSpPr txBox="1"/>
          <p:nvPr/>
        </p:nvSpPr>
        <p:spPr>
          <a:xfrm>
            <a:off x="54864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6" name="Rectangle 5"/>
          <p:cNvSpPr/>
          <p:nvPr/>
        </p:nvSpPr>
        <p:spPr>
          <a:xfrm>
            <a:off x="323088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7" name="TextBox 6"/>
          <p:cNvSpPr txBox="1"/>
          <p:nvPr/>
        </p:nvSpPr>
        <p:spPr>
          <a:xfrm>
            <a:off x="332232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8" name="Rectangle 7"/>
          <p:cNvSpPr/>
          <p:nvPr/>
        </p:nvSpPr>
        <p:spPr>
          <a:xfrm>
            <a:off x="600456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9" name="TextBox 8"/>
          <p:cNvSpPr txBox="1"/>
          <p:nvPr/>
        </p:nvSpPr>
        <p:spPr>
          <a:xfrm>
            <a:off x="609600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0" name="TextBox 9"/>
          <p:cNvSpPr txBox="1"/>
          <p:nvPr/>
        </p:nvSpPr>
        <p:spPr>
          <a:xfrm>
            <a:off x="4663440" y="1463040"/>
            <a:ext cx="4023360" cy="228600"/>
          </a:xfrm>
          <a:prstGeom prst="rect">
            <a:avLst/>
          </a:prstGeom>
          <a:noFill/>
        </p:spPr>
        <p:txBody>
          <a:bodyPr wrap="square">
            <a:spAutoFit/>
          </a:bodyPr>
          <a:lstStyle/>
          <a:p>
            <a:pPr algn="l">
              <a:defRPr sz="1000" b="0">
                <a:latin typeface="Malgun Gothic"/>
              </a:defRPr>
            </a:pPr>
            <a:r>
              <a:t>Key Findings</a:t>
            </a:r>
          </a:p>
        </p:txBody>
      </p:sp>
      <p:sp>
        <p:nvSpPr>
          <p:cNvPr id="11" name="TextBox 10"/>
          <p:cNvSpPr txBox="1"/>
          <p:nvPr/>
        </p:nvSpPr>
        <p:spPr>
          <a:xfrm>
            <a:off x="4663440" y="1783080"/>
            <a:ext cx="4023360" cy="1600200"/>
          </a:xfrm>
          <a:prstGeom prst="rect">
            <a:avLst/>
          </a:prstGeom>
          <a:noFill/>
        </p:spPr>
        <p:txBody>
          <a:bodyPr wrap="square">
            <a:spAutoFit/>
          </a:bodyPr>
          <a:lstStyle/>
          <a:p>
            <a:pPr algn="l">
              <a:defRPr sz="1000" b="0">
                <a:latin typeface="Malgun Gothic"/>
              </a:defRPr>
            </a:pPr>
            <a:r>
              <a:t>✓ 해양공간계획TF, 해양치유TF, 민간역량활용TF 등 정원 외 직무 보직자가 16명, 휴직 등 인원이 13명으로 전체 일반직 현원 296명 중 29명이 가용인원 제외 인력 (일반직 정원 295명, 현원 276명, 충원율 93.6%)</a:t>
            </a:r>
            <a:br/>
            <a:r>
              <a:t>✓ 특히 이사장직속 미래성장팀, 해양환경조사연구원, 해양사업본부가 정원대비 현원 부족이 큰 것으로 나타남</a:t>
            </a:r>
            <a:br/>
            <a:r>
              <a:t>✓ 주어진 과업 수행 중심으로 인력이 투입되어 미래성장 등 전략적 인적자원의 투입이 적절히 이루어지지 않고 있음</a:t>
            </a:r>
            <a:br/>
            <a:r>
              <a:t>✓ 휴직의 증가는 일시적 현상이기 보다는 정부 정책의 변화에 따른 항구적 변화로 보는 것이 적절함 → 장기적 정원산정 반영 필요</a:t>
            </a:r>
          </a:p>
        </p:txBody>
      </p:sp>
      <p:sp>
        <p:nvSpPr>
          <p:cNvPr id="12" name="TextBox 11"/>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64 | Page 65</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내부 환경·역량 분석 - 인사제도 및 운영 진단 (1/4)</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인사제도 및 운영에 대해 현안을 중심으로 진단해보면, 심각한 승진 적체로 인해 승진 뿐만 아니라 배치, 평가, 보상 등 다양한 영역에서 문제가 나타나고 있으며, 동기부여에도 심각한 영향을 주고 있어 적절한 대안 마련이 필요함</a:t>
            </a:r>
          </a:p>
        </p:txBody>
      </p:sp>
      <p:sp>
        <p:nvSpPr>
          <p:cNvPr id="4" name="TextBox 3"/>
          <p:cNvSpPr txBox="1"/>
          <p:nvPr/>
        </p:nvSpPr>
        <p:spPr>
          <a:xfrm>
            <a:off x="457200" y="1463040"/>
            <a:ext cx="4023360" cy="228600"/>
          </a:xfrm>
          <a:prstGeom prst="rect">
            <a:avLst/>
          </a:prstGeom>
          <a:noFill/>
        </p:spPr>
        <p:txBody>
          <a:bodyPr wrap="square">
            <a:spAutoFit/>
          </a:bodyPr>
          <a:lstStyle/>
          <a:p>
            <a:pPr algn="l">
              <a:defRPr sz="1000" b="0">
                <a:latin typeface="Malgun Gothic"/>
              </a:defRPr>
            </a:pPr>
            <a:r>
              <a:t>인사운영 진단 : 현안 이슈 중심 진단</a:t>
            </a:r>
          </a:p>
        </p:txBody>
      </p:sp>
      <p:sp>
        <p:nvSpPr>
          <p:cNvPr id="5" name="TextBox 4"/>
          <p:cNvSpPr txBox="1"/>
          <p:nvPr/>
        </p:nvSpPr>
        <p:spPr>
          <a:xfrm>
            <a:off x="457200" y="1783080"/>
            <a:ext cx="4023360" cy="3429000"/>
          </a:xfrm>
          <a:prstGeom prst="rect">
            <a:avLst/>
          </a:prstGeom>
          <a:noFill/>
        </p:spPr>
        <p:txBody>
          <a:bodyPr wrap="square">
            <a:spAutoFit/>
          </a:bodyPr>
          <a:lstStyle/>
          <a:p>
            <a:pPr algn="l">
              <a:defRPr sz="900" b="0">
                <a:latin typeface="Malgun Gothic"/>
              </a:defRPr>
            </a:pPr>
            <a:r>
              <a:t>[TABLE]</a:t>
            </a:r>
            <a:br/>
            <a:r>
              <a:t>구분</a:t>
            </a:r>
            <a:br/>
            <a:r>
              <a:t>직무 체계</a:t>
            </a:r>
            <a:br/>
            <a:r>
              <a:t>채용</a:t>
            </a:r>
            <a:br/>
            <a:r>
              <a:t>직급·승진</a:t>
            </a:r>
            <a:br/>
            <a:r>
              <a:t>목표·성과관리</a:t>
            </a:r>
            <a:br/>
            <a:r>
              <a:t>(성과)평가</a:t>
            </a:r>
            <a:br/>
            <a:r>
              <a:t>보상</a:t>
            </a:r>
            <a:br/>
            <a:r>
              <a:t>배치·경력관리</a:t>
            </a:r>
            <a:br/>
            <a:r>
              <a:t>교육훈련</a:t>
            </a:r>
            <a:br/>
            <a:br/>
            <a:r>
              <a:t>현안이슈 중심 진단</a:t>
            </a:r>
            <a:br/>
            <a:r>
              <a:t>• 부서별 직무 기준으로 운영되는 것이 원칙이나, 개인에 직무(업무)가 따라가기도 함</a:t>
            </a:r>
            <a:br/>
            <a:r>
              <a:t>• 해양보전본부의 직무는 지속 증가하는 반면, 방제본부, 해양사업은 유지, 감소됨</a:t>
            </a:r>
            <a:br/>
            <a:r>
              <a:t>• 해양환경 전문인력 확보, 양성을 위한 채용 가산점 등 제도개선 필요 의견 (현재는 지나치게 비전공자가 주로 채용되고 있음)</a:t>
            </a:r>
            <a:br/>
            <a:r>
              <a:t>• 승진 적체현상 심각한 수준 (특히 차장→팀장, 대리→과장 승진 적체)</a:t>
            </a:r>
            <a:br/>
            <a:r>
              <a:t>• 차장 이후는 직위에 공백 또는 증가가 발생해야 승진이 가능한 구조로 운영됨</a:t>
            </a:r>
            <a:br/>
            <a:r>
              <a:t>• 목표에 대한 최종 달성관리 중심으로 달성 과정의 피드백과 관리 부족함</a:t>
            </a:r>
            <a:br/>
            <a:r>
              <a:t>• 부서 목표와 성과관리가 공단 경영평가 위주로 운영되는 성향이 강함</a:t>
            </a:r>
            <a:br/>
            <a:r>
              <a:t>• 성과 평가의 공정성에 대한 신뢰도 높지 않고, 평가에 대한 불만 큼</a:t>
            </a:r>
            <a:br/>
            <a:r>
              <a:t>• 본부별 개인평가 개별 운영으로, 공단 전체 관점 평가기준 조정 및 결과 조율 필요</a:t>
            </a:r>
            <a:br/>
            <a:r>
              <a:t>• 성과급의 차등이 줄어 동기부여나 성과관리의 기제로 작용되지 않고 있음</a:t>
            </a:r>
            <a:br/>
            <a:r>
              <a:t>• 직무급을 시행하고 있으나, 보직에 대한 직무급이고 연장근로수당을 재원으로 함</a:t>
            </a:r>
            <a:br/>
            <a:r>
              <a:t>• 순환보직 실시에 따른 전문성 저하 (연구직, 전문영역 실무직 등)</a:t>
            </a:r>
            <a:br/>
            <a:r>
              <a:t>• 직원 역량강화를 위한 경력개발계획(CDP) 부족하고, 적절히 운영되지 않고 있음</a:t>
            </a:r>
            <a:br/>
            <a:r>
              <a:t>• 각 개별 팀에서 OJT(직무 내 교육) 위주로 교육훈련 실시</a:t>
            </a:r>
            <a:br/>
            <a:r>
              <a:t>• 전문성 강화를 위한 전문교육과 경력개발을 위한 교육과정 부족</a:t>
            </a:r>
          </a:p>
        </p:txBody>
      </p:sp>
      <p:sp>
        <p:nvSpPr>
          <p:cNvPr id="6" name="TextBox 5"/>
          <p:cNvSpPr txBox="1"/>
          <p:nvPr/>
        </p:nvSpPr>
        <p:spPr>
          <a:xfrm>
            <a:off x="4663440" y="1463040"/>
            <a:ext cx="4023360" cy="228600"/>
          </a:xfrm>
          <a:prstGeom prst="rect">
            <a:avLst/>
          </a:prstGeom>
          <a:noFill/>
        </p:spPr>
        <p:txBody>
          <a:bodyPr wrap="square">
            <a:spAutoFit/>
          </a:bodyPr>
          <a:lstStyle/>
          <a:p>
            <a:pPr algn="l">
              <a:defRPr sz="1000" b="0">
                <a:latin typeface="Malgun Gothic"/>
              </a:defRPr>
            </a:pPr>
            <a:r>
              <a:t>Key Findings</a:t>
            </a:r>
          </a:p>
        </p:txBody>
      </p:sp>
      <p:sp>
        <p:nvSpPr>
          <p:cNvPr id="7" name="TextBox 6"/>
          <p:cNvSpPr txBox="1"/>
          <p:nvPr/>
        </p:nvSpPr>
        <p:spPr>
          <a:xfrm>
            <a:off x="4663440" y="1783080"/>
            <a:ext cx="4023360" cy="1371600"/>
          </a:xfrm>
          <a:prstGeom prst="rect">
            <a:avLst/>
          </a:prstGeom>
          <a:noFill/>
        </p:spPr>
        <p:txBody>
          <a:bodyPr wrap="square">
            <a:spAutoFit/>
          </a:bodyPr>
          <a:lstStyle/>
          <a:p>
            <a:pPr algn="l">
              <a:defRPr sz="1000" b="0">
                <a:latin typeface="Malgun Gothic"/>
              </a:defRPr>
            </a:pPr>
            <a:r>
              <a:t>✓ 직원의 인사제도와 운영의 투명성, 공정성, 예측가능성에 대한 평가와 기대 높지 않음</a:t>
            </a:r>
            <a:br/>
            <a:r>
              <a:t>✓ 승진로 인사평가에 대한 불신과 불만, 본부별 평가에 따른 부서간 상호 견제 등 다양한 문제 발생되고 있음</a:t>
            </a:r>
            <a:br/>
            <a:r>
              <a:t>✓ 해양 및 해양환경 분야 전문성 강화에 대한 대내외 요구가 크지만, 순환보직, CDP 부족 등 전문성 강화 방안은 적절히 시행되지 않고 있음</a:t>
            </a:r>
            <a:br/>
            <a:r>
              <a:t>✓ 전략의 실행력 강화를 위해 실행과제의 수행방식 등 동기부여를 위한 방안 필요</a:t>
            </a:r>
            <a:br/>
            <a:r>
              <a:t>✓ 전문성 강화를 위한 인재개발 및 경력개발계획 관련 제도 보완과 시행 필요</a:t>
            </a:r>
          </a:p>
        </p:txBody>
      </p:sp>
      <p:sp>
        <p:nvSpPr>
          <p:cNvPr id="8" name="TextBox 7"/>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None | Page 66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내부 환경·역량 분석 - 인사제도 및 운영 진단 (2/4)</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직무체계, 채용, 직급·승진 체계를 진단해보면, 통합 순환보직의 적용, 일률적 일반직 채용기준과 블라인드 채용으로 인한 해양분야 전문인력 채용의 어려움, 보직수 부족으로 인한 승진 적체 등의 문제가 나타남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인사운영 진단</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직원 인사운영 진단 : 직무체계, 채용, 직급·승진 체계</a:t>
            </a:r>
          </a:p>
        </p:txBody>
      </p:sp>
      <p:sp>
        <p:nvSpPr>
          <p:cNvPr id="6" name="TextBox 5"/>
          <p:cNvSpPr txBox="1"/>
          <p:nvPr/>
        </p:nvSpPr>
        <p:spPr>
          <a:xfrm>
            <a:off x="457200" y="2148840"/>
            <a:ext cx="8229600" cy="274320"/>
          </a:xfrm>
          <a:prstGeom prst="rect">
            <a:avLst/>
          </a:prstGeom>
          <a:noFill/>
        </p:spPr>
        <p:txBody>
          <a:bodyPr wrap="square">
            <a:spAutoFit/>
          </a:bodyPr>
          <a:lstStyle/>
          <a:p>
            <a:pPr algn="l">
              <a:defRPr sz="1200" b="1">
                <a:solidFill>
                  <a:srgbClr val="003366"/>
                </a:solidFill>
                <a:latin typeface="Malgun Gothic"/>
              </a:defRPr>
            </a:pPr>
            <a:r>
              <a:t>직무 체계</a:t>
            </a:r>
          </a:p>
        </p:txBody>
      </p:sp>
      <p:sp>
        <p:nvSpPr>
          <p:cNvPr id="7" name="TextBox 6"/>
          <p:cNvSpPr txBox="1"/>
          <p:nvPr/>
        </p:nvSpPr>
        <p:spPr>
          <a:xfrm>
            <a:off x="457200" y="2514600"/>
            <a:ext cx="8229600" cy="228600"/>
          </a:xfrm>
          <a:prstGeom prst="rect">
            <a:avLst/>
          </a:prstGeom>
          <a:noFill/>
        </p:spPr>
        <p:txBody>
          <a:bodyPr wrap="square">
            <a:spAutoFit/>
          </a:bodyPr>
          <a:lstStyle/>
          <a:p>
            <a:pPr algn="l">
              <a:defRPr sz="1000" b="0">
                <a:latin typeface="Malgun Gothic"/>
              </a:defRPr>
            </a:pPr>
            <a:r>
              <a:t>• 부서 직무분류가 아닌 구성원 개인의 역량·경력에 따른 직무 부여로 직무체계 혼란 발생</a:t>
            </a:r>
          </a:p>
        </p:txBody>
      </p:sp>
      <p:sp>
        <p:nvSpPr>
          <p:cNvPr id="8" name="TextBox 7"/>
          <p:cNvSpPr txBox="1"/>
          <p:nvPr/>
        </p:nvSpPr>
        <p:spPr>
          <a:xfrm>
            <a:off x="457200" y="2834640"/>
            <a:ext cx="8229600" cy="274320"/>
          </a:xfrm>
          <a:prstGeom prst="rect">
            <a:avLst/>
          </a:prstGeom>
          <a:noFill/>
        </p:spPr>
        <p:txBody>
          <a:bodyPr wrap="square">
            <a:spAutoFit/>
          </a:bodyPr>
          <a:lstStyle/>
          <a:p>
            <a:pPr algn="l">
              <a:defRPr sz="1200" b="1">
                <a:solidFill>
                  <a:srgbClr val="003366"/>
                </a:solidFill>
                <a:latin typeface="Malgun Gothic"/>
              </a:defRPr>
            </a:pPr>
            <a:r>
              <a:t>채용</a:t>
            </a:r>
          </a:p>
        </p:txBody>
      </p:sp>
      <p:sp>
        <p:nvSpPr>
          <p:cNvPr id="9" name="TextBox 8"/>
          <p:cNvSpPr txBox="1"/>
          <p:nvPr/>
        </p:nvSpPr>
        <p:spPr>
          <a:xfrm>
            <a:off x="457200" y="3200400"/>
            <a:ext cx="8229600" cy="457200"/>
          </a:xfrm>
          <a:prstGeom prst="rect">
            <a:avLst/>
          </a:prstGeom>
          <a:noFill/>
        </p:spPr>
        <p:txBody>
          <a:bodyPr wrap="square">
            <a:spAutoFit/>
          </a:bodyPr>
          <a:lstStyle/>
          <a:p>
            <a:pPr algn="l">
              <a:defRPr sz="1000" b="0">
                <a:latin typeface="Malgun Gothic"/>
              </a:defRPr>
            </a:pPr>
            <a:r>
              <a:t>• 해양사업, 해양방제, 해양보전 사업별 직무 특성이 상이하나 보직·직무관리 동일 기준 적용(통합 순환보직)</a:t>
            </a:r>
            <a:br/>
            <a:r>
              <a:t>- 직접 수행·관리하는 사업 vs 위탁, 사업관리형 사업</a:t>
            </a:r>
          </a:p>
        </p:txBody>
      </p:sp>
      <p:sp>
        <p:nvSpPr>
          <p:cNvPr id="10" name="TextBox 9"/>
          <p:cNvSpPr txBox="1"/>
          <p:nvPr/>
        </p:nvSpPr>
        <p:spPr>
          <a:xfrm>
            <a:off x="457200" y="3749040"/>
            <a:ext cx="8229600" cy="274320"/>
          </a:xfrm>
          <a:prstGeom prst="rect">
            <a:avLst/>
          </a:prstGeom>
          <a:noFill/>
        </p:spPr>
        <p:txBody>
          <a:bodyPr wrap="square">
            <a:spAutoFit/>
          </a:bodyPr>
          <a:lstStyle/>
          <a:p>
            <a:pPr algn="l">
              <a:defRPr sz="1200" b="1">
                <a:solidFill>
                  <a:srgbClr val="003366"/>
                </a:solidFill>
                <a:latin typeface="Malgun Gothic"/>
              </a:defRPr>
            </a:pPr>
            <a:r>
              <a:t>직급·승진</a:t>
            </a:r>
          </a:p>
        </p:txBody>
      </p:sp>
      <p:sp>
        <p:nvSpPr>
          <p:cNvPr id="11" name="TextBox 10"/>
          <p:cNvSpPr txBox="1"/>
          <p:nvPr/>
        </p:nvSpPr>
        <p:spPr>
          <a:xfrm>
            <a:off x="457200" y="4114800"/>
            <a:ext cx="8229600" cy="685800"/>
          </a:xfrm>
          <a:prstGeom prst="rect">
            <a:avLst/>
          </a:prstGeom>
          <a:noFill/>
        </p:spPr>
        <p:txBody>
          <a:bodyPr wrap="square">
            <a:spAutoFit/>
          </a:bodyPr>
          <a:lstStyle/>
          <a:p>
            <a:pPr algn="l">
              <a:defRPr sz="1000" b="0">
                <a:latin typeface="Malgun Gothic"/>
              </a:defRPr>
            </a:pPr>
            <a:r>
              <a:t>• 일률적 일반직 채용기준, 블라인드 채용 등으로 해양분야 전문인력 채용의 어려움</a:t>
            </a:r>
            <a:br/>
            <a:r>
              <a:t>·인력채용의 절차와 기준이 복잡하고 까다로워져 인력채용 업무가 늘고 어려워 짐</a:t>
            </a:r>
            <a:br/>
            <a:r>
              <a:t>• 비정규직 정규직 전환에 따른 인력운영 유동성 저하</a:t>
            </a:r>
          </a:p>
        </p:txBody>
      </p:sp>
      <p:sp>
        <p:nvSpPr>
          <p:cNvPr id="12" name="TextBox 11"/>
          <p:cNvSpPr txBox="1"/>
          <p:nvPr/>
        </p:nvSpPr>
        <p:spPr>
          <a:xfrm>
            <a:off x="457200" y="4892040"/>
            <a:ext cx="8229600" cy="274320"/>
          </a:xfrm>
          <a:prstGeom prst="rect">
            <a:avLst/>
          </a:prstGeom>
          <a:noFill/>
        </p:spPr>
        <p:txBody>
          <a:bodyPr wrap="square">
            <a:spAutoFit/>
          </a:bodyPr>
          <a:lstStyle/>
          <a:p>
            <a:pPr algn="l">
              <a:defRPr sz="1200" b="1">
                <a:solidFill>
                  <a:srgbClr val="003366"/>
                </a:solidFill>
                <a:latin typeface="Malgun Gothic"/>
              </a:defRPr>
            </a:pPr>
            <a:r>
              <a:t>목표·성과관리</a:t>
            </a:r>
          </a:p>
        </p:txBody>
      </p:sp>
      <p:sp>
        <p:nvSpPr>
          <p:cNvPr id="13" name="TextBox 12"/>
          <p:cNvSpPr txBox="1"/>
          <p:nvPr/>
        </p:nvSpPr>
        <p:spPr>
          <a:xfrm>
            <a:off x="457200" y="5257800"/>
            <a:ext cx="8229600" cy="685800"/>
          </a:xfrm>
          <a:prstGeom prst="rect">
            <a:avLst/>
          </a:prstGeom>
          <a:noFill/>
        </p:spPr>
        <p:txBody>
          <a:bodyPr wrap="square">
            <a:spAutoFit/>
          </a:bodyPr>
          <a:lstStyle/>
          <a:p>
            <a:pPr algn="l">
              <a:defRPr sz="1000" b="0">
                <a:latin typeface="Malgun Gothic"/>
              </a:defRPr>
            </a:pPr>
            <a:r>
              <a:t>• 연공서열과 순번제로 성과평가와 승진이 이루어지고 있어 동기부여와 근로의욕 저하 현상 나타남</a:t>
            </a:r>
            <a:br/>
            <a:r>
              <a:t>• 보직직급으로 전환되는 차장→팀장 승진 적체 심함</a:t>
            </a:r>
            <a:br/>
            <a:r>
              <a:t>• 팀장 이상 보직 수 44개 대비 1~3급 현원은 은 79명 ('20년 말 기준)</a:t>
            </a:r>
          </a:p>
        </p:txBody>
      </p:sp>
      <p:sp>
        <p:nvSpPr>
          <p:cNvPr id="14" name="TextBox 13"/>
          <p:cNvSpPr txBox="1"/>
          <p:nvPr/>
        </p:nvSpPr>
        <p:spPr>
          <a:xfrm>
            <a:off x="457200" y="6035040"/>
            <a:ext cx="8229600" cy="274320"/>
          </a:xfrm>
          <a:prstGeom prst="rect">
            <a:avLst/>
          </a:prstGeom>
          <a:noFill/>
        </p:spPr>
        <p:txBody>
          <a:bodyPr wrap="square">
            <a:spAutoFit/>
          </a:bodyPr>
          <a:lstStyle/>
          <a:p>
            <a:pPr algn="l">
              <a:defRPr sz="1200" b="1">
                <a:solidFill>
                  <a:srgbClr val="003366"/>
                </a:solidFill>
                <a:latin typeface="Malgun Gothic"/>
              </a:defRPr>
            </a:pPr>
            <a:r>
              <a:t>구분</a:t>
            </a:r>
          </a:p>
        </p:txBody>
      </p:sp>
      <p:sp>
        <p:nvSpPr>
          <p:cNvPr id="15" name="TextBox 14"/>
          <p:cNvSpPr txBox="1"/>
          <p:nvPr/>
        </p:nvSpPr>
        <p:spPr>
          <a:xfrm>
            <a:off x="457200" y="6400800"/>
            <a:ext cx="8229600" cy="685800"/>
          </a:xfrm>
          <a:prstGeom prst="rect">
            <a:avLst/>
          </a:prstGeom>
          <a:noFill/>
        </p:spPr>
        <p:txBody>
          <a:bodyPr wrap="square">
            <a:spAutoFit/>
          </a:bodyPr>
          <a:lstStyle/>
          <a:p>
            <a:pPr algn="l">
              <a:defRPr sz="1000" b="0">
                <a:latin typeface="Malgun Gothic"/>
              </a:defRPr>
            </a:pPr>
            <a:r>
              <a:t>채용 시 자격기준</a:t>
            </a:r>
            <a:br/>
            <a:r>
              <a:t>• 각 직급별 공무원 급수 재직경력자</a:t>
            </a:r>
            <a:br/>
            <a:r>
              <a:t>• 각 직급별 대학 교수(부교수, 조교수, 전임강사 등) 경험자</a:t>
            </a:r>
            <a:br/>
            <a:r>
              <a:t>• 박사, 석사 취득 및 경력자</a:t>
            </a:r>
            <a:br/>
            <a:r>
              <a:t>• 해당분야 기사 자격증 소지자</a:t>
            </a:r>
          </a:p>
        </p:txBody>
      </p:sp>
      <p:sp>
        <p:nvSpPr>
          <p:cNvPr id="16" name="TextBox 15"/>
          <p:cNvSpPr txBox="1"/>
          <p:nvPr/>
        </p:nvSpPr>
        <p:spPr>
          <a:xfrm>
            <a:off x="457200" y="7178040"/>
            <a:ext cx="8229600" cy="274320"/>
          </a:xfrm>
          <a:prstGeom prst="rect">
            <a:avLst/>
          </a:prstGeom>
          <a:noFill/>
        </p:spPr>
        <p:txBody>
          <a:bodyPr wrap="square">
            <a:spAutoFit/>
          </a:bodyPr>
          <a:lstStyle/>
          <a:p>
            <a:pPr algn="l">
              <a:defRPr sz="1200" b="1">
                <a:solidFill>
                  <a:srgbClr val="003366"/>
                </a:solidFill>
                <a:latin typeface="Malgun Gothic"/>
              </a:defRPr>
            </a:pPr>
            <a:r>
              <a:t>일반직</a:t>
            </a:r>
          </a:p>
        </p:txBody>
      </p:sp>
      <p:sp>
        <p:nvSpPr>
          <p:cNvPr id="17" name="TextBox 16"/>
          <p:cNvSpPr txBox="1"/>
          <p:nvPr/>
        </p:nvSpPr>
        <p:spPr>
          <a:xfrm>
            <a:off x="457200" y="7543800"/>
            <a:ext cx="8229600" cy="457200"/>
          </a:xfrm>
          <a:prstGeom prst="rect">
            <a:avLst/>
          </a:prstGeom>
          <a:noFill/>
        </p:spPr>
        <p:txBody>
          <a:bodyPr wrap="square">
            <a:spAutoFit/>
          </a:bodyPr>
          <a:lstStyle/>
          <a:p>
            <a:pPr algn="l">
              <a:defRPr sz="1000" b="0">
                <a:latin typeface="Malgun Gothic"/>
              </a:defRPr>
            </a:pPr>
            <a:r>
              <a:t>• 4급 이상의 해기사 면허증 소지자</a:t>
            </a:r>
            <a:br/>
            <a:r>
              <a:t>• 해당 분야의 자격증, 면허증 소지자</a:t>
            </a:r>
            <a:br/>
            <a:r>
              <a:t>• 위와 동등한 자격 또는 능력이 있다고 인정되는 자</a:t>
            </a:r>
          </a:p>
        </p:txBody>
      </p:sp>
      <p:sp>
        <p:nvSpPr>
          <p:cNvPr id="18" name="TextBox 17"/>
          <p:cNvSpPr txBox="1"/>
          <p:nvPr/>
        </p:nvSpPr>
        <p:spPr>
          <a:xfrm>
            <a:off x="457200" y="8092440"/>
            <a:ext cx="8229600" cy="274320"/>
          </a:xfrm>
          <a:prstGeom prst="rect">
            <a:avLst/>
          </a:prstGeom>
          <a:noFill/>
        </p:spPr>
        <p:txBody>
          <a:bodyPr wrap="square">
            <a:spAutoFit/>
          </a:bodyPr>
          <a:lstStyle/>
          <a:p>
            <a:pPr algn="l">
              <a:defRPr sz="1200" b="1">
                <a:solidFill>
                  <a:srgbClr val="003366"/>
                </a:solidFill>
                <a:latin typeface="Malgun Gothic"/>
              </a:defRPr>
            </a:pPr>
            <a:r>
              <a:t>기술직</a:t>
            </a:r>
          </a:p>
        </p:txBody>
      </p:sp>
      <p:sp>
        <p:nvSpPr>
          <p:cNvPr id="19" name="TextBox 18"/>
          <p:cNvSpPr txBox="1"/>
          <p:nvPr/>
        </p:nvSpPr>
        <p:spPr>
          <a:xfrm>
            <a:off x="457200" y="8458200"/>
            <a:ext cx="8229600" cy="228600"/>
          </a:xfrm>
          <a:prstGeom prst="rect">
            <a:avLst/>
          </a:prstGeom>
          <a:noFill/>
        </p:spPr>
        <p:txBody>
          <a:bodyPr wrap="square">
            <a:spAutoFit/>
          </a:bodyPr>
          <a:lstStyle/>
          <a:p>
            <a:pPr algn="l">
              <a:defRPr sz="1000" b="0">
                <a:latin typeface="Malgun Gothic"/>
              </a:defRPr>
            </a:pPr>
            <a:r>
              <a:t>팀장 이상 보직 수와 현원 비교 : 직급승진 적체</a:t>
            </a:r>
          </a:p>
        </p:txBody>
      </p:sp>
      <p:sp>
        <p:nvSpPr>
          <p:cNvPr id="20" name="TextBox 19"/>
          <p:cNvSpPr txBox="1"/>
          <p:nvPr/>
        </p:nvSpPr>
        <p:spPr>
          <a:xfrm>
            <a:off x="457200" y="8778240"/>
            <a:ext cx="8229600" cy="274320"/>
          </a:xfrm>
          <a:prstGeom prst="rect">
            <a:avLst/>
          </a:prstGeom>
          <a:noFill/>
        </p:spPr>
        <p:txBody>
          <a:bodyPr wrap="square">
            <a:spAutoFit/>
          </a:bodyPr>
          <a:lstStyle/>
          <a:p>
            <a:pPr algn="l">
              <a:defRPr sz="1200" b="1">
                <a:solidFill>
                  <a:srgbClr val="003366"/>
                </a:solidFill>
                <a:latin typeface="Malgun Gothic"/>
              </a:defRPr>
            </a:pPr>
            <a:r>
              <a:t>직위</a:t>
            </a:r>
          </a:p>
        </p:txBody>
      </p:sp>
      <p:sp>
        <p:nvSpPr>
          <p:cNvPr id="21" name="TextBox 20"/>
          <p:cNvSpPr txBox="1"/>
          <p:nvPr/>
        </p:nvSpPr>
        <p:spPr>
          <a:xfrm>
            <a:off x="457200" y="9144000"/>
            <a:ext cx="8229600" cy="228600"/>
          </a:xfrm>
          <a:prstGeom prst="rect">
            <a:avLst/>
          </a:prstGeom>
          <a:noFill/>
        </p:spPr>
        <p:txBody>
          <a:bodyPr wrap="square">
            <a:spAutoFit/>
          </a:bodyPr>
          <a:lstStyle/>
          <a:p>
            <a:pPr algn="l">
              <a:defRPr sz="900" b="0">
                <a:latin typeface="Malgun Gothic"/>
              </a:defRPr>
            </a:pPr>
            <a:r>
              <a:t>[TABLE]</a:t>
            </a:r>
            <a:br/>
            <a:r>
              <a:t>본부장</a:t>
            </a:r>
            <a:br/>
            <a:r>
              <a:t>실장</a:t>
            </a:r>
            <a:br/>
            <a:r>
              <a:t>센터장</a:t>
            </a:r>
            <a:br/>
            <a:r>
              <a:t>팀장</a:t>
            </a:r>
            <a:br/>
            <a:r>
              <a:t>지사장</a:t>
            </a:r>
            <a:br/>
            <a:r>
              <a:t>합계</a:t>
            </a:r>
          </a:p>
        </p:txBody>
      </p:sp>
      <p:sp>
        <p:nvSpPr>
          <p:cNvPr id="22" name="TextBox 21"/>
          <p:cNvSpPr txBox="1"/>
          <p:nvPr/>
        </p:nvSpPr>
        <p:spPr>
          <a:xfrm>
            <a:off x="457200" y="9464040"/>
            <a:ext cx="8229600" cy="274320"/>
          </a:xfrm>
          <a:prstGeom prst="rect">
            <a:avLst/>
          </a:prstGeom>
          <a:noFill/>
        </p:spPr>
        <p:txBody>
          <a:bodyPr wrap="square">
            <a:spAutoFit/>
          </a:bodyPr>
          <a:lstStyle/>
          <a:p>
            <a:pPr algn="l">
              <a:defRPr sz="1200" b="1">
                <a:solidFill>
                  <a:srgbClr val="003366"/>
                </a:solidFill>
                <a:latin typeface="Malgun Gothic"/>
              </a:defRPr>
            </a:pPr>
            <a:r>
              <a:t>보직 수</a:t>
            </a:r>
          </a:p>
        </p:txBody>
      </p:sp>
      <p:sp>
        <p:nvSpPr>
          <p:cNvPr id="23" name="TextBox 22"/>
          <p:cNvSpPr txBox="1"/>
          <p:nvPr/>
        </p:nvSpPr>
        <p:spPr>
          <a:xfrm>
            <a:off x="457200" y="9829800"/>
            <a:ext cx="8229600" cy="228600"/>
          </a:xfrm>
          <a:prstGeom prst="rect">
            <a:avLst/>
          </a:prstGeom>
          <a:noFill/>
        </p:spPr>
        <p:txBody>
          <a:bodyPr wrap="square">
            <a:spAutoFit/>
          </a:bodyPr>
          <a:lstStyle/>
          <a:p>
            <a:pPr algn="l">
              <a:defRPr sz="900" b="0">
                <a:latin typeface="Malgun Gothic"/>
              </a:defRPr>
            </a:pPr>
            <a:r>
              <a:t>[TABLE]</a:t>
            </a:r>
            <a:br/>
            <a:r>
              <a:t>2</a:t>
            </a:r>
            <a:br/>
            <a:r>
              <a:t>1</a:t>
            </a:r>
            <a:br/>
            <a:r>
              <a:t>2</a:t>
            </a:r>
            <a:br/>
            <a:r>
              <a:t>27</a:t>
            </a:r>
            <a:br/>
            <a:r>
              <a:t>12</a:t>
            </a:r>
            <a:br/>
            <a:r>
              <a:t>44</a:t>
            </a:r>
          </a:p>
        </p:txBody>
      </p:sp>
      <p:sp>
        <p:nvSpPr>
          <p:cNvPr id="24" name="TextBox 23"/>
          <p:cNvSpPr txBox="1"/>
          <p:nvPr/>
        </p:nvSpPr>
        <p:spPr>
          <a:xfrm>
            <a:off x="457200" y="10149840"/>
            <a:ext cx="8229600" cy="274320"/>
          </a:xfrm>
          <a:prstGeom prst="rect">
            <a:avLst/>
          </a:prstGeom>
          <a:noFill/>
        </p:spPr>
        <p:txBody>
          <a:bodyPr wrap="square">
            <a:spAutoFit/>
          </a:bodyPr>
          <a:lstStyle/>
          <a:p>
            <a:pPr algn="l">
              <a:defRPr sz="1200" b="1">
                <a:solidFill>
                  <a:srgbClr val="003366"/>
                </a:solidFill>
                <a:latin typeface="Malgun Gothic"/>
              </a:defRPr>
            </a:pPr>
            <a:r>
              <a:t>직급</a:t>
            </a:r>
          </a:p>
        </p:txBody>
      </p:sp>
      <p:sp>
        <p:nvSpPr>
          <p:cNvPr id="25" name="TextBox 24"/>
          <p:cNvSpPr txBox="1"/>
          <p:nvPr/>
        </p:nvSpPr>
        <p:spPr>
          <a:xfrm>
            <a:off x="457200" y="10515600"/>
            <a:ext cx="8229600" cy="228600"/>
          </a:xfrm>
          <a:prstGeom prst="rect">
            <a:avLst/>
          </a:prstGeom>
          <a:noFill/>
        </p:spPr>
        <p:txBody>
          <a:bodyPr wrap="square">
            <a:spAutoFit/>
          </a:bodyPr>
          <a:lstStyle/>
          <a:p>
            <a:pPr algn="l">
              <a:defRPr sz="900" b="0">
                <a:latin typeface="Malgun Gothic"/>
              </a:defRPr>
            </a:pPr>
            <a:r>
              <a:t>[TABLE]</a:t>
            </a:r>
            <a:br/>
            <a:r>
              <a:t>44개 보직에 보직가능 인원 79명 (1~3급)</a:t>
            </a:r>
          </a:p>
        </p:txBody>
      </p:sp>
      <p:sp>
        <p:nvSpPr>
          <p:cNvPr id="26" name="TextBox 25"/>
          <p:cNvSpPr txBox="1"/>
          <p:nvPr/>
        </p:nvSpPr>
        <p:spPr>
          <a:xfrm>
            <a:off x="457200" y="10835640"/>
            <a:ext cx="8229600" cy="274320"/>
          </a:xfrm>
          <a:prstGeom prst="rect">
            <a:avLst/>
          </a:prstGeom>
          <a:noFill/>
        </p:spPr>
        <p:txBody>
          <a:bodyPr wrap="square">
            <a:spAutoFit/>
          </a:bodyPr>
          <a:lstStyle/>
          <a:p>
            <a:pPr algn="l">
              <a:defRPr sz="1200" b="1">
                <a:solidFill>
                  <a:srgbClr val="003366"/>
                </a:solidFill>
                <a:latin typeface="Malgun Gothic"/>
              </a:defRPr>
            </a:pPr>
            <a:r>
              <a:t>현원</a:t>
            </a:r>
          </a:p>
        </p:txBody>
      </p:sp>
      <p:sp>
        <p:nvSpPr>
          <p:cNvPr id="27" name="TextBox 26"/>
          <p:cNvSpPr txBox="1"/>
          <p:nvPr/>
        </p:nvSpPr>
        <p:spPr>
          <a:xfrm>
            <a:off x="457200" y="11201400"/>
            <a:ext cx="8229600" cy="228600"/>
          </a:xfrm>
          <a:prstGeom prst="rect">
            <a:avLst/>
          </a:prstGeom>
          <a:noFill/>
        </p:spPr>
        <p:txBody>
          <a:bodyPr wrap="square">
            <a:spAutoFit/>
          </a:bodyPr>
          <a:lstStyle/>
          <a:p>
            <a:pPr algn="l">
              <a:defRPr sz="900" b="0">
                <a:latin typeface="Malgun Gothic"/>
              </a:defRPr>
            </a:pPr>
            <a:r>
              <a:t>[TABLE]</a:t>
            </a:r>
            <a:br/>
            <a:r>
              <a:t>1급</a:t>
            </a:r>
            <a:br/>
            <a:r>
              <a:t>2급</a:t>
            </a:r>
            <a:br/>
            <a:r>
              <a:t>3급</a:t>
            </a:r>
            <a:br/>
            <a:r>
              <a:t>4급</a:t>
            </a:r>
            <a:br/>
            <a:r>
              <a:t>5급</a:t>
            </a:r>
            <a:br/>
            <a:r>
              <a:t>6-7급</a:t>
            </a:r>
            <a:br/>
            <a:r>
              <a:t>합계</a:t>
            </a:r>
          </a:p>
        </p:txBody>
      </p:sp>
      <p:sp>
        <p:nvSpPr>
          <p:cNvPr id="28" name="TextBox 27"/>
          <p:cNvSpPr txBox="1"/>
          <p:nvPr/>
        </p:nvSpPr>
        <p:spPr>
          <a:xfrm>
            <a:off x="457200" y="11521440"/>
            <a:ext cx="8229600" cy="228600"/>
          </a:xfrm>
          <a:prstGeom prst="rect">
            <a:avLst/>
          </a:prstGeom>
          <a:noFill/>
        </p:spPr>
        <p:txBody>
          <a:bodyPr wrap="square">
            <a:spAutoFit/>
          </a:bodyPr>
          <a:lstStyle/>
          <a:p>
            <a:pPr algn="l">
              <a:defRPr sz="900" b="0">
                <a:latin typeface="Malgun Gothic"/>
              </a:defRPr>
            </a:pPr>
            <a:r>
              <a:t>[TABLE]</a:t>
            </a:r>
            <a:br/>
            <a:r>
              <a:t>16</a:t>
            </a:r>
            <a:br/>
            <a:r>
              <a:t>23</a:t>
            </a:r>
            <a:br/>
            <a:r>
              <a:t>39</a:t>
            </a:r>
            <a:br/>
            <a:r>
              <a:t>63</a:t>
            </a:r>
            <a:br/>
            <a:r>
              <a:t>101</a:t>
            </a:r>
            <a:br/>
            <a:r>
              <a:t>39</a:t>
            </a:r>
            <a:br/>
            <a:r>
              <a:t>282</a:t>
            </a:r>
          </a:p>
        </p:txBody>
      </p:sp>
      <p:sp>
        <p:nvSpPr>
          <p:cNvPr id="29" name="TextBox 28"/>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 | Page 67</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내부 환경·역량 분석 - 인사제도 및 운영 진단 (3/4)</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목표·성과관리, 평가, 보상을 진단해보면 과정에 대한 피드백 없이 결과에 대한 평가만 이루어지고 있고, 개인 평가가 승진 순번에 따라 이루어지는 경우가 있는 등의 제도적·운영적 이슈사항이 있음</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인사운영 진단</a:t>
            </a:r>
          </a:p>
        </p:txBody>
      </p:sp>
      <p:sp>
        <p:nvSpPr>
          <p:cNvPr id="5" name="TextBox 4"/>
          <p:cNvSpPr txBox="1"/>
          <p:nvPr/>
        </p:nvSpPr>
        <p:spPr>
          <a:xfrm>
            <a:off x="457200" y="1828800"/>
            <a:ext cx="4023360" cy="228600"/>
          </a:xfrm>
          <a:prstGeom prst="rect">
            <a:avLst/>
          </a:prstGeom>
          <a:noFill/>
        </p:spPr>
        <p:txBody>
          <a:bodyPr wrap="square">
            <a:spAutoFit/>
          </a:bodyPr>
          <a:lstStyle/>
          <a:p>
            <a:pPr algn="l">
              <a:defRPr sz="1000" b="0">
                <a:latin typeface="Malgun Gothic"/>
              </a:defRPr>
            </a:pPr>
            <a:r>
              <a:t>직원 인사운영 진단 : 목표·성과관리, 평가, 보상</a:t>
            </a:r>
          </a:p>
        </p:txBody>
      </p:sp>
      <p:sp>
        <p:nvSpPr>
          <p:cNvPr id="6" name="TextBox 5"/>
          <p:cNvSpPr txBox="1"/>
          <p:nvPr/>
        </p:nvSpPr>
        <p:spPr>
          <a:xfrm>
            <a:off x="457200" y="2148840"/>
            <a:ext cx="4023360" cy="685800"/>
          </a:xfrm>
          <a:prstGeom prst="rect">
            <a:avLst/>
          </a:prstGeom>
          <a:noFill/>
        </p:spPr>
        <p:txBody>
          <a:bodyPr wrap="square">
            <a:spAutoFit/>
          </a:bodyPr>
          <a:lstStyle/>
          <a:p>
            <a:pPr algn="l">
              <a:defRPr sz="1000" b="0">
                <a:latin typeface="Malgun Gothic"/>
              </a:defRPr>
            </a:pPr>
            <a:r>
              <a:t>• 개인 성과목표수립-실행-성과평가의 과정이 연간 1회 과정으로 이루어져 목표달성의 과정에 대한 관리와 중간 피드백이 부재함</a:t>
            </a:r>
            <a:br/>
            <a:r>
              <a:t>• 부서 및 개인의 성과지표가 공단 경영평가 위주로 운영됨</a:t>
            </a:r>
          </a:p>
        </p:txBody>
      </p:sp>
      <p:sp>
        <p:nvSpPr>
          <p:cNvPr id="7" name="TextBox 6"/>
          <p:cNvSpPr txBox="1"/>
          <p:nvPr/>
        </p:nvSpPr>
        <p:spPr>
          <a:xfrm>
            <a:off x="457200" y="2926080"/>
            <a:ext cx="4023360" cy="685800"/>
          </a:xfrm>
          <a:prstGeom prst="rect">
            <a:avLst/>
          </a:prstGeom>
          <a:noFill/>
        </p:spPr>
        <p:txBody>
          <a:bodyPr wrap="square">
            <a:spAutoFit/>
          </a:bodyPr>
          <a:lstStyle/>
          <a:p>
            <a:pPr algn="l">
              <a:defRPr sz="1000" b="0">
                <a:latin typeface="Malgun Gothic"/>
              </a:defRPr>
            </a:pPr>
            <a:r>
              <a:t>• 개인 평가가 승진 순번에 따라 시행되는 경우가 많아 피평가자의 공정성, 신뢰도 문제 제기 있음</a:t>
            </a:r>
            <a:br/>
            <a:r>
              <a:t>• 공단 전체 관점의 평가기준과 평가 결과에 대한 조율이 없는 항목에 대한 본부별 평가운영 원칙 차등 이슈 있음</a:t>
            </a:r>
          </a:p>
        </p:txBody>
      </p:sp>
      <p:sp>
        <p:nvSpPr>
          <p:cNvPr id="8" name="TextBox 7"/>
          <p:cNvSpPr txBox="1"/>
          <p:nvPr/>
        </p:nvSpPr>
        <p:spPr>
          <a:xfrm>
            <a:off x="457200" y="3703320"/>
            <a:ext cx="4023360" cy="457200"/>
          </a:xfrm>
          <a:prstGeom prst="rect">
            <a:avLst/>
          </a:prstGeom>
          <a:noFill/>
        </p:spPr>
        <p:txBody>
          <a:bodyPr wrap="square">
            <a:spAutoFit/>
          </a:bodyPr>
          <a:lstStyle/>
          <a:p>
            <a:pPr algn="l">
              <a:defRPr sz="1000" b="0">
                <a:latin typeface="Malgun Gothic"/>
              </a:defRPr>
            </a:pPr>
            <a:r>
              <a:t>• 직무급의 도입에서 직무의 난이도와 가치에 따른 평가에 준한 직무급보다 보직을 직무급 분류 기준으로 채용함</a:t>
            </a:r>
            <a:br/>
            <a:r>
              <a:t>- 직무급이 연공서열식 보상을 강화하고 있음</a:t>
            </a:r>
          </a:p>
        </p:txBody>
      </p:sp>
      <p:sp>
        <p:nvSpPr>
          <p:cNvPr id="9" name="TextBox 8"/>
          <p:cNvSpPr txBox="1"/>
          <p:nvPr/>
        </p:nvSpPr>
        <p:spPr>
          <a:xfrm>
            <a:off x="457200" y="4251960"/>
            <a:ext cx="8229600" cy="274320"/>
          </a:xfrm>
          <a:prstGeom prst="rect">
            <a:avLst/>
          </a:prstGeom>
          <a:noFill/>
        </p:spPr>
        <p:txBody>
          <a:bodyPr wrap="square">
            <a:spAutoFit/>
          </a:bodyPr>
          <a:lstStyle/>
          <a:p>
            <a:pPr algn="l">
              <a:defRPr sz="1200" b="1">
                <a:solidFill>
                  <a:srgbClr val="003366"/>
                </a:solidFill>
                <a:latin typeface="Malgun Gothic"/>
              </a:defRPr>
            </a:pPr>
            <a:r>
              <a:t>개인 목표·관리 프로세스</a:t>
            </a:r>
          </a:p>
        </p:txBody>
      </p:sp>
      <p:sp>
        <p:nvSpPr>
          <p:cNvPr id="10" name="TextBox 9"/>
          <p:cNvSpPr txBox="1"/>
          <p:nvPr/>
        </p:nvSpPr>
        <p:spPr>
          <a:xfrm>
            <a:off x="457200" y="4617720"/>
            <a:ext cx="4023360" cy="228600"/>
          </a:xfrm>
          <a:prstGeom prst="rect">
            <a:avLst/>
          </a:prstGeom>
          <a:noFill/>
        </p:spPr>
        <p:txBody>
          <a:bodyPr wrap="square">
            <a:spAutoFit/>
          </a:bodyPr>
          <a:lstStyle/>
          <a:p>
            <a:pPr algn="l">
              <a:defRPr sz="1000" b="0">
                <a:latin typeface="Malgun Gothic"/>
              </a:defRPr>
            </a:pPr>
            <a:r>
              <a:t>개인 목표달성 중간 과정의 피드백 부재</a:t>
            </a:r>
            <a:br/>
            <a:r>
              <a:t>→ 과정 관리 없이 결과만 평가</a:t>
            </a:r>
          </a:p>
        </p:txBody>
      </p:sp>
      <p:sp>
        <p:nvSpPr>
          <p:cNvPr id="11" name="TextBox 10"/>
          <p:cNvSpPr txBox="1"/>
          <p:nvPr/>
        </p:nvSpPr>
        <p:spPr>
          <a:xfrm>
            <a:off x="4663440" y="2194560"/>
            <a:ext cx="4023360" cy="685800"/>
          </a:xfrm>
          <a:prstGeom prst="rect">
            <a:avLst/>
          </a:prstGeom>
          <a:noFill/>
        </p:spPr>
        <p:txBody>
          <a:bodyPr wrap="square">
            <a:spAutoFit/>
          </a:bodyPr>
          <a:lstStyle/>
          <a:p>
            <a:pPr algn="l">
              <a:defRPr sz="900" b="0">
                <a:latin typeface="Malgun Gothic"/>
              </a:defRPr>
            </a:pPr>
            <a:r>
              <a:t>[TABLE]</a:t>
            </a:r>
            <a:br/>
            <a:r>
              <a:t>직무급</a:t>
            </a:r>
            <a:br/>
            <a:r>
              <a:t> 대상 (일반직)</a:t>
            </a:r>
            <a:br/>
            <a:r>
              <a:t>G1 해양사업본부장</a:t>
            </a:r>
            <a:br/>
            <a:r>
              <a:t>G2 기획조정실장, 감사실장</a:t>
            </a:r>
            <a:br/>
            <a:r>
              <a:t>G3 해양환경교육원장, 부산지사장</a:t>
            </a:r>
            <a:br/>
            <a:r>
              <a:t>G4 평택지사장</a:t>
            </a:r>
            <a:br/>
            <a:r>
              <a:t>G5 부서장 및 지사장 (부산 및 평택지사장 제외)</a:t>
            </a:r>
            <a:br/>
            <a:r>
              <a:t>G6~G10 3급~7급</a:t>
            </a:r>
          </a:p>
        </p:txBody>
      </p:sp>
      <p:sp>
        <p:nvSpPr>
          <p:cNvPr id="12" name="TextBox 11"/>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해양환경공단 | Page 68</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내부 환경·역량 분석 - 인사제도 및 운영 진단 (4/4)</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배치·경력관리, 교육훈련을 진단해보면 순환보직과 CDP 부재, 역량개발을 위한 교육훈련에 대한 투자의 감소 등으로 인력의 전문성이 저하되고 있는 이슈가 나타남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인사운영 진단</a:t>
            </a:r>
          </a:p>
        </p:txBody>
      </p:sp>
      <p:sp>
        <p:nvSpPr>
          <p:cNvPr id="5" name="TextBox 4"/>
          <p:cNvSpPr txBox="1"/>
          <p:nvPr/>
        </p:nvSpPr>
        <p:spPr>
          <a:xfrm>
            <a:off x="457200" y="1828800"/>
            <a:ext cx="8229600" cy="685800"/>
          </a:xfrm>
          <a:prstGeom prst="rect">
            <a:avLst/>
          </a:prstGeom>
          <a:noFill/>
        </p:spPr>
        <p:txBody>
          <a:bodyPr wrap="square">
            <a:spAutoFit/>
          </a:bodyPr>
          <a:lstStyle/>
          <a:p>
            <a:pPr algn="l">
              <a:defRPr sz="1000" b="0">
                <a:latin typeface="Malgun Gothic"/>
              </a:defRPr>
            </a:pPr>
            <a:r>
              <a:t>• 순환보직으로 인해 전문 실무직, 연구직, 전문직, 기술직 등의 전문성 저하</a:t>
            </a:r>
            <a:br/>
            <a:r>
              <a:t>• 직원 역량강화를 위한 CDP(경력개발제도) 부족</a:t>
            </a:r>
            <a:br/>
            <a:r>
              <a:t>• 인재개발계획, 경력개발계획에 따르지 않는 보직배치와 인력운영 빈번히 발생함</a:t>
            </a:r>
          </a:p>
        </p:txBody>
      </p:sp>
      <p:sp>
        <p:nvSpPr>
          <p:cNvPr id="6" name="TextBox 5"/>
          <p:cNvSpPr txBox="1"/>
          <p:nvPr/>
        </p:nvSpPr>
        <p:spPr>
          <a:xfrm>
            <a:off x="457200" y="2606040"/>
            <a:ext cx="8229600" cy="685800"/>
          </a:xfrm>
          <a:prstGeom prst="rect">
            <a:avLst/>
          </a:prstGeom>
          <a:noFill/>
        </p:spPr>
        <p:txBody>
          <a:bodyPr wrap="square">
            <a:spAutoFit/>
          </a:bodyPr>
          <a:lstStyle/>
          <a:p>
            <a:pPr algn="l">
              <a:defRPr sz="1000" b="0">
                <a:latin typeface="Malgun Gothic"/>
              </a:defRPr>
            </a:pPr>
            <a:r>
              <a:t>• 팀별로 직무 내 교육(OJT) 위주로 교육 훈련 수행</a:t>
            </a:r>
            <a:br/>
            <a:r>
              <a:t>• 직원 업무역량 강화를 위한 교육과정과 교육훈련 투자는 계속 감소되고 있음</a:t>
            </a:r>
            <a:br/>
            <a:r>
              <a:t>- '18년 이후 인력은 31명(4.6%) 증가하였으나, 교육훈련비는 6.2억(27.7%) 감소</a:t>
            </a:r>
          </a:p>
        </p:txBody>
      </p:sp>
      <p:sp>
        <p:nvSpPr>
          <p:cNvPr id="7" name="TextBox 6"/>
          <p:cNvSpPr txBox="1"/>
          <p:nvPr/>
        </p:nvSpPr>
        <p:spPr>
          <a:xfrm>
            <a:off x="457200" y="3383280"/>
            <a:ext cx="8229600" cy="274320"/>
          </a:xfrm>
          <a:prstGeom prst="rect">
            <a:avLst/>
          </a:prstGeom>
          <a:noFill/>
        </p:spPr>
        <p:txBody>
          <a:bodyPr wrap="square">
            <a:spAutoFit/>
          </a:bodyPr>
          <a:lstStyle/>
          <a:p>
            <a:pPr algn="l">
              <a:defRPr sz="1200" b="1">
                <a:solidFill>
                  <a:srgbClr val="003366"/>
                </a:solidFill>
                <a:latin typeface="Malgun Gothic"/>
              </a:defRPr>
            </a:pPr>
            <a:r>
              <a:t>보직 및 경력관리의 중요성</a:t>
            </a:r>
          </a:p>
        </p:txBody>
      </p:sp>
      <p:sp>
        <p:nvSpPr>
          <p:cNvPr id="8" name="TextBox 7"/>
          <p:cNvSpPr txBox="1"/>
          <p:nvPr/>
        </p:nvSpPr>
        <p:spPr>
          <a:xfrm>
            <a:off x="457200" y="3749040"/>
            <a:ext cx="8229600" cy="457200"/>
          </a:xfrm>
          <a:prstGeom prst="rect">
            <a:avLst/>
          </a:prstGeom>
          <a:noFill/>
        </p:spPr>
        <p:txBody>
          <a:bodyPr wrap="square">
            <a:spAutoFit/>
          </a:bodyPr>
          <a:lstStyle/>
          <a:p>
            <a:pPr algn="l">
              <a:defRPr sz="1000" b="0">
                <a:latin typeface="Malgun Gothic"/>
              </a:defRPr>
            </a:pPr>
            <a:r>
              <a:t>Diagram showing relationships between Strategy, Job, Organization, Value Creation, and People</a:t>
            </a:r>
          </a:p>
        </p:txBody>
      </p:sp>
      <p:sp>
        <p:nvSpPr>
          <p:cNvPr id="9" name="TextBox 8"/>
          <p:cNvSpPr txBox="1"/>
          <p:nvPr/>
        </p:nvSpPr>
        <p:spPr>
          <a:xfrm>
            <a:off x="457200" y="4297680"/>
            <a:ext cx="8229600" cy="274320"/>
          </a:xfrm>
          <a:prstGeom prst="rect">
            <a:avLst/>
          </a:prstGeom>
          <a:noFill/>
        </p:spPr>
        <p:txBody>
          <a:bodyPr wrap="square">
            <a:spAutoFit/>
          </a:bodyPr>
          <a:lstStyle/>
          <a:p>
            <a:pPr algn="l">
              <a:defRPr sz="1200" b="1">
                <a:solidFill>
                  <a:srgbClr val="003366"/>
                </a:solidFill>
                <a:latin typeface="Malgun Gothic"/>
              </a:defRPr>
            </a:pPr>
            <a:r>
              <a:t>공단 교육훈련비 지출 내역 (단위: 백만원)</a:t>
            </a:r>
          </a:p>
        </p:txBody>
      </p:sp>
      <p:sp>
        <p:nvSpPr>
          <p:cNvPr id="10" name="TextBox 9"/>
          <p:cNvSpPr txBox="1"/>
          <p:nvPr/>
        </p:nvSpPr>
        <p:spPr>
          <a:xfrm>
            <a:off x="457200" y="4663440"/>
            <a:ext cx="8229600" cy="685800"/>
          </a:xfrm>
          <a:prstGeom prst="rect">
            <a:avLst/>
          </a:prstGeom>
          <a:noFill/>
        </p:spPr>
        <p:txBody>
          <a:bodyPr wrap="square">
            <a:spAutoFit/>
          </a:bodyPr>
          <a:lstStyle/>
          <a:p>
            <a:pPr algn="l">
              <a:defRPr sz="900" b="0">
                <a:latin typeface="Malgun Gothic"/>
              </a:defRPr>
            </a:pPr>
            <a:r>
              <a:t>[TABLE]</a:t>
            </a:r>
            <a:br/>
            <a:r>
              <a:t>Education &amp; Training Expenses</a:t>
            </a:r>
            <a:br/>
            <a:r>
              <a:t>Item	2018	2019	2020</a:t>
            </a:r>
            <a:br/>
            <a:r>
              <a:t>Business	1,858	1,545	1,494</a:t>
            </a:r>
            <a:br/>
            <a:r>
              <a:t>Management	395	335	136</a:t>
            </a:r>
            <a:br/>
            <a:r>
              <a:t>Total	2,254	1,880	1,629</a:t>
            </a:r>
          </a:p>
        </p:txBody>
      </p:sp>
      <p:sp>
        <p:nvSpPr>
          <p:cNvPr id="11" name="TextBox 10"/>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Ⅱ. 내·외부 환경분석 | Page 69</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내부 환경·역량 분석 - 재무실적</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공단은 예선사업 등 수익사업의 이익률 감소, 정부사업(수익·비수익)의 적자운영 지속으로 '17~'20년까지 4년간 영업손실을 기록하고 있으며, 전환적 변화가 없을 경우, 공단의 재무적 지속가능성에 문제가 발생됨</a:t>
            </a:r>
          </a:p>
        </p:txBody>
      </p:sp>
      <p:sp>
        <p:nvSpPr>
          <p:cNvPr id="4" name="TextBox 3"/>
          <p:cNvSpPr txBox="1"/>
          <p:nvPr/>
        </p:nvSpPr>
        <p:spPr>
          <a:xfrm>
            <a:off x="457200" y="1463040"/>
            <a:ext cx="8229600" cy="457200"/>
          </a:xfrm>
          <a:prstGeom prst="rect">
            <a:avLst/>
          </a:prstGeom>
          <a:noFill/>
        </p:spPr>
        <p:txBody>
          <a:bodyPr wrap="square">
            <a:spAutoFit/>
          </a:bodyPr>
          <a:lstStyle/>
          <a:p>
            <a:pPr algn="l">
              <a:defRPr sz="1000" b="0">
                <a:latin typeface="Malgun Gothic"/>
              </a:defRPr>
            </a:pPr>
            <a:r>
              <a:t>Bar and line chart depicting revenue, operating income, and operating income rate from '09 to '20</a:t>
            </a:r>
          </a:p>
        </p:txBody>
      </p:sp>
      <p:sp>
        <p:nvSpPr>
          <p:cNvPr id="5" name="TextBox 4"/>
          <p:cNvSpPr txBox="1"/>
          <p:nvPr/>
        </p:nvSpPr>
        <p:spPr>
          <a:xfrm>
            <a:off x="457200" y="2011680"/>
            <a:ext cx="8229600" cy="685800"/>
          </a:xfrm>
          <a:prstGeom prst="rect">
            <a:avLst/>
          </a:prstGeom>
          <a:noFill/>
        </p:spPr>
        <p:txBody>
          <a:bodyPr wrap="square">
            <a:spAutoFit/>
          </a:bodyPr>
          <a:lstStyle/>
          <a:p>
            <a:pPr algn="l">
              <a:defRPr sz="900" b="0">
                <a:latin typeface="Malgun Gothic"/>
              </a:defRPr>
            </a:pPr>
            <a:r>
              <a:t>[TABLE]</a:t>
            </a:r>
            <a:br/>
            <a:r>
              <a:t>Financial data table showing revenue, cost of sales, SG&amp;A, operating income, and net income from '09 to '20</a:t>
            </a:r>
          </a:p>
        </p:txBody>
      </p:sp>
      <p:sp>
        <p:nvSpPr>
          <p:cNvPr id="6" name="TextBox 5"/>
          <p:cNvSpPr txBox="1"/>
          <p:nvPr/>
        </p:nvSpPr>
        <p:spPr>
          <a:xfrm>
            <a:off x="457200" y="2788920"/>
            <a:ext cx="8229600" cy="1143000"/>
          </a:xfrm>
          <a:prstGeom prst="rect">
            <a:avLst/>
          </a:prstGeom>
          <a:noFill/>
        </p:spPr>
        <p:txBody>
          <a:bodyPr wrap="square">
            <a:spAutoFit/>
          </a:bodyPr>
          <a:lstStyle/>
          <a:p>
            <a:pPr algn="l">
              <a:defRPr sz="1000" b="0">
                <a:latin typeface="Malgun Gothic"/>
              </a:defRPr>
            </a:pPr>
            <a:r>
              <a:t>✓ 영업이익률 9~10%</a:t>
            </a:r>
            <a:br/>
            <a:r>
              <a:t> 사업이익 유지</a:t>
            </a:r>
            <a:br/>
            <a:r>
              <a:t> : 예선, 기중기 등 사업 이익률 우수('12년 15.7%)</a:t>
            </a:r>
            <a:br/>
            <a:r>
              <a:t>✓ 영업이익률 3~5%로</a:t>
            </a:r>
            <a:br/>
            <a:r>
              <a:t> 사업이익 감소</a:t>
            </a:r>
            <a:br/>
            <a:r>
              <a:t>: 수익사업 이익률 유지, 국고보조, 정부용역 및 대행사업 사업적자 기록</a:t>
            </a:r>
            <a:br/>
            <a:r>
              <a:t>✓ 영업이익률 -1~-8%로</a:t>
            </a:r>
            <a:br/>
            <a:r>
              <a:t> 사업손실 지속</a:t>
            </a:r>
            <a:br/>
            <a:r>
              <a:t>: 예선 등 자체 수익사업 이익률 감소, 정부사업 등 적자 지속</a:t>
            </a:r>
            <a:br/>
            <a:r>
              <a:t>✓ 사업 적자 지속에 따른 재무위기 : 극복을 위한 전환적 변화 없을 경우, (재무적) 지속가능성에 문제 발생</a:t>
            </a:r>
          </a:p>
        </p:txBody>
      </p:sp>
      <p:sp>
        <p:nvSpPr>
          <p:cNvPr id="7" name="TextBox 6"/>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None | Page 70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내부 환경·역량 분석 - 사업부문 재무실적 분석 (1/3)</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해양방제부문 재무실적은 분담금 수입이 사업수익의 주를 차지하고 있고, 인건비가 지출의 가장 큰 비중을 보이고 있으며, 이익과 손실이 반복되는 재무실적을 보이고 있음</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해양방제부문 재무실적 분석 : 높은 인건비 비중, 이익-손실 반복 양상</a:t>
            </a:r>
          </a:p>
        </p:txBody>
      </p:sp>
      <p:sp>
        <p:nvSpPr>
          <p:cNvPr id="5" name="TextBox 4"/>
          <p:cNvSpPr txBox="1"/>
          <p:nvPr/>
        </p:nvSpPr>
        <p:spPr>
          <a:xfrm>
            <a:off x="457200" y="1828800"/>
            <a:ext cx="4023360" cy="8229600"/>
          </a:xfrm>
          <a:prstGeom prst="rect">
            <a:avLst/>
          </a:prstGeom>
          <a:noFill/>
        </p:spPr>
        <p:txBody>
          <a:bodyPr wrap="square">
            <a:spAutoFit/>
          </a:bodyPr>
          <a:lstStyle/>
          <a:p>
            <a:pPr algn="l">
              <a:defRPr sz="900" b="0">
                <a:latin typeface="Malgun Gothic"/>
              </a:defRPr>
            </a:pPr>
            <a:r>
              <a:t>[TABLE]</a:t>
            </a:r>
            <a:br/>
            <a:r>
              <a:t>해양방제부문 재무실적 분석 (방제, 방제분담금 회계 기준)</a:t>
            </a:r>
            <a:br/>
            <a:r>
              <a:t>과목 '09. '10. '11. '12. '13. '14. '15. '16. '17. '18. '19. '20.</a:t>
            </a:r>
            <a:br/>
            <a:r>
              <a:t>사업수익 158.6 207.4 197.9 254.2 192.2 224.7 231.8 283.0 248.4 244.8 269.9 267.3</a:t>
            </a:r>
            <a:br/>
            <a:r>
              <a:t>분담금수입 154.8 158.8 166.5 206.4 184.6 179.9 214.6 225.4 236.7 235.6 259.0 257.3</a:t>
            </a:r>
            <a:br/>
            <a:r>
              <a:t>부담금수입 0.8 0.9 1.0 0.9 1.0 1.2 1.1 1.1 3.4 3.4 3.3 2.9</a:t>
            </a:r>
            <a:br/>
            <a:r>
              <a:t>보조금수입 0.0 0.0 0.0 0.0 0.0 0.0 0.0 0.0 0.0 0.0 0.0 0.0</a:t>
            </a:r>
            <a:br/>
            <a:r>
              <a:t>방제수입 2.9 47.7 30.4 47.0 6.5 43.4 14.1 14.1 8.3 8.3 7.6 6.5</a:t>
            </a:r>
            <a:br/>
            <a:r>
              <a:t>수탁사업수입 0.0 0.0 0.0 0.0 0.0 0.2 2.0 2.0 0.0 0.0 0.0 0.0</a:t>
            </a:r>
            <a:br/>
            <a:r>
              <a:t>임대수입 0.0 0.0 0.0 0.0 0.0 0.0 0.0 0.0 0.0 0.0 0.0 0.5</a:t>
            </a:r>
            <a:br/>
            <a:r>
              <a:t>사업비용 38.1 106.0 106.6 71.8 94.8 108.3 168.6 155.5 186.5 176.4 170.9 163.9</a:t>
            </a:r>
            <a:br/>
            <a:r>
              <a:t>인건비 0.0 32.2 16.6 14.5 22.3 23.1 68.9 73.6 90.7 100.5 98.2 97.3</a:t>
            </a:r>
            <a:br/>
            <a:r>
              <a:t>복리후생비 0.0 2.8 1.0 1.1 1.5 1.6 1.9 2.3 2.9 3.7 3.8 4.1</a:t>
            </a:r>
            <a:br/>
            <a:r>
              <a:t>사업운영비 0.0 46.6 52.4 46.2 44.8 56.8 68.7 48.1 62.2 43.2 43.7 36.0</a:t>
            </a:r>
            <a:br/>
            <a:r>
              <a:t>방제비 0.0 0.0 0.0 0.0 6.6 22.4 27.3 8.0 32.7 6.2 7.6 3.9</a:t>
            </a:r>
            <a:br/>
            <a:r>
              <a:t>감가상각비 0.0 24.4 36.5 10.1 26.2 26.8 29.0 31.5 30.6 29.1 25.3 26.4</a:t>
            </a:r>
            <a:br/>
            <a:r>
              <a:t>일반관리비 124.5 79.1 110.8 131.3 115.4 124.7 89.9 112.5 81.4 74.9 73.8 60.4</a:t>
            </a:r>
            <a:br/>
            <a:r>
              <a:t>인건비 69.7 47.5 82.9 88.2 83.4 103.0 63.1 77.8 51.7 43.4 46.5 43.3</a:t>
            </a:r>
            <a:br/>
            <a:r>
              <a:t>복리후생비 10.5 8.3 4.6 3.3 3.7 3.4 1.5 2.5 1.7 1.7 1.6 1.0</a:t>
            </a:r>
            <a:br/>
            <a:r>
              <a:t>경상운영비 54.8 23.2 23.3 39.8 28.4 18.3 25.3 32.2 28.0 29.8 25.7 16.1</a:t>
            </a:r>
            <a:br/>
            <a:r>
              <a:t>사업이익(영업이익) (4.0) 22.3 (19.4) 51.1 (18.0) (8.3) (26.7) 15.1 (19.5) (6.5) 25.2 42.9</a:t>
            </a:r>
            <a:br/>
            <a:r>
              <a:t>이익률 -2.5% 10.8% -9.8% 20.1% -9.3% -3.7% -11.5% 5.3% -7.8% -2.7% 9.3% 16.1%</a:t>
            </a:r>
            <a:br/>
            <a:r>
              <a:t>순이익(당기순이익) 13.7 34.6 (4.2) 60.7 (16.0) (5.6) (26.3) 14.5 (16.9) 0.7 25.5 43.0</a:t>
            </a:r>
            <a:br/>
            <a:r>
              <a:t>이익률 8.6% 16.7% -2.1% 23.9% -8.3% -2.5% -11.3% 5.1% -6.8% 0.3% 9.4% 16.1%</a:t>
            </a:r>
            <a:br/>
            <a:r>
              <a:t>비용 중 인건비</a:t>
            </a:r>
            <a:br/>
            <a:r>
              <a:t>인건비 69.7 79.7 99.6 102.7 105.6 126.1 132.0 151.4 142.4 143.9 144.7 140.7</a:t>
            </a:r>
            <a:br/>
            <a:r>
              <a:t>사업비 분류 인건비 0.0 32.2 16.6 14.5 22.3 23.1 68.9 73.6 90.7 100.5 98.2 97.3</a:t>
            </a:r>
            <a:br/>
            <a:r>
              <a:t>관리비 분류 인건비 69.7 47.5 82.9 88.2 83.4 103.0 63.1 77.8 51.7 43.4 46.5 43.3</a:t>
            </a:r>
            <a:br/>
            <a:r>
              <a:t>(인건비 비중) 42.9% 43.1% 45.8% 50.6% 50.3% 54.1% 51.1% 56.5% 53.2% 57.3% 59.1% 62.7%</a:t>
            </a:r>
          </a:p>
        </p:txBody>
      </p:sp>
      <p:sp>
        <p:nvSpPr>
          <p:cNvPr id="6" name="TextBox 5"/>
          <p:cNvSpPr txBox="1"/>
          <p:nvPr/>
        </p:nvSpPr>
        <p:spPr>
          <a:xfrm>
            <a:off x="457200" y="10149840"/>
            <a:ext cx="8229600" cy="274320"/>
          </a:xfrm>
          <a:prstGeom prst="rect">
            <a:avLst/>
          </a:prstGeom>
          <a:noFill/>
        </p:spPr>
        <p:txBody>
          <a:bodyPr wrap="square">
            <a:spAutoFit/>
          </a:bodyPr>
          <a:lstStyle/>
          <a:p>
            <a:pPr algn="l">
              <a:defRPr sz="1200" b="1">
                <a:solidFill>
                  <a:srgbClr val="003366"/>
                </a:solidFill>
                <a:latin typeface="Malgun Gothic"/>
              </a:defRPr>
            </a:pPr>
            <a:r>
              <a:t>Key Findings</a:t>
            </a:r>
          </a:p>
        </p:txBody>
      </p:sp>
      <p:sp>
        <p:nvSpPr>
          <p:cNvPr id="7" name="TextBox 6"/>
          <p:cNvSpPr txBox="1"/>
          <p:nvPr/>
        </p:nvSpPr>
        <p:spPr>
          <a:xfrm>
            <a:off x="4663440" y="2194560"/>
            <a:ext cx="4023360" cy="1371600"/>
          </a:xfrm>
          <a:prstGeom prst="rect">
            <a:avLst/>
          </a:prstGeom>
          <a:noFill/>
        </p:spPr>
        <p:txBody>
          <a:bodyPr wrap="square">
            <a:spAutoFit/>
          </a:bodyPr>
          <a:lstStyle/>
          <a:p>
            <a:pPr algn="l">
              <a:defRPr sz="1000" b="0">
                <a:latin typeface="Malgun Gothic"/>
              </a:defRPr>
            </a:pPr>
            <a:r>
              <a:t>✓ 해양방제사업의 수입은 주로</a:t>
            </a:r>
            <a:br/>
            <a:r>
              <a:t>방제분담금이며, 부담금 및</a:t>
            </a:r>
            <a:br/>
            <a:r>
              <a:t>방제수입은 연도별 편차가</a:t>
            </a:r>
            <a:br/>
            <a:r>
              <a:t>크고 최근 크게 감소한 것으로</a:t>
            </a:r>
            <a:br/>
            <a:r>
              <a:t>나타남</a:t>
            </a:r>
            <a:br/>
            <a:r>
              <a:t>✓ 인건비가 가장 큰 비중을</a:t>
            </a:r>
            <a:br/>
            <a:r>
              <a:t>차지하고 있음('20년 전체</a:t>
            </a:r>
            <a:br/>
            <a:r>
              <a:t>비용의 62.7%)</a:t>
            </a:r>
            <a:br/>
            <a:r>
              <a:t>✓ 오염사고 감소 추세에 따라</a:t>
            </a:r>
            <a:br/>
            <a:r>
              <a:t>방제수입과 방제비는 지속</a:t>
            </a:r>
            <a:br/>
            <a:r>
              <a:t>감소 추이를 보이고 있음</a:t>
            </a:r>
            <a:br/>
            <a:r>
              <a:t>✓ 회계기준 방제사업은 이익과</a:t>
            </a:r>
            <a:br/>
            <a:r>
              <a:t>손실이 반복되는 양상임</a:t>
            </a:r>
            <a:br/>
            <a:r>
              <a:t>✓ 전체 지출에서 인건비 비중이</a:t>
            </a:r>
            <a:br/>
            <a:r>
              <a:t>높고 방제수입과 방제비가</a:t>
            </a:r>
            <a:br/>
            <a:r>
              <a:t>감소하는 것은 방제분담금</a:t>
            </a:r>
            <a:br/>
            <a:r>
              <a:t>협의와 이용에 부정적 요소로</a:t>
            </a:r>
            <a:br/>
            <a:r>
              <a:t>작용할 수 있음</a:t>
            </a:r>
          </a:p>
        </p:txBody>
      </p:sp>
      <p:sp>
        <p:nvSpPr>
          <p:cNvPr id="8" name="TextBox 7"/>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71</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내부 환경·역량 분석 - 사업부문 재무실적 분석 (2/3)</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해양사업부문의 주요 사업인 예선 사업은 경쟁심화에 따른 매출감소와 인건비, 감가상각비 등 비용 증가로 '18년부터 수익과 이익이 동시에 감소하고 있으며, 단기간 내에 수익과 이익률의 개선은 어려울 것으로 판단됨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해양사업부문 재무실적 분석</a:t>
            </a:r>
          </a:p>
        </p:txBody>
      </p:sp>
      <p:sp>
        <p:nvSpPr>
          <p:cNvPr id="5" name="TextBox 4"/>
          <p:cNvSpPr txBox="1"/>
          <p:nvPr/>
        </p:nvSpPr>
        <p:spPr>
          <a:xfrm>
            <a:off x="457200" y="1828800"/>
            <a:ext cx="8229600" cy="685800"/>
          </a:xfrm>
          <a:prstGeom prst="rect">
            <a:avLst/>
          </a:prstGeom>
          <a:noFill/>
        </p:spPr>
        <p:txBody>
          <a:bodyPr wrap="square">
            <a:spAutoFit/>
          </a:bodyPr>
          <a:lstStyle/>
          <a:p>
            <a:pPr algn="l">
              <a:defRPr sz="1000" b="0">
                <a:latin typeface="Malgun Gothic"/>
              </a:defRPr>
            </a:pPr>
            <a:r>
              <a:t>Bar and line chart illustrating revenue, operating profit, and operating profit margin trends for the marine business</a:t>
            </a:r>
          </a:p>
        </p:txBody>
      </p:sp>
      <p:sp>
        <p:nvSpPr>
          <p:cNvPr id="6" name="TextBox 5"/>
          <p:cNvSpPr txBox="1"/>
          <p:nvPr/>
        </p:nvSpPr>
        <p:spPr>
          <a:xfrm>
            <a:off x="457200" y="2606040"/>
            <a:ext cx="8229600" cy="274320"/>
          </a:xfrm>
          <a:prstGeom prst="rect">
            <a:avLst/>
          </a:prstGeom>
          <a:noFill/>
        </p:spPr>
        <p:txBody>
          <a:bodyPr wrap="square">
            <a:spAutoFit/>
          </a:bodyPr>
          <a:lstStyle/>
          <a:p>
            <a:pPr algn="l">
              <a:defRPr sz="1200" b="1">
                <a:solidFill>
                  <a:srgbClr val="003366"/>
                </a:solidFill>
                <a:latin typeface="Malgun Gothic"/>
              </a:defRPr>
            </a:pPr>
            <a:r>
              <a:t>Key Findings</a:t>
            </a:r>
          </a:p>
        </p:txBody>
      </p:sp>
      <p:sp>
        <p:nvSpPr>
          <p:cNvPr id="7" name="TextBox 6"/>
          <p:cNvSpPr txBox="1"/>
          <p:nvPr/>
        </p:nvSpPr>
        <p:spPr>
          <a:xfrm>
            <a:off x="457200" y="2971800"/>
            <a:ext cx="8229600" cy="1143000"/>
          </a:xfrm>
          <a:prstGeom prst="rect">
            <a:avLst/>
          </a:prstGeom>
          <a:noFill/>
        </p:spPr>
        <p:txBody>
          <a:bodyPr wrap="square">
            <a:spAutoFit/>
          </a:bodyPr>
          <a:lstStyle/>
          <a:p>
            <a:pPr algn="l">
              <a:defRPr sz="1000" b="0">
                <a:latin typeface="Malgun Gothic"/>
              </a:defRPr>
            </a:pPr>
            <a:r>
              <a:t>✓ 해양사업부문은 '17년 기중기 매각 이후 '20년 예선사업이 부문 전체 사업수익의 95% 이상을 차지하고 있음</a:t>
            </a:r>
            <a:br/>
            <a:r>
              <a:t>✓ 예선사업은 경쟁심화에 따른 매출감소, 인건비, 감가상각비 등 비용 증가로 수익성 악화됨</a:t>
            </a:r>
            <a:br/>
            <a:r>
              <a:t>✓ 예선 사업은 공단 자체 수익사업이나, 매출과 이익이 급격히 감소하여 공단의 재정에 어려움을 주고 있음</a:t>
            </a:r>
            <a:br/>
            <a:r>
              <a:t>✓ 시장과 구조적 변화로 인안 문제로 단기간 내 수익, 이익률 개선은 어려울 것으로 판단됨</a:t>
            </a:r>
          </a:p>
        </p:txBody>
      </p:sp>
      <p:sp>
        <p:nvSpPr>
          <p:cNvPr id="8" name="TextBox 7"/>
          <p:cNvSpPr txBox="1"/>
          <p:nvPr/>
        </p:nvSpPr>
        <p:spPr>
          <a:xfrm>
            <a:off x="457200" y="4206240"/>
            <a:ext cx="8229600" cy="685800"/>
          </a:xfrm>
          <a:prstGeom prst="rect">
            <a:avLst/>
          </a:prstGeom>
          <a:noFill/>
        </p:spPr>
        <p:txBody>
          <a:bodyPr wrap="square">
            <a:spAutoFit/>
          </a:bodyPr>
          <a:lstStyle/>
          <a:p>
            <a:pPr algn="l">
              <a:defRPr sz="900" b="0">
                <a:latin typeface="Malgun Gothic"/>
              </a:defRPr>
            </a:pPr>
            <a:r>
              <a:t>[TABLE]</a:t>
            </a:r>
            <a:br/>
            <a:r>
              <a:t>Financial data table showing revenue, operating profit, and net profit for the marine business from '09 to '20</a:t>
            </a:r>
          </a:p>
        </p:txBody>
      </p:sp>
      <p:sp>
        <p:nvSpPr>
          <p:cNvPr id="9" name="TextBox 8"/>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71 | Page 72</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내부 환경·역량 분석 - 사업부문 재무실적 분석 (3/3)</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해양보전부문은 대부분의 단위 사업에서 영업손실을 기록하고 있으며, 각 개별사업이 정부위탁 계약에 따라 수익성이 가변적이고 규모가 작아 규모의 경제를 달성하기 어려운 구조의 사업들로 구성되어 있음</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해양보전부문 재무실적 분석 (2020년 실적)</a:t>
            </a:r>
          </a:p>
        </p:txBody>
      </p:sp>
      <p:sp>
        <p:nvSpPr>
          <p:cNvPr id="5" name="TextBox 4"/>
          <p:cNvSpPr txBox="1"/>
          <p:nvPr/>
        </p:nvSpPr>
        <p:spPr>
          <a:xfrm>
            <a:off x="457200" y="1828800"/>
            <a:ext cx="4023360" cy="457200"/>
          </a:xfrm>
          <a:prstGeom prst="rect">
            <a:avLst/>
          </a:prstGeom>
          <a:noFill/>
        </p:spPr>
        <p:txBody>
          <a:bodyPr wrap="square">
            <a:spAutoFit/>
          </a:bodyPr>
          <a:lstStyle/>
          <a:p>
            <a:pPr algn="l">
              <a:defRPr sz="900" b="0">
                <a:latin typeface="Malgun Gothic"/>
              </a:defRPr>
            </a:pPr>
            <a:r>
              <a:t>[TABLE]</a:t>
            </a:r>
            <a:br/>
            <a:r>
              <a:t>Table data related to financial performance analysis (2020)</a:t>
            </a:r>
          </a:p>
        </p:txBody>
      </p:sp>
      <p:sp>
        <p:nvSpPr>
          <p:cNvPr id="6" name="TextBox 5"/>
          <p:cNvSpPr txBox="1"/>
          <p:nvPr/>
        </p:nvSpPr>
        <p:spPr>
          <a:xfrm>
            <a:off x="4663440" y="1828800"/>
            <a:ext cx="4023360" cy="1143000"/>
          </a:xfrm>
          <a:prstGeom prst="rect">
            <a:avLst/>
          </a:prstGeom>
          <a:noFill/>
        </p:spPr>
        <p:txBody>
          <a:bodyPr wrap="square">
            <a:spAutoFit/>
          </a:bodyPr>
          <a:lstStyle/>
          <a:p>
            <a:pPr algn="l">
              <a:defRPr sz="1000" b="0">
                <a:latin typeface="Malgun Gothic"/>
              </a:defRPr>
            </a:pPr>
            <a:r>
              <a:t>✓ 해양보전부문은 대부분의 단위 사업에서 영업손실을 기록하고 있으며, '20년 회계손익 기준 전체 합계 89.7억 원의 영업손실, 63.2억 원의 순손실 집계됨</a:t>
            </a:r>
            <a:br/>
            <a:r>
              <a:t>✓ 해양보전사업은 정부사업의 위탁 및 위탁 관리 위주의 사업으로, 계약에 따라 사업 수익성 변화됨</a:t>
            </a:r>
            <a:br/>
            <a:r>
              <a:t>✓ 사업 부분별 규모가 크지 않고, 각 사업도 소규모 단위사업으로 구성되는 등 규모의 경제를 달성하기 어려운 구조의 사업들로 구성되어 있음</a:t>
            </a:r>
          </a:p>
        </p:txBody>
      </p:sp>
      <p:sp>
        <p:nvSpPr>
          <p:cNvPr id="7" name="TextBox 6"/>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73</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내부 환경·역량 분석 - 내부 역량분석 종합</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내부 환경·역량변화 요인의 각 사업부문별 영향(강점/약점)은 다음과 같이 분류해 볼 수 있음</a:t>
            </a:r>
          </a:p>
        </p:txBody>
      </p:sp>
      <p:sp>
        <p:nvSpPr>
          <p:cNvPr id="4" name="TextBox 3"/>
          <p:cNvSpPr txBox="1"/>
          <p:nvPr/>
        </p:nvSpPr>
        <p:spPr>
          <a:xfrm>
            <a:off x="457200" y="1463040"/>
            <a:ext cx="8229600" cy="3657600"/>
          </a:xfrm>
          <a:prstGeom prst="rect">
            <a:avLst/>
          </a:prstGeom>
          <a:noFill/>
        </p:spPr>
        <p:txBody>
          <a:bodyPr wrap="square">
            <a:spAutoFit/>
          </a:bodyPr>
          <a:lstStyle/>
          <a:p>
            <a:pPr algn="l">
              <a:defRPr sz="900" b="0">
                <a:latin typeface="Malgun Gothic"/>
              </a:defRPr>
            </a:pPr>
            <a:r>
              <a:t>[TABLE]</a:t>
            </a:r>
            <a:br/>
            <a:r>
              <a:t>[[구분, 항목 (분석·변화), 강점/약점], [사업 전략, • 방제·정화에서 보전·이용으로 사업영역과 조직 확대, 강점], [사업 전략, ■ 해양환경 영역의 정부사업 수행 주관기관 위상, 강점], [사업 전략, ■ 해양환경 정보포털 운영 권한 : 해양환경 데이터 측정·수집·분석·제공 기능, 강점], [사업 전략, ■ 해양환경 측정·조사·연구기능 내부 보유 : 정책기능의 기반 확보, 강점], [사업 전략, ■ 해양환경 정보제공 및 교육기능 보유 : 국민참여 접점 확보, 강점], [사업 전략, • 단위사업의 낮은 연속성 : 해양정화사업, 생태복원사업 등 프로젝트형 개별사업 형식, 약점], [사업 전략, • 수익성 악화와 높은 인건비 비중으로 인한 재정적 위기 : 사업 수익구조 악화, 약점], [조직·인사, ■ 해양환경분야 전문인력 보유, 강점], [조직·인사, • 단기성과 중심 사업관리 및 의사결정 성향, 약점], [조직·인사, • 인사적체 등으로 인한 동기부여의 어려움, 약점], [자원·역량, • 방제자산(선박·장비)과 기술력 자체 보유, 강점], [자원·역량, ■ 해양수산·해양정책 네트워크와 항만 중심지역 인프라 보유, 강점], [자원·역량, ■ 해양환경 정책 연구·입안 역량 부족 (인력·조직 전문성 부족), 약점], [자원·역량, ■ 미래성장사업 투자를 위한 재원 부족, 약점], [기타, • 부서간 정보공유 및 의사소통 부족, 약점], [기타, ■ 관료주의의 경직된 조직문화, 약점], [기타, • 기관에 대한 낮은 외부 인지도, 약점]]</a:t>
            </a:r>
          </a:p>
        </p:txBody>
      </p:sp>
      <p:sp>
        <p:nvSpPr>
          <p:cNvPr id="5" name="TextBox 4"/>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Ⅱ. 내·외부 환경분석 | Page 74</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이해관계자 분석</a:t>
            </a:r>
          </a:p>
        </p:txBody>
      </p:sp>
      <p:sp>
        <p:nvSpPr>
          <p:cNvPr id="3" name="TextBox 2"/>
          <p:cNvSpPr txBox="1"/>
          <p:nvPr/>
        </p:nvSpPr>
        <p:spPr>
          <a:xfrm>
            <a:off x="457200" y="1463040"/>
            <a:ext cx="8229600" cy="228600"/>
          </a:xfrm>
          <a:prstGeom prst="rect">
            <a:avLst/>
          </a:prstGeom>
          <a:noFill/>
        </p:spPr>
        <p:txBody>
          <a:bodyPr wrap="square">
            <a:spAutoFit/>
          </a:bodyPr>
          <a:lstStyle/>
          <a:p>
            <a:pPr algn="l">
              <a:defRPr sz="1000" b="0">
                <a:latin typeface="Malgun Gothic"/>
              </a:defRPr>
            </a:pPr>
            <a:r>
              <a:t>KOEM 해양환경공단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None | Page 75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이해관계자 분석 - 가치사슬(Value Chain) 분석</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공단은 해양보전, 정화, 방제 및 해양사업을 본원 사업으로 하고 있으며, 보전·정화는 조사, 발굴하고 시행을 관리하는 위탁관리형 사업이고, 방제는 계획을 수립해 자원을 확보하고 사고시 방제를 실시하는 협력적 사고대응형 사업임</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75 | Page 76</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이해관계자 분석 - 이해관계자 분류 및 그룹별 관리</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이해관계자는 각 그룹별 특성에 맞는 관리가 필요하며, 학계와 시민단체, 해양레저인구·동호회, 국민은 체계적 협력과</a:t>
            </a:r>
            <a:br/>
            <a:r>
              <a:t>참여를 통해 관심도와 영향력을 키워 그룹이 바뀔 수 있도록 전환적 관리가 필요함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None | Page 77</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이해관계자 분석 - 외부 이해관계자 의견수렴 (1/2)</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해양수산부, 국회, 학계 및 시민단체 등 주요 이해관계자 인터뷰에서 공단은 해양환경 전문기관으로 정책을 만들고 추진하는 해양환경 종합기관으로의 발전이 바람직하며, 이를 위해 과감한 목표수립, 조직·사업 재배치, 재정구조 전환 등이 필요하다는 의견이 많았음</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미래 방향성과 위상</a:t>
            </a:r>
          </a:p>
        </p:txBody>
      </p:sp>
      <p:sp>
        <p:nvSpPr>
          <p:cNvPr id="5" name="TextBox 4"/>
          <p:cNvSpPr txBox="1"/>
          <p:nvPr/>
        </p:nvSpPr>
        <p:spPr>
          <a:xfrm>
            <a:off x="457200" y="1828800"/>
            <a:ext cx="4023360" cy="1828800"/>
          </a:xfrm>
          <a:prstGeom prst="rect">
            <a:avLst/>
          </a:prstGeom>
          <a:noFill/>
        </p:spPr>
        <p:txBody>
          <a:bodyPr wrap="square">
            <a:spAutoFit/>
          </a:bodyPr>
          <a:lstStyle/>
          <a:p>
            <a:pPr algn="l">
              <a:defRPr sz="1000" b="0">
                <a:latin typeface="Malgun Gothic"/>
              </a:defRPr>
            </a:pPr>
            <a:r>
              <a:t>• 해양수산부의 사업을 수행하는 집행기관에서 선도적으로 정책을 연구·제안하고 사업을 발굴·추진하는 해양환경 종합기관으로 발전 필요</a:t>
            </a:r>
            <a:br/>
            <a:r>
              <a:t>- 정책과 미래에 대한 연구·기획을 강화하고 해양환경 부문을 선도적으로 이끌어 갈 수 있게 성장할 수 있으면 함</a:t>
            </a:r>
            <a:br/>
            <a:r>
              <a:t>• 해양환경 전문기관으로 조직, 인력, 사업에서 전문성을 키우는 것이 바람직함</a:t>
            </a:r>
            <a:br/>
            <a:r>
              <a:t>- 해양환경 분야에 집중하되, 해양환경 이용, 산업 육성으로 범위 넓힐 수 있음</a:t>
            </a:r>
            <a:br/>
            <a:r>
              <a:t>• 기후변화 대응과 탄소중립 이슈는 지속적으로 커질 사안으로 해양부문 탄소중립 및 기후변화 대응에서 공단이 주관·전문기관으로 자리잡을 필요 있음</a:t>
            </a:r>
            <a:br/>
            <a:r>
              <a:t>- 해상풍력 포함 친환경에너지, 블루카본, 친환경선박 등 사업 추진 주관</a:t>
            </a:r>
            <a:br/>
            <a:r>
              <a:t>- 탄소중립, 기후변화 대응을 위한 전담·전문 부서 구성, 적극 추진</a:t>
            </a:r>
          </a:p>
        </p:txBody>
      </p:sp>
      <p:sp>
        <p:nvSpPr>
          <p:cNvPr id="6" name="TextBox 5"/>
          <p:cNvSpPr txBox="1"/>
          <p:nvPr/>
        </p:nvSpPr>
        <p:spPr>
          <a:xfrm>
            <a:off x="457200" y="3749040"/>
            <a:ext cx="8229600" cy="274320"/>
          </a:xfrm>
          <a:prstGeom prst="rect">
            <a:avLst/>
          </a:prstGeom>
          <a:noFill/>
        </p:spPr>
        <p:txBody>
          <a:bodyPr wrap="square">
            <a:spAutoFit/>
          </a:bodyPr>
          <a:lstStyle/>
          <a:p>
            <a:pPr algn="l">
              <a:defRPr sz="1200" b="1">
                <a:solidFill>
                  <a:srgbClr val="003366"/>
                </a:solidFill>
                <a:latin typeface="Malgun Gothic"/>
              </a:defRPr>
            </a:pPr>
            <a:r>
              <a:t>미래를 위한 개선사항</a:t>
            </a:r>
          </a:p>
        </p:txBody>
      </p:sp>
      <p:sp>
        <p:nvSpPr>
          <p:cNvPr id="7" name="TextBox 6"/>
          <p:cNvSpPr txBox="1"/>
          <p:nvPr/>
        </p:nvSpPr>
        <p:spPr>
          <a:xfrm>
            <a:off x="457200" y="4114800"/>
            <a:ext cx="4023360" cy="1828800"/>
          </a:xfrm>
          <a:prstGeom prst="rect">
            <a:avLst/>
          </a:prstGeom>
          <a:noFill/>
        </p:spPr>
        <p:txBody>
          <a:bodyPr wrap="square">
            <a:spAutoFit/>
          </a:bodyPr>
          <a:lstStyle/>
          <a:p>
            <a:pPr algn="l">
              <a:defRPr sz="1000" b="0">
                <a:latin typeface="Malgun Gothic"/>
              </a:defRPr>
            </a:pPr>
            <a:r>
              <a:t>• 뉴딜 사업에서 과감하고 야심찬 목표를 잡고 크게 사업을 만들어낼 필요 있음</a:t>
            </a:r>
            <a:br/>
            <a:r>
              <a:t>- 디지털·일자리 목표에 맞는 대형사업 추진 (민간 홍보와 공감대 확보 필요)</a:t>
            </a:r>
            <a:br/>
            <a:r>
              <a:t>• 해양환경의 주제가 보호·보전에서 생태관광, 치유 등 친환경적 이용으로 확대되고 있어 공단의 조직·사업의 재배치 검토 필요</a:t>
            </a:r>
            <a:br/>
            <a:r>
              <a:t>- 해양환경의 문화서비스화로 치유, 관광 등 영역 부각, 민간참여 확대 기회로 활용</a:t>
            </a:r>
            <a:br/>
            <a:r>
              <a:t>• 공단의 재정 및 운영구조 바꿀 필요 있음</a:t>
            </a:r>
            <a:br/>
            <a:r>
              <a:t>- 정부위탁형 출연기관으로 변경 검토, 전환(예선은 회계 독립시킨 단독사업 전환)</a:t>
            </a:r>
            <a:br/>
            <a:r>
              <a:t>• 발전과 성장을 위한 (인력과 예산의 안정적 확보의) 전기 마련 필요</a:t>
            </a:r>
            <a:br/>
            <a:r>
              <a:t>- (해양환경산업 육성 기금 확보·운용과 같은) 획기적 "아이디어" 필요한 시점</a:t>
            </a:r>
          </a:p>
        </p:txBody>
      </p:sp>
      <p:sp>
        <p:nvSpPr>
          <p:cNvPr id="8" name="TextBox 7"/>
          <p:cNvSpPr txBox="1"/>
          <p:nvPr/>
        </p:nvSpPr>
        <p:spPr>
          <a:xfrm>
            <a:off x="4663440" y="2194560"/>
            <a:ext cx="4023360" cy="228600"/>
          </a:xfrm>
          <a:prstGeom prst="rect">
            <a:avLst/>
          </a:prstGeom>
          <a:noFill/>
        </p:spPr>
        <p:txBody>
          <a:bodyPr wrap="square">
            <a:spAutoFit/>
          </a:bodyPr>
          <a:lstStyle/>
          <a:p>
            <a:pPr algn="l">
              <a:defRPr sz="1000" b="0">
                <a:latin typeface="Malgun Gothic"/>
              </a:defRPr>
            </a:pPr>
            <a:r>
              <a:t>해양환경 전문기관으로 집중 필요</a:t>
            </a:r>
          </a:p>
        </p:txBody>
      </p:sp>
      <p:sp>
        <p:nvSpPr>
          <p:cNvPr id="9" name="TextBox 8"/>
          <p:cNvSpPr txBox="1"/>
          <p:nvPr/>
        </p:nvSpPr>
        <p:spPr>
          <a:xfrm>
            <a:off x="4663440" y="2514600"/>
            <a:ext cx="4023360" cy="228600"/>
          </a:xfrm>
          <a:prstGeom prst="rect">
            <a:avLst/>
          </a:prstGeom>
          <a:noFill/>
        </p:spPr>
        <p:txBody>
          <a:bodyPr wrap="square">
            <a:spAutoFit/>
          </a:bodyPr>
          <a:lstStyle/>
          <a:p>
            <a:pPr algn="l">
              <a:defRPr sz="1000" b="0">
                <a:latin typeface="Malgun Gothic"/>
              </a:defRPr>
            </a:pPr>
            <a:r>
              <a:t>해양환경 정책 선도기관으로 위상 발전</a:t>
            </a:r>
          </a:p>
        </p:txBody>
      </p:sp>
      <p:sp>
        <p:nvSpPr>
          <p:cNvPr id="10" name="TextBox 9"/>
          <p:cNvSpPr txBox="1"/>
          <p:nvPr/>
        </p:nvSpPr>
        <p:spPr>
          <a:xfrm>
            <a:off x="4663440" y="2834640"/>
            <a:ext cx="4023360" cy="228600"/>
          </a:xfrm>
          <a:prstGeom prst="rect">
            <a:avLst/>
          </a:prstGeom>
          <a:noFill/>
        </p:spPr>
        <p:txBody>
          <a:bodyPr wrap="square">
            <a:spAutoFit/>
          </a:bodyPr>
          <a:lstStyle/>
          <a:p>
            <a:pPr algn="l">
              <a:defRPr sz="1000" b="0">
                <a:latin typeface="Malgun Gothic"/>
              </a:defRPr>
            </a:pPr>
            <a:r>
              <a:t>기후변화·탄소중립 이슈 주도적 추진</a:t>
            </a:r>
          </a:p>
        </p:txBody>
      </p:sp>
      <p:sp>
        <p:nvSpPr>
          <p:cNvPr id="11" name="TextBox 10"/>
          <p:cNvSpPr txBox="1"/>
          <p:nvPr/>
        </p:nvSpPr>
        <p:spPr>
          <a:xfrm>
            <a:off x="4663440" y="3154680"/>
            <a:ext cx="4023360" cy="228600"/>
          </a:xfrm>
          <a:prstGeom prst="rect">
            <a:avLst/>
          </a:prstGeom>
          <a:noFill/>
        </p:spPr>
        <p:txBody>
          <a:bodyPr wrap="square">
            <a:spAutoFit/>
          </a:bodyPr>
          <a:lstStyle/>
          <a:p>
            <a:pPr algn="l">
              <a:defRPr sz="1000" b="0">
                <a:latin typeface="Malgun Gothic"/>
              </a:defRPr>
            </a:pPr>
            <a:r>
              <a:t>과감한 대규모 사업 기획과 추진</a:t>
            </a:r>
          </a:p>
        </p:txBody>
      </p:sp>
      <p:sp>
        <p:nvSpPr>
          <p:cNvPr id="12" name="TextBox 11"/>
          <p:cNvSpPr txBox="1"/>
          <p:nvPr/>
        </p:nvSpPr>
        <p:spPr>
          <a:xfrm>
            <a:off x="4663440" y="3474720"/>
            <a:ext cx="4023360" cy="228600"/>
          </a:xfrm>
          <a:prstGeom prst="rect">
            <a:avLst/>
          </a:prstGeom>
          <a:noFill/>
        </p:spPr>
        <p:txBody>
          <a:bodyPr wrap="square">
            <a:spAutoFit/>
          </a:bodyPr>
          <a:lstStyle/>
          <a:p>
            <a:pPr algn="l">
              <a:defRPr sz="1000" b="0">
                <a:latin typeface="Malgun Gothic"/>
              </a:defRPr>
            </a:pPr>
            <a:r>
              <a:t>생태관광, 치유 등 친환경적 해양환경 이용부문 사업확대</a:t>
            </a:r>
          </a:p>
        </p:txBody>
      </p:sp>
      <p:sp>
        <p:nvSpPr>
          <p:cNvPr id="13" name="TextBox 12"/>
          <p:cNvSpPr txBox="1"/>
          <p:nvPr/>
        </p:nvSpPr>
        <p:spPr>
          <a:xfrm>
            <a:off x="4663440" y="3794760"/>
            <a:ext cx="4023360" cy="228600"/>
          </a:xfrm>
          <a:prstGeom prst="rect">
            <a:avLst/>
          </a:prstGeom>
          <a:noFill/>
        </p:spPr>
        <p:txBody>
          <a:bodyPr wrap="square">
            <a:spAutoFit/>
          </a:bodyPr>
          <a:lstStyle/>
          <a:p>
            <a:pPr algn="l">
              <a:defRPr sz="1000" b="0">
                <a:latin typeface="Malgun Gothic"/>
              </a:defRPr>
            </a:pPr>
            <a:r>
              <a:t>공단 재정·운영구조 개편 검토·추진</a:t>
            </a:r>
          </a:p>
        </p:txBody>
      </p:sp>
      <p:sp>
        <p:nvSpPr>
          <p:cNvPr id="14" name="TextBox 1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79</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이해관계자 분석 - 외부 이해관계자 의견수렴 (2/2)</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이해관계자 인터뷰에서 공단 인력과 조직의 전문성, 부서·영역간 및 외부와 소통과 협력, 예선사업 타당성 등을 주요</a:t>
            </a:r>
            <a:br/>
            <a:r>
              <a:t>현안이슈로 지적하면서 학계·전문가 교류·협력 프로그램 운영, 국민 참여·소통 플랫폼 구축·운영 등이 대안으로 제시됨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현안이슈</a:t>
            </a:r>
          </a:p>
        </p:txBody>
      </p:sp>
      <p:sp>
        <p:nvSpPr>
          <p:cNvPr id="5" name="TextBox 4"/>
          <p:cNvSpPr txBox="1"/>
          <p:nvPr/>
        </p:nvSpPr>
        <p:spPr>
          <a:xfrm>
            <a:off x="457200" y="1828800"/>
            <a:ext cx="4023360" cy="1828800"/>
          </a:xfrm>
          <a:prstGeom prst="rect">
            <a:avLst/>
          </a:prstGeom>
          <a:noFill/>
        </p:spPr>
        <p:txBody>
          <a:bodyPr wrap="square">
            <a:spAutoFit/>
          </a:bodyPr>
          <a:lstStyle/>
          <a:p>
            <a:pPr algn="l">
              <a:defRPr sz="1000" b="0">
                <a:latin typeface="Malgun Gothic"/>
              </a:defRPr>
            </a:pPr>
            <a:r>
              <a:t>•공단 인력과 조직의 전문성</a:t>
            </a:r>
            <a:br/>
            <a:r>
              <a:t>  - 해양환경은 분야 전문성과 (정책 선도를 위한) 종합적 기획역량이 필요한데,</a:t>
            </a:r>
            <a:br/>
            <a:r>
              <a:t>    순환보직, 단기성과주의 등으로 공단 조직과 인력의 전문성 약화됨</a:t>
            </a:r>
            <a:br/>
            <a:r>
              <a:t>• 부서간, 외부기관 및 시민단체, 국민과 소통과 협력</a:t>
            </a:r>
            <a:br/>
            <a:r>
              <a:t>  - 공단 내부 부서간, 영역간 및 외부 기관과 소통과 공유 잘 안됨 (공단만의 문제</a:t>
            </a:r>
            <a:br/>
            <a:r>
              <a:t>    아니고 해양수산부가 같이 가지고 있는 문제로 함께 풀어야할 과제)</a:t>
            </a:r>
            <a:br/>
            <a:r>
              <a:t>• 예선사업의 당위성 검토 및 장기 사업전략 필요</a:t>
            </a:r>
            <a:br/>
            <a:r>
              <a:t>  - 민간과 경쟁 영역의 사업지속 당위성, 외부요인 변경에 따른 사업성의 검토 필요</a:t>
            </a:r>
            <a:br/>
            <a:r>
              <a:t>• 공단이 조사·측정·수집한 데이터의 이용과 활용</a:t>
            </a:r>
            <a:br/>
            <a:r>
              <a:t>  - 공단이 조사, 관리하는 데이터의 공개·공유 극히 제한적임</a:t>
            </a:r>
          </a:p>
        </p:txBody>
      </p:sp>
      <p:sp>
        <p:nvSpPr>
          <p:cNvPr id="6" name="TextBox 5"/>
          <p:cNvSpPr txBox="1"/>
          <p:nvPr/>
        </p:nvSpPr>
        <p:spPr>
          <a:xfrm>
            <a:off x="457200" y="3749040"/>
            <a:ext cx="8229600" cy="274320"/>
          </a:xfrm>
          <a:prstGeom prst="rect">
            <a:avLst/>
          </a:prstGeom>
          <a:noFill/>
        </p:spPr>
        <p:txBody>
          <a:bodyPr wrap="square">
            <a:spAutoFit/>
          </a:bodyPr>
          <a:lstStyle/>
          <a:p>
            <a:pPr algn="l">
              <a:defRPr sz="1200" b="1">
                <a:solidFill>
                  <a:srgbClr val="003366"/>
                </a:solidFill>
                <a:latin typeface="Malgun Gothic"/>
              </a:defRPr>
            </a:pPr>
            <a:r>
              <a:t>개선대안</a:t>
            </a:r>
          </a:p>
        </p:txBody>
      </p:sp>
      <p:sp>
        <p:nvSpPr>
          <p:cNvPr id="7" name="TextBox 6"/>
          <p:cNvSpPr txBox="1"/>
          <p:nvPr/>
        </p:nvSpPr>
        <p:spPr>
          <a:xfrm>
            <a:off x="457200" y="4114800"/>
            <a:ext cx="4023360" cy="1600200"/>
          </a:xfrm>
          <a:prstGeom prst="rect">
            <a:avLst/>
          </a:prstGeom>
          <a:noFill/>
        </p:spPr>
        <p:txBody>
          <a:bodyPr wrap="square">
            <a:spAutoFit/>
          </a:bodyPr>
          <a:lstStyle/>
          <a:p>
            <a:pPr algn="l">
              <a:defRPr sz="1000" b="0">
                <a:latin typeface="Malgun Gothic"/>
              </a:defRPr>
            </a:pPr>
            <a:r>
              <a:t>• 전문성 강화 대안</a:t>
            </a:r>
            <a:br/>
            <a:r>
              <a:t>  - 학계, 전문가와의 소통과 협력 강화, 외부 전문인력의 활용 및 교류 확대</a:t>
            </a:r>
            <a:br/>
            <a:r>
              <a:t>  - 순환보직 등 인사제도와 CDP 등 개선 필요 (전문교육과정, 인력교류 등 추진)</a:t>
            </a:r>
            <a:br/>
            <a:r>
              <a:t>• 해양환경 영역의 시민단체, 지자체 및 국민과 소통의 도전적 확대</a:t>
            </a:r>
            <a:br/>
            <a:r>
              <a:t>  - 민간 환경단체와 협력관계 구성, 민간 네트워크 구축</a:t>
            </a:r>
            <a:br/>
            <a:r>
              <a:t>  - 대국민 홍보를 통한 해양환경 활동가 양성과 활동 지원</a:t>
            </a:r>
            <a:br/>
            <a:r>
              <a:t>• 디지털 뉴딜과 연계하여 대국민 정보 서비스를 포함한 국민참여 플랫폼 구축</a:t>
            </a:r>
            <a:br/>
            <a:r>
              <a:t>  - 환경보전단체, 해양레저 등 해양환경 관심도 높은 인구부터 참여 유도 후 확산</a:t>
            </a:r>
            <a:br/>
            <a:r>
              <a:t>  - 공단의 해양환경 데이터의 해양환경 보전활동 인지·참여 확대 활용</a:t>
            </a:r>
          </a:p>
        </p:txBody>
      </p:sp>
      <p:sp>
        <p:nvSpPr>
          <p:cNvPr id="8" name="Rectangle 7"/>
          <p:cNvSpPr/>
          <p:nvPr/>
        </p:nvSpPr>
        <p:spPr>
          <a:xfrm>
            <a:off x="45720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9" name="TextBox 8"/>
          <p:cNvSpPr txBox="1"/>
          <p:nvPr/>
        </p:nvSpPr>
        <p:spPr>
          <a:xfrm>
            <a:off x="54864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0" name="Rectangle 9"/>
          <p:cNvSpPr/>
          <p:nvPr/>
        </p:nvSpPr>
        <p:spPr>
          <a:xfrm>
            <a:off x="323088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1" name="TextBox 10"/>
          <p:cNvSpPr txBox="1"/>
          <p:nvPr/>
        </p:nvSpPr>
        <p:spPr>
          <a:xfrm>
            <a:off x="332232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2" name="Rectangle 11"/>
          <p:cNvSpPr/>
          <p:nvPr/>
        </p:nvSpPr>
        <p:spPr>
          <a:xfrm>
            <a:off x="600456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3" name="TextBox 12"/>
          <p:cNvSpPr txBox="1"/>
          <p:nvPr/>
        </p:nvSpPr>
        <p:spPr>
          <a:xfrm>
            <a:off x="609600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4" name="Rectangle 13"/>
          <p:cNvSpPr/>
          <p:nvPr/>
        </p:nvSpPr>
        <p:spPr>
          <a:xfrm>
            <a:off x="457200" y="384048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5" name="TextBox 14"/>
          <p:cNvSpPr txBox="1"/>
          <p:nvPr/>
        </p:nvSpPr>
        <p:spPr>
          <a:xfrm>
            <a:off x="548640" y="393192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6" name="Rectangle 15"/>
          <p:cNvSpPr/>
          <p:nvPr/>
        </p:nvSpPr>
        <p:spPr>
          <a:xfrm>
            <a:off x="3230880" y="384048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7" name="TextBox 16"/>
          <p:cNvSpPr txBox="1"/>
          <p:nvPr/>
        </p:nvSpPr>
        <p:spPr>
          <a:xfrm>
            <a:off x="3322320" y="393192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8" name="Rectangle 17"/>
          <p:cNvSpPr/>
          <p:nvPr/>
        </p:nvSpPr>
        <p:spPr>
          <a:xfrm>
            <a:off x="6004560" y="384048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9" name="TextBox 18"/>
          <p:cNvSpPr txBox="1"/>
          <p:nvPr/>
        </p:nvSpPr>
        <p:spPr>
          <a:xfrm>
            <a:off x="6096000" y="393192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20" name="TextBox 19"/>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 | Page 80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이해관계자 분석 - 사업부서 FGI (1/6)</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공단의 역할 및 방향성과 관련하여, 해양환경 종합·집행기관으로 정체성 확립, 핵심사업 선택과 집중 기준 마련,</a:t>
            </a:r>
            <a:br/>
            <a:r>
              <a:t>신규사업 발굴, 대외홍보 강화 및 민간산업 생태계 조성 지원 등이 주요 의견으로 나타남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사업부서 FGI 의견 정리 ① 공단의 역할 및 방향성</a:t>
            </a:r>
          </a:p>
        </p:txBody>
      </p:sp>
      <p:sp>
        <p:nvSpPr>
          <p:cNvPr id="5" name="TextBox 4"/>
          <p:cNvSpPr txBox="1"/>
          <p:nvPr/>
        </p:nvSpPr>
        <p:spPr>
          <a:xfrm>
            <a:off x="457200" y="1828800"/>
            <a:ext cx="4023360" cy="685800"/>
          </a:xfrm>
          <a:prstGeom prst="rect">
            <a:avLst/>
          </a:prstGeom>
          <a:noFill/>
        </p:spPr>
        <p:txBody>
          <a:bodyPr wrap="square">
            <a:spAutoFit/>
          </a:bodyPr>
          <a:lstStyle/>
          <a:p>
            <a:pPr algn="l">
              <a:defRPr sz="1000" b="0">
                <a:latin typeface="Malgun Gothic"/>
              </a:defRPr>
            </a:pPr>
            <a:r>
              <a:t>공단의 사회적 역할에서 어떤 일을 해야 될지에 대한 명확한 정의가 필요함. 공단이</a:t>
            </a:r>
            <a:br/>
            <a:r>
              <a:t>독점적으로 수익을 창출할 수 있는 사업이 줄어들고 있어 안정적인 수익을 확보할 수 있는</a:t>
            </a:r>
            <a:br/>
            <a:r>
              <a:t>새로운 사업의 발굴이 필요한 시점임</a:t>
            </a:r>
          </a:p>
        </p:txBody>
      </p:sp>
      <p:sp>
        <p:nvSpPr>
          <p:cNvPr id="6" name="TextBox 5"/>
          <p:cNvSpPr txBox="1"/>
          <p:nvPr/>
        </p:nvSpPr>
        <p:spPr>
          <a:xfrm>
            <a:off x="457200" y="2606040"/>
            <a:ext cx="4023360" cy="685800"/>
          </a:xfrm>
          <a:prstGeom prst="rect">
            <a:avLst/>
          </a:prstGeom>
          <a:noFill/>
        </p:spPr>
        <p:txBody>
          <a:bodyPr wrap="square">
            <a:spAutoFit/>
          </a:bodyPr>
          <a:lstStyle/>
          <a:p>
            <a:pPr algn="l">
              <a:defRPr sz="1000" b="0">
                <a:latin typeface="Malgun Gothic"/>
              </a:defRPr>
            </a:pPr>
            <a:r>
              <a:t>환경부와 한국환경공단에서 해양환경 영역에 진출하려고 계속 시도하고 있는데, 공단이</a:t>
            </a:r>
            <a:br/>
            <a:r>
              <a:t>해양환경 부문의 종합집행기관으로 자리를 잡아 해양환경 보전 영역을 공고하게 할 수 있는</a:t>
            </a:r>
            <a:br/>
            <a:r>
              <a:t>공단의 정체성 확립이 필요함</a:t>
            </a:r>
          </a:p>
        </p:txBody>
      </p:sp>
      <p:sp>
        <p:nvSpPr>
          <p:cNvPr id="7" name="TextBox 6"/>
          <p:cNvSpPr txBox="1"/>
          <p:nvPr/>
        </p:nvSpPr>
        <p:spPr>
          <a:xfrm>
            <a:off x="457200" y="3383280"/>
            <a:ext cx="4023360" cy="685800"/>
          </a:xfrm>
          <a:prstGeom prst="rect">
            <a:avLst/>
          </a:prstGeom>
          <a:noFill/>
        </p:spPr>
        <p:txBody>
          <a:bodyPr wrap="square">
            <a:spAutoFit/>
          </a:bodyPr>
          <a:lstStyle/>
          <a:p>
            <a:pPr algn="l">
              <a:defRPr sz="1000" b="0">
                <a:latin typeface="Malgun Gothic"/>
              </a:defRPr>
            </a:pPr>
            <a:r>
              <a:t>해양수산부에서 위탁 받은 사업에 대한 관리를 주로 수행하다 보니, 해양수산부 사업을 위탁</a:t>
            </a:r>
            <a:br/>
            <a:r>
              <a:t>관리하는 기관이라는 이미지가 있는데, 이러한 이미지에서 벗어나기 위해 공단 자체적인</a:t>
            </a:r>
            <a:br/>
            <a:r>
              <a:t>사업을 키울 필요 있음</a:t>
            </a:r>
          </a:p>
        </p:txBody>
      </p:sp>
      <p:sp>
        <p:nvSpPr>
          <p:cNvPr id="8" name="TextBox 7"/>
          <p:cNvSpPr txBox="1"/>
          <p:nvPr/>
        </p:nvSpPr>
        <p:spPr>
          <a:xfrm>
            <a:off x="457200" y="4160520"/>
            <a:ext cx="4023360" cy="685800"/>
          </a:xfrm>
          <a:prstGeom prst="rect">
            <a:avLst/>
          </a:prstGeom>
          <a:noFill/>
        </p:spPr>
        <p:txBody>
          <a:bodyPr wrap="square">
            <a:spAutoFit/>
          </a:bodyPr>
          <a:lstStyle/>
          <a:p>
            <a:pPr algn="l">
              <a:defRPr sz="1000" b="0">
                <a:latin typeface="Malgun Gothic"/>
              </a:defRPr>
            </a:pPr>
            <a:r>
              <a:t>2005년에 보전으로 사업영역이 확장된 이후, 해양환경 보전 부문이 계속 확대되고 있음.</a:t>
            </a:r>
            <a:br/>
            <a:r>
              <a:t>이후에도 환경보전은 중요성이 커질 영역으로, 해양환경 보전 부분의 사업의 중요성이 더</a:t>
            </a:r>
            <a:br/>
            <a:r>
              <a:t>커질 것이라 생각함.</a:t>
            </a:r>
          </a:p>
        </p:txBody>
      </p:sp>
      <p:sp>
        <p:nvSpPr>
          <p:cNvPr id="9" name="TextBox 8"/>
          <p:cNvSpPr txBox="1"/>
          <p:nvPr/>
        </p:nvSpPr>
        <p:spPr>
          <a:xfrm>
            <a:off x="457200" y="4937760"/>
            <a:ext cx="4023360" cy="457200"/>
          </a:xfrm>
          <a:prstGeom prst="rect">
            <a:avLst/>
          </a:prstGeom>
          <a:noFill/>
        </p:spPr>
        <p:txBody>
          <a:bodyPr wrap="square">
            <a:spAutoFit/>
          </a:bodyPr>
          <a:lstStyle/>
          <a:p>
            <a:pPr algn="l">
              <a:defRPr sz="1000" b="0">
                <a:latin typeface="Malgun Gothic"/>
              </a:defRPr>
            </a:pPr>
            <a:r>
              <a:t>공단은 국내 해양환경 관련 선도적인 역할을 수행하고 있지만, 일반 대중은 공단에 대해 잘</a:t>
            </a:r>
            <a:br/>
            <a:r>
              <a:t>모르고 있음. 국민을 대상으로 하는 홍보와 소통으로 인지를 높이는 홍보가 필요함</a:t>
            </a:r>
          </a:p>
        </p:txBody>
      </p:sp>
      <p:sp>
        <p:nvSpPr>
          <p:cNvPr id="10" name="TextBox 9"/>
          <p:cNvSpPr txBox="1"/>
          <p:nvPr/>
        </p:nvSpPr>
        <p:spPr>
          <a:xfrm>
            <a:off x="457200" y="5486400"/>
            <a:ext cx="4023360" cy="685800"/>
          </a:xfrm>
          <a:prstGeom prst="rect">
            <a:avLst/>
          </a:prstGeom>
          <a:noFill/>
        </p:spPr>
        <p:txBody>
          <a:bodyPr wrap="square">
            <a:spAutoFit/>
          </a:bodyPr>
          <a:lstStyle/>
          <a:p>
            <a:pPr algn="l">
              <a:defRPr sz="1000" b="0">
                <a:latin typeface="Malgun Gothic"/>
              </a:defRPr>
            </a:pPr>
            <a:r>
              <a:t>공공기관으로서 민간과 경쟁하고 있는 사업들이 있는데 해양환경산업의 육성을 위해서</a:t>
            </a:r>
            <a:br/>
            <a:r>
              <a:t>민영화 또는 민간이 수행할 수 있게 지원하는 것이 맞다고 생각함. 민간에 기술과 노하우를</a:t>
            </a:r>
            <a:br/>
            <a:r>
              <a:t>전하고 시장을 형성하여 민간이 산업을 성장시킬 수 있게 지원하는 것이 공단의 역할임</a:t>
            </a:r>
          </a:p>
        </p:txBody>
      </p:sp>
      <p:sp>
        <p:nvSpPr>
          <p:cNvPr id="11" name="TextBox 10"/>
          <p:cNvSpPr txBox="1"/>
          <p:nvPr/>
        </p:nvSpPr>
        <p:spPr>
          <a:xfrm>
            <a:off x="457200" y="6263640"/>
            <a:ext cx="4023360" cy="685800"/>
          </a:xfrm>
          <a:prstGeom prst="rect">
            <a:avLst/>
          </a:prstGeom>
          <a:noFill/>
        </p:spPr>
        <p:txBody>
          <a:bodyPr wrap="square">
            <a:spAutoFit/>
          </a:bodyPr>
          <a:lstStyle/>
          <a:p>
            <a:pPr algn="l">
              <a:defRPr sz="1000" b="0">
                <a:latin typeface="Malgun Gothic"/>
              </a:defRPr>
            </a:pPr>
            <a:r>
              <a:t>모든 부서가 열심히는 하는데, 부서들의 방향성이 제각각 임. 큰 틀에서 공단 전체의 목표가</a:t>
            </a:r>
            <a:br/>
            <a:r>
              <a:t>필요함. 각 본부가 전체 목적과 방향성 없이 부서별로 각자의 사업을 하고 있어, 의사결정을</a:t>
            </a:r>
            <a:br/>
            <a:r>
              <a:t>통해 선택과 집중을 위한 가치 기준과 우선순위 수립이 필요함</a:t>
            </a:r>
          </a:p>
        </p:txBody>
      </p:sp>
      <p:sp>
        <p:nvSpPr>
          <p:cNvPr id="12" name="TextBox 11"/>
          <p:cNvSpPr txBox="1"/>
          <p:nvPr/>
        </p:nvSpPr>
        <p:spPr>
          <a:xfrm>
            <a:off x="457200" y="7040880"/>
            <a:ext cx="8229600" cy="274320"/>
          </a:xfrm>
          <a:prstGeom prst="rect">
            <a:avLst/>
          </a:prstGeom>
          <a:noFill/>
        </p:spPr>
        <p:txBody>
          <a:bodyPr wrap="square">
            <a:spAutoFit/>
          </a:bodyPr>
          <a:lstStyle/>
          <a:p>
            <a:pPr algn="l">
              <a:defRPr sz="1200" b="1">
                <a:solidFill>
                  <a:srgbClr val="003366"/>
                </a:solidFill>
                <a:latin typeface="Malgun Gothic"/>
              </a:defRPr>
            </a:pPr>
            <a:r>
              <a:t>주요 의견과 이슈사항</a:t>
            </a:r>
          </a:p>
        </p:txBody>
      </p:sp>
      <p:sp>
        <p:nvSpPr>
          <p:cNvPr id="13" name="TextBox 12"/>
          <p:cNvSpPr txBox="1"/>
          <p:nvPr/>
        </p:nvSpPr>
        <p:spPr>
          <a:xfrm>
            <a:off x="4663440" y="2194560"/>
            <a:ext cx="4023360" cy="228600"/>
          </a:xfrm>
          <a:prstGeom prst="rect">
            <a:avLst/>
          </a:prstGeom>
          <a:noFill/>
        </p:spPr>
        <p:txBody>
          <a:bodyPr wrap="square">
            <a:spAutoFit/>
          </a:bodyPr>
          <a:lstStyle/>
          <a:p>
            <a:pPr algn="l">
              <a:defRPr sz="1000" b="0">
                <a:latin typeface="Malgun Gothic"/>
              </a:defRPr>
            </a:pPr>
            <a:r>
              <a:t>'해양환경 종합·전문·집행기관'</a:t>
            </a:r>
            <a:br/>
            <a:r>
              <a:t>정체성 확립</a:t>
            </a:r>
          </a:p>
        </p:txBody>
      </p:sp>
      <p:sp>
        <p:nvSpPr>
          <p:cNvPr id="14" name="TextBox 13"/>
          <p:cNvSpPr txBox="1"/>
          <p:nvPr/>
        </p:nvSpPr>
        <p:spPr>
          <a:xfrm>
            <a:off x="4663440" y="2514600"/>
            <a:ext cx="4023360" cy="228600"/>
          </a:xfrm>
          <a:prstGeom prst="rect">
            <a:avLst/>
          </a:prstGeom>
          <a:noFill/>
        </p:spPr>
        <p:txBody>
          <a:bodyPr wrap="square">
            <a:spAutoFit/>
          </a:bodyPr>
          <a:lstStyle/>
          <a:p>
            <a:pPr algn="l">
              <a:defRPr sz="1000" b="0">
                <a:latin typeface="Malgun Gothic"/>
              </a:defRPr>
            </a:pPr>
            <a:r>
              <a:t>(해양환경 부문) 신규사업 필요</a:t>
            </a:r>
          </a:p>
        </p:txBody>
      </p:sp>
      <p:sp>
        <p:nvSpPr>
          <p:cNvPr id="15" name="TextBox 14"/>
          <p:cNvSpPr txBox="1"/>
          <p:nvPr/>
        </p:nvSpPr>
        <p:spPr>
          <a:xfrm>
            <a:off x="4663440" y="2834640"/>
            <a:ext cx="4023360" cy="228600"/>
          </a:xfrm>
          <a:prstGeom prst="rect">
            <a:avLst/>
          </a:prstGeom>
          <a:noFill/>
        </p:spPr>
        <p:txBody>
          <a:bodyPr wrap="square">
            <a:spAutoFit/>
          </a:bodyPr>
          <a:lstStyle/>
          <a:p>
            <a:pPr algn="l">
              <a:defRPr sz="1000" b="0">
                <a:latin typeface="Malgun Gothic"/>
              </a:defRPr>
            </a:pPr>
            <a:r>
              <a:t>인지도를 위한 대외홍보 필요</a:t>
            </a:r>
          </a:p>
        </p:txBody>
      </p:sp>
      <p:sp>
        <p:nvSpPr>
          <p:cNvPr id="16" name="TextBox 15"/>
          <p:cNvSpPr txBox="1"/>
          <p:nvPr/>
        </p:nvSpPr>
        <p:spPr>
          <a:xfrm>
            <a:off x="4663440" y="3154680"/>
            <a:ext cx="4023360" cy="228600"/>
          </a:xfrm>
          <a:prstGeom prst="rect">
            <a:avLst/>
          </a:prstGeom>
          <a:noFill/>
        </p:spPr>
        <p:txBody>
          <a:bodyPr wrap="square">
            <a:spAutoFit/>
          </a:bodyPr>
          <a:lstStyle/>
          <a:p>
            <a:pPr algn="l">
              <a:defRPr sz="1000" b="0">
                <a:latin typeface="Malgun Gothic"/>
              </a:defRPr>
            </a:pPr>
            <a:r>
              <a:t>해양환경 산업 생태계 조성</a:t>
            </a:r>
          </a:p>
        </p:txBody>
      </p:sp>
      <p:sp>
        <p:nvSpPr>
          <p:cNvPr id="17" name="TextBox 16"/>
          <p:cNvSpPr txBox="1"/>
          <p:nvPr/>
        </p:nvSpPr>
        <p:spPr>
          <a:xfrm>
            <a:off x="4663440" y="3474720"/>
            <a:ext cx="4023360" cy="228600"/>
          </a:xfrm>
          <a:prstGeom prst="rect">
            <a:avLst/>
          </a:prstGeom>
          <a:noFill/>
        </p:spPr>
        <p:txBody>
          <a:bodyPr wrap="square">
            <a:spAutoFit/>
          </a:bodyPr>
          <a:lstStyle/>
          <a:p>
            <a:pPr algn="l">
              <a:defRPr sz="1000" b="0">
                <a:latin typeface="Malgun Gothic"/>
              </a:defRPr>
            </a:pPr>
            <a:r>
              <a:t>핵심사업 선택과 집중을 위한</a:t>
            </a:r>
            <a:br/>
            <a:r>
              <a:t>기준마련 필요</a:t>
            </a:r>
          </a:p>
        </p:txBody>
      </p:sp>
      <p:sp>
        <p:nvSpPr>
          <p:cNvPr id="18" name="TextBox 17"/>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Ⅱ. 내·외부 환경분석 | Page 81</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이해관계자 분석 - 사업부서 FGI (2/6)</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사업부서 실무인력들은 인사운영과 관련하여, 인사운영의 공정성·신뢰성 확보 필요, 인사적체에 따른 불만 증폭과 동기부여 저하, 임의적 인력운영, 인력 전문성 강화를 위한 경력개발 필요 등 이슈사항과 문제를 피력함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사업부서 FGI 의견 정리 ② 인사운영 관련 이슈</a:t>
            </a:r>
          </a:p>
        </p:txBody>
      </p:sp>
      <p:sp>
        <p:nvSpPr>
          <p:cNvPr id="5" name="TextBox 4"/>
          <p:cNvSpPr txBox="1"/>
          <p:nvPr/>
        </p:nvSpPr>
        <p:spPr>
          <a:xfrm>
            <a:off x="457200" y="1828800"/>
            <a:ext cx="4023360" cy="685800"/>
          </a:xfrm>
          <a:prstGeom prst="rect">
            <a:avLst/>
          </a:prstGeom>
          <a:noFill/>
        </p:spPr>
        <p:txBody>
          <a:bodyPr wrap="square">
            <a:spAutoFit/>
          </a:bodyPr>
          <a:lstStyle/>
          <a:p>
            <a:pPr algn="l">
              <a:defRPr sz="1000" b="0">
                <a:latin typeface="Malgun Gothic"/>
              </a:defRPr>
            </a:pPr>
            <a:r>
              <a:t>인사적체가 심하고 연공서열에 의해 순번제로 성과와 승진을 가져가는 경우가 많아 젊은</a:t>
            </a:r>
            <a:br/>
            <a:r>
              <a:t>직원들의 불만이 많이 쌓인 상황임. 인사제도의 문제 라기 보단 책임자의 관행에 따른 임의적</a:t>
            </a:r>
            <a:br/>
            <a:r>
              <a:t>운영의 문제이며, 연공서열이 만연한 조직 분위기에 문제가 있다고 생각함</a:t>
            </a:r>
          </a:p>
        </p:txBody>
      </p:sp>
      <p:sp>
        <p:nvSpPr>
          <p:cNvPr id="6" name="TextBox 5"/>
          <p:cNvSpPr txBox="1"/>
          <p:nvPr/>
        </p:nvSpPr>
        <p:spPr>
          <a:xfrm>
            <a:off x="457200" y="2606040"/>
            <a:ext cx="4023360" cy="685800"/>
          </a:xfrm>
          <a:prstGeom prst="rect">
            <a:avLst/>
          </a:prstGeom>
          <a:noFill/>
        </p:spPr>
        <p:txBody>
          <a:bodyPr wrap="square">
            <a:spAutoFit/>
          </a:bodyPr>
          <a:lstStyle/>
          <a:p>
            <a:pPr algn="l">
              <a:defRPr sz="1000" b="0">
                <a:latin typeface="Malgun Gothic"/>
              </a:defRPr>
            </a:pPr>
            <a:r>
              <a:t>인사평가에서 S등급을 3년 받아도 승진이 힘들 만큼 승진적체가 심하기 때문에 인사평가에서</a:t>
            </a:r>
            <a:br/>
            <a:r>
              <a:t>S등급이 아니면 다 불만을 갖고 있음. 이런 상황이다 보니 인사권을 갖고 있는 사람의 권한이</a:t>
            </a:r>
            <a:br/>
            <a:r>
              <a:t>세질 수 밖에 없는 구조임</a:t>
            </a:r>
          </a:p>
        </p:txBody>
      </p:sp>
      <p:sp>
        <p:nvSpPr>
          <p:cNvPr id="7" name="TextBox 6"/>
          <p:cNvSpPr txBox="1"/>
          <p:nvPr/>
        </p:nvSpPr>
        <p:spPr>
          <a:xfrm>
            <a:off x="457200" y="3383280"/>
            <a:ext cx="4023360" cy="685800"/>
          </a:xfrm>
          <a:prstGeom prst="rect">
            <a:avLst/>
          </a:prstGeom>
          <a:noFill/>
        </p:spPr>
        <p:txBody>
          <a:bodyPr wrap="square">
            <a:spAutoFit/>
          </a:bodyPr>
          <a:lstStyle/>
          <a:p>
            <a:pPr algn="l">
              <a:defRPr sz="1000" b="0">
                <a:latin typeface="Malgun Gothic"/>
              </a:defRPr>
            </a:pPr>
            <a:r>
              <a:t>본부, 부서별 보직 운영에 이런저런 제한들이 많기 때문에, 개인 경력개발(CDP)과 상관없이</a:t>
            </a:r>
            <a:br/>
            <a:r>
              <a:t>인력배치가 이루어지고 있는 상황임. 본부장과 경영진의 권한이 크고, 인사관련 원칙보다 우선</a:t>
            </a:r>
            <a:br/>
            <a:r>
              <a:t>작용하고 있어 인사(보직) 운영이 경영진의 의사에 따라 이루어짐</a:t>
            </a:r>
          </a:p>
        </p:txBody>
      </p:sp>
      <p:sp>
        <p:nvSpPr>
          <p:cNvPr id="8" name="TextBox 7"/>
          <p:cNvSpPr txBox="1"/>
          <p:nvPr/>
        </p:nvSpPr>
        <p:spPr>
          <a:xfrm>
            <a:off x="457200" y="4160520"/>
            <a:ext cx="4023360" cy="685800"/>
          </a:xfrm>
          <a:prstGeom prst="rect">
            <a:avLst/>
          </a:prstGeom>
          <a:noFill/>
        </p:spPr>
        <p:txBody>
          <a:bodyPr wrap="square">
            <a:spAutoFit/>
          </a:bodyPr>
          <a:lstStyle/>
          <a:p>
            <a:pPr algn="l">
              <a:defRPr sz="1000" b="0">
                <a:latin typeface="Malgun Gothic"/>
              </a:defRPr>
            </a:pPr>
            <a:r>
              <a:t>전통적인 사업이 줄어들고 있어서 전통적인 사업을 하던 인력들을 신규사업으로 이동 배치</a:t>
            </a:r>
            <a:br/>
            <a:r>
              <a:t>해야 하지만 실제로 그게 가능하지 않음. 새로운 사업을 할 만한 사람들이 현업부서에서 일을</a:t>
            </a:r>
            <a:br/>
            <a:r>
              <a:t>잘하는 사람들이라 부서장들이 인사이동 하지 않으려는 경향이 있음</a:t>
            </a:r>
          </a:p>
        </p:txBody>
      </p:sp>
      <p:sp>
        <p:nvSpPr>
          <p:cNvPr id="9" name="TextBox 8"/>
          <p:cNvSpPr txBox="1"/>
          <p:nvPr/>
        </p:nvSpPr>
        <p:spPr>
          <a:xfrm>
            <a:off x="457200" y="4937760"/>
            <a:ext cx="4023360" cy="457200"/>
          </a:xfrm>
          <a:prstGeom prst="rect">
            <a:avLst/>
          </a:prstGeom>
          <a:noFill/>
        </p:spPr>
        <p:txBody>
          <a:bodyPr wrap="square">
            <a:spAutoFit/>
          </a:bodyPr>
          <a:lstStyle/>
          <a:p>
            <a:pPr algn="l">
              <a:defRPr sz="1000" b="0">
                <a:latin typeface="Malgun Gothic"/>
              </a:defRPr>
            </a:pPr>
            <a:r>
              <a:t>직무 수행과 관련해서 대리직급 인원들의 업무량에 많아 업무수행에 불만이 많은 편임. 현재</a:t>
            </a:r>
            <a:br/>
            <a:r>
              <a:t>연공서열식 보직제 직무급을 사용해서 실질적 직무급으로 보긴 어려움</a:t>
            </a:r>
          </a:p>
        </p:txBody>
      </p:sp>
      <p:sp>
        <p:nvSpPr>
          <p:cNvPr id="10" name="TextBox 9"/>
          <p:cNvSpPr txBox="1"/>
          <p:nvPr/>
        </p:nvSpPr>
        <p:spPr>
          <a:xfrm>
            <a:off x="457200" y="5486400"/>
            <a:ext cx="4023360" cy="914400"/>
          </a:xfrm>
          <a:prstGeom prst="rect">
            <a:avLst/>
          </a:prstGeom>
          <a:noFill/>
        </p:spPr>
        <p:txBody>
          <a:bodyPr wrap="square">
            <a:spAutoFit/>
          </a:bodyPr>
          <a:lstStyle/>
          <a:p>
            <a:pPr algn="l">
              <a:defRPr sz="1000" b="0">
                <a:latin typeface="Malgun Gothic"/>
              </a:defRPr>
            </a:pPr>
            <a:r>
              <a:t>보전분야 등 전문인력 확보를 위해 외부 석·박사 인력의 확보와 내부 직원의 양성을 포함한</a:t>
            </a:r>
            <a:br/>
            <a:r>
              <a:t>개인경력개발(CDP)운영 계획도 고려하고 있음. 다만, 정원이 늘지 않아 새로운 인력 영입이</a:t>
            </a:r>
            <a:br/>
            <a:r>
              <a:t>어려운 부분이 있어 주로 현안을 중심으로 인력이 배정되어 실질적인 시행 어려운 면 있음</a:t>
            </a:r>
          </a:p>
        </p:txBody>
      </p:sp>
      <p:sp>
        <p:nvSpPr>
          <p:cNvPr id="11" name="TextBox 10"/>
          <p:cNvSpPr txBox="1"/>
          <p:nvPr/>
        </p:nvSpPr>
        <p:spPr>
          <a:xfrm>
            <a:off x="457200" y="6492240"/>
            <a:ext cx="4023360" cy="914400"/>
          </a:xfrm>
          <a:prstGeom prst="rect">
            <a:avLst/>
          </a:prstGeom>
          <a:noFill/>
        </p:spPr>
        <p:txBody>
          <a:bodyPr wrap="square">
            <a:spAutoFit/>
          </a:bodyPr>
          <a:lstStyle/>
          <a:p>
            <a:pPr algn="l">
              <a:defRPr sz="1000" b="0">
                <a:latin typeface="Malgun Gothic"/>
              </a:defRPr>
            </a:pPr>
            <a:r>
              <a:t>아웃소싱 줬던 업체 직원들이 내부 정규직으로 되면서 20-30명 정도가 공무직이 흡수가</a:t>
            </a:r>
            <a:br/>
            <a:r>
              <a:t>되었고 그로 인해 인적관리나 안정적인 인력운영에 어려움 있음. 예전엔 인력 충원을 바로 할</a:t>
            </a:r>
            <a:br/>
            <a:r>
              <a:t>수 있었는데 지금은 기획재정부에서 증원을 승인 받아야 하고, 채용절차도 최장 6개월 소요됨</a:t>
            </a:r>
          </a:p>
        </p:txBody>
      </p:sp>
      <p:sp>
        <p:nvSpPr>
          <p:cNvPr id="12" name="TextBox 11"/>
          <p:cNvSpPr txBox="1"/>
          <p:nvPr/>
        </p:nvSpPr>
        <p:spPr>
          <a:xfrm>
            <a:off x="457200" y="7498080"/>
            <a:ext cx="8229600" cy="274320"/>
          </a:xfrm>
          <a:prstGeom prst="rect">
            <a:avLst/>
          </a:prstGeom>
          <a:noFill/>
        </p:spPr>
        <p:txBody>
          <a:bodyPr wrap="square">
            <a:spAutoFit/>
          </a:bodyPr>
          <a:lstStyle/>
          <a:p>
            <a:pPr algn="l">
              <a:defRPr sz="1200" b="1">
                <a:solidFill>
                  <a:srgbClr val="003366"/>
                </a:solidFill>
                <a:latin typeface="Malgun Gothic"/>
              </a:defRPr>
            </a:pPr>
            <a:r>
              <a:t>주요 의견과 이슈사항</a:t>
            </a:r>
          </a:p>
        </p:txBody>
      </p:sp>
      <p:sp>
        <p:nvSpPr>
          <p:cNvPr id="13" name="TextBox 12"/>
          <p:cNvSpPr txBox="1"/>
          <p:nvPr/>
        </p:nvSpPr>
        <p:spPr>
          <a:xfrm>
            <a:off x="4663440" y="2194560"/>
            <a:ext cx="4023360" cy="228600"/>
          </a:xfrm>
          <a:prstGeom prst="rect">
            <a:avLst/>
          </a:prstGeom>
          <a:noFill/>
        </p:spPr>
        <p:txBody>
          <a:bodyPr wrap="square">
            <a:spAutoFit/>
          </a:bodyPr>
          <a:lstStyle/>
          <a:p>
            <a:pPr algn="l">
              <a:defRPr sz="1000" b="0">
                <a:latin typeface="Malgun Gothic"/>
              </a:defRPr>
            </a:pPr>
            <a:r>
              <a:t>인사운영 공정성·신뢰성 확보</a:t>
            </a:r>
            <a:br/>
            <a:r>
              <a:t>(인사운영 원칙 지키기)</a:t>
            </a:r>
          </a:p>
        </p:txBody>
      </p:sp>
      <p:sp>
        <p:nvSpPr>
          <p:cNvPr id="14" name="TextBox 13"/>
          <p:cNvSpPr txBox="1"/>
          <p:nvPr/>
        </p:nvSpPr>
        <p:spPr>
          <a:xfrm>
            <a:off x="4663440" y="2514600"/>
            <a:ext cx="4023360" cy="228600"/>
          </a:xfrm>
          <a:prstGeom prst="rect">
            <a:avLst/>
          </a:prstGeom>
          <a:noFill/>
        </p:spPr>
        <p:txBody>
          <a:bodyPr wrap="square">
            <a:spAutoFit/>
          </a:bodyPr>
          <a:lstStyle/>
          <a:p>
            <a:pPr algn="l">
              <a:defRPr sz="1000" b="0">
                <a:latin typeface="Malgun Gothic"/>
              </a:defRPr>
            </a:pPr>
            <a:r>
              <a:t>인사적체에 따른 불만 증폭과</a:t>
            </a:r>
            <a:br/>
            <a:r>
              <a:t>동기부여 저하</a:t>
            </a:r>
          </a:p>
        </p:txBody>
      </p:sp>
      <p:sp>
        <p:nvSpPr>
          <p:cNvPr id="15" name="TextBox 14"/>
          <p:cNvSpPr txBox="1"/>
          <p:nvPr/>
        </p:nvSpPr>
        <p:spPr>
          <a:xfrm>
            <a:off x="4663440" y="2834640"/>
            <a:ext cx="4023360" cy="228600"/>
          </a:xfrm>
          <a:prstGeom prst="rect">
            <a:avLst/>
          </a:prstGeom>
          <a:noFill/>
        </p:spPr>
        <p:txBody>
          <a:bodyPr wrap="square">
            <a:spAutoFit/>
          </a:bodyPr>
          <a:lstStyle/>
          <a:p>
            <a:pPr algn="l">
              <a:defRPr sz="1000" b="0">
                <a:latin typeface="Malgun Gothic"/>
              </a:defRPr>
            </a:pPr>
            <a:r>
              <a:t>임의적 인력운영에 따른 문제</a:t>
            </a:r>
          </a:p>
        </p:txBody>
      </p:sp>
      <p:sp>
        <p:nvSpPr>
          <p:cNvPr id="16" name="TextBox 15"/>
          <p:cNvSpPr txBox="1"/>
          <p:nvPr/>
        </p:nvSpPr>
        <p:spPr>
          <a:xfrm>
            <a:off x="4663440" y="3154680"/>
            <a:ext cx="4023360" cy="228600"/>
          </a:xfrm>
          <a:prstGeom prst="rect">
            <a:avLst/>
          </a:prstGeom>
          <a:noFill/>
        </p:spPr>
        <p:txBody>
          <a:bodyPr wrap="square">
            <a:spAutoFit/>
          </a:bodyPr>
          <a:lstStyle/>
          <a:p>
            <a:pPr algn="l">
              <a:defRPr sz="1000" b="0">
                <a:latin typeface="Malgun Gothic"/>
              </a:defRPr>
            </a:pPr>
            <a:r>
              <a:t>◆ 전문인력 확보와 유지 어려움</a:t>
            </a:r>
          </a:p>
        </p:txBody>
      </p:sp>
      <p:sp>
        <p:nvSpPr>
          <p:cNvPr id="17" name="TextBox 16"/>
          <p:cNvSpPr txBox="1"/>
          <p:nvPr/>
        </p:nvSpPr>
        <p:spPr>
          <a:xfrm>
            <a:off x="4663440" y="3474720"/>
            <a:ext cx="4023360" cy="228600"/>
          </a:xfrm>
          <a:prstGeom prst="rect">
            <a:avLst/>
          </a:prstGeom>
          <a:noFill/>
        </p:spPr>
        <p:txBody>
          <a:bodyPr wrap="square">
            <a:spAutoFit/>
          </a:bodyPr>
          <a:lstStyle/>
          <a:p>
            <a:pPr algn="l">
              <a:defRPr sz="1000" b="0">
                <a:latin typeface="Malgun Gothic"/>
              </a:defRPr>
            </a:pPr>
            <a:r>
              <a:t>업무 배분과 보상 공정성 문제</a:t>
            </a:r>
          </a:p>
        </p:txBody>
      </p:sp>
      <p:sp>
        <p:nvSpPr>
          <p:cNvPr id="18" name="TextBox 17"/>
          <p:cNvSpPr txBox="1"/>
          <p:nvPr/>
        </p:nvSpPr>
        <p:spPr>
          <a:xfrm>
            <a:off x="4663440" y="3794760"/>
            <a:ext cx="4023360" cy="228600"/>
          </a:xfrm>
          <a:prstGeom prst="rect">
            <a:avLst/>
          </a:prstGeom>
          <a:noFill/>
        </p:spPr>
        <p:txBody>
          <a:bodyPr wrap="square">
            <a:spAutoFit/>
          </a:bodyPr>
          <a:lstStyle/>
          <a:p>
            <a:pPr algn="l">
              <a:defRPr sz="1000" b="0">
                <a:latin typeface="Malgun Gothic"/>
              </a:defRPr>
            </a:pPr>
            <a:r>
              <a:t>인력운영 제약과 절차 강화</a:t>
            </a:r>
          </a:p>
        </p:txBody>
      </p:sp>
      <p:sp>
        <p:nvSpPr>
          <p:cNvPr id="19" name="TextBox 18"/>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82</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이해관계자 분석 - 사업부서 FGI (3/6)</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조직과 성과 관리와 관련하여 해양보전본부와 조사연구원 조직편제 검토 필요, 정원산정과 증원관련 문제, 직무와 R&amp;R 지정 문제, 정원확보 및 인력배분, 목표와 과정관리 필요성 등을 현안 이슈로 제시함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사업부서 FGI 의견 정리 ③ 조직 &amp; 성과관리</a:t>
            </a:r>
          </a:p>
        </p:txBody>
      </p:sp>
      <p:sp>
        <p:nvSpPr>
          <p:cNvPr id="5" name="TextBox 4"/>
          <p:cNvSpPr txBox="1"/>
          <p:nvPr/>
        </p:nvSpPr>
        <p:spPr>
          <a:xfrm>
            <a:off x="457200" y="1828800"/>
            <a:ext cx="4023360" cy="685800"/>
          </a:xfrm>
          <a:prstGeom prst="rect">
            <a:avLst/>
          </a:prstGeom>
          <a:noFill/>
        </p:spPr>
        <p:txBody>
          <a:bodyPr wrap="square">
            <a:spAutoFit/>
          </a:bodyPr>
          <a:lstStyle/>
          <a:p>
            <a:pPr algn="l">
              <a:defRPr sz="1000" b="0">
                <a:latin typeface="Malgun Gothic"/>
              </a:defRPr>
            </a:pPr>
            <a:r>
              <a:t>해양보전본부는 사업을 수행하는 사업부서와 수행사업의 결과에 대한 모니터링을 수행하는</a:t>
            </a:r>
            <a:br/>
            <a:r>
              <a:t>조사연구원이 같은 본부에 구성되어 있는 문제 있음. 해양보전본부의 사업이 점점 늘어나</a:t>
            </a:r>
            <a:br/>
            <a:r>
              <a:t>조직이 커지고 있는데 조사연구원을 본부에서 분리하는 편제 변경에 대한 검토가 필요함</a:t>
            </a:r>
          </a:p>
        </p:txBody>
      </p:sp>
      <p:sp>
        <p:nvSpPr>
          <p:cNvPr id="6" name="TextBox 5"/>
          <p:cNvSpPr txBox="1"/>
          <p:nvPr/>
        </p:nvSpPr>
        <p:spPr>
          <a:xfrm>
            <a:off x="457200" y="2606040"/>
            <a:ext cx="4023360" cy="457200"/>
          </a:xfrm>
          <a:prstGeom prst="rect">
            <a:avLst/>
          </a:prstGeom>
          <a:noFill/>
        </p:spPr>
        <p:txBody>
          <a:bodyPr wrap="square">
            <a:spAutoFit/>
          </a:bodyPr>
          <a:lstStyle/>
          <a:p>
            <a:pPr algn="l">
              <a:defRPr sz="1000" b="0">
                <a:latin typeface="Malgun Gothic"/>
              </a:defRPr>
            </a:pPr>
            <a:r>
              <a:t>사업부서에서는 인력이 부족한데, 기획부서는 정부정책이나 경영평가에 맞춰서 계속 늘고</a:t>
            </a:r>
            <a:br/>
            <a:r>
              <a:t>있음. 정원 산정 방식에 문제가 있는 것 같음</a:t>
            </a:r>
          </a:p>
        </p:txBody>
      </p:sp>
      <p:sp>
        <p:nvSpPr>
          <p:cNvPr id="7" name="TextBox 6"/>
          <p:cNvSpPr txBox="1"/>
          <p:nvPr/>
        </p:nvSpPr>
        <p:spPr>
          <a:xfrm>
            <a:off x="457200" y="3154680"/>
            <a:ext cx="4023360" cy="685800"/>
          </a:xfrm>
          <a:prstGeom prst="rect">
            <a:avLst/>
          </a:prstGeom>
          <a:noFill/>
        </p:spPr>
        <p:txBody>
          <a:bodyPr wrap="square">
            <a:spAutoFit/>
          </a:bodyPr>
          <a:lstStyle/>
          <a:p>
            <a:pPr algn="l">
              <a:defRPr sz="1000" b="0">
                <a:latin typeface="Malgun Gothic"/>
              </a:defRPr>
            </a:pPr>
            <a:r>
              <a:t>직무가 부서 직무정의를 따라가지 않고 개인을 따라가는 경우가 상당 수 있음. 부서의 R&amp;R</a:t>
            </a:r>
            <a:br/>
            <a:r>
              <a:t>영역에 포함되지 않은 직무라도 부서 또는 부서장의 선택, 업무수행 역량 등의 이유로</a:t>
            </a:r>
            <a:br/>
            <a:r>
              <a:t>직무분류를 벗어나는 업무를 수행하는 경우가 있음</a:t>
            </a:r>
          </a:p>
        </p:txBody>
      </p:sp>
      <p:sp>
        <p:nvSpPr>
          <p:cNvPr id="8" name="TextBox 7"/>
          <p:cNvSpPr txBox="1"/>
          <p:nvPr/>
        </p:nvSpPr>
        <p:spPr>
          <a:xfrm>
            <a:off x="457200" y="3931920"/>
            <a:ext cx="4023360" cy="914400"/>
          </a:xfrm>
          <a:prstGeom prst="rect">
            <a:avLst/>
          </a:prstGeom>
          <a:noFill/>
        </p:spPr>
        <p:txBody>
          <a:bodyPr wrap="square">
            <a:spAutoFit/>
          </a:bodyPr>
          <a:lstStyle/>
          <a:p>
            <a:pPr algn="l">
              <a:defRPr sz="1000" b="0">
                <a:latin typeface="Malgun Gothic"/>
              </a:defRPr>
            </a:pPr>
            <a:r>
              <a:t>한국판뉴딜사업, 해상풍력사업, R&amp;D사업 등 미래성장을 위한 신규사업을 개인의 역량에 맡겨</a:t>
            </a:r>
            <a:br/>
            <a:r>
              <a:t>수행하고 있음. 신규사업을 따내도 인력을 늘려주지 않고, 해수부에서 승인 받아도 기재부가</a:t>
            </a:r>
            <a:br/>
            <a:r>
              <a:t>700명 규모의 회사이기 때문에 내부에서 인원조정을 통해 충원하라며 정원을 주지 않는</a:t>
            </a:r>
            <a:br/>
            <a:r>
              <a:t>상황임. (실제 기술직이 다수로 사업에 운용할 수 있는 일반직은 280여명 남짓 정도임)</a:t>
            </a:r>
          </a:p>
        </p:txBody>
      </p:sp>
      <p:sp>
        <p:nvSpPr>
          <p:cNvPr id="9" name="TextBox 8"/>
          <p:cNvSpPr txBox="1"/>
          <p:nvPr/>
        </p:nvSpPr>
        <p:spPr>
          <a:xfrm>
            <a:off x="457200" y="4937760"/>
            <a:ext cx="4023360" cy="685800"/>
          </a:xfrm>
          <a:prstGeom prst="rect">
            <a:avLst/>
          </a:prstGeom>
          <a:noFill/>
        </p:spPr>
        <p:txBody>
          <a:bodyPr wrap="square">
            <a:spAutoFit/>
          </a:bodyPr>
          <a:lstStyle/>
          <a:p>
            <a:pPr algn="l">
              <a:defRPr sz="1000" b="0">
                <a:latin typeface="Malgun Gothic"/>
              </a:defRPr>
            </a:pPr>
            <a:r>
              <a:t>공단의 경영목표는 과거 10년 동안 크게 변화되지 않았음. 전략은 KPI로 연계되어 있어 부서별</a:t>
            </a:r>
            <a:br/>
            <a:r>
              <a:t>KPI로 성과에 대해 평가받고 있으나 목표달성 과정과 중간 피드백은 이루어지지 않고 있음.</a:t>
            </a:r>
            <a:br/>
            <a:r>
              <a:t>과정의 평가를 위한 정성적인 목표와 단계별 실행전략이 필요함</a:t>
            </a:r>
          </a:p>
        </p:txBody>
      </p:sp>
      <p:sp>
        <p:nvSpPr>
          <p:cNvPr id="10" name="TextBox 9"/>
          <p:cNvSpPr txBox="1"/>
          <p:nvPr/>
        </p:nvSpPr>
        <p:spPr>
          <a:xfrm>
            <a:off x="457200" y="5715000"/>
            <a:ext cx="4023360" cy="685800"/>
          </a:xfrm>
          <a:prstGeom prst="rect">
            <a:avLst/>
          </a:prstGeom>
          <a:noFill/>
        </p:spPr>
        <p:txBody>
          <a:bodyPr wrap="square">
            <a:spAutoFit/>
          </a:bodyPr>
          <a:lstStyle/>
          <a:p>
            <a:pPr algn="l">
              <a:defRPr sz="1000" b="0">
                <a:latin typeface="Malgun Gothic"/>
              </a:defRPr>
            </a:pPr>
            <a:r>
              <a:t>성과편람에 KPI로 경영관리부서들은 경상경비 전년대비 절감률을, 사업부서들은 매출 성장률,</a:t>
            </a:r>
            <a:br/>
            <a:r>
              <a:t>예산 확보율을 잡고 있지만 배점이 낮으니 각 부서에서 크게 신경을 쓰지 않는 있는 상황임.</a:t>
            </a:r>
            <a:br/>
            <a:r>
              <a:t>공단의 재무 건전성을 확인하고 모니터링 할 수 있는 성과지표가 필요함</a:t>
            </a:r>
          </a:p>
        </p:txBody>
      </p:sp>
      <p:sp>
        <p:nvSpPr>
          <p:cNvPr id="11" name="TextBox 10"/>
          <p:cNvSpPr txBox="1"/>
          <p:nvPr/>
        </p:nvSpPr>
        <p:spPr>
          <a:xfrm>
            <a:off x="457200" y="6492240"/>
            <a:ext cx="8229600" cy="274320"/>
          </a:xfrm>
          <a:prstGeom prst="rect">
            <a:avLst/>
          </a:prstGeom>
          <a:noFill/>
        </p:spPr>
        <p:txBody>
          <a:bodyPr wrap="square">
            <a:spAutoFit/>
          </a:bodyPr>
          <a:lstStyle/>
          <a:p>
            <a:pPr algn="l">
              <a:defRPr sz="1200" b="1">
                <a:solidFill>
                  <a:srgbClr val="003366"/>
                </a:solidFill>
                <a:latin typeface="Malgun Gothic"/>
              </a:defRPr>
            </a:pPr>
            <a:r>
              <a:t>주요 의견과 이슈사항</a:t>
            </a:r>
          </a:p>
        </p:txBody>
      </p:sp>
      <p:sp>
        <p:nvSpPr>
          <p:cNvPr id="12" name="TextBox 11"/>
          <p:cNvSpPr txBox="1"/>
          <p:nvPr/>
        </p:nvSpPr>
        <p:spPr>
          <a:xfrm>
            <a:off x="4663440" y="2194560"/>
            <a:ext cx="4023360" cy="228600"/>
          </a:xfrm>
          <a:prstGeom prst="rect">
            <a:avLst/>
          </a:prstGeom>
          <a:noFill/>
        </p:spPr>
        <p:txBody>
          <a:bodyPr wrap="square">
            <a:spAutoFit/>
          </a:bodyPr>
          <a:lstStyle/>
          <a:p>
            <a:pPr algn="l">
              <a:defRPr sz="1000" b="0">
                <a:latin typeface="Malgun Gothic"/>
              </a:defRPr>
            </a:pPr>
            <a:r>
              <a:t>해양보전본부, 조사연구원</a:t>
            </a:r>
            <a:br/>
            <a:r>
              <a:t>조직편제 검토 필요</a:t>
            </a:r>
          </a:p>
        </p:txBody>
      </p:sp>
      <p:sp>
        <p:nvSpPr>
          <p:cNvPr id="13" name="TextBox 12"/>
          <p:cNvSpPr txBox="1"/>
          <p:nvPr/>
        </p:nvSpPr>
        <p:spPr>
          <a:xfrm>
            <a:off x="4663440" y="2514600"/>
            <a:ext cx="4023360" cy="228600"/>
          </a:xfrm>
          <a:prstGeom prst="rect">
            <a:avLst/>
          </a:prstGeom>
          <a:noFill/>
        </p:spPr>
        <p:txBody>
          <a:bodyPr wrap="square">
            <a:spAutoFit/>
          </a:bodyPr>
          <a:lstStyle/>
          <a:p>
            <a:pPr algn="l">
              <a:defRPr sz="1000" b="0">
                <a:latin typeface="Malgun Gothic"/>
              </a:defRPr>
            </a:pPr>
            <a:r>
              <a:t>정원산정과 증원 승인 등</a:t>
            </a:r>
            <a:br/>
            <a:r>
              <a:t>정원관리 이슈</a:t>
            </a:r>
          </a:p>
        </p:txBody>
      </p:sp>
      <p:sp>
        <p:nvSpPr>
          <p:cNvPr id="14" name="TextBox 13"/>
          <p:cNvSpPr txBox="1"/>
          <p:nvPr/>
        </p:nvSpPr>
        <p:spPr>
          <a:xfrm>
            <a:off x="4663440" y="2834640"/>
            <a:ext cx="4023360" cy="228600"/>
          </a:xfrm>
          <a:prstGeom prst="rect">
            <a:avLst/>
          </a:prstGeom>
          <a:noFill/>
        </p:spPr>
        <p:txBody>
          <a:bodyPr wrap="square">
            <a:spAutoFit/>
          </a:bodyPr>
          <a:lstStyle/>
          <a:p>
            <a:pPr algn="l">
              <a:defRPr sz="1000" b="0">
                <a:latin typeface="Malgun Gothic"/>
              </a:defRPr>
            </a:pPr>
            <a:r>
              <a:t>부서 직무분류에서 벗어난</a:t>
            </a:r>
            <a:br/>
            <a:r>
              <a:t>개인 기준 직무 배분</a:t>
            </a:r>
          </a:p>
        </p:txBody>
      </p:sp>
      <p:sp>
        <p:nvSpPr>
          <p:cNvPr id="15" name="TextBox 14"/>
          <p:cNvSpPr txBox="1"/>
          <p:nvPr/>
        </p:nvSpPr>
        <p:spPr>
          <a:xfrm>
            <a:off x="4663440" y="3154680"/>
            <a:ext cx="4023360" cy="228600"/>
          </a:xfrm>
          <a:prstGeom prst="rect">
            <a:avLst/>
          </a:prstGeom>
          <a:noFill/>
        </p:spPr>
        <p:txBody>
          <a:bodyPr wrap="square">
            <a:spAutoFit/>
          </a:bodyPr>
          <a:lstStyle/>
          <a:p>
            <a:pPr algn="l">
              <a:defRPr sz="1000" b="0">
                <a:latin typeface="Malgun Gothic"/>
              </a:defRPr>
            </a:pPr>
            <a:r>
              <a:t>정원확보 및 인력배분 이슈</a:t>
            </a:r>
          </a:p>
        </p:txBody>
      </p:sp>
      <p:sp>
        <p:nvSpPr>
          <p:cNvPr id="16" name="TextBox 15"/>
          <p:cNvSpPr txBox="1"/>
          <p:nvPr/>
        </p:nvSpPr>
        <p:spPr>
          <a:xfrm>
            <a:off x="4663440" y="3474720"/>
            <a:ext cx="4023360" cy="228600"/>
          </a:xfrm>
          <a:prstGeom prst="rect">
            <a:avLst/>
          </a:prstGeom>
          <a:noFill/>
        </p:spPr>
        <p:txBody>
          <a:bodyPr wrap="square">
            <a:spAutoFit/>
          </a:bodyPr>
          <a:lstStyle/>
          <a:p>
            <a:pPr algn="l">
              <a:defRPr sz="1000" b="0">
                <a:latin typeface="Malgun Gothic"/>
              </a:defRPr>
            </a:pPr>
            <a:r>
              <a:t>목표에 대한 성과 관리와</a:t>
            </a:r>
            <a:br/>
            <a:r>
              <a:t>과정에 대한 관리 필요</a:t>
            </a:r>
          </a:p>
        </p:txBody>
      </p:sp>
      <p:sp>
        <p:nvSpPr>
          <p:cNvPr id="17" name="TextBox 16"/>
          <p:cNvSpPr txBox="1"/>
          <p:nvPr/>
        </p:nvSpPr>
        <p:spPr>
          <a:xfrm>
            <a:off x="4663440" y="3794760"/>
            <a:ext cx="4023360" cy="228600"/>
          </a:xfrm>
          <a:prstGeom prst="rect">
            <a:avLst/>
          </a:prstGeom>
          <a:noFill/>
        </p:spPr>
        <p:txBody>
          <a:bodyPr wrap="square">
            <a:spAutoFit/>
          </a:bodyPr>
          <a:lstStyle/>
          <a:p>
            <a:pPr algn="l">
              <a:defRPr sz="1000" b="0">
                <a:latin typeface="Malgun Gothic"/>
              </a:defRPr>
            </a:pPr>
            <a:r>
              <a:t>적정 성과지표 개발 필요</a:t>
            </a:r>
          </a:p>
        </p:txBody>
      </p:sp>
      <p:sp>
        <p:nvSpPr>
          <p:cNvPr id="18" name="TextBox 17"/>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Copyrights 2021  All Rights Reserved &amp; Confidential | Page 83</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이해관계자 분석 - 사업부서 FGI (4/6)</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공단의 조직문화와 소통에 대해, 보수적인 조직문화 개선, 동기부여 저해요인 제거, 현실안주 분위기 타파 등이 필요하며, 부서·직능·세대간 소통과 화합의 부족이 문제로 지적됨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사업부서 FGI 의견 정리 ④ 조직문화, 소통</a:t>
            </a:r>
          </a:p>
        </p:txBody>
      </p:sp>
      <p:sp>
        <p:nvSpPr>
          <p:cNvPr id="5" name="TextBox 4"/>
          <p:cNvSpPr txBox="1"/>
          <p:nvPr/>
        </p:nvSpPr>
        <p:spPr>
          <a:xfrm>
            <a:off x="457200" y="1828800"/>
            <a:ext cx="4023360" cy="457200"/>
          </a:xfrm>
          <a:prstGeom prst="rect">
            <a:avLst/>
          </a:prstGeom>
          <a:noFill/>
        </p:spPr>
        <p:txBody>
          <a:bodyPr wrap="square">
            <a:spAutoFit/>
          </a:bodyPr>
          <a:lstStyle/>
          <a:p>
            <a:pPr algn="l">
              <a:defRPr sz="1000" b="0">
                <a:latin typeface="Malgun Gothic"/>
              </a:defRPr>
            </a:pPr>
            <a:r>
              <a:t>직원들이 보수적인 집단분위기를 허물기 위해 노력했으면 함. 학연지연 등의 보수적인 분위기가 팽배한 상황이라 적극적인 업무자세와 동기를 갖기 어려워 개선이 필요함</a:t>
            </a:r>
          </a:p>
        </p:txBody>
      </p:sp>
      <p:sp>
        <p:nvSpPr>
          <p:cNvPr id="6" name="TextBox 5"/>
          <p:cNvSpPr txBox="1"/>
          <p:nvPr/>
        </p:nvSpPr>
        <p:spPr>
          <a:xfrm>
            <a:off x="457200" y="2377440"/>
            <a:ext cx="4023360" cy="685800"/>
          </a:xfrm>
          <a:prstGeom prst="rect">
            <a:avLst/>
          </a:prstGeom>
          <a:noFill/>
        </p:spPr>
        <p:txBody>
          <a:bodyPr wrap="square">
            <a:spAutoFit/>
          </a:bodyPr>
          <a:lstStyle/>
          <a:p>
            <a:pPr algn="l">
              <a:defRPr sz="1000" b="0">
                <a:latin typeface="Malgun Gothic"/>
              </a:defRPr>
            </a:pPr>
            <a:r>
              <a:t>코로나로 인해 전체 모임이 없어지니 점점 개인주의가 팽배해지고, 회사를 위해서 희생하는 건 찾아보기 힘들게 되었음. (새로운) 사업을 하려면 직원들을 설득시키기도 해야 하고, 희생이 있어도 감내하고 사업에 참여하도록 해서 사업을 추진해야 하는데 직원 동기부여가 어려움</a:t>
            </a:r>
          </a:p>
        </p:txBody>
      </p:sp>
      <p:sp>
        <p:nvSpPr>
          <p:cNvPr id="7" name="TextBox 6"/>
          <p:cNvSpPr txBox="1"/>
          <p:nvPr/>
        </p:nvSpPr>
        <p:spPr>
          <a:xfrm>
            <a:off x="457200" y="3154680"/>
            <a:ext cx="4023360" cy="685800"/>
          </a:xfrm>
          <a:prstGeom prst="rect">
            <a:avLst/>
          </a:prstGeom>
          <a:noFill/>
        </p:spPr>
        <p:txBody>
          <a:bodyPr wrap="square">
            <a:spAutoFit/>
          </a:bodyPr>
          <a:lstStyle/>
          <a:p>
            <a:pPr algn="l">
              <a:defRPr sz="1000" b="0">
                <a:latin typeface="Malgun Gothic"/>
              </a:defRPr>
            </a:pPr>
            <a:r>
              <a:t>조직이 발전하려면 허리가 튼튼해야 하고 부서장들이 일을 잘 해줘야 하는데, 차장이상 인력들이 현실에 안주하려는 성향이 큰 문제임. 개인의 역량은 뛰어나다고 생각하지만 조직에 만연한 안주의식으로 인해 발전이 힘든 상황임</a:t>
            </a:r>
          </a:p>
        </p:txBody>
      </p:sp>
      <p:sp>
        <p:nvSpPr>
          <p:cNvPr id="8" name="TextBox 7"/>
          <p:cNvSpPr txBox="1"/>
          <p:nvPr/>
        </p:nvSpPr>
        <p:spPr>
          <a:xfrm>
            <a:off x="457200" y="3931920"/>
            <a:ext cx="4023360" cy="457200"/>
          </a:xfrm>
          <a:prstGeom prst="rect">
            <a:avLst/>
          </a:prstGeom>
          <a:noFill/>
        </p:spPr>
        <p:txBody>
          <a:bodyPr wrap="square">
            <a:spAutoFit/>
          </a:bodyPr>
          <a:lstStyle/>
          <a:p>
            <a:pPr algn="l">
              <a:defRPr sz="1000" b="0">
                <a:latin typeface="Malgun Gothic"/>
              </a:defRPr>
            </a:pPr>
            <a:r>
              <a:t>원활한 업무 수행을 위해 타 부서와 협업이 필요한 경우 많지만, 다른 부서와 커뮤니케이션이 부족하고, 협업이 잘 이루어지지 않는 상황임</a:t>
            </a:r>
          </a:p>
        </p:txBody>
      </p:sp>
      <p:sp>
        <p:nvSpPr>
          <p:cNvPr id="9" name="TextBox 8"/>
          <p:cNvSpPr txBox="1"/>
          <p:nvPr/>
        </p:nvSpPr>
        <p:spPr>
          <a:xfrm>
            <a:off x="457200" y="4480560"/>
            <a:ext cx="4023360" cy="457200"/>
          </a:xfrm>
          <a:prstGeom prst="rect">
            <a:avLst/>
          </a:prstGeom>
          <a:noFill/>
        </p:spPr>
        <p:txBody>
          <a:bodyPr wrap="square">
            <a:spAutoFit/>
          </a:bodyPr>
          <a:lstStyle/>
          <a:p>
            <a:pPr algn="l">
              <a:defRPr sz="1000" b="0">
                <a:latin typeface="Malgun Gothic"/>
              </a:defRPr>
            </a:pPr>
            <a:r>
              <a:t>본부를 기준으로 업무와 조직, 사업이 분리되어 있어 타 본부의 사업에 대해 관여하지 않는 것이 관행으로 자리잡고 있어 각 본부의 의사결정이 그대로 시행되는 경우가 많음</a:t>
            </a:r>
          </a:p>
        </p:txBody>
      </p:sp>
      <p:sp>
        <p:nvSpPr>
          <p:cNvPr id="10" name="TextBox 9"/>
          <p:cNvSpPr txBox="1"/>
          <p:nvPr/>
        </p:nvSpPr>
        <p:spPr>
          <a:xfrm>
            <a:off x="457200" y="5029200"/>
            <a:ext cx="4023360" cy="457200"/>
          </a:xfrm>
          <a:prstGeom prst="rect">
            <a:avLst/>
          </a:prstGeom>
          <a:noFill/>
        </p:spPr>
        <p:txBody>
          <a:bodyPr wrap="square">
            <a:spAutoFit/>
          </a:bodyPr>
          <a:lstStyle/>
          <a:p>
            <a:pPr algn="l">
              <a:defRPr sz="1000" b="0">
                <a:latin typeface="Malgun Gothic"/>
              </a:defRPr>
            </a:pPr>
            <a:r>
              <a:t>일반직은 행정일만 하고 있고 기술직은 선박에서 일하고 있어서 기술직에 대한 불만이 많음. 양쪽을 섞어서 일을 하게 하면 업무적인 부분과 조직문화 이슈가 해소될 수 있을 것</a:t>
            </a:r>
          </a:p>
        </p:txBody>
      </p:sp>
      <p:sp>
        <p:nvSpPr>
          <p:cNvPr id="11" name="TextBox 10"/>
          <p:cNvSpPr txBox="1"/>
          <p:nvPr/>
        </p:nvSpPr>
        <p:spPr>
          <a:xfrm>
            <a:off x="457200" y="5577840"/>
            <a:ext cx="4023360" cy="685800"/>
          </a:xfrm>
          <a:prstGeom prst="rect">
            <a:avLst/>
          </a:prstGeom>
          <a:noFill/>
        </p:spPr>
        <p:txBody>
          <a:bodyPr wrap="square">
            <a:spAutoFit/>
          </a:bodyPr>
          <a:lstStyle/>
          <a:p>
            <a:pPr algn="l">
              <a:defRPr sz="1000" b="0">
                <a:latin typeface="Malgun Gothic"/>
              </a:defRPr>
            </a:pPr>
            <a:r>
              <a:t>최근 입사한 젊은 세대와 오랜 기간 재직한 상위 직급 세대간 소통과 교류가 거의 없고, 서로 이해하고 공감하려는 노력을 찾아보기 힘듦. 젊은 세대에 과거 방식의 희생이나 업무방식을 요구하면 큰일 날 것 같아서 엄두도 내지 못함</a:t>
            </a:r>
          </a:p>
        </p:txBody>
      </p:sp>
      <p:sp>
        <p:nvSpPr>
          <p:cNvPr id="12" name="TextBox 11"/>
          <p:cNvSpPr txBox="1"/>
          <p:nvPr/>
        </p:nvSpPr>
        <p:spPr>
          <a:xfrm>
            <a:off x="457200" y="6355080"/>
            <a:ext cx="8229600" cy="274320"/>
          </a:xfrm>
          <a:prstGeom prst="rect">
            <a:avLst/>
          </a:prstGeom>
          <a:noFill/>
        </p:spPr>
        <p:txBody>
          <a:bodyPr wrap="square">
            <a:spAutoFit/>
          </a:bodyPr>
          <a:lstStyle/>
          <a:p>
            <a:pPr algn="l">
              <a:defRPr sz="1200" b="1">
                <a:solidFill>
                  <a:srgbClr val="003366"/>
                </a:solidFill>
                <a:latin typeface="Malgun Gothic"/>
              </a:defRPr>
            </a:pPr>
            <a:r>
              <a:t>주요 의견과 이슈사항</a:t>
            </a:r>
          </a:p>
        </p:txBody>
      </p:sp>
      <p:sp>
        <p:nvSpPr>
          <p:cNvPr id="13" name="TextBox 12"/>
          <p:cNvSpPr txBox="1"/>
          <p:nvPr/>
        </p:nvSpPr>
        <p:spPr>
          <a:xfrm>
            <a:off x="4663440" y="2194560"/>
            <a:ext cx="4023360" cy="228600"/>
          </a:xfrm>
          <a:prstGeom prst="rect">
            <a:avLst/>
          </a:prstGeom>
          <a:noFill/>
        </p:spPr>
        <p:txBody>
          <a:bodyPr wrap="square">
            <a:spAutoFit/>
          </a:bodyPr>
          <a:lstStyle/>
          <a:p>
            <a:pPr algn="l">
              <a:defRPr sz="1000" b="0">
                <a:latin typeface="Malgun Gothic"/>
              </a:defRPr>
            </a:pPr>
            <a:r>
              <a:t>보수적인 조직문화 개선 요구</a:t>
            </a:r>
          </a:p>
        </p:txBody>
      </p:sp>
      <p:sp>
        <p:nvSpPr>
          <p:cNvPr id="14" name="TextBox 13"/>
          <p:cNvSpPr txBox="1"/>
          <p:nvPr/>
        </p:nvSpPr>
        <p:spPr>
          <a:xfrm>
            <a:off x="4663440" y="2514600"/>
            <a:ext cx="4023360" cy="228600"/>
          </a:xfrm>
          <a:prstGeom prst="rect">
            <a:avLst/>
          </a:prstGeom>
          <a:noFill/>
        </p:spPr>
        <p:txBody>
          <a:bodyPr wrap="square">
            <a:spAutoFit/>
          </a:bodyPr>
          <a:lstStyle/>
          <a:p>
            <a:pPr algn="l">
              <a:defRPr sz="1000" b="0">
                <a:latin typeface="Malgun Gothic"/>
              </a:defRPr>
            </a:pPr>
            <a:r>
              <a:t>동기부여 저해 요인 제거 필요</a:t>
            </a:r>
          </a:p>
        </p:txBody>
      </p:sp>
      <p:sp>
        <p:nvSpPr>
          <p:cNvPr id="15" name="TextBox 14"/>
          <p:cNvSpPr txBox="1"/>
          <p:nvPr/>
        </p:nvSpPr>
        <p:spPr>
          <a:xfrm>
            <a:off x="4663440" y="2834640"/>
            <a:ext cx="4023360" cy="228600"/>
          </a:xfrm>
          <a:prstGeom prst="rect">
            <a:avLst/>
          </a:prstGeom>
          <a:noFill/>
        </p:spPr>
        <p:txBody>
          <a:bodyPr wrap="square">
            <a:spAutoFit/>
          </a:bodyPr>
          <a:lstStyle/>
          <a:p>
            <a:pPr algn="l">
              <a:defRPr sz="1000" b="0">
                <a:latin typeface="Malgun Gothic"/>
              </a:defRPr>
            </a:pPr>
            <a:r>
              <a:t>현실안주 분위기 타파 필요</a:t>
            </a:r>
          </a:p>
        </p:txBody>
      </p:sp>
      <p:sp>
        <p:nvSpPr>
          <p:cNvPr id="16" name="TextBox 15"/>
          <p:cNvSpPr txBox="1"/>
          <p:nvPr/>
        </p:nvSpPr>
        <p:spPr>
          <a:xfrm>
            <a:off x="4663440" y="3154680"/>
            <a:ext cx="4023360" cy="228600"/>
          </a:xfrm>
          <a:prstGeom prst="rect">
            <a:avLst/>
          </a:prstGeom>
          <a:noFill/>
        </p:spPr>
        <p:txBody>
          <a:bodyPr wrap="square">
            <a:spAutoFit/>
          </a:bodyPr>
          <a:lstStyle/>
          <a:p>
            <a:pPr algn="l">
              <a:defRPr sz="1000" b="0">
                <a:latin typeface="Malgun Gothic"/>
              </a:defRPr>
            </a:pPr>
            <a:r>
              <a:t>부서간 소통과 협업 부족</a:t>
            </a:r>
          </a:p>
        </p:txBody>
      </p:sp>
      <p:sp>
        <p:nvSpPr>
          <p:cNvPr id="17" name="TextBox 16"/>
          <p:cNvSpPr txBox="1"/>
          <p:nvPr/>
        </p:nvSpPr>
        <p:spPr>
          <a:xfrm>
            <a:off x="4663440" y="3474720"/>
            <a:ext cx="4023360" cy="228600"/>
          </a:xfrm>
          <a:prstGeom prst="rect">
            <a:avLst/>
          </a:prstGeom>
          <a:noFill/>
        </p:spPr>
        <p:txBody>
          <a:bodyPr wrap="square">
            <a:spAutoFit/>
          </a:bodyPr>
          <a:lstStyle/>
          <a:p>
            <a:pPr algn="l">
              <a:defRPr sz="1000" b="0">
                <a:latin typeface="Malgun Gothic"/>
              </a:defRPr>
            </a:pPr>
            <a:r>
              <a:t>직능간 교환 보직 등</a:t>
            </a:r>
            <a:br/>
            <a:r>
              <a:t>조직융화 노력 필요</a:t>
            </a:r>
          </a:p>
        </p:txBody>
      </p:sp>
      <p:sp>
        <p:nvSpPr>
          <p:cNvPr id="18" name="TextBox 17"/>
          <p:cNvSpPr txBox="1"/>
          <p:nvPr/>
        </p:nvSpPr>
        <p:spPr>
          <a:xfrm>
            <a:off x="4663440" y="3794760"/>
            <a:ext cx="4023360" cy="228600"/>
          </a:xfrm>
          <a:prstGeom prst="rect">
            <a:avLst/>
          </a:prstGeom>
          <a:noFill/>
        </p:spPr>
        <p:txBody>
          <a:bodyPr wrap="square">
            <a:spAutoFit/>
          </a:bodyPr>
          <a:lstStyle/>
          <a:p>
            <a:pPr algn="l">
              <a:defRPr sz="1000" b="0">
                <a:latin typeface="Malgun Gothic"/>
              </a:defRPr>
            </a:pPr>
            <a:r>
              <a:t>세대간 소통과 화합 어려움</a:t>
            </a:r>
          </a:p>
        </p:txBody>
      </p:sp>
      <p:sp>
        <p:nvSpPr>
          <p:cNvPr id="19" name="TextBox 18"/>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해양환경공단 | Page 84</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이해관계자 분석 - 사업부서 FGI (5/6)</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사업부서 인터뷰에서 조직 전반의 재정적 위기상황에 대한 인식을 확인할 수 있었으며, 재정구조 전환, 장기적 관점 대안 검토, 의사결정 시점 사업성 검토 필요 등 현안 인식과 대안에 대한 의견을 확인함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사업부서 FGI 의견 정리 ⑤ 재정위기 및 수익구조</a:t>
            </a:r>
          </a:p>
        </p:txBody>
      </p:sp>
      <p:sp>
        <p:nvSpPr>
          <p:cNvPr id="5" name="TextBox 4"/>
          <p:cNvSpPr txBox="1"/>
          <p:nvPr/>
        </p:nvSpPr>
        <p:spPr>
          <a:xfrm>
            <a:off x="457200" y="1828800"/>
            <a:ext cx="4023360" cy="457200"/>
          </a:xfrm>
          <a:prstGeom prst="rect">
            <a:avLst/>
          </a:prstGeom>
          <a:noFill/>
        </p:spPr>
        <p:txBody>
          <a:bodyPr wrap="square">
            <a:spAutoFit/>
          </a:bodyPr>
          <a:lstStyle/>
          <a:p>
            <a:pPr algn="l">
              <a:defRPr sz="1000" b="0">
                <a:latin typeface="Malgun Gothic"/>
              </a:defRPr>
            </a:pPr>
            <a:r>
              <a:t>친환경정책, 한국판 뉴딜, 디지털화 정책 관련해서 사업을 추진하고 있지만 그에 따른 재정, 예산, 인력이 지원되지 않아 수익사업에서 예산을 빼서 공단을 운영하고 있는 상황임</a:t>
            </a:r>
          </a:p>
        </p:txBody>
      </p:sp>
      <p:sp>
        <p:nvSpPr>
          <p:cNvPr id="6" name="TextBox 5"/>
          <p:cNvSpPr txBox="1"/>
          <p:nvPr/>
        </p:nvSpPr>
        <p:spPr>
          <a:xfrm>
            <a:off x="457200" y="2377440"/>
            <a:ext cx="4023360" cy="685800"/>
          </a:xfrm>
          <a:prstGeom prst="rect">
            <a:avLst/>
          </a:prstGeom>
          <a:noFill/>
        </p:spPr>
        <p:txBody>
          <a:bodyPr wrap="square">
            <a:spAutoFit/>
          </a:bodyPr>
          <a:lstStyle/>
          <a:p>
            <a:pPr algn="l">
              <a:defRPr sz="1000" b="0">
                <a:latin typeface="Malgun Gothic"/>
              </a:defRPr>
            </a:pPr>
            <a:r>
              <a:t>분담금도 줄어들 수 있다는 위기의식이 필요함. 중장기적으로 저장시설과 선박이 6:4로 돈을 받고 있는데, 점점 화석연료 사용이 줄어 물동량이 줄고 유류 분담금도 인상해야 하지만 코로나 때문에 기재부 승인이 힘들어 어려운 상황임</a:t>
            </a:r>
          </a:p>
        </p:txBody>
      </p:sp>
      <p:sp>
        <p:nvSpPr>
          <p:cNvPr id="7" name="TextBox 6"/>
          <p:cNvSpPr txBox="1"/>
          <p:nvPr/>
        </p:nvSpPr>
        <p:spPr>
          <a:xfrm>
            <a:off x="457200" y="3154680"/>
            <a:ext cx="4023360" cy="457200"/>
          </a:xfrm>
          <a:prstGeom prst="rect">
            <a:avLst/>
          </a:prstGeom>
          <a:noFill/>
        </p:spPr>
        <p:txBody>
          <a:bodyPr wrap="square">
            <a:spAutoFit/>
          </a:bodyPr>
          <a:lstStyle/>
          <a:p>
            <a:pPr algn="l">
              <a:defRPr sz="1000" b="0">
                <a:latin typeface="Malgun Gothic"/>
              </a:defRPr>
            </a:pPr>
            <a:r>
              <a:t>공단은 해양환경을 사업영역으로 하고 있어 수익을 내기 어려운데 준시장형 공기업 분류를 유지하고 있는 것이 적절한지 모르겠음. 준정부기관으로 전환하는 것이 맞을 수 있음</a:t>
            </a:r>
          </a:p>
        </p:txBody>
      </p:sp>
      <p:sp>
        <p:nvSpPr>
          <p:cNvPr id="8" name="TextBox 7"/>
          <p:cNvSpPr txBox="1"/>
          <p:nvPr/>
        </p:nvSpPr>
        <p:spPr>
          <a:xfrm>
            <a:off x="457200" y="3703320"/>
            <a:ext cx="4023360" cy="685800"/>
          </a:xfrm>
          <a:prstGeom prst="rect">
            <a:avLst/>
          </a:prstGeom>
          <a:noFill/>
        </p:spPr>
        <p:txBody>
          <a:bodyPr wrap="square">
            <a:spAutoFit/>
          </a:bodyPr>
          <a:lstStyle/>
          <a:p>
            <a:pPr algn="l">
              <a:defRPr sz="1000" b="0">
                <a:latin typeface="Malgun Gothic"/>
              </a:defRPr>
            </a:pPr>
            <a:r>
              <a:t>공공기관으로 혁신적인 방향 전환은 힘들어 중장기적으로 출자를 통한 점진적 일부 사업 재편, 방제분담금 인상 등 인건비를 포함해 증가한 고정비를 충당을 위한 재정 확보 방안이 필요함</a:t>
            </a:r>
          </a:p>
        </p:txBody>
      </p:sp>
      <p:sp>
        <p:nvSpPr>
          <p:cNvPr id="9" name="TextBox 8"/>
          <p:cNvSpPr txBox="1"/>
          <p:nvPr/>
        </p:nvSpPr>
        <p:spPr>
          <a:xfrm>
            <a:off x="457200" y="4480560"/>
            <a:ext cx="4023360" cy="685800"/>
          </a:xfrm>
          <a:prstGeom prst="rect">
            <a:avLst/>
          </a:prstGeom>
          <a:noFill/>
        </p:spPr>
        <p:txBody>
          <a:bodyPr wrap="square">
            <a:spAutoFit/>
          </a:bodyPr>
          <a:lstStyle/>
          <a:p>
            <a:pPr algn="l">
              <a:defRPr sz="1000" b="0">
                <a:latin typeface="Malgun Gothic"/>
              </a:defRPr>
            </a:pPr>
            <a:r>
              <a:t>예선사업의 수익성 악화(적자운영), 인건비 증가에 따른 고정비 증가 등 재무적 현안 이슈가 있음. 공단 전체에서 자체사업은 예선사업 뿐인데, 선박 건조 등에 보조금을 받아 내면서 돌파구를 찾고 있지만 구조조정 이외 실질적 수익개선 방법이 없는 상황임</a:t>
            </a:r>
          </a:p>
        </p:txBody>
      </p:sp>
      <p:sp>
        <p:nvSpPr>
          <p:cNvPr id="10" name="TextBox 9"/>
          <p:cNvSpPr txBox="1"/>
          <p:nvPr/>
        </p:nvSpPr>
        <p:spPr>
          <a:xfrm>
            <a:off x="457200" y="5257800"/>
            <a:ext cx="4023360" cy="685800"/>
          </a:xfrm>
          <a:prstGeom prst="rect">
            <a:avLst/>
          </a:prstGeom>
          <a:noFill/>
        </p:spPr>
        <p:txBody>
          <a:bodyPr wrap="square">
            <a:spAutoFit/>
          </a:bodyPr>
          <a:lstStyle/>
          <a:p>
            <a:pPr algn="l">
              <a:defRPr sz="1000" b="0">
                <a:latin typeface="Malgun Gothic"/>
              </a:defRPr>
            </a:pPr>
            <a:r>
              <a:t>예선은 방제역량 보유 명분으로 유지하고 있지만 민간과 경쟁으로 수익이 점점 나빠지고 있는 상황임. 3년 전에는 점유율 11%에 330억 매출이었지만 현재는 9%에 250억으로 감소</a:t>
            </a:r>
          </a:p>
        </p:txBody>
      </p:sp>
      <p:sp>
        <p:nvSpPr>
          <p:cNvPr id="11" name="TextBox 10"/>
          <p:cNvSpPr txBox="1"/>
          <p:nvPr/>
        </p:nvSpPr>
        <p:spPr>
          <a:xfrm>
            <a:off x="457200" y="6035040"/>
            <a:ext cx="4023360" cy="685800"/>
          </a:xfrm>
          <a:prstGeom prst="rect">
            <a:avLst/>
          </a:prstGeom>
          <a:noFill/>
        </p:spPr>
        <p:txBody>
          <a:bodyPr wrap="square">
            <a:spAutoFit/>
          </a:bodyPr>
          <a:lstStyle/>
          <a:p>
            <a:pPr algn="l">
              <a:defRPr sz="1000" b="0">
                <a:latin typeface="Malgun Gothic"/>
              </a:defRPr>
            </a:pPr>
            <a:r>
              <a:t>사업을 기획하고 추진을 승인하는 시점에는 손익에 대해 신경 쓰지 말고, 초기 투자비용만 고려해서 추진하도록 독려하고 경영진이 의사결정해서 추진했는데, 정작 사업을 수행할 때는 이익이 없고 손실이 난다고 지적 받고 있음</a:t>
            </a:r>
          </a:p>
        </p:txBody>
      </p:sp>
      <p:sp>
        <p:nvSpPr>
          <p:cNvPr id="12" name="TextBox 11"/>
          <p:cNvSpPr txBox="1"/>
          <p:nvPr/>
        </p:nvSpPr>
        <p:spPr>
          <a:xfrm>
            <a:off x="457200" y="6812280"/>
            <a:ext cx="4023360" cy="685800"/>
          </a:xfrm>
          <a:prstGeom prst="rect">
            <a:avLst/>
          </a:prstGeom>
          <a:noFill/>
        </p:spPr>
        <p:txBody>
          <a:bodyPr wrap="square">
            <a:spAutoFit/>
          </a:bodyPr>
          <a:lstStyle/>
          <a:p>
            <a:pPr algn="l">
              <a:defRPr sz="1000" b="0">
                <a:latin typeface="Malgun Gothic"/>
              </a:defRPr>
            </a:pPr>
            <a:r>
              <a:t>해양환경 사업의 특성, 사업을 위탁 수행하는 공공기관으로서 역할을 고려할 때 사업에서 수익을 창출하라는 요구는 맞지 않는 것 같음. 그런데도 모든 사업을 동일한 이익, 손실 기준으로 평가하고 관리하고 있는 것은 적절하지 않음</a:t>
            </a:r>
          </a:p>
        </p:txBody>
      </p:sp>
      <p:sp>
        <p:nvSpPr>
          <p:cNvPr id="13" name="TextBox 12"/>
          <p:cNvSpPr txBox="1"/>
          <p:nvPr/>
        </p:nvSpPr>
        <p:spPr>
          <a:xfrm>
            <a:off x="457200" y="7589520"/>
            <a:ext cx="8229600" cy="274320"/>
          </a:xfrm>
          <a:prstGeom prst="rect">
            <a:avLst/>
          </a:prstGeom>
          <a:noFill/>
        </p:spPr>
        <p:txBody>
          <a:bodyPr wrap="square">
            <a:spAutoFit/>
          </a:bodyPr>
          <a:lstStyle/>
          <a:p>
            <a:pPr algn="l">
              <a:defRPr sz="1200" b="1">
                <a:solidFill>
                  <a:srgbClr val="003366"/>
                </a:solidFill>
                <a:latin typeface="Malgun Gothic"/>
              </a:defRPr>
            </a:pPr>
            <a:r>
              <a:t>주요 의견과 이슈사항</a:t>
            </a:r>
          </a:p>
        </p:txBody>
      </p:sp>
      <p:sp>
        <p:nvSpPr>
          <p:cNvPr id="14" name="TextBox 13"/>
          <p:cNvSpPr txBox="1"/>
          <p:nvPr/>
        </p:nvSpPr>
        <p:spPr>
          <a:xfrm>
            <a:off x="4663440" y="2194560"/>
            <a:ext cx="4023360" cy="228600"/>
          </a:xfrm>
          <a:prstGeom prst="rect">
            <a:avLst/>
          </a:prstGeom>
          <a:noFill/>
        </p:spPr>
        <p:txBody>
          <a:bodyPr wrap="square">
            <a:spAutoFit/>
          </a:bodyPr>
          <a:lstStyle/>
          <a:p>
            <a:pPr algn="l">
              <a:defRPr sz="1000" b="0">
                <a:latin typeface="Malgun Gothic"/>
              </a:defRPr>
            </a:pPr>
            <a:r>
              <a:t>사업수행 위한 재원 확보 필요</a:t>
            </a:r>
          </a:p>
        </p:txBody>
      </p:sp>
      <p:sp>
        <p:nvSpPr>
          <p:cNvPr id="15" name="TextBox 14"/>
          <p:cNvSpPr txBox="1"/>
          <p:nvPr/>
        </p:nvSpPr>
        <p:spPr>
          <a:xfrm>
            <a:off x="4663440" y="2514600"/>
            <a:ext cx="4023360" cy="228600"/>
          </a:xfrm>
          <a:prstGeom prst="rect">
            <a:avLst/>
          </a:prstGeom>
          <a:noFill/>
        </p:spPr>
        <p:txBody>
          <a:bodyPr wrap="square">
            <a:spAutoFit/>
          </a:bodyPr>
          <a:lstStyle/>
          <a:p>
            <a:pPr algn="l">
              <a:defRPr sz="1000" b="0">
                <a:latin typeface="Malgun Gothic"/>
              </a:defRPr>
            </a:pPr>
            <a:r>
              <a:t>재정구조 전환 검토 필요성 (공기업에서 준정부기관으로)</a:t>
            </a:r>
          </a:p>
        </p:txBody>
      </p:sp>
      <p:sp>
        <p:nvSpPr>
          <p:cNvPr id="16" name="TextBox 15"/>
          <p:cNvSpPr txBox="1"/>
          <p:nvPr/>
        </p:nvSpPr>
        <p:spPr>
          <a:xfrm>
            <a:off x="4663440" y="2834640"/>
            <a:ext cx="4023360" cy="228600"/>
          </a:xfrm>
          <a:prstGeom prst="rect">
            <a:avLst/>
          </a:prstGeom>
          <a:noFill/>
        </p:spPr>
        <p:txBody>
          <a:bodyPr wrap="square">
            <a:spAutoFit/>
          </a:bodyPr>
          <a:lstStyle/>
          <a:p>
            <a:pPr algn="l">
              <a:defRPr sz="1000" b="0">
                <a:latin typeface="Malgun Gothic"/>
              </a:defRPr>
            </a:pPr>
            <a:r>
              <a:t>인건비 등 증가한 고정비 충당을 위한 재정확보 필요</a:t>
            </a:r>
          </a:p>
        </p:txBody>
      </p:sp>
      <p:sp>
        <p:nvSpPr>
          <p:cNvPr id="17" name="TextBox 16"/>
          <p:cNvSpPr txBox="1"/>
          <p:nvPr/>
        </p:nvSpPr>
        <p:spPr>
          <a:xfrm>
            <a:off x="4663440" y="3154680"/>
            <a:ext cx="4023360" cy="228600"/>
          </a:xfrm>
          <a:prstGeom prst="rect">
            <a:avLst/>
          </a:prstGeom>
          <a:noFill/>
        </p:spPr>
        <p:txBody>
          <a:bodyPr wrap="square">
            <a:spAutoFit/>
          </a:bodyPr>
          <a:lstStyle/>
          <a:p>
            <a:pPr algn="l">
              <a:defRPr sz="1000" b="0">
                <a:latin typeface="Malgun Gothic"/>
              </a:defRPr>
            </a:pPr>
            <a:r>
              <a:t>장기적 관점에서 구조조정 등 전환적 대안 검토 필요</a:t>
            </a:r>
          </a:p>
        </p:txBody>
      </p:sp>
      <p:sp>
        <p:nvSpPr>
          <p:cNvPr id="18" name="TextBox 17"/>
          <p:cNvSpPr txBox="1"/>
          <p:nvPr/>
        </p:nvSpPr>
        <p:spPr>
          <a:xfrm>
            <a:off x="4663440" y="3474720"/>
            <a:ext cx="4023360" cy="228600"/>
          </a:xfrm>
          <a:prstGeom prst="rect">
            <a:avLst/>
          </a:prstGeom>
          <a:noFill/>
        </p:spPr>
        <p:txBody>
          <a:bodyPr wrap="square">
            <a:spAutoFit/>
          </a:bodyPr>
          <a:lstStyle/>
          <a:p>
            <a:pPr algn="l">
              <a:defRPr sz="1000" b="0">
                <a:latin typeface="Malgun Gothic"/>
              </a:defRPr>
            </a:pPr>
            <a:r>
              <a:t>예선사업 중장기 계획 점검</a:t>
            </a:r>
          </a:p>
        </p:txBody>
      </p:sp>
      <p:sp>
        <p:nvSpPr>
          <p:cNvPr id="19" name="TextBox 18"/>
          <p:cNvSpPr txBox="1"/>
          <p:nvPr/>
        </p:nvSpPr>
        <p:spPr>
          <a:xfrm>
            <a:off x="4663440" y="3794760"/>
            <a:ext cx="4023360" cy="228600"/>
          </a:xfrm>
          <a:prstGeom prst="rect">
            <a:avLst/>
          </a:prstGeom>
          <a:noFill/>
        </p:spPr>
        <p:txBody>
          <a:bodyPr wrap="square">
            <a:spAutoFit/>
          </a:bodyPr>
          <a:lstStyle/>
          <a:p>
            <a:pPr algn="l">
              <a:defRPr sz="1000" b="0">
                <a:latin typeface="Malgun Gothic"/>
              </a:defRPr>
            </a:pPr>
            <a:r>
              <a:t>의사결정 시점 사업성 검토 필요</a:t>
            </a:r>
          </a:p>
        </p:txBody>
      </p:sp>
      <p:sp>
        <p:nvSpPr>
          <p:cNvPr id="20" name="TextBox 19"/>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85</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이해관계자 분석 - 사업부서 FGI (6/6)</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부서별 이슈사항으로 내부 및 외부연계 R&amp;D 강화, 친환경선박, 방제 선도적 기술개발, 민·관·공 협력체계 구축, 해양환경 정보 이용 이슈사항, 해양환경 교육 플랫폼 및 콘텐츠 개발 등의 현안 이슈가 나타남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사업부서 FGI 의견 정리 &amp; 부서별 이슈사항 및 기타 의견</a:t>
            </a:r>
          </a:p>
        </p:txBody>
      </p:sp>
      <p:sp>
        <p:nvSpPr>
          <p:cNvPr id="5" name="TextBox 4"/>
          <p:cNvSpPr txBox="1"/>
          <p:nvPr/>
        </p:nvSpPr>
        <p:spPr>
          <a:xfrm>
            <a:off x="457200" y="1828800"/>
            <a:ext cx="4023360" cy="685800"/>
          </a:xfrm>
          <a:prstGeom prst="rect">
            <a:avLst/>
          </a:prstGeom>
          <a:noFill/>
        </p:spPr>
        <p:txBody>
          <a:bodyPr wrap="square">
            <a:spAutoFit/>
          </a:bodyPr>
          <a:lstStyle/>
          <a:p>
            <a:pPr algn="l">
              <a:defRPr sz="1000" b="0">
                <a:latin typeface="Malgun Gothic"/>
              </a:defRPr>
            </a:pPr>
            <a:r>
              <a:t>창업연구센터는 사회적가치를 위해 설치하여 운영하고 있으며, 해양오염 방제 장비 개발에 주력하고 있음. 이러한 인프라를 기반으로 전문성을 가지고 R&amp;D 영역을 방제분야 뿐만 아니라 환경보전까지 확장하면 좋을 것으로 판단됨</a:t>
            </a:r>
          </a:p>
        </p:txBody>
      </p:sp>
      <p:sp>
        <p:nvSpPr>
          <p:cNvPr id="6" name="TextBox 5"/>
          <p:cNvSpPr txBox="1"/>
          <p:nvPr/>
        </p:nvSpPr>
        <p:spPr>
          <a:xfrm>
            <a:off x="457200" y="2606040"/>
            <a:ext cx="4023360" cy="685800"/>
          </a:xfrm>
          <a:prstGeom prst="rect">
            <a:avLst/>
          </a:prstGeom>
          <a:noFill/>
        </p:spPr>
        <p:txBody>
          <a:bodyPr wrap="square">
            <a:spAutoFit/>
          </a:bodyPr>
          <a:lstStyle/>
          <a:p>
            <a:pPr algn="l">
              <a:defRPr sz="1000" b="0">
                <a:latin typeface="Malgun Gothic"/>
              </a:defRPr>
            </a:pPr>
            <a:r>
              <a:t>정부정책 시행에 따라 모든 공공기관 발주 선박은 친환경선박 건조가 의무화 되었기 때문에 친환경선박 부문에서 기술개발과 지원 등 사업 확장이 가능함. 공공기관들의 선박 건조를 통합하여 발주하는 시스템의 구축을 검토 중임</a:t>
            </a:r>
          </a:p>
        </p:txBody>
      </p:sp>
      <p:sp>
        <p:nvSpPr>
          <p:cNvPr id="7" name="TextBox 6"/>
          <p:cNvSpPr txBox="1"/>
          <p:nvPr/>
        </p:nvSpPr>
        <p:spPr>
          <a:xfrm>
            <a:off x="457200" y="3383280"/>
            <a:ext cx="4023360" cy="685800"/>
          </a:xfrm>
          <a:prstGeom prst="rect">
            <a:avLst/>
          </a:prstGeom>
          <a:noFill/>
        </p:spPr>
        <p:txBody>
          <a:bodyPr wrap="square">
            <a:spAutoFit/>
          </a:bodyPr>
          <a:lstStyle/>
          <a:p>
            <a:pPr algn="l">
              <a:defRPr sz="1000" b="0">
                <a:latin typeface="Malgun Gothic"/>
              </a:defRPr>
            </a:pPr>
            <a:r>
              <a:t>해상의 방제작업은 육상보다 비용이 3배가 들고 기후에 영향을 많이 받는 작업임. 새로운 기술이나 친환경 방제기법을 개발은 지속적으로 수행해야 함. 합리적 방제는 과학화, 자동화, 친환경기법 등이 필요하고 국가 전해역을 관리할 수 있는 통합관리체계 구축이 필요함</a:t>
            </a:r>
          </a:p>
        </p:txBody>
      </p:sp>
      <p:sp>
        <p:nvSpPr>
          <p:cNvPr id="8" name="TextBox 7"/>
          <p:cNvSpPr txBox="1"/>
          <p:nvPr/>
        </p:nvSpPr>
        <p:spPr>
          <a:xfrm>
            <a:off x="457200" y="4160520"/>
            <a:ext cx="4023360" cy="457200"/>
          </a:xfrm>
          <a:prstGeom prst="rect">
            <a:avLst/>
          </a:prstGeom>
          <a:noFill/>
        </p:spPr>
        <p:txBody>
          <a:bodyPr wrap="square">
            <a:spAutoFit/>
          </a:bodyPr>
          <a:lstStyle/>
          <a:p>
            <a:pPr algn="l">
              <a:defRPr sz="1000" b="0">
                <a:latin typeface="Malgun Gothic"/>
              </a:defRPr>
            </a:pPr>
            <a:r>
              <a:t>방제사고는 초반 작업이 가장 중요하기 때문에 해경이 방제 세력을 유지하면서 공단은 민간 업체를 관리·감독하는 방향으로 정책이 전환되고 있어 해경·공단·민간의 협력이 필요함</a:t>
            </a:r>
          </a:p>
        </p:txBody>
      </p:sp>
      <p:sp>
        <p:nvSpPr>
          <p:cNvPr id="9" name="TextBox 8"/>
          <p:cNvSpPr txBox="1"/>
          <p:nvPr/>
        </p:nvSpPr>
        <p:spPr>
          <a:xfrm>
            <a:off x="457200" y="4709160"/>
            <a:ext cx="4023360" cy="457200"/>
          </a:xfrm>
          <a:prstGeom prst="rect">
            <a:avLst/>
          </a:prstGeom>
          <a:noFill/>
        </p:spPr>
        <p:txBody>
          <a:bodyPr wrap="square">
            <a:spAutoFit/>
          </a:bodyPr>
          <a:lstStyle/>
          <a:p>
            <a:pPr algn="l">
              <a:defRPr sz="1000" b="0">
                <a:latin typeface="Malgun Gothic"/>
              </a:defRPr>
            </a:pPr>
            <a:r>
              <a:t>해양환경정보를 공개하고 내부, 외부에 공유하는 것에는 이해관계가 얽혀 있어 고려가 필요함. 예를 들어 방사능측정, 해양오염도 등 정보는 지자체, 어민에게 민감한 사안일 수 있음</a:t>
            </a:r>
          </a:p>
        </p:txBody>
      </p:sp>
      <p:sp>
        <p:nvSpPr>
          <p:cNvPr id="10" name="TextBox 9"/>
          <p:cNvSpPr txBox="1"/>
          <p:nvPr/>
        </p:nvSpPr>
        <p:spPr>
          <a:xfrm>
            <a:off x="457200" y="5257800"/>
            <a:ext cx="4023360" cy="685800"/>
          </a:xfrm>
          <a:prstGeom prst="rect">
            <a:avLst/>
          </a:prstGeom>
          <a:noFill/>
        </p:spPr>
        <p:txBody>
          <a:bodyPr wrap="square">
            <a:spAutoFit/>
          </a:bodyPr>
          <a:lstStyle/>
          <a:p>
            <a:pPr algn="l">
              <a:defRPr sz="1000" b="0">
                <a:latin typeface="Malgun Gothic"/>
              </a:defRPr>
            </a:pPr>
            <a:r>
              <a:t>디지털 뉴딜 사업으로 해양환경교육 온라인 플랫폼을 구축하고 운영하는 사업 추진 중(예산 7.5억원 승인됨). 코로나 사태 등으로 비대면 교육에 대한 수요가 증가되었고, 교육을 위한 디지털 콘텐츠 및 VR/AR 기술 등을 활용한 교육과정과 콘텐츠 개발이 필요함</a:t>
            </a:r>
          </a:p>
        </p:txBody>
      </p:sp>
      <p:sp>
        <p:nvSpPr>
          <p:cNvPr id="11" name="TextBox 10"/>
          <p:cNvSpPr txBox="1"/>
          <p:nvPr/>
        </p:nvSpPr>
        <p:spPr>
          <a:xfrm>
            <a:off x="457200" y="6035040"/>
            <a:ext cx="4023360" cy="457200"/>
          </a:xfrm>
          <a:prstGeom prst="rect">
            <a:avLst/>
          </a:prstGeom>
          <a:noFill/>
        </p:spPr>
        <p:txBody>
          <a:bodyPr wrap="square">
            <a:spAutoFit/>
          </a:bodyPr>
          <a:lstStyle/>
          <a:p>
            <a:pPr algn="l">
              <a:defRPr sz="1000" b="0">
                <a:latin typeface="Malgun Gothic"/>
              </a:defRPr>
            </a:pPr>
            <a:r>
              <a:t>해양환경종합계획에 보면 학교·시민 대상 환경보전교육이 확대되었고, 직무교육 부분은 전문교육/리더십교육이 있음. 전문교육은 여러 국내법들 트렌드에 따라서 교육 운영이 확장되어야 함</a:t>
            </a:r>
          </a:p>
        </p:txBody>
      </p:sp>
      <p:sp>
        <p:nvSpPr>
          <p:cNvPr id="12" name="TextBox 11"/>
          <p:cNvSpPr txBox="1"/>
          <p:nvPr/>
        </p:nvSpPr>
        <p:spPr>
          <a:xfrm>
            <a:off x="457200" y="6583680"/>
            <a:ext cx="8229600" cy="274320"/>
          </a:xfrm>
          <a:prstGeom prst="rect">
            <a:avLst/>
          </a:prstGeom>
          <a:noFill/>
        </p:spPr>
        <p:txBody>
          <a:bodyPr wrap="square">
            <a:spAutoFit/>
          </a:bodyPr>
          <a:lstStyle/>
          <a:p>
            <a:pPr algn="l">
              <a:defRPr sz="1200" b="1">
                <a:solidFill>
                  <a:srgbClr val="003366"/>
                </a:solidFill>
                <a:latin typeface="Malgun Gothic"/>
              </a:defRPr>
            </a:pPr>
            <a:r>
              <a:t>주요 의견과 이슈사항</a:t>
            </a:r>
          </a:p>
        </p:txBody>
      </p:sp>
      <p:sp>
        <p:nvSpPr>
          <p:cNvPr id="13" name="TextBox 12"/>
          <p:cNvSpPr txBox="1"/>
          <p:nvPr/>
        </p:nvSpPr>
        <p:spPr>
          <a:xfrm>
            <a:off x="4663440" y="2194560"/>
            <a:ext cx="4023360" cy="228600"/>
          </a:xfrm>
          <a:prstGeom prst="rect">
            <a:avLst/>
          </a:prstGeom>
          <a:noFill/>
        </p:spPr>
        <p:txBody>
          <a:bodyPr wrap="square">
            <a:spAutoFit/>
          </a:bodyPr>
          <a:lstStyle/>
          <a:p>
            <a:pPr algn="l">
              <a:defRPr sz="1000" b="0">
                <a:latin typeface="Malgun Gothic"/>
              </a:defRPr>
            </a:pPr>
            <a:r>
              <a:t>공단 자체 및 외부연계</a:t>
            </a:r>
            <a:br/>
            <a:r>
              <a:t>R&amp;D 강화 필요</a:t>
            </a:r>
          </a:p>
        </p:txBody>
      </p:sp>
      <p:sp>
        <p:nvSpPr>
          <p:cNvPr id="14" name="TextBox 13"/>
          <p:cNvSpPr txBox="1"/>
          <p:nvPr/>
        </p:nvSpPr>
        <p:spPr>
          <a:xfrm>
            <a:off x="4663440" y="2514600"/>
            <a:ext cx="4023360" cy="228600"/>
          </a:xfrm>
          <a:prstGeom prst="rect">
            <a:avLst/>
          </a:prstGeom>
          <a:noFill/>
        </p:spPr>
        <p:txBody>
          <a:bodyPr wrap="square">
            <a:spAutoFit/>
          </a:bodyPr>
          <a:lstStyle/>
          <a:p>
            <a:pPr algn="l">
              <a:defRPr sz="1000" b="0">
                <a:latin typeface="Malgun Gothic"/>
              </a:defRPr>
            </a:pPr>
            <a:r>
              <a:t>공단 선도적 R&amp;D 영역</a:t>
            </a:r>
            <a:br/>
            <a:r>
              <a:t>(방제, 친환경선박 등)</a:t>
            </a:r>
          </a:p>
        </p:txBody>
      </p:sp>
      <p:sp>
        <p:nvSpPr>
          <p:cNvPr id="15" name="TextBox 14"/>
          <p:cNvSpPr txBox="1"/>
          <p:nvPr/>
        </p:nvSpPr>
        <p:spPr>
          <a:xfrm>
            <a:off x="4663440" y="2834640"/>
            <a:ext cx="4023360" cy="228600"/>
          </a:xfrm>
          <a:prstGeom prst="rect">
            <a:avLst/>
          </a:prstGeom>
          <a:noFill/>
        </p:spPr>
        <p:txBody>
          <a:bodyPr wrap="square">
            <a:spAutoFit/>
          </a:bodyPr>
          <a:lstStyle/>
          <a:p>
            <a:pPr algn="l">
              <a:defRPr sz="1000" b="0">
                <a:latin typeface="Malgun Gothic"/>
              </a:defRPr>
            </a:pPr>
            <a:r>
              <a:t>해양환경 민·관·공 협력체계</a:t>
            </a:r>
          </a:p>
        </p:txBody>
      </p:sp>
      <p:sp>
        <p:nvSpPr>
          <p:cNvPr id="16" name="TextBox 15"/>
          <p:cNvSpPr txBox="1"/>
          <p:nvPr/>
        </p:nvSpPr>
        <p:spPr>
          <a:xfrm>
            <a:off x="4663440" y="3154680"/>
            <a:ext cx="4023360" cy="228600"/>
          </a:xfrm>
          <a:prstGeom prst="rect">
            <a:avLst/>
          </a:prstGeom>
          <a:noFill/>
        </p:spPr>
        <p:txBody>
          <a:bodyPr wrap="square">
            <a:spAutoFit/>
          </a:bodyPr>
          <a:lstStyle/>
          <a:p>
            <a:pPr algn="l">
              <a:defRPr sz="1000" b="0">
                <a:latin typeface="Malgun Gothic"/>
              </a:defRPr>
            </a:pPr>
            <a:r>
              <a:t>해양환경정보 공개·이용 관련</a:t>
            </a:r>
            <a:br/>
            <a:r>
              <a:t>이슈 및 제약사항</a:t>
            </a:r>
          </a:p>
        </p:txBody>
      </p:sp>
      <p:sp>
        <p:nvSpPr>
          <p:cNvPr id="17" name="TextBox 16"/>
          <p:cNvSpPr txBox="1"/>
          <p:nvPr/>
        </p:nvSpPr>
        <p:spPr>
          <a:xfrm>
            <a:off x="4663440" y="3474720"/>
            <a:ext cx="4023360" cy="228600"/>
          </a:xfrm>
          <a:prstGeom prst="rect">
            <a:avLst/>
          </a:prstGeom>
          <a:noFill/>
        </p:spPr>
        <p:txBody>
          <a:bodyPr wrap="square">
            <a:spAutoFit/>
          </a:bodyPr>
          <a:lstStyle/>
          <a:p>
            <a:pPr algn="l">
              <a:defRPr sz="1000" b="0">
                <a:latin typeface="Malgun Gothic"/>
              </a:defRPr>
            </a:pPr>
            <a:r>
              <a:t>해양환경교육 콘텐츠 개발</a:t>
            </a:r>
          </a:p>
        </p:txBody>
      </p:sp>
      <p:sp>
        <p:nvSpPr>
          <p:cNvPr id="18" name="TextBox 17"/>
          <p:cNvSpPr txBox="1"/>
          <p:nvPr/>
        </p:nvSpPr>
        <p:spPr>
          <a:xfrm>
            <a:off x="4663440" y="3794760"/>
            <a:ext cx="4023360" cy="228600"/>
          </a:xfrm>
          <a:prstGeom prst="rect">
            <a:avLst/>
          </a:prstGeom>
          <a:noFill/>
        </p:spPr>
        <p:txBody>
          <a:bodyPr wrap="square">
            <a:spAutoFit/>
          </a:bodyPr>
          <a:lstStyle/>
          <a:p>
            <a:pPr algn="l">
              <a:defRPr sz="1000" b="0">
                <a:latin typeface="Malgun Gothic"/>
              </a:defRPr>
            </a:pPr>
            <a:r>
              <a:t>비대면 교육 인프라 구축, 확대</a:t>
            </a:r>
          </a:p>
        </p:txBody>
      </p:sp>
      <p:sp>
        <p:nvSpPr>
          <p:cNvPr id="19" name="TextBox 18"/>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85 | Page 86</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이해관계자 분석 - 분야 전문가 의견수렴 (1/2)</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해양환경 및 해양정책부문 전문가 인터뷰에서 공단의 미래 방향성과 개선사항에 대해 아래와 같이 의견을 수렴함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미래 방향성과 위상</a:t>
            </a:r>
          </a:p>
        </p:txBody>
      </p:sp>
      <p:sp>
        <p:nvSpPr>
          <p:cNvPr id="5" name="TextBox 4"/>
          <p:cNvSpPr txBox="1"/>
          <p:nvPr/>
        </p:nvSpPr>
        <p:spPr>
          <a:xfrm>
            <a:off x="457200" y="1828800"/>
            <a:ext cx="4023360" cy="2286000"/>
          </a:xfrm>
          <a:prstGeom prst="rect">
            <a:avLst/>
          </a:prstGeom>
          <a:noFill/>
        </p:spPr>
        <p:txBody>
          <a:bodyPr wrap="square">
            <a:spAutoFit/>
          </a:bodyPr>
          <a:lstStyle/>
          <a:p>
            <a:pPr algn="l">
              <a:defRPr sz="1000" b="0">
                <a:latin typeface="Malgun Gothic"/>
              </a:defRPr>
            </a:pPr>
            <a:r>
              <a:t>해양정책 전문가 의견수렴 (F.G.I.)</a:t>
            </a:r>
            <a:br/>
            <a:br/>
            <a:r>
              <a:t>• 공단의 기본은 정책의 수행하는 집행기관으로, 기능과 역할에 집중 필요</a:t>
            </a:r>
            <a:br/>
            <a:r>
              <a:t>  - 오염이 심화된 부분의 회복과 복원, 오염의 예방이 우선순위가 되어야 하며,</a:t>
            </a:r>
            <a:br/>
            <a:r>
              <a:t>    해양오염의 이슈와 현황을 확인하고 이를 해결하는 것에 총력을 다해야 함</a:t>
            </a:r>
            <a:br/>
            <a:r>
              <a:t>• 국내외 기관과 협력, 공조를 통해 해양환경 관련 네트워크의 중심이 되어야 함</a:t>
            </a:r>
            <a:br/>
            <a:r>
              <a:t>  - 해양환경공단의 업무영역 지속 확장, 관련 기관·단체와의 협력이 중요해짐</a:t>
            </a:r>
            <a:br/>
            <a:r>
              <a:t>  - 해양환경을 종합하는 (정책집행) 기관이 되는 것이 좋을 것으로 판단</a:t>
            </a:r>
            <a:br/>
            <a:r>
              <a:t>  - 정책수립은 해양수산부가 해야 할 기능이며, 공단은 집행기능 집중 필요</a:t>
            </a:r>
            <a:br/>
            <a:r>
              <a:t>• 기후변화 대응과 탄소중립은 중요한 주제이나 주관하는 기관 아직 없음</a:t>
            </a:r>
            <a:br/>
            <a:r>
              <a:t>  - 기후변화, 탄소중립은 단일 항목으로도 공단이 조직을 갖추고 적극적으로</a:t>
            </a:r>
            <a:br/>
            <a:r>
              <a:t>    시행하면 이후에 공단이 더 큰 위상을 가지는 데 도움이 될 것</a:t>
            </a:r>
          </a:p>
        </p:txBody>
      </p:sp>
      <p:sp>
        <p:nvSpPr>
          <p:cNvPr id="6" name="TextBox 5"/>
          <p:cNvSpPr txBox="1"/>
          <p:nvPr/>
        </p:nvSpPr>
        <p:spPr>
          <a:xfrm>
            <a:off x="4663440" y="1828800"/>
            <a:ext cx="4023360" cy="228600"/>
          </a:xfrm>
          <a:prstGeom prst="rect">
            <a:avLst/>
          </a:prstGeom>
          <a:noFill/>
        </p:spPr>
        <p:txBody>
          <a:bodyPr wrap="square">
            <a:spAutoFit/>
          </a:bodyPr>
          <a:lstStyle/>
          <a:p>
            <a:pPr algn="l">
              <a:defRPr sz="1000" b="0">
                <a:latin typeface="Malgun Gothic"/>
              </a:defRPr>
            </a:pPr>
            <a:r>
              <a:t>해양환경 전문 정책집행기관 역할 집중</a:t>
            </a:r>
          </a:p>
        </p:txBody>
      </p:sp>
      <p:sp>
        <p:nvSpPr>
          <p:cNvPr id="7" name="TextBox 6"/>
          <p:cNvSpPr txBox="1"/>
          <p:nvPr/>
        </p:nvSpPr>
        <p:spPr>
          <a:xfrm>
            <a:off x="4663440" y="2148840"/>
            <a:ext cx="4023360" cy="228600"/>
          </a:xfrm>
          <a:prstGeom prst="rect">
            <a:avLst/>
          </a:prstGeom>
          <a:noFill/>
        </p:spPr>
        <p:txBody>
          <a:bodyPr wrap="square">
            <a:spAutoFit/>
          </a:bodyPr>
          <a:lstStyle/>
          <a:p>
            <a:pPr algn="l">
              <a:defRPr sz="1000" b="0">
                <a:latin typeface="Malgun Gothic"/>
              </a:defRPr>
            </a:pPr>
            <a:r>
              <a:t>국내외 기관과 협력, 공조를 통한</a:t>
            </a:r>
            <a:br/>
            <a:r>
              <a:t>해양환경 네트워크의 중심역할 필요</a:t>
            </a:r>
          </a:p>
        </p:txBody>
      </p:sp>
      <p:sp>
        <p:nvSpPr>
          <p:cNvPr id="8" name="TextBox 7"/>
          <p:cNvSpPr txBox="1"/>
          <p:nvPr/>
        </p:nvSpPr>
        <p:spPr>
          <a:xfrm>
            <a:off x="4663440" y="2468880"/>
            <a:ext cx="4023360" cy="228600"/>
          </a:xfrm>
          <a:prstGeom prst="rect">
            <a:avLst/>
          </a:prstGeom>
          <a:noFill/>
        </p:spPr>
        <p:txBody>
          <a:bodyPr wrap="square">
            <a:spAutoFit/>
          </a:bodyPr>
          <a:lstStyle/>
          <a:p>
            <a:pPr algn="l">
              <a:defRPr sz="1000" b="0">
                <a:latin typeface="Malgun Gothic"/>
              </a:defRPr>
            </a:pPr>
            <a:r>
              <a:t>기후변화대응·탄소중립 적극적 대응을</a:t>
            </a:r>
            <a:br/>
            <a:r>
              <a:t>통한 공단 주도 필요</a:t>
            </a:r>
          </a:p>
        </p:txBody>
      </p:sp>
      <p:sp>
        <p:nvSpPr>
          <p:cNvPr id="9" name="TextBox 8"/>
          <p:cNvSpPr txBox="1"/>
          <p:nvPr/>
        </p:nvSpPr>
        <p:spPr>
          <a:xfrm>
            <a:off x="457200" y="4206240"/>
            <a:ext cx="8229600" cy="274320"/>
          </a:xfrm>
          <a:prstGeom prst="rect">
            <a:avLst/>
          </a:prstGeom>
          <a:noFill/>
        </p:spPr>
        <p:txBody>
          <a:bodyPr wrap="square">
            <a:spAutoFit/>
          </a:bodyPr>
          <a:lstStyle/>
          <a:p>
            <a:pPr algn="l">
              <a:defRPr sz="1200" b="1">
                <a:solidFill>
                  <a:srgbClr val="003366"/>
                </a:solidFill>
                <a:latin typeface="Malgun Gothic"/>
              </a:defRPr>
            </a:pPr>
            <a:r>
              <a:t>미래를 위한 개선사항</a:t>
            </a:r>
          </a:p>
        </p:txBody>
      </p:sp>
      <p:sp>
        <p:nvSpPr>
          <p:cNvPr id="10" name="TextBox 9"/>
          <p:cNvSpPr txBox="1"/>
          <p:nvPr/>
        </p:nvSpPr>
        <p:spPr>
          <a:xfrm>
            <a:off x="457200" y="4572000"/>
            <a:ext cx="4023360" cy="1600200"/>
          </a:xfrm>
          <a:prstGeom prst="rect">
            <a:avLst/>
          </a:prstGeom>
          <a:noFill/>
        </p:spPr>
        <p:txBody>
          <a:bodyPr wrap="square">
            <a:spAutoFit/>
          </a:bodyPr>
          <a:lstStyle/>
          <a:p>
            <a:pPr algn="l">
              <a:defRPr sz="1000" b="0">
                <a:latin typeface="Malgun Gothic"/>
              </a:defRPr>
            </a:pPr>
            <a:r>
              <a:t>• 해양환경은 국내 정책, 주변국 이슈, 국제사회 등 종합적인 관점의 대응 필요</a:t>
            </a:r>
            <a:br/>
            <a:r>
              <a:t>  - 해양환경 관련 글로벌 포럼 등 국제적 리더십 프로그램 필요 (공동진행 제안)</a:t>
            </a:r>
            <a:br/>
            <a:r>
              <a:t>• 공단은 현재 공기업으로 분류되어 이익을 취해야 하는데, 장기적으로 공공성을</a:t>
            </a:r>
            <a:br/>
            <a:r>
              <a:t>  올릴지에 대한 선택 필요 (공기업보다 위탁집행형 준정부기관 적정 의견)</a:t>
            </a:r>
            <a:br/>
            <a:r>
              <a:t>• 해양"환경"영역을 포괄적 의미에서 확장하는 것은 괜찮지만, 기능, 범위, 역량</a:t>
            </a:r>
            <a:br/>
            <a:r>
              <a:t>  확대에는 우선순위가 필요 : 문제 있고 꼭 해야 하는 중요한 것에 우선순위</a:t>
            </a:r>
            <a:br/>
            <a:r>
              <a:t>• 경영목표는 현실성이 있게 수립되어야 하고 하위 목표가 잘 연결되어야 함</a:t>
            </a:r>
            <a:br/>
            <a:r>
              <a:t>• 공단 임직원 해양수산부에 너무 끌려 다니는 것 같음 (방어막 필요)</a:t>
            </a:r>
          </a:p>
        </p:txBody>
      </p:sp>
      <p:sp>
        <p:nvSpPr>
          <p:cNvPr id="11" name="TextBox 10"/>
          <p:cNvSpPr txBox="1"/>
          <p:nvPr/>
        </p:nvSpPr>
        <p:spPr>
          <a:xfrm>
            <a:off x="4663440" y="3154680"/>
            <a:ext cx="4023360" cy="228600"/>
          </a:xfrm>
          <a:prstGeom prst="rect">
            <a:avLst/>
          </a:prstGeom>
          <a:noFill/>
        </p:spPr>
        <p:txBody>
          <a:bodyPr wrap="square">
            <a:spAutoFit/>
          </a:bodyPr>
          <a:lstStyle/>
          <a:p>
            <a:pPr algn="l">
              <a:defRPr sz="1000" b="0">
                <a:latin typeface="Malgun Gothic"/>
              </a:defRPr>
            </a:pPr>
            <a:r>
              <a:t>해양환경 국제협력 및 리더십 확보</a:t>
            </a:r>
          </a:p>
        </p:txBody>
      </p:sp>
      <p:sp>
        <p:nvSpPr>
          <p:cNvPr id="12" name="TextBox 11"/>
          <p:cNvSpPr txBox="1"/>
          <p:nvPr/>
        </p:nvSpPr>
        <p:spPr>
          <a:xfrm>
            <a:off x="4663440" y="3474720"/>
            <a:ext cx="4023360" cy="228600"/>
          </a:xfrm>
          <a:prstGeom prst="rect">
            <a:avLst/>
          </a:prstGeom>
          <a:noFill/>
        </p:spPr>
        <p:txBody>
          <a:bodyPr wrap="square">
            <a:spAutoFit/>
          </a:bodyPr>
          <a:lstStyle/>
          <a:p>
            <a:pPr algn="l">
              <a:defRPr sz="1000" b="0">
                <a:latin typeface="Malgun Gothic"/>
              </a:defRPr>
            </a:pPr>
            <a:r>
              <a:t>공공성 강화를 우선순위로 기능과 범위,</a:t>
            </a:r>
            <a:br/>
            <a:r>
              <a:t>역량의 확대 필요</a:t>
            </a:r>
          </a:p>
        </p:txBody>
      </p:sp>
      <p:sp>
        <p:nvSpPr>
          <p:cNvPr id="13" name="TextBox 12"/>
          <p:cNvSpPr txBox="1"/>
          <p:nvPr/>
        </p:nvSpPr>
        <p:spPr>
          <a:xfrm>
            <a:off x="4663440" y="3794760"/>
            <a:ext cx="4023360" cy="228600"/>
          </a:xfrm>
          <a:prstGeom prst="rect">
            <a:avLst/>
          </a:prstGeom>
          <a:noFill/>
        </p:spPr>
        <p:txBody>
          <a:bodyPr wrap="square">
            <a:spAutoFit/>
          </a:bodyPr>
          <a:lstStyle/>
          <a:p>
            <a:pPr algn="l">
              <a:defRPr sz="1000" b="0">
                <a:latin typeface="Malgun Gothic"/>
              </a:defRPr>
            </a:pPr>
            <a:r>
              <a:t>경영목표 현실성, 체계성 보완 필요</a:t>
            </a:r>
          </a:p>
        </p:txBody>
      </p:sp>
      <p:sp>
        <p:nvSpPr>
          <p:cNvPr id="14" name="TextBox 1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Ⅱ. 내·외부 환경분석 | Page 87</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이해관계자 분석 - 분야 전문가 의견수렴 (2/2)</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해양방제 전문가 인터뷰에서 공단의 미래 방향성과 개선사항에 대해 아래와 같이 의견을 수렴함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미래 방향성과 위상</a:t>
            </a:r>
          </a:p>
        </p:txBody>
      </p:sp>
      <p:sp>
        <p:nvSpPr>
          <p:cNvPr id="5" name="TextBox 4"/>
          <p:cNvSpPr txBox="1"/>
          <p:nvPr/>
        </p:nvSpPr>
        <p:spPr>
          <a:xfrm>
            <a:off x="457200" y="1828800"/>
            <a:ext cx="4023360" cy="1600200"/>
          </a:xfrm>
          <a:prstGeom prst="rect">
            <a:avLst/>
          </a:prstGeom>
          <a:noFill/>
        </p:spPr>
        <p:txBody>
          <a:bodyPr wrap="square">
            <a:spAutoFit/>
          </a:bodyPr>
          <a:lstStyle/>
          <a:p>
            <a:pPr algn="l">
              <a:defRPr sz="1000" b="0">
                <a:latin typeface="Malgun Gothic"/>
              </a:defRPr>
            </a:pPr>
            <a:r>
              <a:t>• 공단은 해양방제를 주관하는 기관으로서, 해경과 다른 종합기관으로 발전 필요</a:t>
            </a:r>
            <a:br/>
            <a:r>
              <a:t>- 해경과 유사하게 사고대응과 관리에 집중하기보다 환경변화에 따른 방제전략과 대응체계의 변화, 방제자산(하드웨어)과 방제기술 R&amp;D 등 전문성과 차별성을 가진 종합 해양방제 전문기관으로 나아갈 필요 있음</a:t>
            </a:r>
            <a:br/>
            <a:r>
              <a:t>• 현재와 미래 환경 변화에 따른 방제 변화의 필요를 파악하고 대응하는 전문기관</a:t>
            </a:r>
            <a:br/>
            <a:r>
              <a:t>- 선박기술, 규제와 정책의 변화에 따른 해양방제 중점의 변화를 미리 읽고 대응하는 해양방제 전문기관이 되어야 함</a:t>
            </a:r>
            <a:br/>
            <a:r>
              <a:t>• 국민의 관심 현안과 우려에 신속하게 대응하는 국민중심 기관</a:t>
            </a:r>
            <a:br/>
            <a:r>
              <a:t>- (방사능 등) 국민의 관심 현안에 대해 신속하게 확인하고 답하는 국민의 기관</a:t>
            </a:r>
          </a:p>
        </p:txBody>
      </p:sp>
      <p:sp>
        <p:nvSpPr>
          <p:cNvPr id="6" name="TextBox 5"/>
          <p:cNvSpPr txBox="1"/>
          <p:nvPr/>
        </p:nvSpPr>
        <p:spPr>
          <a:xfrm>
            <a:off x="457200" y="3520440"/>
            <a:ext cx="8229600" cy="274320"/>
          </a:xfrm>
          <a:prstGeom prst="rect">
            <a:avLst/>
          </a:prstGeom>
          <a:noFill/>
        </p:spPr>
        <p:txBody>
          <a:bodyPr wrap="square">
            <a:spAutoFit/>
          </a:bodyPr>
          <a:lstStyle/>
          <a:p>
            <a:pPr algn="l">
              <a:defRPr sz="1200" b="1">
                <a:solidFill>
                  <a:srgbClr val="003366"/>
                </a:solidFill>
                <a:latin typeface="Malgun Gothic"/>
              </a:defRPr>
            </a:pPr>
            <a:r>
              <a:t>미래를 위한 개선사항</a:t>
            </a:r>
          </a:p>
        </p:txBody>
      </p:sp>
      <p:sp>
        <p:nvSpPr>
          <p:cNvPr id="7" name="TextBox 6"/>
          <p:cNvSpPr txBox="1"/>
          <p:nvPr/>
        </p:nvSpPr>
        <p:spPr>
          <a:xfrm>
            <a:off x="457200" y="3886200"/>
            <a:ext cx="4023360" cy="2514600"/>
          </a:xfrm>
          <a:prstGeom prst="rect">
            <a:avLst/>
          </a:prstGeom>
          <a:noFill/>
        </p:spPr>
        <p:txBody>
          <a:bodyPr wrap="square">
            <a:spAutoFit/>
          </a:bodyPr>
          <a:lstStyle/>
          <a:p>
            <a:pPr algn="l">
              <a:defRPr sz="1000" b="0">
                <a:latin typeface="Malgun Gothic"/>
              </a:defRPr>
            </a:pPr>
            <a:r>
              <a:t>• HNS, 저유황유 등 환경변화에 따른 새로운 방제역량을 갖추고 대비해야 함</a:t>
            </a:r>
            <a:br/>
            <a:r>
              <a:t>- IMO 배출가스 규제에 따른 저유황유 연료 사용에 따른 방제전략, 자재 변화 필요</a:t>
            </a:r>
            <a:br/>
            <a:r>
              <a:t>- 폭발 위험 등으로 새로운 방제기술이 필요한 HNS 방제 기술·자원 확보 필요</a:t>
            </a:r>
            <a:br/>
            <a:r>
              <a:t>• 후쿠시마 오염수 방류에 대한 국민관심과 국가 대응을 위한 해양방사능의 체계적, 전문적인 측정과 분석 필요</a:t>
            </a:r>
            <a:br/>
            <a:r>
              <a:t>- 해양 방사능에 대한 측정 기술과 인력의 전문화, 고도화 필요</a:t>
            </a:r>
            <a:br/>
            <a:r>
              <a:t>• 예측과 시뮬레이션 등을 통한 사전 방제계획 수립 역량 확보, 활용 필요</a:t>
            </a:r>
            <a:br/>
            <a:r>
              <a:t>- 사고 많은 지역 또는 침몰선 유출 시뮬레이션을 통한 방제자재의 유동적 배치</a:t>
            </a:r>
            <a:br/>
            <a:r>
              <a:t>- 침몰선 유출시 방제 집중 영역과 범위를 사전 확인, 대응방안 수립하여 활용</a:t>
            </a:r>
            <a:br/>
            <a:r>
              <a:t>• 방제사업 부문 경영목표에 대한 조언 : 방제 하드웨어 뿐 아니라 소프트 역량 중요</a:t>
            </a:r>
            <a:br/>
            <a:r>
              <a:t>- 오일 방제역량 등 지표는 방제자산과 자재 등 하드웨어에 지나치게 편중되어, 인력양성과 활용, 선제적 대응방안 수립·시행 등 소프트역량도 반영 필요함(70:30)</a:t>
            </a:r>
          </a:p>
        </p:txBody>
      </p:sp>
      <p:sp>
        <p:nvSpPr>
          <p:cNvPr id="8" name="TextBox 7"/>
          <p:cNvSpPr txBox="1"/>
          <p:nvPr/>
        </p:nvSpPr>
        <p:spPr>
          <a:xfrm>
            <a:off x="4663440" y="2194560"/>
            <a:ext cx="4023360" cy="228600"/>
          </a:xfrm>
          <a:prstGeom prst="rect">
            <a:avLst/>
          </a:prstGeom>
          <a:noFill/>
        </p:spPr>
        <p:txBody>
          <a:bodyPr wrap="square">
            <a:spAutoFit/>
          </a:bodyPr>
          <a:lstStyle/>
          <a:p>
            <a:pPr algn="l">
              <a:defRPr sz="1000" b="0">
                <a:latin typeface="Malgun Gothic"/>
              </a:defRPr>
            </a:pPr>
            <a:r>
              <a:t>전문성과 차별성을 가진</a:t>
            </a:r>
            <a:br/>
            <a:r>
              <a:t>종합 해양방제 전문기관</a:t>
            </a:r>
          </a:p>
        </p:txBody>
      </p:sp>
      <p:sp>
        <p:nvSpPr>
          <p:cNvPr id="9" name="TextBox 8"/>
          <p:cNvSpPr txBox="1"/>
          <p:nvPr/>
        </p:nvSpPr>
        <p:spPr>
          <a:xfrm>
            <a:off x="4663440" y="2514600"/>
            <a:ext cx="4023360" cy="228600"/>
          </a:xfrm>
          <a:prstGeom prst="rect">
            <a:avLst/>
          </a:prstGeom>
          <a:noFill/>
        </p:spPr>
        <p:txBody>
          <a:bodyPr wrap="square">
            <a:spAutoFit/>
          </a:bodyPr>
          <a:lstStyle/>
          <a:p>
            <a:pPr algn="l">
              <a:defRPr sz="1000" b="0">
                <a:latin typeface="Malgun Gothic"/>
              </a:defRPr>
            </a:pPr>
            <a:r>
              <a:t>미래환경 변화에 따른 해양방제 변화에</a:t>
            </a:r>
            <a:br/>
            <a:r>
              <a:t>대비하는 해양방제 전문기관</a:t>
            </a:r>
          </a:p>
        </p:txBody>
      </p:sp>
      <p:sp>
        <p:nvSpPr>
          <p:cNvPr id="10" name="TextBox 9"/>
          <p:cNvSpPr txBox="1"/>
          <p:nvPr/>
        </p:nvSpPr>
        <p:spPr>
          <a:xfrm>
            <a:off x="4663440" y="2834640"/>
            <a:ext cx="4023360" cy="228600"/>
          </a:xfrm>
          <a:prstGeom prst="rect">
            <a:avLst/>
          </a:prstGeom>
          <a:noFill/>
        </p:spPr>
        <p:txBody>
          <a:bodyPr wrap="square">
            <a:spAutoFit/>
          </a:bodyPr>
          <a:lstStyle/>
          <a:p>
            <a:pPr algn="l">
              <a:defRPr sz="1000" b="0">
                <a:latin typeface="Malgun Gothic"/>
              </a:defRPr>
            </a:pPr>
            <a:r>
              <a:t>국민의 관심 현안과 우려에</a:t>
            </a:r>
            <a:br/>
            <a:r>
              <a:t>신속하게 대응하는 국민중심 기관</a:t>
            </a:r>
          </a:p>
        </p:txBody>
      </p:sp>
      <p:sp>
        <p:nvSpPr>
          <p:cNvPr id="11" name="TextBox 10"/>
          <p:cNvSpPr txBox="1"/>
          <p:nvPr/>
        </p:nvSpPr>
        <p:spPr>
          <a:xfrm>
            <a:off x="4663440" y="3154680"/>
            <a:ext cx="4023360" cy="228600"/>
          </a:xfrm>
          <a:prstGeom prst="rect">
            <a:avLst/>
          </a:prstGeom>
          <a:noFill/>
        </p:spPr>
        <p:txBody>
          <a:bodyPr wrap="square">
            <a:spAutoFit/>
          </a:bodyPr>
          <a:lstStyle/>
          <a:p>
            <a:pPr algn="l">
              <a:defRPr sz="1000" b="0">
                <a:latin typeface="Malgun Gothic"/>
              </a:defRPr>
            </a:pPr>
            <a:r>
              <a:t>환경변화에 따른 새로운 방제자산과</a:t>
            </a:r>
            <a:br/>
            <a:r>
              <a:t>방제역량 확보 필요</a:t>
            </a:r>
          </a:p>
        </p:txBody>
      </p:sp>
      <p:sp>
        <p:nvSpPr>
          <p:cNvPr id="12" name="TextBox 11"/>
          <p:cNvSpPr txBox="1"/>
          <p:nvPr/>
        </p:nvSpPr>
        <p:spPr>
          <a:xfrm>
            <a:off x="4663440" y="3474720"/>
            <a:ext cx="4023360" cy="228600"/>
          </a:xfrm>
          <a:prstGeom prst="rect">
            <a:avLst/>
          </a:prstGeom>
          <a:noFill/>
        </p:spPr>
        <p:txBody>
          <a:bodyPr wrap="square">
            <a:spAutoFit/>
          </a:bodyPr>
          <a:lstStyle/>
          <a:p>
            <a:pPr algn="l">
              <a:defRPr sz="1000" b="0">
                <a:latin typeface="Malgun Gothic"/>
              </a:defRPr>
            </a:pPr>
            <a:r>
              <a:t>해양방사능 측정과 분석 전문성 확보</a:t>
            </a:r>
            <a:br/>
            <a:r>
              <a:t>필요(인력과 기술의 전문화)</a:t>
            </a:r>
          </a:p>
        </p:txBody>
      </p:sp>
      <p:sp>
        <p:nvSpPr>
          <p:cNvPr id="13" name="TextBox 12"/>
          <p:cNvSpPr txBox="1"/>
          <p:nvPr/>
        </p:nvSpPr>
        <p:spPr>
          <a:xfrm>
            <a:off x="4663440" y="3794760"/>
            <a:ext cx="4023360" cy="228600"/>
          </a:xfrm>
          <a:prstGeom prst="rect">
            <a:avLst/>
          </a:prstGeom>
          <a:noFill/>
        </p:spPr>
        <p:txBody>
          <a:bodyPr wrap="square">
            <a:spAutoFit/>
          </a:bodyPr>
          <a:lstStyle/>
          <a:p>
            <a:pPr algn="l">
              <a:defRPr sz="1000" b="0">
                <a:latin typeface="Malgun Gothic"/>
              </a:defRPr>
            </a:pPr>
            <a:r>
              <a:t>방제범위 예측 등을 활용한 사전</a:t>
            </a:r>
            <a:br/>
            <a:r>
              <a:t>방제계획 수립과 활용</a:t>
            </a:r>
          </a:p>
        </p:txBody>
      </p:sp>
      <p:sp>
        <p:nvSpPr>
          <p:cNvPr id="14" name="TextBox 13"/>
          <p:cNvSpPr txBox="1"/>
          <p:nvPr/>
        </p:nvSpPr>
        <p:spPr>
          <a:xfrm>
            <a:off x="4663440" y="4114800"/>
            <a:ext cx="4023360" cy="228600"/>
          </a:xfrm>
          <a:prstGeom prst="rect">
            <a:avLst/>
          </a:prstGeom>
          <a:noFill/>
        </p:spPr>
        <p:txBody>
          <a:bodyPr wrap="square">
            <a:spAutoFit/>
          </a:bodyPr>
          <a:lstStyle/>
          <a:p>
            <a:pPr algn="l">
              <a:defRPr sz="1000" b="0">
                <a:latin typeface="Malgun Gothic"/>
              </a:defRPr>
            </a:pPr>
            <a:r>
              <a:t>방제역량은 방제자산·자재의 합 보다는</a:t>
            </a:r>
            <a:br/>
            <a:r>
              <a:t>소프트역량과 믹스된 개념 필요</a:t>
            </a:r>
          </a:p>
        </p:txBody>
      </p:sp>
      <p:sp>
        <p:nvSpPr>
          <p:cNvPr id="15" name="TextBox 14"/>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Ⅱ. 내·외부 환경분석 | Page 88</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벤치마킹</a:t>
            </a:r>
          </a:p>
        </p:txBody>
      </p:sp>
      <p:sp>
        <p:nvSpPr>
          <p:cNvPr id="3" name="TextBox 2"/>
          <p:cNvSpPr txBox="1"/>
          <p:nvPr/>
        </p:nvSpPr>
        <p:spPr>
          <a:xfrm>
            <a:off x="457200" y="1463040"/>
            <a:ext cx="8229600" cy="228600"/>
          </a:xfrm>
          <a:prstGeom prst="rect">
            <a:avLst/>
          </a:prstGeom>
          <a:noFill/>
        </p:spPr>
        <p:txBody>
          <a:bodyPr wrap="square">
            <a:spAutoFit/>
          </a:bodyPr>
          <a:lstStyle/>
          <a:p>
            <a:pPr algn="l">
              <a:defRPr sz="1000" b="0">
                <a:latin typeface="Malgun Gothic"/>
              </a:defRPr>
            </a:pPr>
            <a:r>
              <a:t>KOEM 해양환경공단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None | Page 89</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벤치마킹 - 해양수산부 산하기관 전략체계 (1/3)</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한국수산자원공단과 국립해양생물자원관은 전략체계에서 2030 장기 경영목표를 채용하고 있으며, 해양생태계 및 서식환경 개선 영역에서 공단의 해양보전부문과 겹치는 전략과제들을 확인해 볼 수 있음</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90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벤치마킹 - 해양수산부 산하기관 전략체계 (2/3)</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Ⅱ. 내·외부 환경분석</a:t>
            </a:r>
            <a:br/>
            <a:r>
              <a:t>한국어촌어항공단은 포괄적인 미션과 비전을 채용하고 계량적인 연간목표를 경영목표로 채용하고 있으며,</a:t>
            </a:r>
            <a:br/>
            <a:r>
              <a:t>해양수산과학기술원은 미래가치, 혁신, 산업과 동반자를 키워드로 가치체계를 수립하고 있음</a:t>
            </a:r>
          </a:p>
        </p:txBody>
      </p:sp>
      <p:sp>
        <p:nvSpPr>
          <p:cNvPr id="4" name="Rectangle 3"/>
          <p:cNvSpPr/>
          <p:nvPr/>
        </p:nvSpPr>
        <p:spPr>
          <a:xfrm>
            <a:off x="45720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5" name="TextBox 4"/>
          <p:cNvSpPr txBox="1"/>
          <p:nvPr/>
        </p:nvSpPr>
        <p:spPr>
          <a:xfrm>
            <a:off x="54864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6" name="Rectangle 5"/>
          <p:cNvSpPr/>
          <p:nvPr/>
        </p:nvSpPr>
        <p:spPr>
          <a:xfrm>
            <a:off x="323088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7" name="TextBox 6"/>
          <p:cNvSpPr txBox="1"/>
          <p:nvPr/>
        </p:nvSpPr>
        <p:spPr>
          <a:xfrm>
            <a:off x="332232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8" name="Rectangle 7"/>
          <p:cNvSpPr/>
          <p:nvPr/>
        </p:nvSpPr>
        <p:spPr>
          <a:xfrm>
            <a:off x="600456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9" name="TextBox 8"/>
          <p:cNvSpPr txBox="1"/>
          <p:nvPr/>
        </p:nvSpPr>
        <p:spPr>
          <a:xfrm>
            <a:off x="609600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0" name="Rectangle 9"/>
          <p:cNvSpPr/>
          <p:nvPr/>
        </p:nvSpPr>
        <p:spPr>
          <a:xfrm>
            <a:off x="457200" y="384048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1" name="TextBox 10"/>
          <p:cNvSpPr txBox="1"/>
          <p:nvPr/>
        </p:nvSpPr>
        <p:spPr>
          <a:xfrm>
            <a:off x="548640" y="393192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2" name="Rectangle 11"/>
          <p:cNvSpPr/>
          <p:nvPr/>
        </p:nvSpPr>
        <p:spPr>
          <a:xfrm>
            <a:off x="3230880" y="384048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3" name="TextBox 12"/>
          <p:cNvSpPr txBox="1"/>
          <p:nvPr/>
        </p:nvSpPr>
        <p:spPr>
          <a:xfrm>
            <a:off x="3322320" y="393192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4" name="Rectangle 13"/>
          <p:cNvSpPr/>
          <p:nvPr/>
        </p:nvSpPr>
        <p:spPr>
          <a:xfrm>
            <a:off x="6004560" y="384048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5" name="TextBox 14"/>
          <p:cNvSpPr txBox="1"/>
          <p:nvPr/>
        </p:nvSpPr>
        <p:spPr>
          <a:xfrm>
            <a:off x="6096000" y="393192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6" name="TextBox 15"/>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90 | Page 91</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벤치마킹 - 해양수산부 소속기관 전략체계 (1/2)</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국립해양조사원은 정보를 기반으로 해양 전반의 정책에 영향력을 확보하려는 의도를 확인할 수 있었고, 해양수산 인재개발원은 교육기관으로 인재양성과 미래지향성이 가치체계에 잘 반영하고 있음</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국립해양조사원</a:t>
            </a:r>
          </a:p>
        </p:txBody>
      </p:sp>
      <p:sp>
        <p:nvSpPr>
          <p:cNvPr id="5" name="TextBox 4"/>
          <p:cNvSpPr txBox="1"/>
          <p:nvPr/>
        </p:nvSpPr>
        <p:spPr>
          <a:xfrm>
            <a:off x="457200" y="1828800"/>
            <a:ext cx="4023360" cy="228600"/>
          </a:xfrm>
          <a:prstGeom prst="rect">
            <a:avLst/>
          </a:prstGeom>
          <a:noFill/>
        </p:spPr>
        <p:txBody>
          <a:bodyPr wrap="square">
            <a:spAutoFit/>
          </a:bodyPr>
          <a:lstStyle/>
          <a:p>
            <a:pPr algn="l">
              <a:defRPr sz="1000" b="0">
                <a:latin typeface="Malgun Gothic"/>
              </a:defRPr>
            </a:pPr>
            <a:r>
              <a:t>비전</a:t>
            </a:r>
          </a:p>
        </p:txBody>
      </p:sp>
      <p:sp>
        <p:nvSpPr>
          <p:cNvPr id="6" name="TextBox 5"/>
          <p:cNvSpPr txBox="1"/>
          <p:nvPr/>
        </p:nvSpPr>
        <p:spPr>
          <a:xfrm>
            <a:off x="457200" y="2148840"/>
            <a:ext cx="4023360" cy="228600"/>
          </a:xfrm>
          <a:prstGeom prst="rect">
            <a:avLst/>
          </a:prstGeom>
          <a:noFill/>
        </p:spPr>
        <p:txBody>
          <a:bodyPr wrap="square">
            <a:spAutoFit/>
          </a:bodyPr>
          <a:lstStyle/>
          <a:p>
            <a:pPr algn="l">
              <a:defRPr sz="1000" b="0">
                <a:latin typeface="Malgun Gothic"/>
              </a:defRPr>
            </a:pPr>
            <a:r>
              <a:t>해양강국·국민행복을 견인하는</a:t>
            </a:r>
            <a:br/>
            <a:r>
              <a:t>국가종합해양정보기관</a:t>
            </a:r>
          </a:p>
        </p:txBody>
      </p:sp>
      <p:sp>
        <p:nvSpPr>
          <p:cNvPr id="7" name="TextBox 6"/>
          <p:cNvSpPr txBox="1"/>
          <p:nvPr/>
        </p:nvSpPr>
        <p:spPr>
          <a:xfrm>
            <a:off x="457200" y="2468880"/>
            <a:ext cx="4023360" cy="228600"/>
          </a:xfrm>
          <a:prstGeom prst="rect">
            <a:avLst/>
          </a:prstGeom>
          <a:noFill/>
        </p:spPr>
        <p:txBody>
          <a:bodyPr wrap="square">
            <a:spAutoFit/>
          </a:bodyPr>
          <a:lstStyle/>
          <a:p>
            <a:pPr algn="l">
              <a:defRPr sz="1000" b="0">
                <a:latin typeface="Malgun Gothic"/>
              </a:defRPr>
            </a:pPr>
            <a:r>
              <a:t>발전방향</a:t>
            </a:r>
          </a:p>
        </p:txBody>
      </p:sp>
      <p:sp>
        <p:nvSpPr>
          <p:cNvPr id="8" name="TextBox 7"/>
          <p:cNvSpPr txBox="1"/>
          <p:nvPr/>
        </p:nvSpPr>
        <p:spPr>
          <a:xfrm>
            <a:off x="457200" y="2788920"/>
            <a:ext cx="4023360" cy="228600"/>
          </a:xfrm>
          <a:prstGeom prst="rect">
            <a:avLst/>
          </a:prstGeom>
          <a:noFill/>
        </p:spPr>
        <p:txBody>
          <a:bodyPr wrap="square">
            <a:spAutoFit/>
          </a:bodyPr>
          <a:lstStyle/>
          <a:p>
            <a:pPr algn="l">
              <a:defRPr sz="1000" b="0">
                <a:latin typeface="Malgun Gothic"/>
              </a:defRPr>
            </a:pPr>
            <a:r>
              <a:t>해양 신산업</a:t>
            </a:r>
            <a:br/>
            <a:r>
              <a:t>창출 생태계</a:t>
            </a:r>
            <a:br/>
            <a:r>
              <a:t>선도</a:t>
            </a:r>
          </a:p>
        </p:txBody>
      </p:sp>
      <p:sp>
        <p:nvSpPr>
          <p:cNvPr id="9" name="TextBox 8"/>
          <p:cNvSpPr txBox="1"/>
          <p:nvPr/>
        </p:nvSpPr>
        <p:spPr>
          <a:xfrm>
            <a:off x="457200" y="3108960"/>
            <a:ext cx="4023360" cy="228600"/>
          </a:xfrm>
          <a:prstGeom prst="rect">
            <a:avLst/>
          </a:prstGeom>
          <a:noFill/>
        </p:spPr>
        <p:txBody>
          <a:bodyPr wrap="square">
            <a:spAutoFit/>
          </a:bodyPr>
          <a:lstStyle/>
          <a:p>
            <a:pPr algn="l">
              <a:defRPr sz="1000" b="0">
                <a:latin typeface="Malgun Gothic"/>
              </a:defRPr>
            </a:pPr>
            <a:r>
              <a:t>누구나 활용</a:t>
            </a:r>
            <a:br/>
            <a:r>
              <a:t>가능한</a:t>
            </a:r>
            <a:br/>
            <a:r>
              <a:t>국가해양</a:t>
            </a:r>
            <a:br/>
            <a:r>
              <a:t>정보제공</a:t>
            </a:r>
          </a:p>
        </p:txBody>
      </p:sp>
      <p:sp>
        <p:nvSpPr>
          <p:cNvPr id="10" name="TextBox 9"/>
          <p:cNvSpPr txBox="1"/>
          <p:nvPr/>
        </p:nvSpPr>
        <p:spPr>
          <a:xfrm>
            <a:off x="457200" y="3429000"/>
            <a:ext cx="4023360" cy="228600"/>
          </a:xfrm>
          <a:prstGeom prst="rect">
            <a:avLst/>
          </a:prstGeom>
          <a:noFill/>
        </p:spPr>
        <p:txBody>
          <a:bodyPr wrap="square">
            <a:spAutoFit/>
          </a:bodyPr>
          <a:lstStyle/>
          <a:p>
            <a:pPr algn="l">
              <a:defRPr sz="1000" b="0">
                <a:latin typeface="Malgun Gothic"/>
              </a:defRPr>
            </a:pPr>
            <a:r>
              <a:t>해양의 입체적</a:t>
            </a:r>
            <a:br/>
            <a:r>
              <a:t>관리 기반</a:t>
            </a:r>
            <a:br/>
            <a:r>
              <a:t>실현</a:t>
            </a:r>
          </a:p>
        </p:txBody>
      </p:sp>
      <p:sp>
        <p:nvSpPr>
          <p:cNvPr id="11" name="TextBox 10"/>
          <p:cNvSpPr txBox="1"/>
          <p:nvPr/>
        </p:nvSpPr>
        <p:spPr>
          <a:xfrm>
            <a:off x="457200" y="3749040"/>
            <a:ext cx="4023360" cy="228600"/>
          </a:xfrm>
          <a:prstGeom prst="rect">
            <a:avLst/>
          </a:prstGeom>
          <a:noFill/>
        </p:spPr>
        <p:txBody>
          <a:bodyPr wrap="square">
            <a:spAutoFit/>
          </a:bodyPr>
          <a:lstStyle/>
          <a:p>
            <a:pPr algn="l">
              <a:defRPr sz="1000" b="0">
                <a:latin typeface="Malgun Gothic"/>
              </a:defRPr>
            </a:pPr>
            <a:r>
              <a:t>예방 최우선</a:t>
            </a:r>
            <a:br/>
            <a:r>
              <a:t>해양재난대응</a:t>
            </a:r>
            <a:br/>
            <a:r>
              <a:t>최신 인프라</a:t>
            </a:r>
            <a:br/>
            <a:r>
              <a:t>구축·운영</a:t>
            </a:r>
          </a:p>
        </p:txBody>
      </p:sp>
      <p:sp>
        <p:nvSpPr>
          <p:cNvPr id="12" name="TextBox 11"/>
          <p:cNvSpPr txBox="1"/>
          <p:nvPr/>
        </p:nvSpPr>
        <p:spPr>
          <a:xfrm>
            <a:off x="457200" y="4069080"/>
            <a:ext cx="4023360" cy="228600"/>
          </a:xfrm>
          <a:prstGeom prst="rect">
            <a:avLst/>
          </a:prstGeom>
          <a:noFill/>
        </p:spPr>
        <p:txBody>
          <a:bodyPr wrap="square">
            <a:spAutoFit/>
          </a:bodyPr>
          <a:lstStyle/>
          <a:p>
            <a:pPr algn="l">
              <a:defRPr sz="1000" b="0">
                <a:latin typeface="Malgun Gothic"/>
              </a:defRPr>
            </a:pPr>
            <a:r>
              <a:t>발전전략</a:t>
            </a:r>
          </a:p>
        </p:txBody>
      </p:sp>
      <p:sp>
        <p:nvSpPr>
          <p:cNvPr id="13" name="TextBox 12"/>
          <p:cNvSpPr txBox="1"/>
          <p:nvPr/>
        </p:nvSpPr>
        <p:spPr>
          <a:xfrm>
            <a:off x="457200" y="4389120"/>
            <a:ext cx="4023360" cy="228600"/>
          </a:xfrm>
          <a:prstGeom prst="rect">
            <a:avLst/>
          </a:prstGeom>
          <a:noFill/>
        </p:spPr>
        <p:txBody>
          <a:bodyPr wrap="square">
            <a:spAutoFit/>
          </a:bodyPr>
          <a:lstStyle/>
          <a:p>
            <a:pPr algn="l">
              <a:defRPr sz="1000" b="0">
                <a:latin typeface="Malgun Gothic"/>
              </a:defRPr>
            </a:pPr>
            <a:r>
              <a:t>해양산업</a:t>
            </a:r>
            <a:br/>
            <a:r>
              <a:t>활성화를 위한</a:t>
            </a:r>
            <a:br/>
            <a:r>
              <a:t>해양정보</a:t>
            </a:r>
            <a:br/>
            <a:r>
              <a:t>서비스 확대</a:t>
            </a:r>
          </a:p>
        </p:txBody>
      </p:sp>
      <p:sp>
        <p:nvSpPr>
          <p:cNvPr id="14" name="TextBox 13"/>
          <p:cNvSpPr txBox="1"/>
          <p:nvPr/>
        </p:nvSpPr>
        <p:spPr>
          <a:xfrm>
            <a:off x="457200" y="4709160"/>
            <a:ext cx="4023360" cy="228600"/>
          </a:xfrm>
          <a:prstGeom prst="rect">
            <a:avLst/>
          </a:prstGeom>
          <a:noFill/>
        </p:spPr>
        <p:txBody>
          <a:bodyPr wrap="square">
            <a:spAutoFit/>
          </a:bodyPr>
          <a:lstStyle/>
          <a:p>
            <a:pPr algn="l">
              <a:defRPr sz="1000" b="0">
                <a:latin typeface="Malgun Gothic"/>
              </a:defRPr>
            </a:pPr>
            <a:r>
              <a:t>안전한</a:t>
            </a:r>
            <a:br/>
            <a:r>
              <a:t>해양활동</a:t>
            </a:r>
            <a:br/>
            <a:r>
              <a:t>지원을 위한</a:t>
            </a:r>
            <a:br/>
            <a:r>
              <a:t>국민 체감</a:t>
            </a:r>
            <a:br/>
            <a:r>
              <a:t>서비스 확대</a:t>
            </a:r>
          </a:p>
        </p:txBody>
      </p:sp>
      <p:sp>
        <p:nvSpPr>
          <p:cNvPr id="15" name="TextBox 14"/>
          <p:cNvSpPr txBox="1"/>
          <p:nvPr/>
        </p:nvSpPr>
        <p:spPr>
          <a:xfrm>
            <a:off x="457200" y="5029200"/>
            <a:ext cx="4023360" cy="228600"/>
          </a:xfrm>
          <a:prstGeom prst="rect">
            <a:avLst/>
          </a:prstGeom>
          <a:noFill/>
        </p:spPr>
        <p:txBody>
          <a:bodyPr wrap="square">
            <a:spAutoFit/>
          </a:bodyPr>
          <a:lstStyle/>
          <a:p>
            <a:pPr algn="l">
              <a:defRPr sz="1000" b="0">
                <a:latin typeface="Malgun Gothic"/>
              </a:defRPr>
            </a:pPr>
            <a:r>
              <a:t>해양공간의</a:t>
            </a:r>
            <a:br/>
            <a:r>
              <a:t>체계적 관리</a:t>
            </a:r>
            <a:br/>
            <a:r>
              <a:t>기반 조성</a:t>
            </a:r>
            <a:br/>
            <a:r>
              <a:t>지원</a:t>
            </a:r>
          </a:p>
        </p:txBody>
      </p:sp>
      <p:sp>
        <p:nvSpPr>
          <p:cNvPr id="16" name="TextBox 15"/>
          <p:cNvSpPr txBox="1"/>
          <p:nvPr/>
        </p:nvSpPr>
        <p:spPr>
          <a:xfrm>
            <a:off x="457200" y="5349240"/>
            <a:ext cx="4023360" cy="228600"/>
          </a:xfrm>
          <a:prstGeom prst="rect">
            <a:avLst/>
          </a:prstGeom>
          <a:noFill/>
        </p:spPr>
        <p:txBody>
          <a:bodyPr wrap="square">
            <a:spAutoFit/>
          </a:bodyPr>
          <a:lstStyle/>
          <a:p>
            <a:pPr algn="l">
              <a:defRPr sz="1000" b="0">
                <a:latin typeface="Malgun Gothic"/>
              </a:defRPr>
            </a:pPr>
            <a:r>
              <a:t>해양환경 및</a:t>
            </a:r>
            <a:br/>
            <a:r>
              <a:t>재난 대응</a:t>
            </a:r>
            <a:br/>
            <a:r>
              <a:t>역량 강화</a:t>
            </a:r>
          </a:p>
        </p:txBody>
      </p:sp>
      <p:sp>
        <p:nvSpPr>
          <p:cNvPr id="17" name="TextBox 16"/>
          <p:cNvSpPr txBox="1"/>
          <p:nvPr/>
        </p:nvSpPr>
        <p:spPr>
          <a:xfrm>
            <a:off x="457200" y="5669280"/>
            <a:ext cx="4023360" cy="228600"/>
          </a:xfrm>
          <a:prstGeom prst="rect">
            <a:avLst/>
          </a:prstGeom>
          <a:noFill/>
        </p:spPr>
        <p:txBody>
          <a:bodyPr wrap="square">
            <a:spAutoFit/>
          </a:bodyPr>
          <a:lstStyle/>
          <a:p>
            <a:pPr algn="l">
              <a:defRPr sz="1000" b="0">
                <a:latin typeface="Malgun Gothic"/>
              </a:defRPr>
            </a:pPr>
            <a:r>
              <a:t>해양산업</a:t>
            </a:r>
            <a:br/>
            <a:r>
              <a:t>육성을 위한</a:t>
            </a:r>
            <a:br/>
            <a:r>
              <a:t>산업화 지원</a:t>
            </a:r>
          </a:p>
        </p:txBody>
      </p:sp>
      <p:sp>
        <p:nvSpPr>
          <p:cNvPr id="18" name="TextBox 17"/>
          <p:cNvSpPr txBox="1"/>
          <p:nvPr/>
        </p:nvSpPr>
        <p:spPr>
          <a:xfrm>
            <a:off x="457200" y="5989320"/>
            <a:ext cx="4023360" cy="228600"/>
          </a:xfrm>
          <a:prstGeom prst="rect">
            <a:avLst/>
          </a:prstGeom>
          <a:noFill/>
        </p:spPr>
        <p:txBody>
          <a:bodyPr wrap="square">
            <a:spAutoFit/>
          </a:bodyPr>
          <a:lstStyle/>
          <a:p>
            <a:pPr algn="l">
              <a:defRPr sz="1000" b="0">
                <a:latin typeface="Malgun Gothic"/>
              </a:defRPr>
            </a:pPr>
            <a:r>
              <a:t>해양영토 관리</a:t>
            </a:r>
            <a:br/>
            <a:r>
              <a:t>강화를 위한</a:t>
            </a:r>
            <a:br/>
            <a:r>
              <a:t>해양조사 강화</a:t>
            </a:r>
          </a:p>
        </p:txBody>
      </p:sp>
      <p:sp>
        <p:nvSpPr>
          <p:cNvPr id="19" name="TextBox 18"/>
          <p:cNvSpPr txBox="1"/>
          <p:nvPr/>
        </p:nvSpPr>
        <p:spPr>
          <a:xfrm>
            <a:off x="457200" y="6309360"/>
            <a:ext cx="4023360" cy="457200"/>
          </a:xfrm>
          <a:prstGeom prst="rect">
            <a:avLst/>
          </a:prstGeom>
          <a:noFill/>
        </p:spPr>
        <p:txBody>
          <a:bodyPr wrap="square">
            <a:spAutoFit/>
          </a:bodyPr>
          <a:lstStyle/>
          <a:p>
            <a:pPr algn="l">
              <a:defRPr sz="1000" b="0">
                <a:latin typeface="Malgun Gothic"/>
              </a:defRPr>
            </a:pPr>
            <a:r>
              <a:t>✓ 해양정보와 연계된 해양산업, 해양이용(활동), 공간계획,</a:t>
            </a:r>
            <a:br/>
            <a:r>
              <a:t>재난안전 등 광범위한 영역의 발전전략 채용</a:t>
            </a:r>
            <a:br/>
            <a:r>
              <a:t>✓ 구체적인 목표, 전략과제를 드러내어 소통하고 있지</a:t>
            </a:r>
            <a:br/>
            <a:r>
              <a:t>않음</a:t>
            </a:r>
          </a:p>
        </p:txBody>
      </p:sp>
      <p:sp>
        <p:nvSpPr>
          <p:cNvPr id="20" name="TextBox 19"/>
          <p:cNvSpPr txBox="1"/>
          <p:nvPr/>
        </p:nvSpPr>
        <p:spPr>
          <a:xfrm>
            <a:off x="457200" y="6858000"/>
            <a:ext cx="8229600" cy="274320"/>
          </a:xfrm>
          <a:prstGeom prst="rect">
            <a:avLst/>
          </a:prstGeom>
          <a:noFill/>
        </p:spPr>
        <p:txBody>
          <a:bodyPr wrap="square">
            <a:spAutoFit/>
          </a:bodyPr>
          <a:lstStyle/>
          <a:p>
            <a:pPr algn="l">
              <a:defRPr sz="1200" b="1">
                <a:solidFill>
                  <a:srgbClr val="003366"/>
                </a:solidFill>
                <a:latin typeface="Malgun Gothic"/>
              </a:defRPr>
            </a:pPr>
            <a:r>
              <a:t>해양수산인재개발원</a:t>
            </a:r>
          </a:p>
        </p:txBody>
      </p:sp>
      <p:sp>
        <p:nvSpPr>
          <p:cNvPr id="21" name="TextBox 20"/>
          <p:cNvSpPr txBox="1"/>
          <p:nvPr/>
        </p:nvSpPr>
        <p:spPr>
          <a:xfrm>
            <a:off x="457200" y="7223760"/>
            <a:ext cx="4023360" cy="228600"/>
          </a:xfrm>
          <a:prstGeom prst="rect">
            <a:avLst/>
          </a:prstGeom>
          <a:noFill/>
        </p:spPr>
        <p:txBody>
          <a:bodyPr wrap="square">
            <a:spAutoFit/>
          </a:bodyPr>
          <a:lstStyle/>
          <a:p>
            <a:pPr algn="l">
              <a:defRPr sz="1000" b="0">
                <a:latin typeface="Malgun Gothic"/>
              </a:defRPr>
            </a:pPr>
            <a:r>
              <a:t>미션</a:t>
            </a:r>
          </a:p>
        </p:txBody>
      </p:sp>
      <p:sp>
        <p:nvSpPr>
          <p:cNvPr id="22" name="TextBox 21"/>
          <p:cNvSpPr txBox="1"/>
          <p:nvPr/>
        </p:nvSpPr>
        <p:spPr>
          <a:xfrm>
            <a:off x="457200" y="7543800"/>
            <a:ext cx="4023360" cy="228600"/>
          </a:xfrm>
          <a:prstGeom prst="rect">
            <a:avLst/>
          </a:prstGeom>
          <a:noFill/>
        </p:spPr>
        <p:txBody>
          <a:bodyPr wrap="square">
            <a:spAutoFit/>
          </a:bodyPr>
          <a:lstStyle/>
          <a:p>
            <a:pPr algn="l">
              <a:defRPr sz="1000" b="0">
                <a:latin typeface="Malgun Gothic"/>
              </a:defRPr>
            </a:pPr>
            <a:r>
              <a:t>바다를 통해 행복한 대한민국을 만들어 갈 인재양성</a:t>
            </a:r>
          </a:p>
        </p:txBody>
      </p:sp>
      <p:sp>
        <p:nvSpPr>
          <p:cNvPr id="23" name="TextBox 22"/>
          <p:cNvSpPr txBox="1"/>
          <p:nvPr/>
        </p:nvSpPr>
        <p:spPr>
          <a:xfrm>
            <a:off x="457200" y="7863840"/>
            <a:ext cx="4023360" cy="228600"/>
          </a:xfrm>
          <a:prstGeom prst="rect">
            <a:avLst/>
          </a:prstGeom>
          <a:noFill/>
        </p:spPr>
        <p:txBody>
          <a:bodyPr wrap="square">
            <a:spAutoFit/>
          </a:bodyPr>
          <a:lstStyle/>
          <a:p>
            <a:pPr algn="l">
              <a:defRPr sz="1000" b="0">
                <a:latin typeface="Malgun Gothic"/>
              </a:defRPr>
            </a:pPr>
            <a:r>
              <a:t>비전</a:t>
            </a:r>
          </a:p>
        </p:txBody>
      </p:sp>
      <p:sp>
        <p:nvSpPr>
          <p:cNvPr id="24" name="TextBox 23"/>
          <p:cNvSpPr txBox="1"/>
          <p:nvPr/>
        </p:nvSpPr>
        <p:spPr>
          <a:xfrm>
            <a:off x="457200" y="8183880"/>
            <a:ext cx="4023360" cy="228600"/>
          </a:xfrm>
          <a:prstGeom prst="rect">
            <a:avLst/>
          </a:prstGeom>
          <a:noFill/>
        </p:spPr>
        <p:txBody>
          <a:bodyPr wrap="square">
            <a:spAutoFit/>
          </a:bodyPr>
          <a:lstStyle/>
          <a:p>
            <a:pPr algn="l">
              <a:defRPr sz="1000" b="0">
                <a:latin typeface="Malgun Gothic"/>
              </a:defRPr>
            </a:pPr>
            <a:r>
              <a:t>해양수산의 미래를 리드하는 최고의 인재육성기관</a:t>
            </a:r>
          </a:p>
        </p:txBody>
      </p:sp>
      <p:sp>
        <p:nvSpPr>
          <p:cNvPr id="25" name="TextBox 24"/>
          <p:cNvSpPr txBox="1"/>
          <p:nvPr/>
        </p:nvSpPr>
        <p:spPr>
          <a:xfrm>
            <a:off x="457200" y="8503920"/>
            <a:ext cx="4023360" cy="228600"/>
          </a:xfrm>
          <a:prstGeom prst="rect">
            <a:avLst/>
          </a:prstGeom>
          <a:noFill/>
        </p:spPr>
        <p:txBody>
          <a:bodyPr wrap="square">
            <a:spAutoFit/>
          </a:bodyPr>
          <a:lstStyle/>
          <a:p>
            <a:pPr algn="l">
              <a:defRPr sz="1000" b="0">
                <a:latin typeface="Malgun Gothic"/>
              </a:defRPr>
            </a:pPr>
            <a:r>
              <a:t>핵심가치</a:t>
            </a:r>
          </a:p>
        </p:txBody>
      </p:sp>
      <p:sp>
        <p:nvSpPr>
          <p:cNvPr id="26" name="TextBox 25"/>
          <p:cNvSpPr txBox="1"/>
          <p:nvPr/>
        </p:nvSpPr>
        <p:spPr>
          <a:xfrm>
            <a:off x="457200" y="8823960"/>
            <a:ext cx="4023360" cy="228600"/>
          </a:xfrm>
          <a:prstGeom prst="rect">
            <a:avLst/>
          </a:prstGeom>
          <a:noFill/>
        </p:spPr>
        <p:txBody>
          <a:bodyPr wrap="square">
            <a:spAutoFit/>
          </a:bodyPr>
          <a:lstStyle/>
          <a:p>
            <a:pPr algn="l">
              <a:defRPr sz="1000" b="0">
                <a:latin typeface="Malgun Gothic"/>
              </a:defRPr>
            </a:pPr>
            <a:r>
              <a:t>도전</a:t>
            </a:r>
            <a:br/>
            <a:r>
              <a:t>미래지향</a:t>
            </a:r>
            <a:br/>
            <a:r>
              <a:t>개방</a:t>
            </a:r>
            <a:br/>
            <a:r>
              <a:t>신념</a:t>
            </a:r>
          </a:p>
        </p:txBody>
      </p:sp>
      <p:sp>
        <p:nvSpPr>
          <p:cNvPr id="27" name="TextBox 26"/>
          <p:cNvSpPr txBox="1"/>
          <p:nvPr/>
        </p:nvSpPr>
        <p:spPr>
          <a:xfrm>
            <a:off x="457200" y="9144000"/>
            <a:ext cx="4023360" cy="228600"/>
          </a:xfrm>
          <a:prstGeom prst="rect">
            <a:avLst/>
          </a:prstGeom>
          <a:noFill/>
        </p:spPr>
        <p:txBody>
          <a:bodyPr wrap="square">
            <a:spAutoFit/>
          </a:bodyPr>
          <a:lstStyle/>
          <a:p>
            <a:pPr algn="l">
              <a:defRPr sz="1000" b="0">
                <a:latin typeface="Malgun Gothic"/>
              </a:defRPr>
            </a:pPr>
            <a:r>
              <a:t>창의</a:t>
            </a:r>
            <a:br/>
            <a:r>
              <a:t>미래역량</a:t>
            </a:r>
            <a:br/>
            <a:r>
              <a:t>전문성</a:t>
            </a:r>
            <a:br/>
            <a:r>
              <a:t>경쟁력</a:t>
            </a:r>
          </a:p>
        </p:txBody>
      </p:sp>
      <p:sp>
        <p:nvSpPr>
          <p:cNvPr id="28" name="TextBox 27"/>
          <p:cNvSpPr txBox="1"/>
          <p:nvPr/>
        </p:nvSpPr>
        <p:spPr>
          <a:xfrm>
            <a:off x="457200" y="9464040"/>
            <a:ext cx="4023360" cy="228600"/>
          </a:xfrm>
          <a:prstGeom prst="rect">
            <a:avLst/>
          </a:prstGeom>
          <a:noFill/>
        </p:spPr>
        <p:txBody>
          <a:bodyPr wrap="square">
            <a:spAutoFit/>
          </a:bodyPr>
          <a:lstStyle/>
          <a:p>
            <a:pPr algn="l">
              <a:defRPr sz="1000" b="0">
                <a:latin typeface="Malgun Gothic"/>
              </a:defRPr>
            </a:pPr>
            <a:r>
              <a:t>변화</a:t>
            </a:r>
            <a:br/>
            <a:r>
              <a:t>통합적 사고</a:t>
            </a:r>
            <a:br/>
            <a:r>
              <a:t>자기개발</a:t>
            </a:r>
            <a:br/>
            <a:r>
              <a:t>자아실현</a:t>
            </a:r>
          </a:p>
        </p:txBody>
      </p:sp>
      <p:sp>
        <p:nvSpPr>
          <p:cNvPr id="29" name="TextBox 28"/>
          <p:cNvSpPr txBox="1"/>
          <p:nvPr/>
        </p:nvSpPr>
        <p:spPr>
          <a:xfrm>
            <a:off x="457200" y="9784080"/>
            <a:ext cx="4023360" cy="228600"/>
          </a:xfrm>
          <a:prstGeom prst="rect">
            <a:avLst/>
          </a:prstGeom>
          <a:noFill/>
        </p:spPr>
        <p:txBody>
          <a:bodyPr wrap="square">
            <a:spAutoFit/>
          </a:bodyPr>
          <a:lstStyle/>
          <a:p>
            <a:pPr algn="l">
              <a:defRPr sz="1000" b="0">
                <a:latin typeface="Malgun Gothic"/>
              </a:defRPr>
            </a:pPr>
            <a:r>
              <a:t>배려</a:t>
            </a:r>
            <a:br/>
            <a:r>
              <a:t>자기성찰</a:t>
            </a:r>
            <a:br/>
            <a:r>
              <a:t>봉사, 수용</a:t>
            </a:r>
            <a:br/>
            <a:r>
              <a:t>융합</a:t>
            </a:r>
          </a:p>
        </p:txBody>
      </p:sp>
      <p:sp>
        <p:nvSpPr>
          <p:cNvPr id="30" name="TextBox 29"/>
          <p:cNvSpPr txBox="1"/>
          <p:nvPr/>
        </p:nvSpPr>
        <p:spPr>
          <a:xfrm>
            <a:off x="457200" y="10104120"/>
            <a:ext cx="4023360" cy="228600"/>
          </a:xfrm>
          <a:prstGeom prst="rect">
            <a:avLst/>
          </a:prstGeom>
          <a:noFill/>
        </p:spPr>
        <p:txBody>
          <a:bodyPr wrap="square">
            <a:spAutoFit/>
          </a:bodyPr>
          <a:lstStyle/>
          <a:p>
            <a:pPr algn="l">
              <a:defRPr sz="1000" b="0">
                <a:latin typeface="Malgun Gothic"/>
              </a:defRPr>
            </a:pPr>
            <a:r>
              <a:t>청렴</a:t>
            </a:r>
            <a:br/>
            <a:r>
              <a:t>공적가치</a:t>
            </a:r>
            <a:br/>
            <a:r>
              <a:t>자긍심</a:t>
            </a:r>
            <a:br/>
            <a:r>
              <a:t>박애정신</a:t>
            </a:r>
          </a:p>
        </p:txBody>
      </p:sp>
      <p:sp>
        <p:nvSpPr>
          <p:cNvPr id="31" name="TextBox 30"/>
          <p:cNvSpPr txBox="1"/>
          <p:nvPr/>
        </p:nvSpPr>
        <p:spPr>
          <a:xfrm>
            <a:off x="457200" y="10424160"/>
            <a:ext cx="4023360" cy="228600"/>
          </a:xfrm>
          <a:prstGeom prst="rect">
            <a:avLst/>
          </a:prstGeom>
          <a:noFill/>
        </p:spPr>
        <p:txBody>
          <a:bodyPr wrap="square">
            <a:spAutoFit/>
          </a:bodyPr>
          <a:lstStyle/>
          <a:p>
            <a:pPr algn="l">
              <a:defRPr sz="1000" b="0">
                <a:latin typeface="Malgun Gothic"/>
              </a:defRPr>
            </a:pPr>
            <a:r>
              <a:t>전략목표</a:t>
            </a:r>
          </a:p>
        </p:txBody>
      </p:sp>
      <p:sp>
        <p:nvSpPr>
          <p:cNvPr id="32" name="TextBox 31"/>
          <p:cNvSpPr txBox="1"/>
          <p:nvPr/>
        </p:nvSpPr>
        <p:spPr>
          <a:xfrm>
            <a:off x="457200" y="10744200"/>
            <a:ext cx="4023360" cy="228600"/>
          </a:xfrm>
          <a:prstGeom prst="rect">
            <a:avLst/>
          </a:prstGeom>
          <a:noFill/>
        </p:spPr>
        <p:txBody>
          <a:bodyPr wrap="square">
            <a:spAutoFit/>
          </a:bodyPr>
          <a:lstStyle/>
          <a:p>
            <a:pPr algn="l">
              <a:defRPr sz="1000" b="0">
                <a:latin typeface="Malgun Gothic"/>
              </a:defRPr>
            </a:pPr>
            <a:r>
              <a:t>해양수산</a:t>
            </a:r>
            <a:br/>
            <a:r>
              <a:t>미래핵심</a:t>
            </a:r>
            <a:br/>
            <a:r>
              <a:t>인재육성</a:t>
            </a:r>
          </a:p>
        </p:txBody>
      </p:sp>
      <p:sp>
        <p:nvSpPr>
          <p:cNvPr id="33" name="TextBox 32"/>
          <p:cNvSpPr txBox="1"/>
          <p:nvPr/>
        </p:nvSpPr>
        <p:spPr>
          <a:xfrm>
            <a:off x="457200" y="11064240"/>
            <a:ext cx="4023360" cy="228600"/>
          </a:xfrm>
          <a:prstGeom prst="rect">
            <a:avLst/>
          </a:prstGeom>
          <a:noFill/>
        </p:spPr>
        <p:txBody>
          <a:bodyPr wrap="square">
            <a:spAutoFit/>
          </a:bodyPr>
          <a:lstStyle/>
          <a:p>
            <a:pPr algn="l">
              <a:defRPr sz="1000" b="0">
                <a:latin typeface="Malgun Gothic"/>
              </a:defRPr>
            </a:pPr>
            <a:r>
              <a:t>고객지향</a:t>
            </a:r>
            <a:br/>
            <a:r>
              <a:t>해양수산</a:t>
            </a:r>
            <a:br/>
            <a:r>
              <a:t>교육서비스 강화</a:t>
            </a:r>
          </a:p>
        </p:txBody>
      </p:sp>
      <p:sp>
        <p:nvSpPr>
          <p:cNvPr id="34" name="TextBox 33"/>
          <p:cNvSpPr txBox="1"/>
          <p:nvPr/>
        </p:nvSpPr>
        <p:spPr>
          <a:xfrm>
            <a:off x="457200" y="11384280"/>
            <a:ext cx="4023360" cy="228600"/>
          </a:xfrm>
          <a:prstGeom prst="rect">
            <a:avLst/>
          </a:prstGeom>
          <a:noFill/>
        </p:spPr>
        <p:txBody>
          <a:bodyPr wrap="square">
            <a:spAutoFit/>
          </a:bodyPr>
          <a:lstStyle/>
          <a:p>
            <a:pPr algn="l">
              <a:defRPr sz="1000" b="0">
                <a:latin typeface="Malgun Gothic"/>
              </a:defRPr>
            </a:pPr>
            <a:r>
              <a:t>자기주도형</a:t>
            </a:r>
            <a:br/>
            <a:r>
              <a:t>학습프로세스</a:t>
            </a:r>
            <a:br/>
            <a:r>
              <a:t>구축</a:t>
            </a:r>
          </a:p>
        </p:txBody>
      </p:sp>
      <p:sp>
        <p:nvSpPr>
          <p:cNvPr id="35" name="TextBox 34"/>
          <p:cNvSpPr txBox="1"/>
          <p:nvPr/>
        </p:nvSpPr>
        <p:spPr>
          <a:xfrm>
            <a:off x="457200" y="11704320"/>
            <a:ext cx="4023360" cy="228600"/>
          </a:xfrm>
          <a:prstGeom prst="rect">
            <a:avLst/>
          </a:prstGeom>
          <a:noFill/>
        </p:spPr>
        <p:txBody>
          <a:bodyPr wrap="square">
            <a:spAutoFit/>
          </a:bodyPr>
          <a:lstStyle/>
          <a:p>
            <a:pPr algn="l">
              <a:defRPr sz="1000" b="0">
                <a:latin typeface="Malgun Gothic"/>
              </a:defRPr>
            </a:pPr>
            <a:r>
              <a:t>강소형</a:t>
            </a:r>
            <a:br/>
            <a:r>
              <a:t>조직전환을 통한</a:t>
            </a:r>
            <a:br/>
            <a:r>
              <a:t>성과창출 극대화</a:t>
            </a:r>
          </a:p>
        </p:txBody>
      </p:sp>
      <p:sp>
        <p:nvSpPr>
          <p:cNvPr id="36" name="TextBox 35"/>
          <p:cNvSpPr txBox="1"/>
          <p:nvPr/>
        </p:nvSpPr>
        <p:spPr>
          <a:xfrm>
            <a:off x="457200" y="12024360"/>
            <a:ext cx="4023360" cy="228600"/>
          </a:xfrm>
          <a:prstGeom prst="rect">
            <a:avLst/>
          </a:prstGeom>
          <a:noFill/>
        </p:spPr>
        <p:txBody>
          <a:bodyPr wrap="square">
            <a:spAutoFit/>
          </a:bodyPr>
          <a:lstStyle/>
          <a:p>
            <a:pPr algn="l">
              <a:defRPr sz="1000" b="0">
                <a:latin typeface="Malgun Gothic"/>
              </a:defRPr>
            </a:pPr>
            <a:r>
              <a:t>전략과제</a:t>
            </a:r>
          </a:p>
        </p:txBody>
      </p:sp>
      <p:sp>
        <p:nvSpPr>
          <p:cNvPr id="37" name="TextBox 36"/>
          <p:cNvSpPr txBox="1"/>
          <p:nvPr/>
        </p:nvSpPr>
        <p:spPr>
          <a:xfrm>
            <a:off x="457200" y="12344400"/>
            <a:ext cx="4023360" cy="228600"/>
          </a:xfrm>
          <a:prstGeom prst="rect">
            <a:avLst/>
          </a:prstGeom>
          <a:noFill/>
        </p:spPr>
        <p:txBody>
          <a:bodyPr wrap="square">
            <a:spAutoFit/>
          </a:bodyPr>
          <a:lstStyle/>
          <a:p>
            <a:pPr algn="l">
              <a:defRPr sz="1000" b="0">
                <a:latin typeface="Malgun Gothic"/>
              </a:defRPr>
            </a:pPr>
            <a:r>
              <a:t>해양수산 분야</a:t>
            </a:r>
            <a:br/>
            <a:r>
              <a:t>직무전문성</a:t>
            </a:r>
            <a:br/>
            <a:r>
              <a:t>강화</a:t>
            </a:r>
          </a:p>
        </p:txBody>
      </p:sp>
      <p:sp>
        <p:nvSpPr>
          <p:cNvPr id="38" name="TextBox 37"/>
          <p:cNvSpPr txBox="1"/>
          <p:nvPr/>
        </p:nvSpPr>
        <p:spPr>
          <a:xfrm>
            <a:off x="457200" y="12664440"/>
            <a:ext cx="4023360" cy="228600"/>
          </a:xfrm>
          <a:prstGeom prst="rect">
            <a:avLst/>
          </a:prstGeom>
          <a:noFill/>
        </p:spPr>
        <p:txBody>
          <a:bodyPr wrap="square">
            <a:spAutoFit/>
          </a:bodyPr>
          <a:lstStyle/>
          <a:p>
            <a:pPr algn="l">
              <a:defRPr sz="1000" b="0">
                <a:latin typeface="Malgun Gothic"/>
              </a:defRPr>
            </a:pPr>
            <a:r>
              <a:t>정책 수요자별</a:t>
            </a:r>
            <a:br/>
            <a:r>
              <a:t>맞춤형 교육</a:t>
            </a:r>
            <a:br/>
            <a:r>
              <a:t>강화</a:t>
            </a:r>
          </a:p>
        </p:txBody>
      </p:sp>
      <p:sp>
        <p:nvSpPr>
          <p:cNvPr id="39" name="TextBox 38"/>
          <p:cNvSpPr txBox="1"/>
          <p:nvPr/>
        </p:nvSpPr>
        <p:spPr>
          <a:xfrm>
            <a:off x="457200" y="12984480"/>
            <a:ext cx="4023360" cy="228600"/>
          </a:xfrm>
          <a:prstGeom prst="rect">
            <a:avLst/>
          </a:prstGeom>
          <a:noFill/>
        </p:spPr>
        <p:txBody>
          <a:bodyPr wrap="square">
            <a:spAutoFit/>
          </a:bodyPr>
          <a:lstStyle/>
          <a:p>
            <a:pPr algn="l">
              <a:defRPr sz="1000" b="0">
                <a:latin typeface="Malgun Gothic"/>
              </a:defRPr>
            </a:pPr>
            <a:r>
              <a:t>4차 산업혁명</a:t>
            </a:r>
            <a:br/>
            <a:r>
              <a:t>교육 시스템</a:t>
            </a:r>
            <a:br/>
            <a:r>
              <a:t>기반 구축</a:t>
            </a:r>
          </a:p>
        </p:txBody>
      </p:sp>
      <p:sp>
        <p:nvSpPr>
          <p:cNvPr id="40" name="TextBox 39"/>
          <p:cNvSpPr txBox="1"/>
          <p:nvPr/>
        </p:nvSpPr>
        <p:spPr>
          <a:xfrm>
            <a:off x="457200" y="13304520"/>
            <a:ext cx="4023360" cy="228600"/>
          </a:xfrm>
          <a:prstGeom prst="rect">
            <a:avLst/>
          </a:prstGeom>
          <a:noFill/>
        </p:spPr>
        <p:txBody>
          <a:bodyPr wrap="square">
            <a:spAutoFit/>
          </a:bodyPr>
          <a:lstStyle/>
          <a:p>
            <a:pPr algn="l">
              <a:defRPr sz="1000" b="0">
                <a:latin typeface="Malgun Gothic"/>
              </a:defRPr>
            </a:pPr>
            <a:r>
              <a:t>혁신적</a:t>
            </a:r>
            <a:br/>
            <a:r>
              <a:t>조직운영을 통한</a:t>
            </a:r>
            <a:br/>
            <a:r>
              <a:t>기관역량 강화</a:t>
            </a:r>
          </a:p>
        </p:txBody>
      </p:sp>
      <p:sp>
        <p:nvSpPr>
          <p:cNvPr id="41" name="TextBox 40"/>
          <p:cNvSpPr txBox="1"/>
          <p:nvPr/>
        </p:nvSpPr>
        <p:spPr>
          <a:xfrm>
            <a:off x="457200" y="13624560"/>
            <a:ext cx="4023360" cy="228600"/>
          </a:xfrm>
          <a:prstGeom prst="rect">
            <a:avLst/>
          </a:prstGeom>
          <a:noFill/>
        </p:spPr>
        <p:txBody>
          <a:bodyPr wrap="square">
            <a:spAutoFit/>
          </a:bodyPr>
          <a:lstStyle/>
          <a:p>
            <a:pPr algn="l">
              <a:defRPr sz="1000" b="0">
                <a:latin typeface="Malgun Gothic"/>
              </a:defRPr>
            </a:pPr>
            <a:r>
              <a:t>해양수산 전문</a:t>
            </a:r>
            <a:br/>
            <a:r>
              <a:t>교육인력 확보</a:t>
            </a:r>
          </a:p>
        </p:txBody>
      </p:sp>
      <p:sp>
        <p:nvSpPr>
          <p:cNvPr id="42" name="TextBox 41"/>
          <p:cNvSpPr txBox="1"/>
          <p:nvPr/>
        </p:nvSpPr>
        <p:spPr>
          <a:xfrm>
            <a:off x="457200" y="13944600"/>
            <a:ext cx="4023360" cy="228600"/>
          </a:xfrm>
          <a:prstGeom prst="rect">
            <a:avLst/>
          </a:prstGeom>
          <a:noFill/>
        </p:spPr>
        <p:txBody>
          <a:bodyPr wrap="square">
            <a:spAutoFit/>
          </a:bodyPr>
          <a:lstStyle/>
          <a:p>
            <a:pPr algn="l">
              <a:defRPr sz="1000" b="0">
                <a:latin typeface="Malgun Gothic"/>
              </a:defRPr>
            </a:pPr>
            <a:r>
              <a:t>수요자 중심</a:t>
            </a:r>
            <a:br/>
            <a:r>
              <a:t>교육서비스</a:t>
            </a:r>
            <a:br/>
            <a:r>
              <a:t>강화</a:t>
            </a:r>
          </a:p>
        </p:txBody>
      </p:sp>
      <p:sp>
        <p:nvSpPr>
          <p:cNvPr id="43" name="TextBox 42"/>
          <p:cNvSpPr txBox="1"/>
          <p:nvPr/>
        </p:nvSpPr>
        <p:spPr>
          <a:xfrm>
            <a:off x="457200" y="14264640"/>
            <a:ext cx="4023360" cy="228600"/>
          </a:xfrm>
          <a:prstGeom prst="rect">
            <a:avLst/>
          </a:prstGeom>
          <a:noFill/>
        </p:spPr>
        <p:txBody>
          <a:bodyPr wrap="square">
            <a:spAutoFit/>
          </a:bodyPr>
          <a:lstStyle/>
          <a:p>
            <a:pPr algn="l">
              <a:defRPr sz="1000" b="0">
                <a:latin typeface="Malgun Gothic"/>
              </a:defRPr>
            </a:pPr>
            <a:r>
              <a:t>스마트 러닝</a:t>
            </a:r>
            <a:br/>
            <a:r>
              <a:t>지원 활성화</a:t>
            </a:r>
          </a:p>
        </p:txBody>
      </p:sp>
      <p:sp>
        <p:nvSpPr>
          <p:cNvPr id="44" name="TextBox 43"/>
          <p:cNvSpPr txBox="1"/>
          <p:nvPr/>
        </p:nvSpPr>
        <p:spPr>
          <a:xfrm>
            <a:off x="457200" y="14584680"/>
            <a:ext cx="4023360" cy="228600"/>
          </a:xfrm>
          <a:prstGeom prst="rect">
            <a:avLst/>
          </a:prstGeom>
          <a:noFill/>
        </p:spPr>
        <p:txBody>
          <a:bodyPr wrap="square">
            <a:spAutoFit/>
          </a:bodyPr>
          <a:lstStyle/>
          <a:p>
            <a:pPr algn="l">
              <a:defRPr sz="1000" b="0">
                <a:latin typeface="Malgun Gothic"/>
              </a:defRPr>
            </a:pPr>
            <a:r>
              <a:t>국민참여 확대</a:t>
            </a:r>
            <a:br/>
            <a:r>
              <a:t>및 사회적가치</a:t>
            </a:r>
            <a:br/>
            <a:r>
              <a:t>실현 강화</a:t>
            </a:r>
          </a:p>
        </p:txBody>
      </p:sp>
      <p:sp>
        <p:nvSpPr>
          <p:cNvPr id="45" name="TextBox 44"/>
          <p:cNvSpPr txBox="1"/>
          <p:nvPr/>
        </p:nvSpPr>
        <p:spPr>
          <a:xfrm>
            <a:off x="457200" y="14904720"/>
            <a:ext cx="4023360" cy="685800"/>
          </a:xfrm>
          <a:prstGeom prst="rect">
            <a:avLst/>
          </a:prstGeom>
          <a:noFill/>
        </p:spPr>
        <p:txBody>
          <a:bodyPr wrap="square">
            <a:spAutoFit/>
          </a:bodyPr>
          <a:lstStyle/>
          <a:p>
            <a:pPr algn="l">
              <a:defRPr sz="1000" b="0">
                <a:latin typeface="Malgun Gothic"/>
              </a:defRPr>
            </a:pPr>
            <a:r>
              <a:t>✓ 미션과 비전은 인재양성이라는 기관의 목적과 미래</a:t>
            </a:r>
            <a:br/>
            <a:r>
              <a:t>지향이 명확하게 반영되어 있음</a:t>
            </a:r>
            <a:br/>
            <a:r>
              <a:t>✓ 전략과제에서 4차 산업혁명 및 스마트러닝 지원 활성화</a:t>
            </a:r>
            <a:br/>
            <a:r>
              <a:t>등 디지털 교육 인프라의 구축과 운영을 확인할 수 있음</a:t>
            </a:r>
          </a:p>
        </p:txBody>
      </p:sp>
      <p:sp>
        <p:nvSpPr>
          <p:cNvPr id="46" name="TextBox 45"/>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92 | Page 93</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벤치마킹 - 해양수산부 소속기관 전략체계 (2/2)</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국립수산과학원, 국립해양측위정보원은 기능과 역할을 충실하게 담은 미션·비전을 선정하고, 영역 확대에 대한 계획과 방향성을 전략목표와 전략과제를 통해 천명하고 있음</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국립수산과학원</a:t>
            </a:r>
          </a:p>
        </p:txBody>
      </p:sp>
      <p:sp>
        <p:nvSpPr>
          <p:cNvPr id="5" name="TextBox 4"/>
          <p:cNvSpPr txBox="1"/>
          <p:nvPr/>
        </p:nvSpPr>
        <p:spPr>
          <a:xfrm>
            <a:off x="457200" y="1828800"/>
            <a:ext cx="4023360" cy="228600"/>
          </a:xfrm>
          <a:prstGeom prst="rect">
            <a:avLst/>
          </a:prstGeom>
          <a:noFill/>
        </p:spPr>
        <p:txBody>
          <a:bodyPr wrap="square">
            <a:spAutoFit/>
          </a:bodyPr>
          <a:lstStyle/>
          <a:p>
            <a:pPr algn="l">
              <a:defRPr sz="1000" b="0">
                <a:latin typeface="Malgun Gothic"/>
              </a:defRPr>
            </a:pPr>
            <a:r>
              <a:t>미션</a:t>
            </a:r>
            <a:br/>
            <a:r>
              <a:t>수산연구를 통한 수산정책 지원 및 현장기술 보급</a:t>
            </a:r>
          </a:p>
        </p:txBody>
      </p:sp>
      <p:sp>
        <p:nvSpPr>
          <p:cNvPr id="6" name="TextBox 5"/>
          <p:cNvSpPr txBox="1"/>
          <p:nvPr/>
        </p:nvSpPr>
        <p:spPr>
          <a:xfrm>
            <a:off x="457200" y="2148840"/>
            <a:ext cx="4023360" cy="228600"/>
          </a:xfrm>
          <a:prstGeom prst="rect">
            <a:avLst/>
          </a:prstGeom>
          <a:noFill/>
        </p:spPr>
        <p:txBody>
          <a:bodyPr wrap="square">
            <a:spAutoFit/>
          </a:bodyPr>
          <a:lstStyle/>
          <a:p>
            <a:pPr algn="l">
              <a:defRPr sz="1000" b="0">
                <a:latin typeface="Malgun Gothic"/>
              </a:defRPr>
            </a:pPr>
            <a:r>
              <a:t>비전</a:t>
            </a:r>
            <a:br/>
            <a:r>
              <a:t>수산과학기술 혁신을 이끄는 글로벌 연구기관</a:t>
            </a:r>
          </a:p>
        </p:txBody>
      </p:sp>
      <p:sp>
        <p:nvSpPr>
          <p:cNvPr id="7" name="TextBox 6"/>
          <p:cNvSpPr txBox="1"/>
          <p:nvPr/>
        </p:nvSpPr>
        <p:spPr>
          <a:xfrm>
            <a:off x="457200" y="2468880"/>
            <a:ext cx="4023360" cy="228600"/>
          </a:xfrm>
          <a:prstGeom prst="rect">
            <a:avLst/>
          </a:prstGeom>
          <a:noFill/>
        </p:spPr>
        <p:txBody>
          <a:bodyPr wrap="square">
            <a:spAutoFit/>
          </a:bodyPr>
          <a:lstStyle/>
          <a:p>
            <a:pPr algn="l">
              <a:defRPr sz="1000" b="0">
                <a:latin typeface="Malgun Gothic"/>
              </a:defRPr>
            </a:pPr>
            <a:r>
              <a:t>핵심가치</a:t>
            </a:r>
            <a:br/>
            <a:r>
              <a:t>도전 지속 국민 공정</a:t>
            </a:r>
          </a:p>
        </p:txBody>
      </p:sp>
      <p:sp>
        <p:nvSpPr>
          <p:cNvPr id="8" name="TextBox 7"/>
          <p:cNvSpPr txBox="1"/>
          <p:nvPr/>
        </p:nvSpPr>
        <p:spPr>
          <a:xfrm>
            <a:off x="457200" y="2788920"/>
            <a:ext cx="4023360" cy="228600"/>
          </a:xfrm>
          <a:prstGeom prst="rect">
            <a:avLst/>
          </a:prstGeom>
          <a:noFill/>
        </p:spPr>
        <p:txBody>
          <a:bodyPr wrap="square">
            <a:spAutoFit/>
          </a:bodyPr>
          <a:lstStyle/>
          <a:p>
            <a:pPr algn="l">
              <a:defRPr sz="1000" b="0">
                <a:latin typeface="Malgun Gothic"/>
              </a:defRPr>
            </a:pPr>
            <a:r>
              <a:t>운영방침 선택과 집중 과학기반 정책지원 실용연구 강화 소통·공감·화합</a:t>
            </a:r>
          </a:p>
        </p:txBody>
      </p:sp>
      <p:sp>
        <p:nvSpPr>
          <p:cNvPr id="9" name="TextBox 8"/>
          <p:cNvSpPr txBox="1"/>
          <p:nvPr/>
        </p:nvSpPr>
        <p:spPr>
          <a:xfrm>
            <a:off x="457200" y="3108960"/>
            <a:ext cx="4023360" cy="457200"/>
          </a:xfrm>
          <a:prstGeom prst="rect">
            <a:avLst/>
          </a:prstGeom>
          <a:noFill/>
        </p:spPr>
        <p:txBody>
          <a:bodyPr wrap="square">
            <a:spAutoFit/>
          </a:bodyPr>
          <a:lstStyle/>
          <a:p>
            <a:pPr algn="l">
              <a:defRPr sz="1000" b="0">
                <a:latin typeface="Malgun Gothic"/>
              </a:defRPr>
            </a:pPr>
            <a:r>
              <a:t>목표</a:t>
            </a:r>
            <a:br/>
            <a:r>
              <a:t>연1건 세계 최고수준</a:t>
            </a:r>
            <a:br/>
            <a:r>
              <a:t>기술(품종)확보</a:t>
            </a:r>
            <a:br/>
            <a:r>
              <a:t>수산자원변동 예측</a:t>
            </a:r>
            <a:br/>
            <a:r>
              <a:t>정확도 80% 달성</a:t>
            </a:r>
            <a:br/>
            <a:r>
              <a:t>고객만족도 최고</a:t>
            </a:r>
            <a:br/>
            <a:r>
              <a:t>등급 달성(90점)</a:t>
            </a:r>
          </a:p>
        </p:txBody>
      </p:sp>
      <p:sp>
        <p:nvSpPr>
          <p:cNvPr id="10" name="TextBox 9"/>
          <p:cNvSpPr txBox="1"/>
          <p:nvPr/>
        </p:nvSpPr>
        <p:spPr>
          <a:xfrm>
            <a:off x="457200" y="3657600"/>
            <a:ext cx="4023360" cy="457200"/>
          </a:xfrm>
          <a:prstGeom prst="rect">
            <a:avLst/>
          </a:prstGeom>
          <a:noFill/>
        </p:spPr>
        <p:txBody>
          <a:bodyPr wrap="square">
            <a:spAutoFit/>
          </a:bodyPr>
          <a:lstStyle/>
          <a:p>
            <a:pPr algn="l">
              <a:defRPr sz="1000" b="0">
                <a:latin typeface="Malgun Gothic"/>
              </a:defRPr>
            </a:pPr>
            <a:r>
              <a:t>전략방향</a:t>
            </a:r>
            <a:br/>
            <a:r>
              <a:t>미래대비</a:t>
            </a:r>
            <a:br/>
            <a:r>
              <a:t>수산기술 혁신</a:t>
            </a:r>
            <a:br/>
            <a:r>
              <a:t>지속가능한</a:t>
            </a:r>
            <a:br/>
            <a:r>
              <a:t>수산업 실현</a:t>
            </a:r>
            <a:br/>
            <a:r>
              <a:t>수산현안</a:t>
            </a:r>
            <a:br/>
            <a:r>
              <a:t>대응기술 개발</a:t>
            </a:r>
            <a:br/>
            <a:r>
              <a:t>국제화 및</a:t>
            </a:r>
            <a:br/>
            <a:r>
              <a:t>산업화</a:t>
            </a:r>
            <a:br/>
            <a:r>
              <a:t>역량강화</a:t>
            </a:r>
          </a:p>
        </p:txBody>
      </p:sp>
      <p:sp>
        <p:nvSpPr>
          <p:cNvPr id="11" name="TextBox 10"/>
          <p:cNvSpPr txBox="1"/>
          <p:nvPr/>
        </p:nvSpPr>
        <p:spPr>
          <a:xfrm>
            <a:off x="457200" y="4206240"/>
            <a:ext cx="4023360" cy="1143000"/>
          </a:xfrm>
          <a:prstGeom prst="rect">
            <a:avLst/>
          </a:prstGeom>
          <a:noFill/>
        </p:spPr>
        <p:txBody>
          <a:bodyPr wrap="square">
            <a:spAutoFit/>
          </a:bodyPr>
          <a:lstStyle/>
          <a:p>
            <a:pPr algn="l">
              <a:defRPr sz="1000" b="0">
                <a:latin typeface="Malgun Gothic"/>
              </a:defRPr>
            </a:pPr>
            <a:r>
              <a:t>전략과제</a:t>
            </a:r>
            <a:br/>
            <a:r>
              <a:t>스마트 수산기술</a:t>
            </a:r>
            <a:br/>
            <a:r>
              <a:t>개발</a:t>
            </a:r>
            <a:br/>
            <a:r>
              <a:t>수산자원 조사 및</a:t>
            </a:r>
            <a:br/>
            <a:r>
              <a:t>관리 기술 선진화</a:t>
            </a:r>
            <a:br/>
            <a:r>
              <a:t>수산 재해대응</a:t>
            </a:r>
            <a:br/>
            <a:r>
              <a:t>활용기술 개발</a:t>
            </a:r>
            <a:br/>
            <a:r>
              <a:t>투명·공정·청렴의</a:t>
            </a:r>
            <a:br/>
            <a:r>
              <a:t>윤리경영 강화</a:t>
            </a:r>
            <a:br/>
            <a:r>
              <a:t>고부가 양식품종</a:t>
            </a:r>
            <a:br/>
            <a:r>
              <a:t>개발</a:t>
            </a:r>
            <a:br/>
            <a:r>
              <a:t>수산생명자원 확보</a:t>
            </a:r>
            <a:br/>
            <a:r>
              <a:t>및 활용기술 개발</a:t>
            </a:r>
            <a:br/>
            <a:r>
              <a:t>안전한 수산물</a:t>
            </a:r>
            <a:br/>
            <a:r>
              <a:t>생산 관리체계</a:t>
            </a:r>
            <a:br/>
            <a:r>
              <a:t>고도화</a:t>
            </a:r>
            <a:br/>
            <a:r>
              <a:t>사회적 가치</a:t>
            </a:r>
            <a:br/>
            <a:r>
              <a:t>중심의 효율적</a:t>
            </a:r>
            <a:br/>
            <a:r>
              <a:t>조직 운영</a:t>
            </a:r>
            <a:br/>
            <a:r>
              <a:t>수산식품 사업화 해양환경 조사 및 수산현안 해결 국제경쟁력 및</a:t>
            </a:r>
            <a:br/>
            <a:r>
              <a:t>기술 개발</a:t>
            </a:r>
            <a:br/>
            <a:r>
              <a:t>관리 통합시스템 연구 산업화 역량 강화</a:t>
            </a:r>
            <a:br/>
            <a:r>
              <a:t>구축</a:t>
            </a:r>
          </a:p>
        </p:txBody>
      </p:sp>
      <p:sp>
        <p:nvSpPr>
          <p:cNvPr id="12" name="TextBox 11"/>
          <p:cNvSpPr txBox="1"/>
          <p:nvPr/>
        </p:nvSpPr>
        <p:spPr>
          <a:xfrm>
            <a:off x="457200" y="5440680"/>
            <a:ext cx="4023360" cy="685800"/>
          </a:xfrm>
          <a:prstGeom prst="rect">
            <a:avLst/>
          </a:prstGeom>
          <a:noFill/>
        </p:spPr>
        <p:txBody>
          <a:bodyPr wrap="square">
            <a:spAutoFit/>
          </a:bodyPr>
          <a:lstStyle/>
          <a:p>
            <a:pPr algn="l">
              <a:defRPr sz="1000" b="0">
                <a:latin typeface="Malgun Gothic"/>
              </a:defRPr>
            </a:pPr>
            <a:r>
              <a:t>✓ 연구기관으로서 기능과 역할을 가치체계에 담고 있으며,</a:t>
            </a:r>
            <a:br/>
            <a:r>
              <a:t>운영방침을 통해 핵심가치를 보완하고 있음</a:t>
            </a:r>
            <a:br/>
            <a:r>
              <a:t>✓ 전략과제에서 해양환경 조사·관리 통합시스템 구축은</a:t>
            </a:r>
            <a:br/>
            <a:r>
              <a:t>공단의 기능·역할과 중복이 발생할 수 있는 과제임</a:t>
            </a:r>
          </a:p>
        </p:txBody>
      </p:sp>
      <p:sp>
        <p:nvSpPr>
          <p:cNvPr id="13" name="TextBox 12"/>
          <p:cNvSpPr txBox="1"/>
          <p:nvPr/>
        </p:nvSpPr>
        <p:spPr>
          <a:xfrm>
            <a:off x="457200" y="6217920"/>
            <a:ext cx="8229600" cy="274320"/>
          </a:xfrm>
          <a:prstGeom prst="rect">
            <a:avLst/>
          </a:prstGeom>
          <a:noFill/>
        </p:spPr>
        <p:txBody>
          <a:bodyPr wrap="square">
            <a:spAutoFit/>
          </a:bodyPr>
          <a:lstStyle/>
          <a:p>
            <a:pPr algn="l">
              <a:defRPr sz="1200" b="1">
                <a:solidFill>
                  <a:srgbClr val="003366"/>
                </a:solidFill>
                <a:latin typeface="Malgun Gothic"/>
              </a:defRPr>
            </a:pPr>
            <a:r>
              <a:t>국립해양측위정보원</a:t>
            </a:r>
          </a:p>
        </p:txBody>
      </p:sp>
      <p:sp>
        <p:nvSpPr>
          <p:cNvPr id="14" name="TextBox 13"/>
          <p:cNvSpPr txBox="1"/>
          <p:nvPr/>
        </p:nvSpPr>
        <p:spPr>
          <a:xfrm>
            <a:off x="4663440" y="2194560"/>
            <a:ext cx="4023360" cy="228600"/>
          </a:xfrm>
          <a:prstGeom prst="rect">
            <a:avLst/>
          </a:prstGeom>
          <a:noFill/>
        </p:spPr>
        <p:txBody>
          <a:bodyPr wrap="square">
            <a:spAutoFit/>
          </a:bodyPr>
          <a:lstStyle/>
          <a:p>
            <a:pPr algn="l">
              <a:defRPr sz="1000" b="0">
                <a:latin typeface="Malgun Gothic"/>
              </a:defRPr>
            </a:pPr>
            <a:r>
              <a:t>미션</a:t>
            </a:r>
            <a:br/>
            <a:r>
              <a:t>국민의 안전과 행복을 위한 해양안전정보 제공</a:t>
            </a:r>
          </a:p>
        </p:txBody>
      </p:sp>
      <p:sp>
        <p:nvSpPr>
          <p:cNvPr id="15" name="TextBox 14"/>
          <p:cNvSpPr txBox="1"/>
          <p:nvPr/>
        </p:nvSpPr>
        <p:spPr>
          <a:xfrm>
            <a:off x="4663440" y="2514600"/>
            <a:ext cx="4023360" cy="228600"/>
          </a:xfrm>
          <a:prstGeom prst="rect">
            <a:avLst/>
          </a:prstGeom>
          <a:noFill/>
        </p:spPr>
        <p:txBody>
          <a:bodyPr wrap="square">
            <a:spAutoFit/>
          </a:bodyPr>
          <a:lstStyle/>
          <a:p>
            <a:pPr algn="l">
              <a:defRPr sz="1000" b="0">
                <a:latin typeface="Malgun Gothic"/>
              </a:defRPr>
            </a:pPr>
            <a:r>
              <a:t>비전</a:t>
            </a:r>
            <a:br/>
            <a:r>
              <a:t>해양정보 기술혁신을 통한 안전한 바다 구현</a:t>
            </a:r>
          </a:p>
        </p:txBody>
      </p:sp>
      <p:sp>
        <p:nvSpPr>
          <p:cNvPr id="16" name="TextBox 15"/>
          <p:cNvSpPr txBox="1"/>
          <p:nvPr/>
        </p:nvSpPr>
        <p:spPr>
          <a:xfrm>
            <a:off x="4663440" y="2834640"/>
            <a:ext cx="4023360" cy="228600"/>
          </a:xfrm>
          <a:prstGeom prst="rect">
            <a:avLst/>
          </a:prstGeom>
          <a:noFill/>
        </p:spPr>
        <p:txBody>
          <a:bodyPr wrap="square">
            <a:spAutoFit/>
          </a:bodyPr>
          <a:lstStyle/>
          <a:p>
            <a:pPr algn="l">
              <a:defRPr sz="1000" b="0">
                <a:latin typeface="Malgun Gothic"/>
              </a:defRPr>
            </a:pPr>
            <a:r>
              <a:t>핵심가치 정보제공 고객중심 첨단기술 안전보장 고객신뢰</a:t>
            </a:r>
          </a:p>
        </p:txBody>
      </p:sp>
      <p:sp>
        <p:nvSpPr>
          <p:cNvPr id="17" name="TextBox 16"/>
          <p:cNvSpPr txBox="1"/>
          <p:nvPr/>
        </p:nvSpPr>
        <p:spPr>
          <a:xfrm>
            <a:off x="4663440" y="3154680"/>
            <a:ext cx="4023360" cy="457200"/>
          </a:xfrm>
          <a:prstGeom prst="rect">
            <a:avLst/>
          </a:prstGeom>
          <a:noFill/>
        </p:spPr>
        <p:txBody>
          <a:bodyPr wrap="square">
            <a:spAutoFit/>
          </a:bodyPr>
          <a:lstStyle/>
          <a:p>
            <a:pPr algn="l">
              <a:defRPr sz="1000" b="0">
                <a:latin typeface="Malgun Gothic"/>
              </a:defRPr>
            </a:pPr>
            <a:r>
              <a:t>전략목표</a:t>
            </a:r>
            <a:br/>
            <a:r>
              <a:t>차세대</a:t>
            </a:r>
            <a:br/>
            <a:r>
              <a:t>항법시스템</a:t>
            </a:r>
            <a:br/>
            <a:r>
              <a:t>인프라</a:t>
            </a:r>
            <a:br/>
            <a:r>
              <a:t>구축</a:t>
            </a:r>
            <a:br/>
            <a:r>
              <a:t>빅데이터</a:t>
            </a:r>
            <a:br/>
            <a:r>
              <a:t>기반</a:t>
            </a:r>
            <a:br/>
            <a:r>
              <a:t>해양안전정</a:t>
            </a:r>
            <a:br/>
            <a:r>
              <a:t>보 제공</a:t>
            </a:r>
            <a:br/>
            <a:r>
              <a:t>해양안전</a:t>
            </a:r>
            <a:br/>
            <a:r>
              <a:t>서비스</a:t>
            </a:r>
            <a:br/>
            <a:r>
              <a:t>사회적가치</a:t>
            </a:r>
            <a:br/>
            <a:r>
              <a:t>실현</a:t>
            </a:r>
            <a:br/>
            <a:r>
              <a:t>측위정보</a:t>
            </a:r>
            <a:br/>
            <a:r>
              <a:t>서비스</a:t>
            </a:r>
            <a:br/>
            <a:r>
              <a:t>이용자</a:t>
            </a:r>
            <a:br/>
            <a:r>
              <a:t>환경 개선</a:t>
            </a:r>
            <a:br/>
            <a:r>
              <a:t>조직역량</a:t>
            </a:r>
            <a:br/>
            <a:r>
              <a:t>강화로</a:t>
            </a:r>
            <a:br/>
            <a:r>
              <a:t>고객신뢰도</a:t>
            </a:r>
            <a:br/>
            <a:r>
              <a:t>향상</a:t>
            </a:r>
          </a:p>
        </p:txBody>
      </p:sp>
      <p:sp>
        <p:nvSpPr>
          <p:cNvPr id="18" name="TextBox 17"/>
          <p:cNvSpPr txBox="1"/>
          <p:nvPr/>
        </p:nvSpPr>
        <p:spPr>
          <a:xfrm>
            <a:off x="4663440" y="3703320"/>
            <a:ext cx="4023360" cy="1143000"/>
          </a:xfrm>
          <a:prstGeom prst="rect">
            <a:avLst/>
          </a:prstGeom>
          <a:noFill/>
        </p:spPr>
        <p:txBody>
          <a:bodyPr wrap="square">
            <a:spAutoFit/>
          </a:bodyPr>
          <a:lstStyle/>
          <a:p>
            <a:pPr algn="l">
              <a:defRPr sz="1000" b="0">
                <a:latin typeface="Malgun Gothic"/>
              </a:defRPr>
            </a:pPr>
            <a:r>
              <a:t>전략과제</a:t>
            </a:r>
            <a:br/>
            <a:r>
              <a:t>측위정보시</a:t>
            </a:r>
            <a:br/>
            <a:r>
              <a:t>스템 고도화</a:t>
            </a:r>
            <a:br/>
            <a:r>
              <a:t>해양기상관</a:t>
            </a:r>
            <a:br/>
            <a:r>
              <a:t>측 정보제공</a:t>
            </a:r>
            <a:br/>
            <a:r>
              <a:t>서비스강화</a:t>
            </a:r>
            <a:br/>
            <a:r>
              <a:t>해로드</a:t>
            </a:r>
            <a:br/>
            <a:r>
              <a:t>(海Road) 앱</a:t>
            </a:r>
            <a:br/>
            <a:r>
              <a:t>해양안전</a:t>
            </a:r>
            <a:br/>
            <a:r>
              <a:t>기능 강화</a:t>
            </a:r>
            <a:br/>
            <a:r>
              <a:t>신호품질</a:t>
            </a:r>
            <a:br/>
            <a:r>
              <a:t>측정 및 재난</a:t>
            </a:r>
            <a:br/>
            <a:r>
              <a:t>대응력 향상</a:t>
            </a:r>
            <a:br/>
            <a:r>
              <a:t>기관 운영효율</a:t>
            </a:r>
            <a:br/>
            <a:r>
              <a:t>향상을 위한</a:t>
            </a:r>
            <a:br/>
            <a:r>
              <a:t>청사이전 및</a:t>
            </a:r>
            <a:br/>
            <a:r>
              <a:t>조직 확대</a:t>
            </a:r>
            <a:br/>
            <a:r>
              <a:t>첨단</a:t>
            </a:r>
            <a:br/>
            <a:r>
              <a:t>지상파항법</a:t>
            </a:r>
            <a:br/>
            <a:r>
              <a:t>시스템 구축</a:t>
            </a:r>
            <a:br/>
            <a:r>
              <a:t>안정적인</a:t>
            </a:r>
            <a:br/>
            <a:r>
              <a:t>측위정보</a:t>
            </a:r>
            <a:br/>
            <a:r>
              <a:t>제공</a:t>
            </a:r>
            <a:br/>
            <a:r>
              <a:t>정책홍보를</a:t>
            </a:r>
            <a:br/>
            <a:r>
              <a:t>통한 대국민</a:t>
            </a:r>
            <a:br/>
            <a:r>
              <a:t>소통 강화</a:t>
            </a:r>
            <a:br/>
            <a:r>
              <a:t>측위정보</a:t>
            </a:r>
            <a:br/>
            <a:r>
              <a:t>안정성 향상</a:t>
            </a:r>
            <a:br/>
            <a:r>
              <a:t>및 국산화</a:t>
            </a:r>
            <a:br/>
            <a:r>
              <a:t>개발</a:t>
            </a:r>
            <a:br/>
            <a:r>
              <a:t>항법시스템</a:t>
            </a:r>
            <a:br/>
            <a:r>
              <a:t>시설물</a:t>
            </a:r>
            <a:br/>
            <a:r>
              <a:t>안전관리 강화</a:t>
            </a:r>
            <a:br/>
            <a:r>
              <a:t>추진</a:t>
            </a:r>
            <a:br/>
            <a:r>
              <a:t>내부직원 역량</a:t>
            </a:r>
            <a:br/>
            <a:r>
              <a:t>강화 및 소통</a:t>
            </a:r>
            <a:br/>
            <a:r>
              <a:t>프로그램 운영</a:t>
            </a:r>
          </a:p>
        </p:txBody>
      </p:sp>
      <p:sp>
        <p:nvSpPr>
          <p:cNvPr id="19" name="TextBox 18"/>
          <p:cNvSpPr txBox="1"/>
          <p:nvPr/>
        </p:nvSpPr>
        <p:spPr>
          <a:xfrm>
            <a:off x="4663440" y="4937760"/>
            <a:ext cx="4023360" cy="685800"/>
          </a:xfrm>
          <a:prstGeom prst="rect">
            <a:avLst/>
          </a:prstGeom>
          <a:noFill/>
        </p:spPr>
        <p:txBody>
          <a:bodyPr wrap="square">
            <a:spAutoFit/>
          </a:bodyPr>
          <a:lstStyle/>
          <a:p>
            <a:pPr algn="l">
              <a:defRPr sz="1000" b="0">
                <a:latin typeface="Malgun Gothic"/>
              </a:defRPr>
            </a:pPr>
            <a:r>
              <a:t>✓ 가치체계에 해양(측위) 정보에 기반한 안전이라는 가치를</a:t>
            </a:r>
            <a:br/>
            <a:r>
              <a:t>담고 있으며, 항법 이외의 다양한 정보로 확대하고 있음</a:t>
            </a:r>
            <a:br/>
            <a:r>
              <a:t>✓ 측위정보, 해양안전정보 등 공단의 해양공간계획,</a:t>
            </a:r>
            <a:br/>
            <a:r>
              <a:t>해양환경정보시스템과 연계할 수 있는 정보임</a:t>
            </a:r>
          </a:p>
        </p:txBody>
      </p:sp>
      <p:sp>
        <p:nvSpPr>
          <p:cNvPr id="20" name="TextBox 19"/>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None | Page 94</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벤치마킹 - 한국환경공단 전략체계</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한국환경공단은 '환경개선과 자원순환 촉진으로 환경친화적 국가발전에 기여'하기 위한 조직으로 비전과 별도로 슬로건을 통해 대외적으로 소통하고 있으며, 대기·온실가스, 물환경, 자원순환, 안전관리를 주요 사업으로 하고 있음</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한국환경공단 전략체계</a:t>
            </a:r>
          </a:p>
        </p:txBody>
      </p:sp>
      <p:sp>
        <p:nvSpPr>
          <p:cNvPr id="5" name="TextBox 4"/>
          <p:cNvSpPr txBox="1"/>
          <p:nvPr/>
        </p:nvSpPr>
        <p:spPr>
          <a:xfrm>
            <a:off x="457200" y="1828800"/>
            <a:ext cx="8229600" cy="914400"/>
          </a:xfrm>
          <a:prstGeom prst="rect">
            <a:avLst/>
          </a:prstGeom>
          <a:noFill/>
        </p:spPr>
        <p:txBody>
          <a:bodyPr wrap="square">
            <a:spAutoFit/>
          </a:bodyPr>
          <a:lstStyle/>
          <a:p>
            <a:pPr algn="l">
              <a:defRPr sz="900" b="0">
                <a:latin typeface="Malgun Gothic"/>
              </a:defRPr>
            </a:pPr>
            <a:r>
              <a:t>[TABLE]</a:t>
            </a:r>
            <a:br/>
            <a:r>
              <a:t>Contains mission, vision, slogan, core values, management direction, strategic goals, strategic tasks and main business project goals for Korea Environment Corporation</a:t>
            </a:r>
          </a:p>
        </p:txBody>
      </p:sp>
      <p:sp>
        <p:nvSpPr>
          <p:cNvPr id="6" name="TextBox 5"/>
          <p:cNvSpPr txBox="1"/>
          <p:nvPr/>
        </p:nvSpPr>
        <p:spPr>
          <a:xfrm>
            <a:off x="457200" y="2834640"/>
            <a:ext cx="8229600" cy="274320"/>
          </a:xfrm>
          <a:prstGeom prst="rect">
            <a:avLst/>
          </a:prstGeom>
          <a:noFill/>
        </p:spPr>
        <p:txBody>
          <a:bodyPr wrap="square">
            <a:spAutoFit/>
          </a:bodyPr>
          <a:lstStyle/>
          <a:p>
            <a:pPr algn="l">
              <a:defRPr sz="1200" b="1">
                <a:solidFill>
                  <a:srgbClr val="003366"/>
                </a:solidFill>
                <a:latin typeface="Malgun Gothic"/>
              </a:defRPr>
            </a:pPr>
            <a:r>
              <a:t>Key Findings</a:t>
            </a:r>
          </a:p>
        </p:txBody>
      </p:sp>
      <p:sp>
        <p:nvSpPr>
          <p:cNvPr id="7" name="TextBox 6"/>
          <p:cNvSpPr txBox="1"/>
          <p:nvPr/>
        </p:nvSpPr>
        <p:spPr>
          <a:xfrm>
            <a:off x="457200" y="3200400"/>
            <a:ext cx="8229600" cy="1600200"/>
          </a:xfrm>
          <a:prstGeom prst="rect">
            <a:avLst/>
          </a:prstGeom>
          <a:noFill/>
        </p:spPr>
        <p:txBody>
          <a:bodyPr wrap="square">
            <a:spAutoFit/>
          </a:bodyPr>
          <a:lstStyle/>
          <a:p>
            <a:pPr algn="l">
              <a:defRPr sz="1000" b="0">
                <a:latin typeface="Malgun Gothic"/>
              </a:defRPr>
            </a:pPr>
            <a:r>
              <a:t>✓ 설립목표를 미션에 인용, 환경과 미래를 결합한 간결한 비전 채용</a:t>
            </a:r>
            <a:br/>
            <a:r>
              <a:t>✓ 비전 외에 슬로건을 별도로 제정하여 기관의 가치체계 소통에 활용하고 있음</a:t>
            </a:r>
            <a:br/>
            <a:r>
              <a:t>✓ 전략목표는 주요사업인 기후대기, 물관리, 자원순환관리, 안전관리 목표에 지속가능 경영 기반 사회적책임을 포함 5개 목표로 수립하고 있음</a:t>
            </a:r>
            <a:br/>
            <a:r>
              <a:t>✓ 그린뉴딜, 탄소중립 등 정부정책을 충실히 반영한 전략과제를 수립하여 추진 중</a:t>
            </a:r>
            <a:br/>
            <a:r>
              <a:t>✓ 안전을 맨 왼쪽에 배치하고 안전한 환경과 일터 조성을 중요 과제로 인식시키고 있음</a:t>
            </a:r>
            <a:br/>
            <a:r>
              <a:t>✓ 경영평가 주요사업은 대기·온실가스관리, 물환경관리, 자원순환 관리, 안전관리 등 4개로 구성되어 있으며, 전략목표와 일맥 상통하도록 구성되어 있음</a:t>
            </a:r>
          </a:p>
        </p:txBody>
      </p:sp>
      <p:sp>
        <p:nvSpPr>
          <p:cNvPr id="8" name="TextBox 7"/>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94 | Page 95</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벤치마킹 - 한국환경공단 예산 구성 추이</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한국환경공단은 '16~'19년 연간 2% 수준의 낮은 성장률을 보이고 있으며, '20년 '19년 대비 7% 증가한 예산을 편성했는데, 주로 수질, 대기, 온실가스 등 정부대행사업의 예산을 집중적으로 편성하고 있음을 확인할 수 있음</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한국환경공단 사업별 연간 예산구성 추이</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연간 예산구성 추이 막대 그래프</a:t>
            </a:r>
          </a:p>
        </p:txBody>
      </p:sp>
      <p:sp>
        <p:nvSpPr>
          <p:cNvPr id="6" name="TextBox 5"/>
          <p:cNvSpPr txBox="1"/>
          <p:nvPr/>
        </p:nvSpPr>
        <p:spPr>
          <a:xfrm>
            <a:off x="457200" y="2148840"/>
            <a:ext cx="8229600" cy="457200"/>
          </a:xfrm>
          <a:prstGeom prst="rect">
            <a:avLst/>
          </a:prstGeom>
          <a:noFill/>
        </p:spPr>
        <p:txBody>
          <a:bodyPr wrap="square">
            <a:spAutoFit/>
          </a:bodyPr>
          <a:lstStyle/>
          <a:p>
            <a:pPr algn="l">
              <a:defRPr sz="1000" b="0">
                <a:latin typeface="Malgun Gothic"/>
              </a:defRPr>
            </a:pPr>
            <a:r>
              <a:t>정부대행사업(年 3,146억 원, 21.7%)</a:t>
            </a:r>
            <a:br/>
            <a:r>
              <a:t>수질, 대기, 탄소배출권, 온실가스, 토양오염, 음식물쓰레기 관리 정부대행 사업</a:t>
            </a:r>
          </a:p>
        </p:txBody>
      </p:sp>
      <p:sp>
        <p:nvSpPr>
          <p:cNvPr id="7" name="TextBox 6"/>
          <p:cNvSpPr txBox="1"/>
          <p:nvPr/>
        </p:nvSpPr>
        <p:spPr>
          <a:xfrm>
            <a:off x="457200" y="2697480"/>
            <a:ext cx="8229600" cy="457200"/>
          </a:xfrm>
          <a:prstGeom prst="rect">
            <a:avLst/>
          </a:prstGeom>
          <a:noFill/>
        </p:spPr>
        <p:txBody>
          <a:bodyPr wrap="square">
            <a:spAutoFit/>
          </a:bodyPr>
          <a:lstStyle/>
          <a:p>
            <a:pPr algn="l">
              <a:defRPr sz="1000" b="0">
                <a:latin typeface="Malgun Gothic"/>
              </a:defRPr>
            </a:pPr>
            <a:r>
              <a:t>정부보조사업(年 342억 원, 2.4%)</a:t>
            </a:r>
            <a:br/>
            <a:r>
              <a:t>하이브리드/전기자동차 보급 지원 및 노후 재활용시설 장비 보강</a:t>
            </a:r>
          </a:p>
        </p:txBody>
      </p:sp>
      <p:sp>
        <p:nvSpPr>
          <p:cNvPr id="8" name="TextBox 7"/>
          <p:cNvSpPr txBox="1"/>
          <p:nvPr/>
        </p:nvSpPr>
        <p:spPr>
          <a:xfrm>
            <a:off x="457200" y="3246120"/>
            <a:ext cx="8229600" cy="457200"/>
          </a:xfrm>
          <a:prstGeom prst="rect">
            <a:avLst/>
          </a:prstGeom>
          <a:noFill/>
        </p:spPr>
        <p:txBody>
          <a:bodyPr wrap="square">
            <a:spAutoFit/>
          </a:bodyPr>
          <a:lstStyle/>
          <a:p>
            <a:pPr algn="l">
              <a:defRPr sz="1000" b="0">
                <a:latin typeface="Malgun Gothic"/>
              </a:defRPr>
            </a:pPr>
            <a:r>
              <a:t>환경시설설치지원사업 (年 7,430억 원, 51.2%)</a:t>
            </a:r>
            <a:br/>
            <a:r>
              <a:t>상하수·폐수처리장, 하수관거, 소각·매립장 및 폐자원 에너지화 시설 등에 대한 시설설치 지원</a:t>
            </a:r>
          </a:p>
        </p:txBody>
      </p:sp>
      <p:sp>
        <p:nvSpPr>
          <p:cNvPr id="9" name="TextBox 8"/>
          <p:cNvSpPr txBox="1"/>
          <p:nvPr/>
        </p:nvSpPr>
        <p:spPr>
          <a:xfrm>
            <a:off x="457200" y="3794760"/>
            <a:ext cx="8229600" cy="457200"/>
          </a:xfrm>
          <a:prstGeom prst="rect">
            <a:avLst/>
          </a:prstGeom>
          <a:noFill/>
        </p:spPr>
        <p:txBody>
          <a:bodyPr wrap="square">
            <a:spAutoFit/>
          </a:bodyPr>
          <a:lstStyle/>
          <a:p>
            <a:pPr algn="l">
              <a:defRPr sz="1000" b="0">
                <a:latin typeface="Malgun Gothic"/>
              </a:defRPr>
            </a:pPr>
            <a:r>
              <a:t>정부출연사업(年 2,076억 원, 14.3%)</a:t>
            </a:r>
            <a:br/>
            <a:r>
              <a:t>수처리시설 진단, 악취시설 진단 등 수입-지출 차액 출연금 지원 사업</a:t>
            </a:r>
          </a:p>
        </p:txBody>
      </p:sp>
      <p:sp>
        <p:nvSpPr>
          <p:cNvPr id="10" name="TextBox 9"/>
          <p:cNvSpPr txBox="1"/>
          <p:nvPr/>
        </p:nvSpPr>
        <p:spPr>
          <a:xfrm>
            <a:off x="457200" y="4343400"/>
            <a:ext cx="8229600" cy="457200"/>
          </a:xfrm>
          <a:prstGeom prst="rect">
            <a:avLst/>
          </a:prstGeom>
          <a:noFill/>
        </p:spPr>
        <p:txBody>
          <a:bodyPr wrap="square">
            <a:spAutoFit/>
          </a:bodyPr>
          <a:lstStyle/>
          <a:p>
            <a:pPr algn="l">
              <a:defRPr sz="1000" b="0">
                <a:latin typeface="Malgun Gothic"/>
              </a:defRPr>
            </a:pPr>
            <a:r>
              <a:t>환경시설 수탁운영 사업 (年 461억 원, 3.2%)</a:t>
            </a:r>
            <a:br/>
            <a:r>
              <a:t>지자체 환경기초시설의 수탁운영 : 한강수계하수관망계측시스템관리, 댐상류하수도시설통합운영, 지방상수도통합운영</a:t>
            </a:r>
          </a:p>
        </p:txBody>
      </p:sp>
      <p:sp>
        <p:nvSpPr>
          <p:cNvPr id="11" name="TextBox 10"/>
          <p:cNvSpPr txBox="1"/>
          <p:nvPr/>
        </p:nvSpPr>
        <p:spPr>
          <a:xfrm>
            <a:off x="457200" y="4892040"/>
            <a:ext cx="8229600" cy="457200"/>
          </a:xfrm>
          <a:prstGeom prst="rect">
            <a:avLst/>
          </a:prstGeom>
          <a:noFill/>
        </p:spPr>
        <p:txBody>
          <a:bodyPr wrap="square">
            <a:spAutoFit/>
          </a:bodyPr>
          <a:lstStyle/>
          <a:p>
            <a:pPr algn="l">
              <a:defRPr sz="1000" b="0">
                <a:latin typeface="Malgun Gothic"/>
              </a:defRPr>
            </a:pPr>
            <a:r>
              <a:t>기타 용역 등(年 1,042억 원, 7.21%)</a:t>
            </a:r>
            <a:br/>
            <a:r>
              <a:t>그 외 지자체 환경기초시설 수탁운영 및 기타 위·수탁용역 수행</a:t>
            </a:r>
          </a:p>
        </p:txBody>
      </p:sp>
      <p:sp>
        <p:nvSpPr>
          <p:cNvPr id="12" name="TextBox 11"/>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None | Page 96</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벤치마킹 - 한국환경공단 수입-지출 예산 구조</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한국환경공단 '20년 예산 1.45조 원 중 정부지원이 99.9%이며, 출연금 1,230억 원(8.5%), 사업수입 9,751억 원(67.3%), 위탁수입 3,146억 원(21.7%)으로 구성되었으며, 전체 지출 중 인건비는 1,799억 원(12.4%) 규모로 책정됨</a:t>
            </a:r>
          </a:p>
        </p:txBody>
      </p:sp>
      <p:sp>
        <p:nvSpPr>
          <p:cNvPr id="4" name="Rectangle 3"/>
          <p:cNvSpPr/>
          <p:nvPr/>
        </p:nvSpPr>
        <p:spPr>
          <a:xfrm>
            <a:off x="45720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5" name="TextBox 4"/>
          <p:cNvSpPr txBox="1"/>
          <p:nvPr/>
        </p:nvSpPr>
        <p:spPr>
          <a:xfrm>
            <a:off x="54864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6" name="Rectangle 5"/>
          <p:cNvSpPr/>
          <p:nvPr/>
        </p:nvSpPr>
        <p:spPr>
          <a:xfrm>
            <a:off x="323088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7" name="TextBox 6"/>
          <p:cNvSpPr txBox="1"/>
          <p:nvPr/>
        </p:nvSpPr>
        <p:spPr>
          <a:xfrm>
            <a:off x="332232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8" name="Rectangle 7"/>
          <p:cNvSpPr/>
          <p:nvPr/>
        </p:nvSpPr>
        <p:spPr>
          <a:xfrm>
            <a:off x="600456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9" name="TextBox 8"/>
          <p:cNvSpPr txBox="1"/>
          <p:nvPr/>
        </p:nvSpPr>
        <p:spPr>
          <a:xfrm>
            <a:off x="609600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0" name="Rectangle 9"/>
          <p:cNvSpPr/>
          <p:nvPr/>
        </p:nvSpPr>
        <p:spPr>
          <a:xfrm>
            <a:off x="457200" y="384048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1" name="TextBox 10"/>
          <p:cNvSpPr txBox="1"/>
          <p:nvPr/>
        </p:nvSpPr>
        <p:spPr>
          <a:xfrm>
            <a:off x="548640" y="393192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2" name="Rectangle 11"/>
          <p:cNvSpPr/>
          <p:nvPr/>
        </p:nvSpPr>
        <p:spPr>
          <a:xfrm>
            <a:off x="3230880" y="384048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3" name="TextBox 12"/>
          <p:cNvSpPr txBox="1"/>
          <p:nvPr/>
        </p:nvSpPr>
        <p:spPr>
          <a:xfrm>
            <a:off x="3322320" y="393192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4" name="Rectangle 13"/>
          <p:cNvSpPr/>
          <p:nvPr/>
        </p:nvSpPr>
        <p:spPr>
          <a:xfrm>
            <a:off x="6004560" y="384048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5" name="TextBox 14"/>
          <p:cNvSpPr txBox="1"/>
          <p:nvPr/>
        </p:nvSpPr>
        <p:spPr>
          <a:xfrm>
            <a:off x="6096000" y="393192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6" name="TextBox 15"/>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96 | Page 97</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벤치마킹 - 미국 해양대기청(NOAA) 해양환경분야 주요사업</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미국해양대기청(NOAA)의 해양공간, 생태계, 인프라 중심으로 '21년 주요 예산을 편성하고 있고, 전체 예산은 감소했으나, 해양환경 분야 예산은 소폭 증가하여 전체 NOAA 예산 중 15.9%로 비중을 높이고 있으며, 특히 생물자원, 수산업 및 생태계 과학 부문의 예산 증가가 두드러짐</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NOAA 해양환경분야 주요 사업 내용</a:t>
            </a:r>
          </a:p>
        </p:txBody>
      </p:sp>
      <p:sp>
        <p:nvSpPr>
          <p:cNvPr id="5" name="TextBox 4"/>
          <p:cNvSpPr txBox="1"/>
          <p:nvPr/>
        </p:nvSpPr>
        <p:spPr>
          <a:xfrm>
            <a:off x="457200" y="1828800"/>
            <a:ext cx="4023360" cy="8458200"/>
          </a:xfrm>
          <a:prstGeom prst="rect">
            <a:avLst/>
          </a:prstGeom>
          <a:noFill/>
        </p:spPr>
        <p:txBody>
          <a:bodyPr wrap="square">
            <a:spAutoFit/>
          </a:bodyPr>
          <a:lstStyle/>
          <a:p>
            <a:pPr algn="l">
              <a:defRPr sz="900" b="0">
                <a:latin typeface="Malgun Gothic"/>
              </a:defRPr>
            </a:pPr>
            <a:r>
              <a:t>[TABLE]</a:t>
            </a:r>
            <a:br/>
            <a:r>
              <a:t>구분	해양환경분야 주요사업	영문 사업명	'15년 예산	'21년 예산</a:t>
            </a:r>
            <a:br/>
            <a:r>
              <a:t>연안 과학·평가·대응·복원	Coastal Science, Assessment, Response and Restoration	73,003	46,062</a:t>
            </a:r>
            <a:br/>
            <a:r>
              <a:t>공간	국가 하구 연구구역시스템	National Estuarine Research Reserve System	21,300	-</a:t>
            </a:r>
            <a:br/>
            <a:r>
              <a:t>	국가 하구 연구구역 건설(NERRS)	National Estuarine Research Reserve System Construction (NERRS)	1,700	-</a:t>
            </a:r>
            <a:br/>
            <a:r>
              <a:t>	보호구역 및 MPA	Sanctuaries and Marine Protected Areas	47,139	54,922</a:t>
            </a:r>
            <a:br/>
            <a:r>
              <a:t>	해양 보호구역 기지 건설	Subtotal, Marine Sanctuary Construction	2,000	-</a:t>
            </a:r>
            <a:br/>
            <a:r>
              <a:t>	미국 통합 해양 관측 시스템(IOOS)	IOOS Regional Observations	29,500	19,444</a:t>
            </a:r>
            <a:br/>
            <a:r>
              <a:t>	해양 탐사 및 연구	Ocean Exploration and Research	19,220	32,096</a:t>
            </a:r>
            <a:br/>
            <a:r>
              <a:t>	해양 연안, 5대호 연구	Ocean, Coastal, and Great Lakes Research	24,669	29,585</a:t>
            </a:r>
            <a:br/>
            <a:r>
              <a:t>	연안 구역 관리 및 서비스	Coastal Zone Management and Services	46,472	46,269</a:t>
            </a:r>
            <a:br/>
            <a:r>
              <a:t>	소계		200,549	228,378</a:t>
            </a:r>
            <a:br/>
            <a:r>
              <a:t>위협	기후체제 및 생태계 생산성	Climate Regimes &amp; Ecosystem Productivity	2,879	-</a:t>
            </a:r>
            <a:br/>
            <a:r>
              <a:t>요소	통합 해양산성화 연구	Integrated Ocean Acidification	14,922	8,227</a:t>
            </a:r>
            <a:br/>
            <a:r>
              <a:t>	소계		17,801	8,227</a:t>
            </a:r>
            <a:br/>
            <a:r>
              <a:t>생태계	산호초 프로그램	Coral Reef Program	26,078	26,107</a:t>
            </a:r>
            <a:br/>
            <a:r>
              <a:t>	보호자원 연구 및 관리	Protected Resources Science and Management	186,211	192,207</a:t>
            </a:r>
            <a:br/>
            <a:r>
              <a:t>	서식지 보전 및 복원	Subtotal, Habitat Conservation &amp; Restoration	42,190	39,048</a:t>
            </a:r>
            <a:br/>
            <a:r>
              <a:t>	태평양 연안 연어 회복 기금	Pacific Coastal Salmon Recovery Fund	50,000	-</a:t>
            </a:r>
            <a:br/>
            <a:r>
              <a:t>	수산업 및 생태계 과학 프로그램 및 서비스	Fisheries and Ecosystem Science Programs and Services	-	138,375</a:t>
            </a:r>
            <a:br/>
            <a:r>
              <a:t>	소계		304,479	395,737</a:t>
            </a:r>
            <a:br/>
            <a:r>
              <a:t>인프라	국가환경정책법(NEPA)	National Environmental Policy Act (NEPA)	6,609	-</a:t>
            </a:r>
            <a:br/>
            <a:r>
              <a:t>	지속적 해양 관측 및 모니터링	Sustained Ocean Observations and Monitoring	41,347	37,301</a:t>
            </a:r>
            <a:br/>
            <a:r>
              <a:t>	국가 환경정보국	National Centers for Environmental Information	69,067	52,507</a:t>
            </a:r>
            <a:br/>
            <a:r>
              <a:t>	보호구역 기금 충당금	Sanctuaries Enforcement Asset Forfeiture Fund	120	120</a:t>
            </a:r>
            <a:br/>
            <a:r>
              <a:t>	걸프 연안 생태계 복원 기금 충당금	Gulf Coast Ecosystem Restoration Fund	2,078	6,937</a:t>
            </a:r>
            <a:br/>
            <a:r>
              <a:t>	환경 개선 및 복원 기금 충당금	Environmental Improvement &amp; Restoration Fund	292	4,361</a:t>
            </a:r>
            <a:br/>
            <a:r>
              <a:t>	국립 해양학 파트너십 프로그램	National Oceanographic Partnership Program	-	5,545</a:t>
            </a:r>
            <a:br/>
            <a:r>
              <a:t>	소계		119,513	106,771</a:t>
            </a:r>
            <a:br/>
            <a:r>
              <a:t>	계		642,342	739,113</a:t>
            </a:r>
            <a:br/>
            <a:r>
              <a:t>	NOAA 총 예산		5,496,671	4,634,033</a:t>
            </a:r>
            <a:br/>
            <a:r>
              <a:t>	전체 예산 대비 해양환경분야 주요사업 예산 비중		11.7%	15.9%</a:t>
            </a:r>
          </a:p>
        </p:txBody>
      </p:sp>
      <p:sp>
        <p:nvSpPr>
          <p:cNvPr id="6" name="TextBox 5"/>
          <p:cNvSpPr txBox="1"/>
          <p:nvPr/>
        </p:nvSpPr>
        <p:spPr>
          <a:xfrm>
            <a:off x="457200" y="10378440"/>
            <a:ext cx="8229600" cy="274320"/>
          </a:xfrm>
          <a:prstGeom prst="rect">
            <a:avLst/>
          </a:prstGeom>
          <a:noFill/>
        </p:spPr>
        <p:txBody>
          <a:bodyPr wrap="square">
            <a:spAutoFit/>
          </a:bodyPr>
          <a:lstStyle/>
          <a:p>
            <a:pPr algn="l">
              <a:defRPr sz="1200" b="1">
                <a:solidFill>
                  <a:srgbClr val="003366"/>
                </a:solidFill>
                <a:latin typeface="Malgun Gothic"/>
              </a:defRPr>
            </a:pPr>
            <a:r>
              <a:t>Key Findings</a:t>
            </a:r>
          </a:p>
        </p:txBody>
      </p:sp>
      <p:sp>
        <p:nvSpPr>
          <p:cNvPr id="7" name="TextBox 6"/>
          <p:cNvSpPr txBox="1"/>
          <p:nvPr/>
        </p:nvSpPr>
        <p:spPr>
          <a:xfrm>
            <a:off x="4663440" y="2194560"/>
            <a:ext cx="4023360" cy="1371600"/>
          </a:xfrm>
          <a:prstGeom prst="rect">
            <a:avLst/>
          </a:prstGeom>
          <a:noFill/>
        </p:spPr>
        <p:txBody>
          <a:bodyPr wrap="square">
            <a:spAutoFit/>
          </a:bodyPr>
          <a:lstStyle/>
          <a:p>
            <a:pPr algn="l">
              <a:defRPr sz="1000" b="0">
                <a:latin typeface="Malgun Gothic"/>
              </a:defRPr>
            </a:pPr>
            <a:r>
              <a:t>✓ 미국 해양대기청(NOAA)의</a:t>
            </a:r>
            <a:br/>
            <a:r>
              <a:t>전체 예산은 축소되었으나</a:t>
            </a:r>
            <a:br/>
            <a:r>
              <a:t>해양환경은 예산을 증액해</a:t>
            </a:r>
            <a:br/>
            <a:r>
              <a:t>'15년 11.7% 비중에서 '21년</a:t>
            </a:r>
            <a:br/>
            <a:r>
              <a:t>전체 예산의 15.9%로 증가함</a:t>
            </a:r>
            <a:br/>
            <a:br/>
            <a:r>
              <a:t>✓ 특히 보호종에 대한 영향</a:t>
            </a:r>
            <a:br/>
            <a:r>
              <a:t>최소화를 위한 보호자원의</a:t>
            </a:r>
            <a:br/>
            <a:r>
              <a:t>연구와 관리가 가장 큰</a:t>
            </a:r>
            <a:br/>
            <a:r>
              <a:t>비중을 차지하고 있음</a:t>
            </a:r>
            <a:br/>
            <a:br/>
            <a:r>
              <a:t>✓ 수산업 및 생태계 과학</a:t>
            </a:r>
            <a:br/>
            <a:r>
              <a:t>프로그램과 서비스는 어민과</a:t>
            </a:r>
            <a:br/>
            <a:r>
              <a:t>어장 관련 정보 수집·공유</a:t>
            </a:r>
            <a:br/>
            <a:r>
              <a:t>사업으로 지속 성장 중임</a:t>
            </a:r>
            <a:br/>
            <a:br/>
            <a:r>
              <a:t>✓ 이미 높은 수준의 투자로</a:t>
            </a:r>
            <a:br/>
            <a:r>
              <a:t>선도적 역량을 확보하고 있는</a:t>
            </a:r>
            <a:br/>
            <a:r>
              <a:t>기상·환경 정보 시스템은</a:t>
            </a:r>
            <a:br/>
            <a:r>
              <a:t>급격한 예산 증가 없이</a:t>
            </a:r>
            <a:br/>
            <a:r>
              <a:t>꾸준한 투자가 지속되고 있음</a:t>
            </a:r>
          </a:p>
        </p:txBody>
      </p:sp>
      <p:sp>
        <p:nvSpPr>
          <p:cNvPr id="8" name="TextBox 7"/>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None | Page 98</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벤치마킹 - 미국 해양대기청 예산 추이</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미국 해양대기청은 '18년 예산의 17%가 삭감되었으나 점차 회복하고 있으며, 전체 예산의 70%가 환경위성, 날씨, 해양수산 등 다수 수요자 또는 수혜자가 명확한 사업에 투입되어 수혜자를 늘리는 운영 방향성을 확인해 볼 수 있음</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NOAA 5개년 주요 사업별 예산 추이</a:t>
            </a:r>
          </a:p>
        </p:txBody>
      </p:sp>
      <p:sp>
        <p:nvSpPr>
          <p:cNvPr id="5" name="TextBox 4"/>
          <p:cNvSpPr txBox="1"/>
          <p:nvPr/>
        </p:nvSpPr>
        <p:spPr>
          <a:xfrm>
            <a:off x="457200" y="1828800"/>
            <a:ext cx="4023360" cy="228600"/>
          </a:xfrm>
          <a:prstGeom prst="rect">
            <a:avLst/>
          </a:prstGeom>
          <a:noFill/>
        </p:spPr>
        <p:txBody>
          <a:bodyPr wrap="square">
            <a:spAutoFit/>
          </a:bodyPr>
          <a:lstStyle/>
          <a:p>
            <a:pPr algn="l">
              <a:defRPr sz="1000" b="0">
                <a:latin typeface="Malgun Gothic"/>
              </a:defRPr>
            </a:pPr>
            <a:r>
              <a:t>Line chart of NOAA budget allocation for 5 years</a:t>
            </a:r>
          </a:p>
        </p:txBody>
      </p:sp>
      <p:sp>
        <p:nvSpPr>
          <p:cNvPr id="6" name="TextBox 5"/>
          <p:cNvSpPr txBox="1"/>
          <p:nvPr/>
        </p:nvSpPr>
        <p:spPr>
          <a:xfrm>
            <a:off x="457200" y="2148840"/>
            <a:ext cx="8229600" cy="274320"/>
          </a:xfrm>
          <a:prstGeom prst="rect">
            <a:avLst/>
          </a:prstGeom>
          <a:noFill/>
        </p:spPr>
        <p:txBody>
          <a:bodyPr wrap="square">
            <a:spAutoFit/>
          </a:bodyPr>
          <a:lstStyle/>
          <a:p>
            <a:pPr algn="l">
              <a:defRPr sz="1200" b="1">
                <a:solidFill>
                  <a:srgbClr val="003366"/>
                </a:solidFill>
                <a:latin typeface="Malgun Gothic"/>
              </a:defRPr>
            </a:pPr>
            <a:r>
              <a:t>NOAA 주요사업 예산 추이 및 운영 방향성</a:t>
            </a:r>
          </a:p>
        </p:txBody>
      </p:sp>
      <p:sp>
        <p:nvSpPr>
          <p:cNvPr id="7" name="TextBox 6"/>
          <p:cNvSpPr txBox="1"/>
          <p:nvPr/>
        </p:nvSpPr>
        <p:spPr>
          <a:xfrm>
            <a:off x="4663440" y="2194560"/>
            <a:ext cx="4023360" cy="685800"/>
          </a:xfrm>
          <a:prstGeom prst="rect">
            <a:avLst/>
          </a:prstGeom>
          <a:noFill/>
        </p:spPr>
        <p:txBody>
          <a:bodyPr wrap="square">
            <a:spAutoFit/>
          </a:bodyPr>
          <a:lstStyle/>
          <a:p>
            <a:pPr algn="l">
              <a:defRPr sz="1000" b="0">
                <a:latin typeface="Malgun Gothic"/>
              </a:defRPr>
            </a:pPr>
            <a:r>
              <a:t>1 국가환경위성·데이터·정보서비스 (NESDIS)</a:t>
            </a:r>
            <a:br/>
            <a:r>
              <a:t>2 국가날씨서비스 (NWS)</a:t>
            </a:r>
            <a:br/>
            <a:r>
              <a:t>3 국가해양수산서비스 (NMFS)</a:t>
            </a:r>
            <a:br/>
            <a:r>
              <a:t>4 국가해양서비스 (NOS)</a:t>
            </a:r>
            <a:br/>
            <a:r>
              <a:t>5 해양대기조사 (OAR)</a:t>
            </a:r>
            <a:br/>
            <a:r>
              <a:t>6 해상항공관리 오피스 (OMAO)</a:t>
            </a:r>
            <a:br/>
            <a:r>
              <a:t>7 미션 서포트 (MS)</a:t>
            </a:r>
          </a:p>
        </p:txBody>
      </p:sp>
      <p:sp>
        <p:nvSpPr>
          <p:cNvPr id="8" name="TextBox 7"/>
          <p:cNvSpPr txBox="1"/>
          <p:nvPr/>
        </p:nvSpPr>
        <p:spPr>
          <a:xfrm>
            <a:off x="457200" y="2971800"/>
            <a:ext cx="8229600" cy="274320"/>
          </a:xfrm>
          <a:prstGeom prst="rect">
            <a:avLst/>
          </a:prstGeom>
          <a:noFill/>
        </p:spPr>
        <p:txBody>
          <a:bodyPr wrap="square">
            <a:spAutoFit/>
          </a:bodyPr>
          <a:lstStyle/>
          <a:p>
            <a:pPr algn="l">
              <a:defRPr sz="1200" b="1">
                <a:solidFill>
                  <a:srgbClr val="003366"/>
                </a:solidFill>
                <a:latin typeface="Malgun Gothic"/>
              </a:defRPr>
            </a:pPr>
            <a:r>
              <a:t>Key Findings</a:t>
            </a:r>
          </a:p>
        </p:txBody>
      </p:sp>
      <p:sp>
        <p:nvSpPr>
          <p:cNvPr id="9" name="TextBox 8"/>
          <p:cNvSpPr txBox="1"/>
          <p:nvPr/>
        </p:nvSpPr>
        <p:spPr>
          <a:xfrm>
            <a:off x="4663440" y="3337560"/>
            <a:ext cx="4023360" cy="914400"/>
          </a:xfrm>
          <a:prstGeom prst="rect">
            <a:avLst/>
          </a:prstGeom>
          <a:noFill/>
        </p:spPr>
        <p:txBody>
          <a:bodyPr wrap="square">
            <a:spAutoFit/>
          </a:bodyPr>
          <a:lstStyle/>
          <a:p>
            <a:pPr algn="l">
              <a:defRPr sz="1000" b="0">
                <a:latin typeface="Malgun Gothic"/>
              </a:defRPr>
            </a:pPr>
            <a:r>
              <a:t>✓ 환경위성, 날씨, 해양수산 서비스가 전체 예산의 70%</a:t>
            </a:r>
            <a:br/>
            <a:r>
              <a:t>수준이며, 해양환경 분야 과제를 주로 다루고 있는</a:t>
            </a:r>
            <a:br/>
            <a:r>
              <a:t>국가해양서비스는 전체 8% 정도의 예산이 배정됨</a:t>
            </a:r>
            <a:br/>
            <a:r>
              <a:t>✓ 기상정보, 날씨 등 수요자가 다수인 서비스나 수산업</a:t>
            </a:r>
            <a:br/>
            <a:r>
              <a:t>종사자 등 직접 수혜자가 명확한 사업들에 주로 예산을</a:t>
            </a:r>
            <a:br/>
            <a:r>
              <a:t>편성하여 수혜자를 늘리는 방향으로 운영되고 있음</a:t>
            </a:r>
          </a:p>
        </p:txBody>
      </p:sp>
      <p:sp>
        <p:nvSpPr>
          <p:cNvPr id="10" name="TextBox 9"/>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None | Page 99</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벤치마킹 - 일본 해양정책 변화</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일본은 국토교통부 주관 제3차 해양기본계획에서 기존 12개 과제를 9개로 통합하여 운영하고 있으며, 해양환경 유지·보전은 해양환경 보전과 해안지역 관리를 통합한 과제로 해양환경 유지·보전에 연안지역 관리를 병합하고 있음</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 | Page 100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전략수립 방향성</a:t>
            </a:r>
          </a:p>
        </p:txBody>
      </p:sp>
      <p:sp>
        <p:nvSpPr>
          <p:cNvPr id="3" name="TextBox 2"/>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None | Page 102</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전략수립 방향성 - 가치체계·전략체계 재정립 프로세스</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가치체계·전략체계 재정립은 중장기 전략수립 프로세스에 준하여 미션-비전-핵심가치 수립 이후 전략과제, 경영목표 수립과 세부실행과제 및 핵심성과지표 수립 후 종합적 중장기 로드맵을 수립하는 절차로 진행함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중장기 전략수립 프로세스</a:t>
            </a:r>
          </a:p>
        </p:txBody>
      </p:sp>
      <p:sp>
        <p:nvSpPr>
          <p:cNvPr id="5" name="TextBox 4"/>
          <p:cNvSpPr txBox="1"/>
          <p:nvPr/>
        </p:nvSpPr>
        <p:spPr>
          <a:xfrm>
            <a:off x="457200" y="1828800"/>
            <a:ext cx="4023360" cy="228600"/>
          </a:xfrm>
          <a:prstGeom prst="rect">
            <a:avLst/>
          </a:prstGeom>
          <a:noFill/>
        </p:spPr>
        <p:txBody>
          <a:bodyPr wrap="square">
            <a:spAutoFit/>
          </a:bodyPr>
          <a:lstStyle/>
          <a:p>
            <a:pPr algn="l">
              <a:defRPr sz="1000" b="0">
                <a:latin typeface="Malgun Gothic"/>
              </a:defRPr>
            </a:pPr>
            <a:r>
              <a:t>Step 1 전략 방향성 수립</a:t>
            </a:r>
          </a:p>
        </p:txBody>
      </p:sp>
      <p:sp>
        <p:nvSpPr>
          <p:cNvPr id="6" name="TextBox 5"/>
          <p:cNvSpPr txBox="1"/>
          <p:nvPr/>
        </p:nvSpPr>
        <p:spPr>
          <a:xfrm>
            <a:off x="457200" y="2148840"/>
            <a:ext cx="4023360" cy="228600"/>
          </a:xfrm>
          <a:prstGeom prst="rect">
            <a:avLst/>
          </a:prstGeom>
          <a:noFill/>
        </p:spPr>
        <p:txBody>
          <a:bodyPr wrap="square">
            <a:spAutoFit/>
          </a:bodyPr>
          <a:lstStyle/>
          <a:p>
            <a:pPr algn="l">
              <a:defRPr sz="1000" b="0">
                <a:latin typeface="Malgun Gothic"/>
              </a:defRPr>
            </a:pPr>
            <a:r>
              <a:t>• 환경분석(SWOT), 이해관계자 의견 수렴</a:t>
            </a:r>
            <a:br/>
            <a:r>
              <a:t>→ 전략수립 과정 전반의 방향성 도출</a:t>
            </a:r>
          </a:p>
        </p:txBody>
      </p:sp>
      <p:sp>
        <p:nvSpPr>
          <p:cNvPr id="7" name="TextBox 6"/>
          <p:cNvSpPr txBox="1"/>
          <p:nvPr/>
        </p:nvSpPr>
        <p:spPr>
          <a:xfrm>
            <a:off x="457200" y="2468880"/>
            <a:ext cx="4023360" cy="228600"/>
          </a:xfrm>
          <a:prstGeom prst="rect">
            <a:avLst/>
          </a:prstGeom>
          <a:noFill/>
        </p:spPr>
        <p:txBody>
          <a:bodyPr wrap="square">
            <a:spAutoFit/>
          </a:bodyPr>
          <a:lstStyle/>
          <a:p>
            <a:pPr algn="l">
              <a:defRPr sz="1000" b="0">
                <a:latin typeface="Malgun Gothic"/>
              </a:defRPr>
            </a:pPr>
            <a:r>
              <a:t>Step 2 미션 수립</a:t>
            </a:r>
          </a:p>
        </p:txBody>
      </p:sp>
      <p:sp>
        <p:nvSpPr>
          <p:cNvPr id="8" name="TextBox 7"/>
          <p:cNvSpPr txBox="1"/>
          <p:nvPr/>
        </p:nvSpPr>
        <p:spPr>
          <a:xfrm>
            <a:off x="457200" y="2788920"/>
            <a:ext cx="4023360" cy="228600"/>
          </a:xfrm>
          <a:prstGeom prst="rect">
            <a:avLst/>
          </a:prstGeom>
          <a:noFill/>
        </p:spPr>
        <p:txBody>
          <a:bodyPr wrap="square">
            <a:spAutoFit/>
          </a:bodyPr>
          <a:lstStyle/>
          <a:p>
            <a:pPr algn="l">
              <a:defRPr sz="1000" b="0">
                <a:latin typeface="Malgun Gothic"/>
              </a:defRPr>
            </a:pPr>
            <a:r>
              <a:t>• 설립목적, 業의 본질 반영 미션 수립</a:t>
            </a:r>
          </a:p>
        </p:txBody>
      </p:sp>
      <p:sp>
        <p:nvSpPr>
          <p:cNvPr id="9" name="TextBox 8"/>
          <p:cNvSpPr txBox="1"/>
          <p:nvPr/>
        </p:nvSpPr>
        <p:spPr>
          <a:xfrm>
            <a:off x="457200" y="3108960"/>
            <a:ext cx="4023360" cy="228600"/>
          </a:xfrm>
          <a:prstGeom prst="rect">
            <a:avLst/>
          </a:prstGeom>
          <a:noFill/>
        </p:spPr>
        <p:txBody>
          <a:bodyPr wrap="square">
            <a:spAutoFit/>
          </a:bodyPr>
          <a:lstStyle/>
          <a:p>
            <a:pPr algn="l">
              <a:defRPr sz="1000" b="0">
                <a:latin typeface="Malgun Gothic"/>
              </a:defRPr>
            </a:pPr>
            <a:r>
              <a:t>Step 3 비전 수립</a:t>
            </a:r>
          </a:p>
        </p:txBody>
      </p:sp>
      <p:sp>
        <p:nvSpPr>
          <p:cNvPr id="10" name="TextBox 9"/>
          <p:cNvSpPr txBox="1"/>
          <p:nvPr/>
        </p:nvSpPr>
        <p:spPr>
          <a:xfrm>
            <a:off x="457200" y="3429000"/>
            <a:ext cx="4023360" cy="228600"/>
          </a:xfrm>
          <a:prstGeom prst="rect">
            <a:avLst/>
          </a:prstGeom>
          <a:noFill/>
        </p:spPr>
        <p:txBody>
          <a:bodyPr wrap="square">
            <a:spAutoFit/>
          </a:bodyPr>
          <a:lstStyle/>
          <a:p>
            <a:pPr algn="l">
              <a:defRPr sz="1000" b="0">
                <a:latin typeface="Malgun Gothic"/>
              </a:defRPr>
            </a:pPr>
            <a:r>
              <a:t>• 방향성, 미래상, 도전적 목표 반영 비전 수립</a:t>
            </a:r>
          </a:p>
        </p:txBody>
      </p:sp>
      <p:sp>
        <p:nvSpPr>
          <p:cNvPr id="11" name="TextBox 10"/>
          <p:cNvSpPr txBox="1"/>
          <p:nvPr/>
        </p:nvSpPr>
        <p:spPr>
          <a:xfrm>
            <a:off x="457200" y="3749040"/>
            <a:ext cx="4023360" cy="228600"/>
          </a:xfrm>
          <a:prstGeom prst="rect">
            <a:avLst/>
          </a:prstGeom>
          <a:noFill/>
        </p:spPr>
        <p:txBody>
          <a:bodyPr wrap="square">
            <a:spAutoFit/>
          </a:bodyPr>
          <a:lstStyle/>
          <a:p>
            <a:pPr algn="l">
              <a:defRPr sz="1000" b="0">
                <a:latin typeface="Malgun Gothic"/>
              </a:defRPr>
            </a:pPr>
            <a:r>
              <a:t>Step 4 핵심가치 수립</a:t>
            </a:r>
          </a:p>
        </p:txBody>
      </p:sp>
      <p:sp>
        <p:nvSpPr>
          <p:cNvPr id="12" name="TextBox 11"/>
          <p:cNvSpPr txBox="1"/>
          <p:nvPr/>
        </p:nvSpPr>
        <p:spPr>
          <a:xfrm>
            <a:off x="457200" y="4069080"/>
            <a:ext cx="4023360" cy="228600"/>
          </a:xfrm>
          <a:prstGeom prst="rect">
            <a:avLst/>
          </a:prstGeom>
          <a:noFill/>
        </p:spPr>
        <p:txBody>
          <a:bodyPr wrap="square">
            <a:spAutoFit/>
          </a:bodyPr>
          <a:lstStyle/>
          <a:p>
            <a:pPr algn="l">
              <a:defRPr sz="1000" b="0">
                <a:latin typeface="Malgun Gothic"/>
              </a:defRPr>
            </a:pPr>
            <a:r>
              <a:t>• 조직의 운영원칙과 정책 반영 핵심가치 수립</a:t>
            </a:r>
          </a:p>
        </p:txBody>
      </p:sp>
      <p:sp>
        <p:nvSpPr>
          <p:cNvPr id="13" name="TextBox 12"/>
          <p:cNvSpPr txBox="1"/>
          <p:nvPr/>
        </p:nvSpPr>
        <p:spPr>
          <a:xfrm>
            <a:off x="457200" y="4389120"/>
            <a:ext cx="4023360" cy="228600"/>
          </a:xfrm>
          <a:prstGeom prst="rect">
            <a:avLst/>
          </a:prstGeom>
          <a:noFill/>
        </p:spPr>
        <p:txBody>
          <a:bodyPr wrap="square">
            <a:spAutoFit/>
          </a:bodyPr>
          <a:lstStyle/>
          <a:p>
            <a:pPr algn="l">
              <a:defRPr sz="1000" b="0">
                <a:latin typeface="Malgun Gothic"/>
              </a:defRPr>
            </a:pPr>
            <a:r>
              <a:t>Step 5 전략과제 수립</a:t>
            </a:r>
          </a:p>
        </p:txBody>
      </p:sp>
      <p:sp>
        <p:nvSpPr>
          <p:cNvPr id="14" name="TextBox 13"/>
          <p:cNvSpPr txBox="1"/>
          <p:nvPr/>
        </p:nvSpPr>
        <p:spPr>
          <a:xfrm>
            <a:off x="457200" y="4709160"/>
            <a:ext cx="4023360" cy="228600"/>
          </a:xfrm>
          <a:prstGeom prst="rect">
            <a:avLst/>
          </a:prstGeom>
          <a:noFill/>
        </p:spPr>
        <p:txBody>
          <a:bodyPr wrap="square">
            <a:spAutoFit/>
          </a:bodyPr>
          <a:lstStyle/>
          <a:p>
            <a:pPr algn="l">
              <a:defRPr sz="1000" b="0">
                <a:latin typeface="Malgun Gothic"/>
              </a:defRPr>
            </a:pPr>
            <a:r>
              <a:t>• 전략목표와 전략과제 수립 (Cross SWOT, 사업 부문별 전략 등)</a:t>
            </a:r>
          </a:p>
        </p:txBody>
      </p:sp>
      <p:sp>
        <p:nvSpPr>
          <p:cNvPr id="15" name="TextBox 14"/>
          <p:cNvSpPr txBox="1"/>
          <p:nvPr/>
        </p:nvSpPr>
        <p:spPr>
          <a:xfrm>
            <a:off x="457200" y="5029200"/>
            <a:ext cx="4023360" cy="228600"/>
          </a:xfrm>
          <a:prstGeom prst="rect">
            <a:avLst/>
          </a:prstGeom>
          <a:noFill/>
        </p:spPr>
        <p:txBody>
          <a:bodyPr wrap="square">
            <a:spAutoFit/>
          </a:bodyPr>
          <a:lstStyle/>
          <a:p>
            <a:pPr algn="l">
              <a:defRPr sz="1000" b="0">
                <a:latin typeface="Malgun Gothic"/>
              </a:defRPr>
            </a:pPr>
            <a:r>
              <a:t>Step 6 경영목표 수립</a:t>
            </a:r>
          </a:p>
        </p:txBody>
      </p:sp>
      <p:sp>
        <p:nvSpPr>
          <p:cNvPr id="16" name="TextBox 15"/>
          <p:cNvSpPr txBox="1"/>
          <p:nvPr/>
        </p:nvSpPr>
        <p:spPr>
          <a:xfrm>
            <a:off x="457200" y="5349240"/>
            <a:ext cx="4023360" cy="228600"/>
          </a:xfrm>
          <a:prstGeom prst="rect">
            <a:avLst/>
          </a:prstGeom>
          <a:noFill/>
        </p:spPr>
        <p:txBody>
          <a:bodyPr wrap="square">
            <a:spAutoFit/>
          </a:bodyPr>
          <a:lstStyle/>
          <a:p>
            <a:pPr algn="l">
              <a:defRPr sz="1000" b="0">
                <a:latin typeface="Malgun Gothic"/>
              </a:defRPr>
            </a:pPr>
            <a:r>
              <a:t>• 전략목표, 전략과제에 기반해 비전 달성 과정의 이정표로써 경영목표 수립</a:t>
            </a:r>
          </a:p>
        </p:txBody>
      </p:sp>
      <p:sp>
        <p:nvSpPr>
          <p:cNvPr id="17" name="TextBox 16"/>
          <p:cNvSpPr txBox="1"/>
          <p:nvPr/>
        </p:nvSpPr>
        <p:spPr>
          <a:xfrm>
            <a:off x="457200" y="5669280"/>
            <a:ext cx="4023360" cy="228600"/>
          </a:xfrm>
          <a:prstGeom prst="rect">
            <a:avLst/>
          </a:prstGeom>
          <a:noFill/>
        </p:spPr>
        <p:txBody>
          <a:bodyPr wrap="square">
            <a:spAutoFit/>
          </a:bodyPr>
          <a:lstStyle/>
          <a:p>
            <a:pPr algn="l">
              <a:defRPr sz="1000" b="0">
                <a:latin typeface="Malgun Gothic"/>
              </a:defRPr>
            </a:pPr>
            <a:r>
              <a:t>Step 7 新전략체계도</a:t>
            </a:r>
          </a:p>
        </p:txBody>
      </p:sp>
      <p:sp>
        <p:nvSpPr>
          <p:cNvPr id="18" name="TextBox 17"/>
          <p:cNvSpPr txBox="1"/>
          <p:nvPr/>
        </p:nvSpPr>
        <p:spPr>
          <a:xfrm>
            <a:off x="457200" y="5989320"/>
            <a:ext cx="4023360" cy="228600"/>
          </a:xfrm>
          <a:prstGeom prst="rect">
            <a:avLst/>
          </a:prstGeom>
          <a:noFill/>
        </p:spPr>
        <p:txBody>
          <a:bodyPr wrap="square">
            <a:spAutoFit/>
          </a:bodyPr>
          <a:lstStyle/>
          <a:p>
            <a:pPr algn="l">
              <a:defRPr sz="1000" b="0">
                <a:latin typeface="Malgun Gothic"/>
              </a:defRPr>
            </a:pPr>
            <a:r>
              <a:t>• 가치체계, 전략체계를 결합한 전략체계도 작성</a:t>
            </a:r>
          </a:p>
        </p:txBody>
      </p:sp>
      <p:sp>
        <p:nvSpPr>
          <p:cNvPr id="19" name="TextBox 18"/>
          <p:cNvSpPr txBox="1"/>
          <p:nvPr/>
        </p:nvSpPr>
        <p:spPr>
          <a:xfrm>
            <a:off x="457200" y="6309360"/>
            <a:ext cx="4023360" cy="228600"/>
          </a:xfrm>
          <a:prstGeom prst="rect">
            <a:avLst/>
          </a:prstGeom>
          <a:noFill/>
        </p:spPr>
        <p:txBody>
          <a:bodyPr wrap="square">
            <a:spAutoFit/>
          </a:bodyPr>
          <a:lstStyle/>
          <a:p>
            <a:pPr algn="l">
              <a:defRPr sz="1000" b="0">
                <a:latin typeface="Malgun Gothic"/>
              </a:defRPr>
            </a:pPr>
            <a:r>
              <a:t>Step 8 세부실행과제 수립</a:t>
            </a:r>
          </a:p>
        </p:txBody>
      </p:sp>
      <p:sp>
        <p:nvSpPr>
          <p:cNvPr id="20" name="TextBox 19"/>
          <p:cNvSpPr txBox="1"/>
          <p:nvPr/>
        </p:nvSpPr>
        <p:spPr>
          <a:xfrm>
            <a:off x="457200" y="6629400"/>
            <a:ext cx="4023360" cy="228600"/>
          </a:xfrm>
          <a:prstGeom prst="rect">
            <a:avLst/>
          </a:prstGeom>
          <a:noFill/>
        </p:spPr>
        <p:txBody>
          <a:bodyPr wrap="square">
            <a:spAutoFit/>
          </a:bodyPr>
          <a:lstStyle/>
          <a:p>
            <a:pPr algn="l">
              <a:defRPr sz="1000" b="0">
                <a:latin typeface="Malgun Gothic"/>
              </a:defRPr>
            </a:pPr>
            <a:r>
              <a:t>• 전략과제 수행 및 전략목표 달성을 위한 부서 또는 사업별 세부실행과제 수립</a:t>
            </a:r>
          </a:p>
        </p:txBody>
      </p:sp>
      <p:sp>
        <p:nvSpPr>
          <p:cNvPr id="21" name="TextBox 20"/>
          <p:cNvSpPr txBox="1"/>
          <p:nvPr/>
        </p:nvSpPr>
        <p:spPr>
          <a:xfrm>
            <a:off x="457200" y="6949440"/>
            <a:ext cx="4023360" cy="228600"/>
          </a:xfrm>
          <a:prstGeom prst="rect">
            <a:avLst/>
          </a:prstGeom>
          <a:noFill/>
        </p:spPr>
        <p:txBody>
          <a:bodyPr wrap="square">
            <a:spAutoFit/>
          </a:bodyPr>
          <a:lstStyle/>
          <a:p>
            <a:pPr algn="l">
              <a:defRPr sz="1000" b="0">
                <a:latin typeface="Malgun Gothic"/>
              </a:defRPr>
            </a:pPr>
            <a:r>
              <a:t>Step 9 핵심성과지표 수립</a:t>
            </a:r>
          </a:p>
        </p:txBody>
      </p:sp>
      <p:sp>
        <p:nvSpPr>
          <p:cNvPr id="22" name="TextBox 21"/>
          <p:cNvSpPr txBox="1"/>
          <p:nvPr/>
        </p:nvSpPr>
        <p:spPr>
          <a:xfrm>
            <a:off x="457200" y="7269480"/>
            <a:ext cx="4023360" cy="228600"/>
          </a:xfrm>
          <a:prstGeom prst="rect">
            <a:avLst/>
          </a:prstGeom>
          <a:noFill/>
        </p:spPr>
        <p:txBody>
          <a:bodyPr wrap="square">
            <a:spAutoFit/>
          </a:bodyPr>
          <a:lstStyle/>
          <a:p>
            <a:pPr algn="l">
              <a:defRPr sz="1000" b="0">
                <a:latin typeface="Malgun Gothic"/>
              </a:defRPr>
            </a:pPr>
            <a:r>
              <a:t>• 세부실행과제, 전략과제 및 전사 성과지표 도출 및 핵심성과지표(KPI) 선정</a:t>
            </a:r>
          </a:p>
        </p:txBody>
      </p:sp>
      <p:sp>
        <p:nvSpPr>
          <p:cNvPr id="23" name="TextBox 22"/>
          <p:cNvSpPr txBox="1"/>
          <p:nvPr/>
        </p:nvSpPr>
        <p:spPr>
          <a:xfrm>
            <a:off x="457200" y="7589520"/>
            <a:ext cx="4023360" cy="228600"/>
          </a:xfrm>
          <a:prstGeom prst="rect">
            <a:avLst/>
          </a:prstGeom>
          <a:noFill/>
        </p:spPr>
        <p:txBody>
          <a:bodyPr wrap="square">
            <a:spAutoFit/>
          </a:bodyPr>
          <a:lstStyle/>
          <a:p>
            <a:pPr algn="l">
              <a:defRPr sz="1000" b="0">
                <a:latin typeface="Malgun Gothic"/>
              </a:defRPr>
            </a:pPr>
            <a:r>
              <a:t>Step 10 중장기 로드맵 수립</a:t>
            </a:r>
          </a:p>
        </p:txBody>
      </p:sp>
      <p:sp>
        <p:nvSpPr>
          <p:cNvPr id="24" name="TextBox 23"/>
          <p:cNvSpPr txBox="1"/>
          <p:nvPr/>
        </p:nvSpPr>
        <p:spPr>
          <a:xfrm>
            <a:off x="457200" y="7909560"/>
            <a:ext cx="4023360" cy="228600"/>
          </a:xfrm>
          <a:prstGeom prst="rect">
            <a:avLst/>
          </a:prstGeom>
          <a:noFill/>
        </p:spPr>
        <p:txBody>
          <a:bodyPr wrap="square">
            <a:spAutoFit/>
          </a:bodyPr>
          <a:lstStyle/>
          <a:p>
            <a:pPr algn="l">
              <a:defRPr sz="1000" b="0">
                <a:latin typeface="Malgun Gothic"/>
              </a:defRPr>
            </a:pPr>
            <a:r>
              <a:t>• 전략과제 및 세부실행과제를 통합한 중장기 전략 로드맵 수립</a:t>
            </a:r>
          </a:p>
        </p:txBody>
      </p:sp>
      <p:sp>
        <p:nvSpPr>
          <p:cNvPr id="25" name="TextBox 24"/>
          <p:cNvSpPr txBox="1"/>
          <p:nvPr/>
        </p:nvSpPr>
        <p:spPr>
          <a:xfrm>
            <a:off x="457200" y="8229600"/>
            <a:ext cx="8229600" cy="274320"/>
          </a:xfrm>
          <a:prstGeom prst="rect">
            <a:avLst/>
          </a:prstGeom>
          <a:noFill/>
        </p:spPr>
        <p:txBody>
          <a:bodyPr wrap="square">
            <a:spAutoFit/>
          </a:bodyPr>
          <a:lstStyle/>
          <a:p>
            <a:pPr algn="l">
              <a:defRPr sz="1200" b="1">
                <a:solidFill>
                  <a:srgbClr val="003366"/>
                </a:solidFill>
                <a:latin typeface="Malgun Gothic"/>
              </a:defRPr>
            </a:pPr>
            <a:r>
              <a:t>新전략체계도</a:t>
            </a:r>
          </a:p>
        </p:txBody>
      </p:sp>
      <p:sp>
        <p:nvSpPr>
          <p:cNvPr id="26" name="TextBox 25"/>
          <p:cNvSpPr txBox="1"/>
          <p:nvPr/>
        </p:nvSpPr>
        <p:spPr>
          <a:xfrm>
            <a:off x="4663440" y="2194560"/>
            <a:ext cx="4023360" cy="228600"/>
          </a:xfrm>
          <a:prstGeom prst="rect">
            <a:avLst/>
          </a:prstGeom>
          <a:noFill/>
        </p:spPr>
        <p:txBody>
          <a:bodyPr wrap="square">
            <a:spAutoFit/>
          </a:bodyPr>
          <a:lstStyle/>
          <a:p>
            <a:pPr algn="l">
              <a:defRPr sz="1000" b="0">
                <a:latin typeface="Malgun Gothic"/>
              </a:defRPr>
            </a:pPr>
            <a:r>
              <a:t>미션</a:t>
            </a:r>
          </a:p>
        </p:txBody>
      </p:sp>
      <p:sp>
        <p:nvSpPr>
          <p:cNvPr id="27" name="TextBox 26"/>
          <p:cNvSpPr txBox="1"/>
          <p:nvPr/>
        </p:nvSpPr>
        <p:spPr>
          <a:xfrm>
            <a:off x="4663440" y="2514600"/>
            <a:ext cx="4023360" cy="228600"/>
          </a:xfrm>
          <a:prstGeom prst="rect">
            <a:avLst/>
          </a:prstGeom>
          <a:noFill/>
        </p:spPr>
        <p:txBody>
          <a:bodyPr wrap="square">
            <a:spAutoFit/>
          </a:bodyPr>
          <a:lstStyle/>
          <a:p>
            <a:pPr algn="l">
              <a:defRPr sz="1000" b="0">
                <a:latin typeface="Malgun Gothic"/>
              </a:defRPr>
            </a:pPr>
            <a:r>
              <a:t>깨끗하고 안전한 바다로 국민 행복을 증진하고, 해양의 더 나은 미래를 열어간다</a:t>
            </a:r>
          </a:p>
        </p:txBody>
      </p:sp>
      <p:sp>
        <p:nvSpPr>
          <p:cNvPr id="28" name="TextBox 27"/>
          <p:cNvSpPr txBox="1"/>
          <p:nvPr/>
        </p:nvSpPr>
        <p:spPr>
          <a:xfrm>
            <a:off x="4663440" y="2834640"/>
            <a:ext cx="4023360" cy="228600"/>
          </a:xfrm>
          <a:prstGeom prst="rect">
            <a:avLst/>
          </a:prstGeom>
          <a:noFill/>
        </p:spPr>
        <p:txBody>
          <a:bodyPr wrap="square">
            <a:spAutoFit/>
          </a:bodyPr>
          <a:lstStyle/>
          <a:p>
            <a:pPr algn="l">
              <a:defRPr sz="1000" b="0">
                <a:latin typeface="Malgun Gothic"/>
              </a:defRPr>
            </a:pPr>
            <a:r>
              <a:t>비전</a:t>
            </a:r>
          </a:p>
        </p:txBody>
      </p:sp>
      <p:sp>
        <p:nvSpPr>
          <p:cNvPr id="29" name="TextBox 28"/>
          <p:cNvSpPr txBox="1"/>
          <p:nvPr/>
        </p:nvSpPr>
        <p:spPr>
          <a:xfrm>
            <a:off x="4663440" y="3154680"/>
            <a:ext cx="4023360" cy="228600"/>
          </a:xfrm>
          <a:prstGeom prst="rect">
            <a:avLst/>
          </a:prstGeom>
          <a:noFill/>
        </p:spPr>
        <p:txBody>
          <a:bodyPr wrap="square">
            <a:spAutoFit/>
          </a:bodyPr>
          <a:lstStyle/>
          <a:p>
            <a:pPr algn="l">
              <a:defRPr sz="1000" b="0">
                <a:latin typeface="Malgun Gothic"/>
              </a:defRPr>
            </a:pPr>
            <a:r>
              <a:t>해양의 보전과 이용을 선도하는 해양환경 국민 플랫폼 기관</a:t>
            </a:r>
          </a:p>
        </p:txBody>
      </p:sp>
      <p:sp>
        <p:nvSpPr>
          <p:cNvPr id="30" name="TextBox 29"/>
          <p:cNvSpPr txBox="1"/>
          <p:nvPr/>
        </p:nvSpPr>
        <p:spPr>
          <a:xfrm>
            <a:off x="4663440" y="3474720"/>
            <a:ext cx="4023360" cy="228600"/>
          </a:xfrm>
          <a:prstGeom prst="rect">
            <a:avLst/>
          </a:prstGeom>
          <a:noFill/>
        </p:spPr>
        <p:txBody>
          <a:bodyPr wrap="square">
            <a:spAutoFit/>
          </a:bodyPr>
          <a:lstStyle/>
          <a:p>
            <a:pPr algn="l">
              <a:defRPr sz="1000" b="0">
                <a:latin typeface="Malgun Gothic"/>
              </a:defRPr>
            </a:pPr>
            <a:r>
              <a:t>슬로건</a:t>
            </a:r>
            <a:br/>
            <a:r>
              <a:t>핵심가치</a:t>
            </a:r>
          </a:p>
        </p:txBody>
      </p:sp>
      <p:sp>
        <p:nvSpPr>
          <p:cNvPr id="31" name="TextBox 30"/>
          <p:cNvSpPr txBox="1"/>
          <p:nvPr/>
        </p:nvSpPr>
        <p:spPr>
          <a:xfrm>
            <a:off x="4663440" y="3794760"/>
            <a:ext cx="4023360" cy="228600"/>
          </a:xfrm>
          <a:prstGeom prst="rect">
            <a:avLst/>
          </a:prstGeom>
          <a:noFill/>
        </p:spPr>
        <p:txBody>
          <a:bodyPr wrap="square">
            <a:spAutoFit/>
          </a:bodyPr>
          <a:lstStyle/>
          <a:p>
            <a:pPr algn="l">
              <a:defRPr sz="1000" b="0">
                <a:latin typeface="Malgun Gothic"/>
              </a:defRPr>
            </a:pPr>
            <a:r>
              <a:t>건강한 바다, 풍요로운 미래, 행복한 국민 with KOEM</a:t>
            </a:r>
          </a:p>
        </p:txBody>
      </p:sp>
      <p:sp>
        <p:nvSpPr>
          <p:cNvPr id="32" name="TextBox 31"/>
          <p:cNvSpPr txBox="1"/>
          <p:nvPr/>
        </p:nvSpPr>
        <p:spPr>
          <a:xfrm>
            <a:off x="4663440" y="4114800"/>
            <a:ext cx="4023360" cy="228600"/>
          </a:xfrm>
          <a:prstGeom prst="rect">
            <a:avLst/>
          </a:prstGeom>
          <a:noFill/>
        </p:spPr>
        <p:txBody>
          <a:bodyPr wrap="square">
            <a:spAutoFit/>
          </a:bodyPr>
          <a:lstStyle/>
          <a:p>
            <a:pPr algn="l">
              <a:defRPr sz="1000" b="0">
                <a:latin typeface="Malgun Gothic"/>
              </a:defRPr>
            </a:pPr>
            <a:r>
              <a:t>경영방침</a:t>
            </a:r>
          </a:p>
        </p:txBody>
      </p:sp>
      <p:sp>
        <p:nvSpPr>
          <p:cNvPr id="33" name="TextBox 32"/>
          <p:cNvSpPr txBox="1"/>
          <p:nvPr/>
        </p:nvSpPr>
        <p:spPr>
          <a:xfrm>
            <a:off x="4663440" y="4434840"/>
            <a:ext cx="4023360" cy="228600"/>
          </a:xfrm>
          <a:prstGeom prst="rect">
            <a:avLst/>
          </a:prstGeom>
          <a:noFill/>
        </p:spPr>
        <p:txBody>
          <a:bodyPr wrap="square">
            <a:spAutoFit/>
          </a:bodyPr>
          <a:lstStyle/>
          <a:p>
            <a:pPr algn="l">
              <a:defRPr sz="1000" b="0">
                <a:latin typeface="Malgun Gothic"/>
              </a:defRPr>
            </a:pPr>
            <a:r>
              <a:t>전문역량</a:t>
            </a:r>
          </a:p>
        </p:txBody>
      </p:sp>
      <p:sp>
        <p:nvSpPr>
          <p:cNvPr id="34" name="TextBox 33"/>
          <p:cNvSpPr txBox="1"/>
          <p:nvPr/>
        </p:nvSpPr>
        <p:spPr>
          <a:xfrm>
            <a:off x="4663440" y="4754880"/>
            <a:ext cx="4023360" cy="228600"/>
          </a:xfrm>
          <a:prstGeom prst="rect">
            <a:avLst/>
          </a:prstGeom>
          <a:noFill/>
        </p:spPr>
        <p:txBody>
          <a:bodyPr wrap="square">
            <a:spAutoFit/>
          </a:bodyPr>
          <a:lstStyle/>
          <a:p>
            <a:pPr algn="l">
              <a:defRPr sz="1000" b="0">
                <a:latin typeface="Malgun Gothic"/>
              </a:defRPr>
            </a:pPr>
            <a:r>
              <a:t>안전우선</a:t>
            </a:r>
          </a:p>
        </p:txBody>
      </p:sp>
      <p:sp>
        <p:nvSpPr>
          <p:cNvPr id="35" name="TextBox 34"/>
          <p:cNvSpPr txBox="1"/>
          <p:nvPr/>
        </p:nvSpPr>
        <p:spPr>
          <a:xfrm>
            <a:off x="4663440" y="5074920"/>
            <a:ext cx="4023360" cy="228600"/>
          </a:xfrm>
          <a:prstGeom prst="rect">
            <a:avLst/>
          </a:prstGeom>
          <a:noFill/>
        </p:spPr>
        <p:txBody>
          <a:bodyPr wrap="square">
            <a:spAutoFit/>
          </a:bodyPr>
          <a:lstStyle/>
          <a:p>
            <a:pPr algn="l">
              <a:defRPr sz="1000" b="0">
                <a:latin typeface="Malgun Gothic"/>
              </a:defRPr>
            </a:pPr>
            <a:r>
              <a:t>열린혁신</a:t>
            </a:r>
          </a:p>
        </p:txBody>
      </p:sp>
      <p:sp>
        <p:nvSpPr>
          <p:cNvPr id="36" name="TextBox 35"/>
          <p:cNvSpPr txBox="1"/>
          <p:nvPr/>
        </p:nvSpPr>
        <p:spPr>
          <a:xfrm>
            <a:off x="4663440" y="5394960"/>
            <a:ext cx="4023360" cy="228600"/>
          </a:xfrm>
          <a:prstGeom prst="rect">
            <a:avLst/>
          </a:prstGeom>
          <a:noFill/>
        </p:spPr>
        <p:txBody>
          <a:bodyPr wrap="square">
            <a:spAutoFit/>
          </a:bodyPr>
          <a:lstStyle/>
          <a:p>
            <a:pPr algn="l">
              <a:defRPr sz="1000" b="0">
                <a:latin typeface="Malgun Gothic"/>
              </a:defRPr>
            </a:pPr>
            <a:r>
              <a:t>협력성장</a:t>
            </a:r>
          </a:p>
        </p:txBody>
      </p:sp>
      <p:sp>
        <p:nvSpPr>
          <p:cNvPr id="37" name="TextBox 36"/>
          <p:cNvSpPr txBox="1"/>
          <p:nvPr/>
        </p:nvSpPr>
        <p:spPr>
          <a:xfrm>
            <a:off x="4663440" y="5715000"/>
            <a:ext cx="4023360" cy="228600"/>
          </a:xfrm>
          <a:prstGeom prst="rect">
            <a:avLst/>
          </a:prstGeom>
          <a:noFill/>
        </p:spPr>
        <p:txBody>
          <a:bodyPr wrap="square">
            <a:spAutoFit/>
          </a:bodyPr>
          <a:lstStyle/>
          <a:p>
            <a:pPr algn="l">
              <a:defRPr sz="1000" b="0">
                <a:latin typeface="Malgun Gothic"/>
              </a:defRPr>
            </a:pPr>
            <a:r>
              <a:t>공정경제</a:t>
            </a:r>
          </a:p>
        </p:txBody>
      </p:sp>
      <p:sp>
        <p:nvSpPr>
          <p:cNvPr id="38" name="TextBox 37"/>
          <p:cNvSpPr txBox="1"/>
          <p:nvPr/>
        </p:nvSpPr>
        <p:spPr>
          <a:xfrm>
            <a:off x="4663440" y="6035040"/>
            <a:ext cx="4023360" cy="228600"/>
          </a:xfrm>
          <a:prstGeom prst="rect">
            <a:avLst/>
          </a:prstGeom>
          <a:noFill/>
        </p:spPr>
        <p:txBody>
          <a:bodyPr wrap="square">
            <a:spAutoFit/>
          </a:bodyPr>
          <a:lstStyle/>
          <a:p>
            <a:pPr algn="l">
              <a:defRPr sz="1000" b="0">
                <a:latin typeface="Malgun Gothic"/>
              </a:defRPr>
            </a:pPr>
            <a:r>
              <a:t>공익우선</a:t>
            </a:r>
          </a:p>
        </p:txBody>
      </p:sp>
      <p:sp>
        <p:nvSpPr>
          <p:cNvPr id="39" name="TextBox 38"/>
          <p:cNvSpPr txBox="1"/>
          <p:nvPr/>
        </p:nvSpPr>
        <p:spPr>
          <a:xfrm>
            <a:off x="4663440" y="6355080"/>
            <a:ext cx="4023360" cy="228600"/>
          </a:xfrm>
          <a:prstGeom prst="rect">
            <a:avLst/>
          </a:prstGeom>
          <a:noFill/>
        </p:spPr>
        <p:txBody>
          <a:bodyPr wrap="square">
            <a:spAutoFit/>
          </a:bodyPr>
          <a:lstStyle/>
          <a:p>
            <a:pPr algn="l">
              <a:defRPr sz="1000" b="0">
                <a:latin typeface="Malgun Gothic"/>
              </a:defRPr>
            </a:pPr>
            <a:r>
              <a:t>국민참여</a:t>
            </a:r>
          </a:p>
        </p:txBody>
      </p:sp>
      <p:sp>
        <p:nvSpPr>
          <p:cNvPr id="40" name="TextBox 39"/>
          <p:cNvSpPr txBox="1"/>
          <p:nvPr/>
        </p:nvSpPr>
        <p:spPr>
          <a:xfrm>
            <a:off x="4663440" y="6675120"/>
            <a:ext cx="4023360" cy="228600"/>
          </a:xfrm>
          <a:prstGeom prst="rect">
            <a:avLst/>
          </a:prstGeom>
          <a:noFill/>
        </p:spPr>
        <p:txBody>
          <a:bodyPr wrap="square">
            <a:spAutoFit/>
          </a:bodyPr>
          <a:lstStyle/>
          <a:p>
            <a:pPr algn="l">
              <a:defRPr sz="1000" b="0">
                <a:latin typeface="Malgun Gothic"/>
              </a:defRPr>
            </a:pPr>
            <a:r>
              <a:t>일하는 보람</a:t>
            </a:r>
          </a:p>
        </p:txBody>
      </p:sp>
      <p:sp>
        <p:nvSpPr>
          <p:cNvPr id="41" name="TextBox 40"/>
          <p:cNvSpPr txBox="1"/>
          <p:nvPr/>
        </p:nvSpPr>
        <p:spPr>
          <a:xfrm>
            <a:off x="4663440" y="6995160"/>
            <a:ext cx="4023360" cy="228600"/>
          </a:xfrm>
          <a:prstGeom prst="rect">
            <a:avLst/>
          </a:prstGeom>
          <a:noFill/>
        </p:spPr>
        <p:txBody>
          <a:bodyPr wrap="square">
            <a:spAutoFit/>
          </a:bodyPr>
          <a:lstStyle/>
          <a:p>
            <a:pPr algn="l">
              <a:defRPr sz="1000" b="0">
                <a:latin typeface="Malgun Gothic"/>
              </a:defRPr>
            </a:pPr>
            <a:r>
              <a:t>경영목표</a:t>
            </a:r>
          </a:p>
        </p:txBody>
      </p:sp>
      <p:sp>
        <p:nvSpPr>
          <p:cNvPr id="42" name="TextBox 41"/>
          <p:cNvSpPr txBox="1"/>
          <p:nvPr/>
        </p:nvSpPr>
        <p:spPr>
          <a:xfrm>
            <a:off x="4663440" y="7315200"/>
            <a:ext cx="4023360" cy="228600"/>
          </a:xfrm>
          <a:prstGeom prst="rect">
            <a:avLst/>
          </a:prstGeom>
          <a:noFill/>
        </p:spPr>
        <p:txBody>
          <a:bodyPr wrap="square">
            <a:spAutoFit/>
          </a:bodyPr>
          <a:lstStyle/>
          <a:p>
            <a:pPr algn="l">
              <a:defRPr sz="1000" b="0">
                <a:latin typeface="Malgun Gothic"/>
              </a:defRPr>
            </a:pPr>
            <a:r>
              <a:t>깨끗한 바다</a:t>
            </a:r>
          </a:p>
        </p:txBody>
      </p:sp>
      <p:sp>
        <p:nvSpPr>
          <p:cNvPr id="43" name="TextBox 42"/>
          <p:cNvSpPr txBox="1"/>
          <p:nvPr/>
        </p:nvSpPr>
        <p:spPr>
          <a:xfrm>
            <a:off x="4663440" y="7635240"/>
            <a:ext cx="4023360" cy="457200"/>
          </a:xfrm>
          <a:prstGeom prst="rect">
            <a:avLst/>
          </a:prstGeom>
          <a:noFill/>
        </p:spPr>
        <p:txBody>
          <a:bodyPr wrap="square">
            <a:spAutoFit/>
          </a:bodyPr>
          <a:lstStyle/>
          <a:p>
            <a:pPr algn="l">
              <a:defRPr sz="1000" b="0">
                <a:latin typeface="Malgun Gothic"/>
              </a:defRPr>
            </a:pPr>
            <a:r>
              <a:t>1등급 해역 비율</a:t>
            </a:r>
            <a:br/>
            <a:r>
              <a:t>('25년 65%, '30년 73%)</a:t>
            </a:r>
            <a:br/>
            <a:r>
              <a:t>갯벌복원 면적(누적)</a:t>
            </a:r>
            <a:br/>
            <a:r>
              <a:t>(~'25년 4.5km², ~'30년 10.0km²)</a:t>
            </a:r>
          </a:p>
        </p:txBody>
      </p:sp>
      <p:sp>
        <p:nvSpPr>
          <p:cNvPr id="44" name="TextBox 43"/>
          <p:cNvSpPr txBox="1"/>
          <p:nvPr/>
        </p:nvSpPr>
        <p:spPr>
          <a:xfrm>
            <a:off x="4663440" y="8183880"/>
            <a:ext cx="4023360" cy="228600"/>
          </a:xfrm>
          <a:prstGeom prst="rect">
            <a:avLst/>
          </a:prstGeom>
          <a:noFill/>
        </p:spPr>
        <p:txBody>
          <a:bodyPr wrap="square">
            <a:spAutoFit/>
          </a:bodyPr>
          <a:lstStyle/>
          <a:p>
            <a:pPr algn="l">
              <a:defRPr sz="1000" b="0">
                <a:latin typeface="Malgun Gothic"/>
              </a:defRPr>
            </a:pPr>
            <a:r>
              <a:t>안전한 바다</a:t>
            </a:r>
          </a:p>
        </p:txBody>
      </p:sp>
      <p:sp>
        <p:nvSpPr>
          <p:cNvPr id="45" name="TextBox 44"/>
          <p:cNvSpPr txBox="1"/>
          <p:nvPr/>
        </p:nvSpPr>
        <p:spPr>
          <a:xfrm>
            <a:off x="4663440" y="8503920"/>
            <a:ext cx="4023360" cy="228600"/>
          </a:xfrm>
          <a:prstGeom prst="rect">
            <a:avLst/>
          </a:prstGeom>
          <a:noFill/>
        </p:spPr>
        <p:txBody>
          <a:bodyPr wrap="square">
            <a:spAutoFit/>
          </a:bodyPr>
          <a:lstStyle/>
          <a:p>
            <a:pPr algn="l">
              <a:defRPr sz="1000" b="0">
                <a:latin typeface="Malgun Gothic"/>
              </a:defRPr>
            </a:pPr>
            <a:r>
              <a:t>공단 통합 해상방제 능력</a:t>
            </a:r>
            <a:br/>
            <a:r>
              <a:t>(유출유회수능력 16,000kℓ)</a:t>
            </a:r>
          </a:p>
        </p:txBody>
      </p:sp>
      <p:sp>
        <p:nvSpPr>
          <p:cNvPr id="46" name="TextBox 45"/>
          <p:cNvSpPr txBox="1"/>
          <p:nvPr/>
        </p:nvSpPr>
        <p:spPr>
          <a:xfrm>
            <a:off x="4663440" y="8823960"/>
            <a:ext cx="4023360" cy="228600"/>
          </a:xfrm>
          <a:prstGeom prst="rect">
            <a:avLst/>
          </a:prstGeom>
          <a:noFill/>
        </p:spPr>
        <p:txBody>
          <a:bodyPr wrap="square">
            <a:spAutoFit/>
          </a:bodyPr>
          <a:lstStyle/>
          <a:p>
            <a:pPr algn="l">
              <a:defRPr sz="1000" b="0">
                <a:latin typeface="Malgun Gothic"/>
              </a:defRPr>
            </a:pPr>
            <a:r>
              <a:t>풍요로운 바다</a:t>
            </a:r>
          </a:p>
        </p:txBody>
      </p:sp>
      <p:sp>
        <p:nvSpPr>
          <p:cNvPr id="47" name="TextBox 46"/>
          <p:cNvSpPr txBox="1"/>
          <p:nvPr/>
        </p:nvSpPr>
        <p:spPr>
          <a:xfrm>
            <a:off x="4663440" y="9144000"/>
            <a:ext cx="4023360" cy="457200"/>
          </a:xfrm>
          <a:prstGeom prst="rect">
            <a:avLst/>
          </a:prstGeom>
          <a:noFill/>
        </p:spPr>
        <p:txBody>
          <a:bodyPr wrap="square">
            <a:spAutoFit/>
          </a:bodyPr>
          <a:lstStyle/>
          <a:p>
            <a:pPr algn="l">
              <a:defRPr sz="1000" b="0">
                <a:latin typeface="Malgun Gothic"/>
              </a:defRPr>
            </a:pPr>
            <a:r>
              <a:t>미래성장사업 매출 비율</a:t>
            </a:r>
            <a:br/>
            <a:r>
              <a:t>('25년 50%, '30년 60%)</a:t>
            </a:r>
            <a:br/>
            <a:r>
              <a:t>재무건전성 제고</a:t>
            </a:r>
            <a:br/>
            <a:r>
              <a:t>('25년 영업이익률 3%)</a:t>
            </a:r>
          </a:p>
        </p:txBody>
      </p:sp>
      <p:sp>
        <p:nvSpPr>
          <p:cNvPr id="48" name="TextBox 47"/>
          <p:cNvSpPr txBox="1"/>
          <p:nvPr/>
        </p:nvSpPr>
        <p:spPr>
          <a:xfrm>
            <a:off x="4663440" y="9692640"/>
            <a:ext cx="4023360" cy="228600"/>
          </a:xfrm>
          <a:prstGeom prst="rect">
            <a:avLst/>
          </a:prstGeom>
          <a:noFill/>
        </p:spPr>
        <p:txBody>
          <a:bodyPr wrap="square">
            <a:spAutoFit/>
          </a:bodyPr>
          <a:lstStyle/>
          <a:p>
            <a:pPr algn="l">
              <a:defRPr sz="1000" b="0">
                <a:latin typeface="Malgun Gothic"/>
              </a:defRPr>
            </a:pPr>
            <a:r>
              <a:t>상생의 바다</a:t>
            </a:r>
          </a:p>
        </p:txBody>
      </p:sp>
      <p:sp>
        <p:nvSpPr>
          <p:cNvPr id="49" name="TextBox 48"/>
          <p:cNvSpPr txBox="1"/>
          <p:nvPr/>
        </p:nvSpPr>
        <p:spPr>
          <a:xfrm>
            <a:off x="4663440" y="10012680"/>
            <a:ext cx="4023360" cy="228600"/>
          </a:xfrm>
          <a:prstGeom prst="rect">
            <a:avLst/>
          </a:prstGeom>
          <a:noFill/>
        </p:spPr>
        <p:txBody>
          <a:bodyPr wrap="square">
            <a:spAutoFit/>
          </a:bodyPr>
          <a:lstStyle/>
          <a:p>
            <a:pPr algn="l">
              <a:defRPr sz="1000" b="0">
                <a:latin typeface="Malgun Gothic"/>
              </a:defRPr>
            </a:pPr>
            <a:r>
              <a:t>중대재해 Zero</a:t>
            </a:r>
            <a:br/>
            <a:r>
              <a:t>(중대재해사고 "0"건)</a:t>
            </a:r>
          </a:p>
        </p:txBody>
      </p:sp>
      <p:sp>
        <p:nvSpPr>
          <p:cNvPr id="50" name="TextBox 49"/>
          <p:cNvSpPr txBox="1"/>
          <p:nvPr/>
        </p:nvSpPr>
        <p:spPr>
          <a:xfrm>
            <a:off x="4663440" y="10332720"/>
            <a:ext cx="4023360" cy="228600"/>
          </a:xfrm>
          <a:prstGeom prst="rect">
            <a:avLst/>
          </a:prstGeom>
          <a:noFill/>
        </p:spPr>
        <p:txBody>
          <a:bodyPr wrap="square">
            <a:spAutoFit/>
          </a:bodyPr>
          <a:lstStyle/>
          <a:p>
            <a:pPr algn="l">
              <a:defRPr sz="1000" b="0">
                <a:latin typeface="Malgun Gothic"/>
              </a:defRPr>
            </a:pPr>
            <a:r>
              <a:t>전략목표</a:t>
            </a:r>
          </a:p>
        </p:txBody>
      </p:sp>
      <p:sp>
        <p:nvSpPr>
          <p:cNvPr id="51" name="TextBox 50"/>
          <p:cNvSpPr txBox="1"/>
          <p:nvPr/>
        </p:nvSpPr>
        <p:spPr>
          <a:xfrm>
            <a:off x="4663440" y="10652760"/>
            <a:ext cx="4023360" cy="228600"/>
          </a:xfrm>
          <a:prstGeom prst="rect">
            <a:avLst/>
          </a:prstGeom>
          <a:noFill/>
        </p:spPr>
        <p:txBody>
          <a:bodyPr wrap="square">
            <a:spAutoFit/>
          </a:bodyPr>
          <a:lstStyle/>
          <a:p>
            <a:pPr algn="l">
              <a:defRPr sz="1000" b="0">
                <a:latin typeface="Malgun Gothic"/>
              </a:defRPr>
            </a:pPr>
            <a:r>
              <a:t>건강한 해양생태계 보전</a:t>
            </a:r>
          </a:p>
        </p:txBody>
      </p:sp>
      <p:sp>
        <p:nvSpPr>
          <p:cNvPr id="52" name="TextBox 51"/>
          <p:cNvSpPr txBox="1"/>
          <p:nvPr/>
        </p:nvSpPr>
        <p:spPr>
          <a:xfrm>
            <a:off x="4663440" y="10972800"/>
            <a:ext cx="4023360" cy="228600"/>
          </a:xfrm>
          <a:prstGeom prst="rect">
            <a:avLst/>
          </a:prstGeom>
          <a:noFill/>
        </p:spPr>
        <p:txBody>
          <a:bodyPr wrap="square">
            <a:spAutoFit/>
          </a:bodyPr>
          <a:lstStyle/>
          <a:p>
            <a:pPr algn="l">
              <a:defRPr sz="1000" b="0">
                <a:latin typeface="Malgun Gothic"/>
              </a:defRPr>
            </a:pPr>
            <a:r>
              <a:t>안전한 해양환경 수호</a:t>
            </a:r>
          </a:p>
        </p:txBody>
      </p:sp>
      <p:sp>
        <p:nvSpPr>
          <p:cNvPr id="53" name="TextBox 52"/>
          <p:cNvSpPr txBox="1"/>
          <p:nvPr/>
        </p:nvSpPr>
        <p:spPr>
          <a:xfrm>
            <a:off x="4663440" y="11292840"/>
            <a:ext cx="4023360" cy="228600"/>
          </a:xfrm>
          <a:prstGeom prst="rect">
            <a:avLst/>
          </a:prstGeom>
          <a:noFill/>
        </p:spPr>
        <p:txBody>
          <a:bodyPr wrap="square">
            <a:spAutoFit/>
          </a:bodyPr>
          <a:lstStyle/>
          <a:p>
            <a:pPr algn="l">
              <a:defRPr sz="1000" b="0">
                <a:latin typeface="Malgun Gothic"/>
              </a:defRPr>
            </a:pPr>
            <a:r>
              <a:t>국민의 해양 이용·향유 증진</a:t>
            </a:r>
          </a:p>
        </p:txBody>
      </p:sp>
      <p:sp>
        <p:nvSpPr>
          <p:cNvPr id="54" name="TextBox 53"/>
          <p:cNvSpPr txBox="1"/>
          <p:nvPr/>
        </p:nvSpPr>
        <p:spPr>
          <a:xfrm>
            <a:off x="4663440" y="11612880"/>
            <a:ext cx="4023360" cy="228600"/>
          </a:xfrm>
          <a:prstGeom prst="rect">
            <a:avLst/>
          </a:prstGeom>
          <a:noFill/>
        </p:spPr>
        <p:txBody>
          <a:bodyPr wrap="square">
            <a:spAutoFit/>
          </a:bodyPr>
          <a:lstStyle/>
          <a:p>
            <a:pPr algn="l">
              <a:defRPr sz="1000" b="0">
                <a:latin typeface="Malgun Gothic"/>
              </a:defRPr>
            </a:pPr>
            <a:r>
              <a:t>사람중심 안전·혁신 경영</a:t>
            </a:r>
          </a:p>
        </p:txBody>
      </p:sp>
      <p:sp>
        <p:nvSpPr>
          <p:cNvPr id="55" name="TextBox 54"/>
          <p:cNvSpPr txBox="1"/>
          <p:nvPr/>
        </p:nvSpPr>
        <p:spPr>
          <a:xfrm>
            <a:off x="4663440" y="11932920"/>
            <a:ext cx="4023360" cy="228600"/>
          </a:xfrm>
          <a:prstGeom prst="rect">
            <a:avLst/>
          </a:prstGeom>
          <a:noFill/>
        </p:spPr>
        <p:txBody>
          <a:bodyPr wrap="square">
            <a:spAutoFit/>
          </a:bodyPr>
          <a:lstStyle/>
          <a:p>
            <a:pPr algn="l">
              <a:defRPr sz="1000" b="0">
                <a:latin typeface="Malgun Gothic"/>
              </a:defRPr>
            </a:pPr>
            <a:r>
              <a:t>전략과제</a:t>
            </a:r>
          </a:p>
        </p:txBody>
      </p:sp>
      <p:sp>
        <p:nvSpPr>
          <p:cNvPr id="56" name="TextBox 55"/>
          <p:cNvSpPr txBox="1"/>
          <p:nvPr/>
        </p:nvSpPr>
        <p:spPr>
          <a:xfrm>
            <a:off x="4663440" y="12252960"/>
            <a:ext cx="4023360" cy="228600"/>
          </a:xfrm>
          <a:prstGeom prst="rect">
            <a:avLst/>
          </a:prstGeom>
          <a:noFill/>
        </p:spPr>
        <p:txBody>
          <a:bodyPr wrap="square">
            <a:spAutoFit/>
          </a:bodyPr>
          <a:lstStyle/>
          <a:p>
            <a:pPr algn="l">
              <a:defRPr sz="1000" b="0">
                <a:latin typeface="Malgun Gothic"/>
              </a:defRPr>
            </a:pPr>
            <a:r>
              <a:t>1 해양환경 통합 Solution 제공</a:t>
            </a:r>
          </a:p>
        </p:txBody>
      </p:sp>
      <p:sp>
        <p:nvSpPr>
          <p:cNvPr id="57" name="TextBox 56"/>
          <p:cNvSpPr txBox="1"/>
          <p:nvPr/>
        </p:nvSpPr>
        <p:spPr>
          <a:xfrm>
            <a:off x="4663440" y="12573000"/>
            <a:ext cx="4023360" cy="228600"/>
          </a:xfrm>
          <a:prstGeom prst="rect">
            <a:avLst/>
          </a:prstGeom>
          <a:noFill/>
        </p:spPr>
        <p:txBody>
          <a:bodyPr wrap="square">
            <a:spAutoFit/>
          </a:bodyPr>
          <a:lstStyle/>
          <a:p>
            <a:pPr algn="l">
              <a:defRPr sz="1000" b="0">
                <a:latin typeface="Malgun Gothic"/>
              </a:defRPr>
            </a:pPr>
            <a:r>
              <a:t>4 SMART 해양사고 대응역량 강화</a:t>
            </a:r>
          </a:p>
        </p:txBody>
      </p:sp>
      <p:sp>
        <p:nvSpPr>
          <p:cNvPr id="58" name="TextBox 57"/>
          <p:cNvSpPr txBox="1"/>
          <p:nvPr/>
        </p:nvSpPr>
        <p:spPr>
          <a:xfrm>
            <a:off x="4663440" y="12893040"/>
            <a:ext cx="4023360" cy="228600"/>
          </a:xfrm>
          <a:prstGeom prst="rect">
            <a:avLst/>
          </a:prstGeom>
          <a:noFill/>
        </p:spPr>
        <p:txBody>
          <a:bodyPr wrap="square">
            <a:spAutoFit/>
          </a:bodyPr>
          <a:lstStyle/>
          <a:p>
            <a:pPr algn="l">
              <a:defRPr sz="1000" b="0">
                <a:latin typeface="Malgun Gothic"/>
              </a:defRPr>
            </a:pPr>
            <a:r>
              <a:t>7 해양환경 이용·향유 자원화 확대</a:t>
            </a:r>
          </a:p>
        </p:txBody>
      </p:sp>
      <p:sp>
        <p:nvSpPr>
          <p:cNvPr id="59" name="TextBox 58"/>
          <p:cNvSpPr txBox="1"/>
          <p:nvPr/>
        </p:nvSpPr>
        <p:spPr>
          <a:xfrm>
            <a:off x="4663440" y="13213080"/>
            <a:ext cx="4023360" cy="228600"/>
          </a:xfrm>
          <a:prstGeom prst="rect">
            <a:avLst/>
          </a:prstGeom>
          <a:noFill/>
        </p:spPr>
        <p:txBody>
          <a:bodyPr wrap="square">
            <a:spAutoFit/>
          </a:bodyPr>
          <a:lstStyle/>
          <a:p>
            <a:pPr algn="l">
              <a:defRPr sz="1000" b="0">
                <a:latin typeface="Malgun Gothic"/>
              </a:defRPr>
            </a:pPr>
            <a:r>
              <a:t>10 상생협력 공정경제 생태계 조성</a:t>
            </a:r>
          </a:p>
        </p:txBody>
      </p:sp>
      <p:sp>
        <p:nvSpPr>
          <p:cNvPr id="60" name="TextBox 59"/>
          <p:cNvSpPr txBox="1"/>
          <p:nvPr/>
        </p:nvSpPr>
        <p:spPr>
          <a:xfrm>
            <a:off x="4663440" y="13533120"/>
            <a:ext cx="4023360" cy="228600"/>
          </a:xfrm>
          <a:prstGeom prst="rect">
            <a:avLst/>
          </a:prstGeom>
          <a:noFill/>
        </p:spPr>
        <p:txBody>
          <a:bodyPr wrap="square">
            <a:spAutoFit/>
          </a:bodyPr>
          <a:lstStyle/>
          <a:p>
            <a:pPr algn="l">
              <a:defRPr sz="1000" b="0">
                <a:latin typeface="Malgun Gothic"/>
              </a:defRPr>
            </a:pPr>
            <a:r>
              <a:t>2 해양폐기물 선순환 체계 구축</a:t>
            </a:r>
          </a:p>
        </p:txBody>
      </p:sp>
      <p:sp>
        <p:nvSpPr>
          <p:cNvPr id="61" name="TextBox 60"/>
          <p:cNvSpPr txBox="1"/>
          <p:nvPr/>
        </p:nvSpPr>
        <p:spPr>
          <a:xfrm>
            <a:off x="4663440" y="13853160"/>
            <a:ext cx="4023360" cy="228600"/>
          </a:xfrm>
          <a:prstGeom prst="rect">
            <a:avLst/>
          </a:prstGeom>
          <a:noFill/>
        </p:spPr>
        <p:txBody>
          <a:bodyPr wrap="square">
            <a:spAutoFit/>
          </a:bodyPr>
          <a:lstStyle/>
          <a:p>
            <a:pPr algn="l">
              <a:defRPr sz="1000" b="0">
                <a:latin typeface="Malgun Gothic"/>
              </a:defRPr>
            </a:pPr>
            <a:r>
              <a:t>5 협력적 해양오염 예방대응 체계화</a:t>
            </a:r>
          </a:p>
        </p:txBody>
      </p:sp>
      <p:sp>
        <p:nvSpPr>
          <p:cNvPr id="62" name="TextBox 61"/>
          <p:cNvSpPr txBox="1"/>
          <p:nvPr/>
        </p:nvSpPr>
        <p:spPr>
          <a:xfrm>
            <a:off x="4663440" y="14173200"/>
            <a:ext cx="4023360" cy="228600"/>
          </a:xfrm>
          <a:prstGeom prst="rect">
            <a:avLst/>
          </a:prstGeom>
          <a:noFill/>
        </p:spPr>
        <p:txBody>
          <a:bodyPr wrap="square">
            <a:spAutoFit/>
          </a:bodyPr>
          <a:lstStyle/>
          <a:p>
            <a:pPr algn="l">
              <a:defRPr sz="1000" b="0">
                <a:latin typeface="Malgun Gothic"/>
              </a:defRPr>
            </a:pPr>
            <a:r>
              <a:t>8 해양 탄소중립 이행기반 구축</a:t>
            </a:r>
          </a:p>
        </p:txBody>
      </p:sp>
      <p:sp>
        <p:nvSpPr>
          <p:cNvPr id="63" name="TextBox 62"/>
          <p:cNvSpPr txBox="1"/>
          <p:nvPr/>
        </p:nvSpPr>
        <p:spPr>
          <a:xfrm>
            <a:off x="4663440" y="14493240"/>
            <a:ext cx="4023360" cy="228600"/>
          </a:xfrm>
          <a:prstGeom prst="rect">
            <a:avLst/>
          </a:prstGeom>
          <a:noFill/>
        </p:spPr>
        <p:txBody>
          <a:bodyPr wrap="square">
            <a:spAutoFit/>
          </a:bodyPr>
          <a:lstStyle/>
          <a:p>
            <a:pPr algn="l">
              <a:defRPr sz="1000" b="0">
                <a:latin typeface="Malgun Gothic"/>
              </a:defRPr>
            </a:pPr>
            <a:r>
              <a:t>11 건강하고 안전한 근로환경 제공</a:t>
            </a:r>
          </a:p>
        </p:txBody>
      </p:sp>
      <p:sp>
        <p:nvSpPr>
          <p:cNvPr id="64" name="TextBox 63"/>
          <p:cNvSpPr txBox="1"/>
          <p:nvPr/>
        </p:nvSpPr>
        <p:spPr>
          <a:xfrm>
            <a:off x="4663440" y="14813280"/>
            <a:ext cx="4023360" cy="228600"/>
          </a:xfrm>
          <a:prstGeom prst="rect">
            <a:avLst/>
          </a:prstGeom>
          <a:noFill/>
        </p:spPr>
        <p:txBody>
          <a:bodyPr wrap="square">
            <a:spAutoFit/>
          </a:bodyPr>
          <a:lstStyle/>
          <a:p>
            <a:pPr algn="l">
              <a:defRPr sz="1000" b="0">
                <a:latin typeface="Malgun Gothic"/>
              </a:defRPr>
            </a:pPr>
            <a:r>
              <a:t>3 해양환경 국민참여 강화</a:t>
            </a:r>
          </a:p>
        </p:txBody>
      </p:sp>
      <p:sp>
        <p:nvSpPr>
          <p:cNvPr id="65" name="TextBox 64"/>
          <p:cNvSpPr txBox="1"/>
          <p:nvPr/>
        </p:nvSpPr>
        <p:spPr>
          <a:xfrm>
            <a:off x="4663440" y="15133320"/>
            <a:ext cx="4023360" cy="228600"/>
          </a:xfrm>
          <a:prstGeom prst="rect">
            <a:avLst/>
          </a:prstGeom>
          <a:noFill/>
        </p:spPr>
        <p:txBody>
          <a:bodyPr wrap="square">
            <a:spAutoFit/>
          </a:bodyPr>
          <a:lstStyle/>
          <a:p>
            <a:pPr algn="l">
              <a:defRPr sz="1000" b="0">
                <a:latin typeface="Malgun Gothic"/>
              </a:defRPr>
            </a:pPr>
            <a:r>
              <a:t>6 해양사업 공공성 강화</a:t>
            </a:r>
          </a:p>
        </p:txBody>
      </p:sp>
      <p:sp>
        <p:nvSpPr>
          <p:cNvPr id="66" name="TextBox 65"/>
          <p:cNvSpPr txBox="1"/>
          <p:nvPr/>
        </p:nvSpPr>
        <p:spPr>
          <a:xfrm>
            <a:off x="4663440" y="15453360"/>
            <a:ext cx="4023360" cy="228600"/>
          </a:xfrm>
          <a:prstGeom prst="rect">
            <a:avLst/>
          </a:prstGeom>
          <a:noFill/>
        </p:spPr>
        <p:txBody>
          <a:bodyPr wrap="square">
            <a:spAutoFit/>
          </a:bodyPr>
          <a:lstStyle/>
          <a:p>
            <a:pPr algn="l">
              <a:defRPr sz="1000" b="0">
                <a:latin typeface="Malgun Gothic"/>
              </a:defRPr>
            </a:pPr>
            <a:r>
              <a:t>9 지속가능 성장기반 확보</a:t>
            </a:r>
          </a:p>
        </p:txBody>
      </p:sp>
      <p:sp>
        <p:nvSpPr>
          <p:cNvPr id="67" name="TextBox 66"/>
          <p:cNvSpPr txBox="1"/>
          <p:nvPr/>
        </p:nvSpPr>
        <p:spPr>
          <a:xfrm>
            <a:off x="4663440" y="15773400"/>
            <a:ext cx="4023360" cy="228600"/>
          </a:xfrm>
          <a:prstGeom prst="rect">
            <a:avLst/>
          </a:prstGeom>
          <a:noFill/>
        </p:spPr>
        <p:txBody>
          <a:bodyPr wrap="square">
            <a:spAutoFit/>
          </a:bodyPr>
          <a:lstStyle/>
          <a:p>
            <a:pPr algn="l">
              <a:defRPr sz="1000" b="0">
                <a:latin typeface="Malgun Gothic"/>
              </a:defRPr>
            </a:pPr>
            <a:r>
              <a:t>12 투명한 경영으로 공정한 기회 보장</a:t>
            </a:r>
          </a:p>
        </p:txBody>
      </p:sp>
      <p:sp>
        <p:nvSpPr>
          <p:cNvPr id="68" name="TextBox 67"/>
          <p:cNvSpPr txBox="1"/>
          <p:nvPr/>
        </p:nvSpPr>
        <p:spPr>
          <a:xfrm>
            <a:off x="4663440" y="16093440"/>
            <a:ext cx="4023360" cy="228600"/>
          </a:xfrm>
          <a:prstGeom prst="rect">
            <a:avLst/>
          </a:prstGeom>
          <a:noFill/>
        </p:spPr>
        <p:txBody>
          <a:bodyPr wrap="square">
            <a:spAutoFit/>
          </a:bodyPr>
          <a:lstStyle/>
          <a:p>
            <a:pPr algn="l">
              <a:defRPr sz="1000" b="0">
                <a:latin typeface="Malgun Gothic"/>
              </a:defRPr>
            </a:pPr>
            <a:r>
              <a:t>중장기 로드맵</a:t>
            </a:r>
          </a:p>
        </p:txBody>
      </p:sp>
      <p:sp>
        <p:nvSpPr>
          <p:cNvPr id="69" name="TextBox 68"/>
          <p:cNvSpPr txBox="1"/>
          <p:nvPr/>
        </p:nvSpPr>
        <p:spPr>
          <a:xfrm>
            <a:off x="4663440" y="16413480"/>
            <a:ext cx="4023360" cy="228600"/>
          </a:xfrm>
          <a:prstGeom prst="rect">
            <a:avLst/>
          </a:prstGeom>
          <a:noFill/>
        </p:spPr>
        <p:txBody>
          <a:bodyPr wrap="square">
            <a:spAutoFit/>
          </a:bodyPr>
          <a:lstStyle/>
          <a:p>
            <a:pPr algn="l">
              <a:defRPr sz="1000" b="0">
                <a:latin typeface="Malgun Gothic"/>
              </a:defRPr>
            </a:pPr>
            <a:r>
              <a:t>●단기(~2021년)</a:t>
            </a:r>
            <a:br/>
            <a:r>
              <a:t>신성장동력 사업 준비기</a:t>
            </a:r>
          </a:p>
        </p:txBody>
      </p:sp>
      <p:sp>
        <p:nvSpPr>
          <p:cNvPr id="70" name="TextBox 69"/>
          <p:cNvSpPr txBox="1"/>
          <p:nvPr/>
        </p:nvSpPr>
        <p:spPr>
          <a:xfrm>
            <a:off x="4663440" y="16733520"/>
            <a:ext cx="4023360" cy="457200"/>
          </a:xfrm>
          <a:prstGeom prst="rect">
            <a:avLst/>
          </a:prstGeom>
          <a:noFill/>
        </p:spPr>
        <p:txBody>
          <a:bodyPr wrap="square">
            <a:spAutoFit/>
          </a:bodyPr>
          <a:lstStyle/>
          <a:p>
            <a:pPr algn="l">
              <a:defRPr sz="1000" b="0">
                <a:latin typeface="Malgun Gothic"/>
              </a:defRPr>
            </a:pPr>
            <a:r>
              <a:t>미래성장동력을 위하여 ICT</a:t>
            </a:r>
            <a:br/>
            <a:r>
              <a:t>융복합 및 R&amp;D관련 사업영역</a:t>
            </a:r>
            <a:br/>
            <a:r>
              <a:t>확장 등을 통한 신규사업</a:t>
            </a:r>
            <a:br/>
            <a:r>
              <a:t>비중을 늘리기 위한 준비 단계</a:t>
            </a:r>
            <a:br/>
            <a:r>
              <a:t>미래핵심사업 육성 및 수출</a:t>
            </a:r>
            <a:br/>
            <a:r>
              <a:t>사업 활성화</a:t>
            </a:r>
          </a:p>
        </p:txBody>
      </p:sp>
      <p:sp>
        <p:nvSpPr>
          <p:cNvPr id="71" name="TextBox 70"/>
          <p:cNvSpPr txBox="1"/>
          <p:nvPr/>
        </p:nvSpPr>
        <p:spPr>
          <a:xfrm>
            <a:off x="4663440" y="17282160"/>
            <a:ext cx="4023360" cy="228600"/>
          </a:xfrm>
          <a:prstGeom prst="rect">
            <a:avLst/>
          </a:prstGeom>
          <a:noFill/>
        </p:spPr>
        <p:txBody>
          <a:bodyPr wrap="square">
            <a:spAutoFit/>
          </a:bodyPr>
          <a:lstStyle/>
          <a:p>
            <a:pPr algn="l">
              <a:defRPr sz="1000" b="0">
                <a:latin typeface="Malgun Gothic"/>
              </a:defRPr>
            </a:pPr>
            <a:r>
              <a:t>장기(~2023년)</a:t>
            </a:r>
            <a:br/>
            <a:r>
              <a:t>융복합 사업 안정기</a:t>
            </a:r>
          </a:p>
        </p:txBody>
      </p:sp>
      <p:sp>
        <p:nvSpPr>
          <p:cNvPr id="72" name="TextBox 71"/>
          <p:cNvSpPr txBox="1"/>
          <p:nvPr/>
        </p:nvSpPr>
        <p:spPr>
          <a:xfrm>
            <a:off x="4663440" y="17602200"/>
            <a:ext cx="4023360" cy="685800"/>
          </a:xfrm>
          <a:prstGeom prst="rect">
            <a:avLst/>
          </a:prstGeom>
          <a:noFill/>
        </p:spPr>
        <p:txBody>
          <a:bodyPr wrap="square">
            <a:spAutoFit/>
          </a:bodyPr>
          <a:lstStyle/>
          <a:p>
            <a:pPr algn="l">
              <a:defRPr sz="1000" b="0">
                <a:latin typeface="Malgun Gothic"/>
              </a:defRPr>
            </a:pPr>
            <a:r>
              <a:t>미래성장동력 사업의 안정기</a:t>
            </a:r>
            <a:br/>
            <a:r>
              <a:t>융복합 창업 클러스터 운영과</a:t>
            </a:r>
            <a:br/>
            <a:r>
              <a:t>지원사업을 통한 도내</a:t>
            </a:r>
            <a:br/>
            <a:r>
              <a:t>경제 활성화 및 일자리 문제</a:t>
            </a:r>
            <a:br/>
            <a:r>
              <a:t>해결</a:t>
            </a:r>
            <a:br/>
            <a:r>
              <a:t>신규사업 성숙도에 따라서</a:t>
            </a:r>
            <a:br/>
            <a:r>
              <a:t>신규사업을 전략목표 기준으로</a:t>
            </a:r>
            <a:br/>
            <a:r>
              <a:t>하는 장기전략체계도로 전환</a:t>
            </a:r>
            <a:br/>
            <a:r>
              <a:t>고려 시점</a:t>
            </a:r>
          </a:p>
        </p:txBody>
      </p:sp>
      <p:sp>
        <p:nvSpPr>
          <p:cNvPr id="73" name="TextBox 72"/>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103</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전략수립 방향성 - 가치체계의 구조와 개념 적용</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아래와 같은 공공기관 가치체계 수립 모델의 트렌드 변화를 반영하여 미션으로부터 비전으로 도달해가는 과정 변수로 경영목표를 설정하여 가치체계와 전략체계의 연계성을 강화하여 전략체계를 수립함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103 | Page 104</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전략수립 방향성 - 전략 방향성 종합</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환경분석을 통해 도출된 SWOT 분석과 주요 이해관계자 의견 수렴을 통해 기존 사업의 혁신과 강화, 해양환경 부문 정책역량 강화, 해양환경 대표 공공기관 위상과 역할 재정립 영역의 10개 전략 방향성을 도출함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내·외부 환경분석 : SWOT</a:t>
            </a:r>
          </a:p>
        </p:txBody>
      </p:sp>
      <p:sp>
        <p:nvSpPr>
          <p:cNvPr id="5" name="TextBox 4"/>
          <p:cNvSpPr txBox="1"/>
          <p:nvPr/>
        </p:nvSpPr>
        <p:spPr>
          <a:xfrm>
            <a:off x="457200" y="1828800"/>
            <a:ext cx="8229600" cy="914400"/>
          </a:xfrm>
          <a:prstGeom prst="rect">
            <a:avLst/>
          </a:prstGeom>
          <a:noFill/>
        </p:spPr>
        <p:txBody>
          <a:bodyPr wrap="square">
            <a:spAutoFit/>
          </a:bodyPr>
          <a:lstStyle/>
          <a:p>
            <a:pPr algn="l">
              <a:defRPr sz="1000" b="0">
                <a:latin typeface="Malgun Gothic"/>
              </a:defRPr>
            </a:pPr>
            <a:r>
              <a:t>강점(S)</a:t>
            </a:r>
            <a:br/>
            <a:br/>
            <a:r>
              <a:t>■ 방제·정화에서 보전으로 사업·조직 확대</a:t>
            </a:r>
            <a:br/>
            <a:r>
              <a:t>• 해양환경 영역 정부사업 주관기관 위상</a:t>
            </a:r>
            <a:br/>
            <a:r>
              <a:t>• 해양환경분야 전문인력 보유</a:t>
            </a:r>
            <a:br/>
            <a:r>
              <a:t>• 방제자산(선박·장비), 기술력 자체 보유</a:t>
            </a:r>
            <a:br/>
            <a:r>
              <a:t>■ 해양정책 네트워크와 지역 인프라 보유</a:t>
            </a:r>
            <a:br/>
            <a:r>
              <a:t>■ 해양환경 측정·조사·연구기능 내부 보유</a:t>
            </a:r>
            <a:br/>
            <a:r>
              <a:t>■ 해양환경 정보제공 및 교육기능 보유</a:t>
            </a:r>
          </a:p>
        </p:txBody>
      </p:sp>
      <p:sp>
        <p:nvSpPr>
          <p:cNvPr id="6" name="TextBox 5"/>
          <p:cNvSpPr txBox="1"/>
          <p:nvPr/>
        </p:nvSpPr>
        <p:spPr>
          <a:xfrm>
            <a:off x="457200" y="2834640"/>
            <a:ext cx="8229600" cy="914400"/>
          </a:xfrm>
          <a:prstGeom prst="rect">
            <a:avLst/>
          </a:prstGeom>
          <a:noFill/>
        </p:spPr>
        <p:txBody>
          <a:bodyPr wrap="square">
            <a:spAutoFit/>
          </a:bodyPr>
          <a:lstStyle/>
          <a:p>
            <a:pPr algn="l">
              <a:defRPr sz="1000" b="0">
                <a:latin typeface="Malgun Gothic"/>
              </a:defRPr>
            </a:pPr>
            <a:r>
              <a:t>약점(W)</a:t>
            </a:r>
            <a:br/>
            <a:br/>
            <a:r>
              <a:t>• 인건비 상승 등 수익성 악화와 재정위기</a:t>
            </a:r>
            <a:br/>
            <a:r>
              <a:t>• 주요 단위사업의 낮은 연속성</a:t>
            </a:r>
            <a:br/>
            <a:r>
              <a:t>• 단기성과중심 사업관리 및 의사결정</a:t>
            </a:r>
            <a:br/>
            <a:r>
              <a:t>■ 해양환경 정책 연구·입안 역량 부족</a:t>
            </a:r>
            <a:br/>
            <a:r>
              <a:t>• 미래성장사업 투자를 위한 재원 부족</a:t>
            </a:r>
            <a:br/>
            <a:r>
              <a:t>• 부서간 정보공유 및 의사소통 부족</a:t>
            </a:r>
            <a:br/>
            <a:r>
              <a:t>• 기관에 대한 낮은 외부 인지도</a:t>
            </a:r>
          </a:p>
        </p:txBody>
      </p:sp>
      <p:sp>
        <p:nvSpPr>
          <p:cNvPr id="7" name="TextBox 6"/>
          <p:cNvSpPr txBox="1"/>
          <p:nvPr/>
        </p:nvSpPr>
        <p:spPr>
          <a:xfrm>
            <a:off x="457200" y="3840480"/>
            <a:ext cx="8229600" cy="914400"/>
          </a:xfrm>
          <a:prstGeom prst="rect">
            <a:avLst/>
          </a:prstGeom>
          <a:noFill/>
        </p:spPr>
        <p:txBody>
          <a:bodyPr wrap="square">
            <a:spAutoFit/>
          </a:bodyPr>
          <a:lstStyle/>
          <a:p>
            <a:pPr algn="l">
              <a:defRPr sz="1000" b="0">
                <a:latin typeface="Malgun Gothic"/>
              </a:defRPr>
            </a:pPr>
            <a:r>
              <a:t>기회(O)</a:t>
            </a:r>
            <a:br/>
            <a:br/>
            <a:r>
              <a:t>■ 제5차 해양환경종합계획 시행</a:t>
            </a:r>
            <a:br/>
            <a:r>
              <a:t>• 한국판 뉴딜(디지털, 그린, 안전) 추진</a:t>
            </a:r>
            <a:br/>
            <a:r>
              <a:t>• 기후변화대응·탄소중립 중요성 강화</a:t>
            </a:r>
            <a:br/>
            <a:r>
              <a:t>• 국제협약, 국제기구 영향력 증가</a:t>
            </a:r>
            <a:br/>
            <a:r>
              <a:t>• 코로나19로 인한 디지털전환 가속화</a:t>
            </a:r>
            <a:br/>
            <a:r>
              <a:t>■ 국가 해양방제체계 개편</a:t>
            </a:r>
            <a:br/>
            <a:r>
              <a:t>• 연안지역 인구감소 및 어촌 노령화 지속</a:t>
            </a:r>
          </a:p>
        </p:txBody>
      </p:sp>
      <p:sp>
        <p:nvSpPr>
          <p:cNvPr id="8" name="TextBox 7"/>
          <p:cNvSpPr txBox="1"/>
          <p:nvPr/>
        </p:nvSpPr>
        <p:spPr>
          <a:xfrm>
            <a:off x="457200" y="4846320"/>
            <a:ext cx="8229600" cy="914400"/>
          </a:xfrm>
          <a:prstGeom prst="rect">
            <a:avLst/>
          </a:prstGeom>
          <a:noFill/>
        </p:spPr>
        <p:txBody>
          <a:bodyPr wrap="square">
            <a:spAutoFit/>
          </a:bodyPr>
          <a:lstStyle/>
          <a:p>
            <a:pPr algn="l">
              <a:defRPr sz="1000" b="0">
                <a:latin typeface="Malgun Gothic"/>
              </a:defRPr>
            </a:pPr>
            <a:r>
              <a:t>위협(T)</a:t>
            </a:r>
            <a:br/>
            <a:br/>
            <a:r>
              <a:t>• 공공부문 친환경선박 전환 정책 추진</a:t>
            </a:r>
            <a:br/>
            <a:r>
              <a:t>• 저성장·고실업의 뉴노멀 기조 지속</a:t>
            </a:r>
            <a:br/>
            <a:r>
              <a:t>• 경기침체에 따른 항만물동량 감소</a:t>
            </a:r>
            <a:br/>
            <a:r>
              <a:t>• 비대면, 디지털 소비패턴 변화</a:t>
            </a:r>
            <a:br/>
            <a:r>
              <a:t>■ 자율주행선박, AI, IoT, 5G 등 신기술</a:t>
            </a:r>
            <a:br/>
            <a:r>
              <a:t>• 공적기능 강화 및 민간경쟁 지양 요구</a:t>
            </a:r>
            <a:br/>
            <a:r>
              <a:t>• 중대재해처벌법 등 안전관리 책임 강화</a:t>
            </a:r>
          </a:p>
        </p:txBody>
      </p:sp>
      <p:sp>
        <p:nvSpPr>
          <p:cNvPr id="9" name="TextBox 8"/>
          <p:cNvSpPr txBox="1"/>
          <p:nvPr/>
        </p:nvSpPr>
        <p:spPr>
          <a:xfrm>
            <a:off x="457200" y="5852160"/>
            <a:ext cx="8229600" cy="274320"/>
          </a:xfrm>
          <a:prstGeom prst="rect">
            <a:avLst/>
          </a:prstGeom>
          <a:noFill/>
        </p:spPr>
        <p:txBody>
          <a:bodyPr wrap="square">
            <a:spAutoFit/>
          </a:bodyPr>
          <a:lstStyle/>
          <a:p>
            <a:pPr algn="l">
              <a:defRPr sz="1200" b="1">
                <a:solidFill>
                  <a:srgbClr val="003366"/>
                </a:solidFill>
                <a:latin typeface="Malgun Gothic"/>
              </a:defRPr>
            </a:pPr>
            <a:r>
              <a:t>전략 방향성</a:t>
            </a:r>
          </a:p>
        </p:txBody>
      </p:sp>
      <p:sp>
        <p:nvSpPr>
          <p:cNvPr id="10" name="TextBox 9"/>
          <p:cNvSpPr txBox="1"/>
          <p:nvPr/>
        </p:nvSpPr>
        <p:spPr>
          <a:xfrm>
            <a:off x="457200" y="6217920"/>
            <a:ext cx="8229600" cy="914400"/>
          </a:xfrm>
          <a:prstGeom prst="rect">
            <a:avLst/>
          </a:prstGeom>
          <a:noFill/>
        </p:spPr>
        <p:txBody>
          <a:bodyPr wrap="square">
            <a:spAutoFit/>
          </a:bodyPr>
          <a:lstStyle/>
          <a:p>
            <a:pPr algn="l">
              <a:defRPr sz="1000" b="0">
                <a:latin typeface="Malgun Gothic"/>
              </a:defRPr>
            </a:pPr>
            <a:r>
              <a:t>1. 해양 방제 기본역량 강화</a:t>
            </a:r>
            <a:br/>
            <a:r>
              <a:t>2. 공적기능과 공공성 강화</a:t>
            </a:r>
            <a:br/>
            <a:r>
              <a:t>3. 해양생태 통합관리체계 확장</a:t>
            </a:r>
            <a:br/>
            <a:r>
              <a:t>4. 해양폐기물 정화·관리체계 강화</a:t>
            </a:r>
            <a:br/>
            <a:r>
              <a:t>5. 해양환경변화 예측역량 강화</a:t>
            </a:r>
            <a:br/>
            <a:r>
              <a:t>6. 해양환경 정책기능 강화</a:t>
            </a:r>
            <a:br/>
            <a:r>
              <a:t>7. 미래성장사업 규모의 경제 실현</a:t>
            </a:r>
            <a:br/>
            <a:r>
              <a:t>8. 해양환경 국민 플랫폼으로 성장</a:t>
            </a:r>
            <a:br/>
            <a:r>
              <a:t>9. 해양 신산업 육성 기반조성</a:t>
            </a:r>
            <a:br/>
            <a:r>
              <a:t>10. 해양 기후변화·탄소중립 주도</a:t>
            </a:r>
          </a:p>
        </p:txBody>
      </p:sp>
      <p:sp>
        <p:nvSpPr>
          <p:cNvPr id="11" name="TextBox 10"/>
          <p:cNvSpPr txBox="1"/>
          <p:nvPr/>
        </p:nvSpPr>
        <p:spPr>
          <a:xfrm>
            <a:off x="457200" y="7223760"/>
            <a:ext cx="8229600" cy="274320"/>
          </a:xfrm>
          <a:prstGeom prst="rect">
            <a:avLst/>
          </a:prstGeom>
          <a:noFill/>
        </p:spPr>
        <p:txBody>
          <a:bodyPr wrap="square">
            <a:spAutoFit/>
          </a:bodyPr>
          <a:lstStyle/>
          <a:p>
            <a:pPr algn="l">
              <a:defRPr sz="1200" b="1">
                <a:solidFill>
                  <a:srgbClr val="003366"/>
                </a:solidFill>
                <a:latin typeface="Malgun Gothic"/>
              </a:defRPr>
            </a:pPr>
            <a:r>
              <a:t>방향성 분류</a:t>
            </a:r>
          </a:p>
        </p:txBody>
      </p:sp>
      <p:sp>
        <p:nvSpPr>
          <p:cNvPr id="12" name="TextBox 11"/>
          <p:cNvSpPr txBox="1"/>
          <p:nvPr/>
        </p:nvSpPr>
        <p:spPr>
          <a:xfrm>
            <a:off x="457200" y="7589520"/>
            <a:ext cx="8229600" cy="685800"/>
          </a:xfrm>
          <a:prstGeom prst="rect">
            <a:avLst/>
          </a:prstGeom>
          <a:noFill/>
        </p:spPr>
        <p:txBody>
          <a:bodyPr wrap="square">
            <a:spAutoFit/>
          </a:bodyPr>
          <a:lstStyle/>
          <a:p>
            <a:pPr algn="l">
              <a:defRPr sz="1000" b="0">
                <a:latin typeface="Malgun Gothic"/>
              </a:defRPr>
            </a:pPr>
            <a:r>
              <a:t>기존 사업의 혁신 및 협력 네트워크를 통한 역량 강화 (방제·정화·보전)</a:t>
            </a:r>
            <a:br/>
            <a:r>
              <a:t>해양환경 부문 전문화 및 정책역량 강화</a:t>
            </a:r>
            <a:br/>
            <a:r>
              <a:t>사업성(수익성) 개선</a:t>
            </a:r>
            <a:br/>
            <a:r>
              <a:t>해양환경 대표 공공기관으로서 위상과 역할 재정립</a:t>
            </a:r>
          </a:p>
        </p:txBody>
      </p:sp>
      <p:sp>
        <p:nvSpPr>
          <p:cNvPr id="13" name="TextBox 12"/>
          <p:cNvSpPr txBox="1"/>
          <p:nvPr/>
        </p:nvSpPr>
        <p:spPr>
          <a:xfrm>
            <a:off x="457200" y="8366760"/>
            <a:ext cx="8229600" cy="274320"/>
          </a:xfrm>
          <a:prstGeom prst="rect">
            <a:avLst/>
          </a:prstGeom>
          <a:noFill/>
        </p:spPr>
        <p:txBody>
          <a:bodyPr wrap="square">
            <a:spAutoFit/>
          </a:bodyPr>
          <a:lstStyle/>
          <a:p>
            <a:pPr algn="l">
              <a:defRPr sz="1200" b="1">
                <a:solidFill>
                  <a:srgbClr val="003366"/>
                </a:solidFill>
                <a:latin typeface="Malgun Gothic"/>
              </a:defRPr>
            </a:pPr>
            <a:r>
              <a:t>주요 이해관계자 의견 수렴</a:t>
            </a:r>
          </a:p>
        </p:txBody>
      </p:sp>
      <p:sp>
        <p:nvSpPr>
          <p:cNvPr id="14" name="TextBox 13"/>
          <p:cNvSpPr txBox="1"/>
          <p:nvPr/>
        </p:nvSpPr>
        <p:spPr>
          <a:xfrm>
            <a:off x="457200" y="8732520"/>
            <a:ext cx="8229600" cy="457200"/>
          </a:xfrm>
          <a:prstGeom prst="rect">
            <a:avLst/>
          </a:prstGeom>
          <a:noFill/>
        </p:spPr>
        <p:txBody>
          <a:bodyPr wrap="square">
            <a:spAutoFit/>
          </a:bodyPr>
          <a:lstStyle/>
          <a:p>
            <a:pPr algn="l">
              <a:defRPr sz="1000" b="0">
                <a:latin typeface="Malgun Gothic"/>
              </a:defRPr>
            </a:pPr>
            <a:r>
              <a:t>• 내부 임직원(사업부서, 임원), 외부 이해관계자(시민단체, 정부, 국회,</a:t>
            </a:r>
            <a:br/>
            <a:r>
              <a:t>학계), 유관기관(KMI, KIOST) 전문가 심층인터뷰를 통한 의견 수렴</a:t>
            </a:r>
          </a:p>
        </p:txBody>
      </p:sp>
      <p:sp>
        <p:nvSpPr>
          <p:cNvPr id="15" name="TextBox 14"/>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 | Page 105</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전략수립 방향성 - 해양 방제 기본역량 강화</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SWOT 요소 항목들로 부터 공단의 근원 목적사업인 해양방제 기본역량 강화를 전략방향으로 도출함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 | Page 107</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전략수립 방향성 - 공적기능과 공공성 강화</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SWOT 요소 항목들로 부터 공공기관으로서 공단의 기능과 역할인 공적기능과 공공성 강화를 전략방향으로 도출함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 | Page 108</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전략수립 방향성 - 해양생태 통합관리체계 확대·강화</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SWOT 요소 항목들로 부터 유관기관, 지자체, 민간과 네트워크 구축을 통한 해양생태 통합관리체계의 확대와 강화를 전략방향으로 도출함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None | Page 109</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전략수립 방향성 - 해양폐기물 정화·관리체계 강화</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SWOT 요소 항목들로부터 공단의 고유 사업인 해양폐기물 정화 및 관리체계 강화를 전략방향으로 도출함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 | Page 110</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전략수립 방향성 - 해양환경변화 예측역량 강화</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SWOT 요소 항목들로 부터 해양환경 통합정보 활용과 해양환경 국제위상 강화를 위한 해양환경변화 예측역량 강화를 전략방향으로 도출함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None | Page 111</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전략수립 방향성 - 해양환경 정책기능 강화</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SWOT 요소 항목들로부터 해양환경 영역과 범위 확대에 따른 국가 해양환경 정책 선도를 위한 해양환경 정책기능 강화를 전략방향으로 도출함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해양환경공단 111 | Page 112</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전략수립 방향성 - 미래성장사업 규모의 경제 실현</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SWOT 요소 항목들로 부터 사업의 연속성과 규모를 확보를 통한 미래성장사업(신규사업 또는 진행중 사업의 확대) 규모의 경제 실현을 전략방향으로 도출함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해양환경공단 | Page 113</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전략수립 방향성 - 해양환경 국민 플랫폼으로 성장</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SWOT 요소 항목들로 부터 국민, 시민단체와의 소통과 참여를 위한 해양환경 대표 플랫폼의 구축과 플랫폼 성장을 전략방향으로 도출함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해양환경공단 | Page 114</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전략수립 방향성 - 해양 신산업 육성 기반조성</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SWOT 요소 항목들로 부터 해양치유, 해양생태관광, 해양바이오 등 해양 신산업에 필요한 해양환경·해양생태 자원의</a:t>
            </a:r>
            <a:br/>
            <a:r>
              <a:t>발굴·기획·개발 역량의 강화를 전략방향으로 도출함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114 | Page 115</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전략수립 방향성 - 해양부문 기후변화대응·탄소중립 주도</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SWOT 요소 항목들로 부터 정부의 중요 환경정책인 기후변화 대응과 탄소중립 2050 실현을 지원하기 위한 해양기후변화대응·탄소중립 주도를 전략방향으로 도출함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115 | Page 116</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전략수립 방향성 - 해양환경 전문기관 지향</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해양환경의 영역과 범위, 개념을 정의하고 해양환경 정책의 목표와 방향성을 수립하며, 정책 우선순위와 추진을 선도할 해양환경 전문기관으로서 공단의 역할과 위상을 재정의하고 해양환경 전문기관으로 거듭나는 발전이 필요함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국가 해양환경 개념 변화와 전문기관 필요성 : 공단의 새로운 역할과 위상</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'90년대</a:t>
            </a:r>
          </a:p>
        </p:txBody>
      </p:sp>
      <p:sp>
        <p:nvSpPr>
          <p:cNvPr id="6" name="TextBox 5"/>
          <p:cNvSpPr txBox="1"/>
          <p:nvPr/>
        </p:nvSpPr>
        <p:spPr>
          <a:xfrm>
            <a:off x="457200" y="2148840"/>
            <a:ext cx="8229600" cy="228600"/>
          </a:xfrm>
          <a:prstGeom prst="rect">
            <a:avLst/>
          </a:prstGeom>
          <a:noFill/>
        </p:spPr>
        <p:txBody>
          <a:bodyPr wrap="square">
            <a:spAutoFit/>
          </a:bodyPr>
          <a:lstStyle/>
          <a:p>
            <a:pPr algn="l">
              <a:defRPr sz="1000" b="0">
                <a:latin typeface="Malgun Gothic"/>
              </a:defRPr>
            </a:pPr>
            <a:r>
              <a:t>• 오염사고 (사후) 방제</a:t>
            </a:r>
            <a:br/>
            <a:r>
              <a:t>• 오염피해 지원제도 도입</a:t>
            </a:r>
          </a:p>
        </p:txBody>
      </p:sp>
      <p:sp>
        <p:nvSpPr>
          <p:cNvPr id="7" name="TextBox 6"/>
          <p:cNvSpPr txBox="1"/>
          <p:nvPr/>
        </p:nvSpPr>
        <p:spPr>
          <a:xfrm>
            <a:off x="457200" y="2468880"/>
            <a:ext cx="8229600" cy="228600"/>
          </a:xfrm>
          <a:prstGeom prst="rect">
            <a:avLst/>
          </a:prstGeom>
          <a:noFill/>
        </p:spPr>
        <p:txBody>
          <a:bodyPr wrap="square">
            <a:spAutoFit/>
          </a:bodyPr>
          <a:lstStyle/>
          <a:p>
            <a:pPr algn="l">
              <a:defRPr sz="1000" b="0">
                <a:latin typeface="Malgun Gothic"/>
              </a:defRPr>
            </a:pPr>
            <a:r>
              <a:t>• 해양오염의 심각성, 국가적</a:t>
            </a:r>
            <a:br/>
            <a:r>
              <a:t>대응역량 확보 필요성에 따라</a:t>
            </a:r>
            <a:br/>
            <a:r>
              <a:t>한국해양오염방제조합 설립</a:t>
            </a:r>
          </a:p>
        </p:txBody>
      </p:sp>
      <p:sp>
        <p:nvSpPr>
          <p:cNvPr id="8" name="TextBox 7"/>
          <p:cNvSpPr txBox="1"/>
          <p:nvPr/>
        </p:nvSpPr>
        <p:spPr>
          <a:xfrm>
            <a:off x="457200" y="2788920"/>
            <a:ext cx="8229600" cy="228600"/>
          </a:xfrm>
          <a:prstGeom prst="rect">
            <a:avLst/>
          </a:prstGeom>
          <a:noFill/>
        </p:spPr>
        <p:txBody>
          <a:bodyPr wrap="square">
            <a:spAutoFit/>
          </a:bodyPr>
          <a:lstStyle/>
          <a:p>
            <a:pPr algn="l">
              <a:defRPr sz="1000" b="0">
                <a:latin typeface="Malgun Gothic"/>
              </a:defRPr>
            </a:pPr>
            <a:r>
              <a:t>• 대규모 해양오염사고에 대한</a:t>
            </a:r>
            <a:br/>
            <a:r>
              <a:t>대응으로 재난예방 및 사고</a:t>
            </a:r>
            <a:br/>
            <a:r>
              <a:t>방제 등 해양방제 체계 확보</a:t>
            </a:r>
          </a:p>
        </p:txBody>
      </p:sp>
      <p:sp>
        <p:nvSpPr>
          <p:cNvPr id="9" name="TextBox 8"/>
          <p:cNvSpPr txBox="1"/>
          <p:nvPr/>
        </p:nvSpPr>
        <p:spPr>
          <a:xfrm>
            <a:off x="457200" y="3108960"/>
            <a:ext cx="8229600" cy="228600"/>
          </a:xfrm>
          <a:prstGeom prst="rect">
            <a:avLst/>
          </a:prstGeom>
          <a:noFill/>
        </p:spPr>
        <p:txBody>
          <a:bodyPr wrap="square">
            <a:spAutoFit/>
          </a:bodyPr>
          <a:lstStyle/>
          <a:p>
            <a:pPr algn="l">
              <a:defRPr sz="1000" b="0">
                <a:latin typeface="Malgun Gothic"/>
              </a:defRPr>
            </a:pPr>
            <a:r>
              <a:t>'00년대</a:t>
            </a:r>
          </a:p>
        </p:txBody>
      </p:sp>
      <p:sp>
        <p:nvSpPr>
          <p:cNvPr id="10" name="TextBox 9"/>
          <p:cNvSpPr txBox="1"/>
          <p:nvPr/>
        </p:nvSpPr>
        <p:spPr>
          <a:xfrm>
            <a:off x="457200" y="3429000"/>
            <a:ext cx="8229600" cy="228600"/>
          </a:xfrm>
          <a:prstGeom prst="rect">
            <a:avLst/>
          </a:prstGeom>
          <a:noFill/>
        </p:spPr>
        <p:txBody>
          <a:bodyPr wrap="square">
            <a:spAutoFit/>
          </a:bodyPr>
          <a:lstStyle/>
          <a:p>
            <a:pPr algn="l">
              <a:defRPr sz="1000" b="0">
                <a:latin typeface="Malgun Gothic"/>
              </a:defRPr>
            </a:pPr>
            <a:r>
              <a:t>• 해양환경·생태계 개념 도입</a:t>
            </a:r>
            <a:br/>
            <a:r>
              <a:t>• 오염정화, 오염원 관리 체계화</a:t>
            </a:r>
          </a:p>
        </p:txBody>
      </p:sp>
      <p:sp>
        <p:nvSpPr>
          <p:cNvPr id="11" name="TextBox 10"/>
          <p:cNvSpPr txBox="1"/>
          <p:nvPr/>
        </p:nvSpPr>
        <p:spPr>
          <a:xfrm>
            <a:off x="457200" y="3749040"/>
            <a:ext cx="8229600" cy="228600"/>
          </a:xfrm>
          <a:prstGeom prst="rect">
            <a:avLst/>
          </a:prstGeom>
          <a:noFill/>
        </p:spPr>
        <p:txBody>
          <a:bodyPr wrap="square">
            <a:spAutoFit/>
          </a:bodyPr>
          <a:lstStyle/>
          <a:p>
            <a:pPr algn="l">
              <a:defRPr sz="1000" b="0">
                <a:latin typeface="Malgun Gothic"/>
              </a:defRPr>
            </a:pPr>
            <a:r>
              <a:t>• 해양환경·해양생태계 개념이</a:t>
            </a:r>
            <a:br/>
            <a:r>
              <a:t>도입되면서 해양환경관리공단</a:t>
            </a:r>
            <a:br/>
            <a:r>
              <a:t>으로 기능 확대(설립)</a:t>
            </a:r>
          </a:p>
        </p:txBody>
      </p:sp>
      <p:sp>
        <p:nvSpPr>
          <p:cNvPr id="12" name="TextBox 11"/>
          <p:cNvSpPr txBox="1"/>
          <p:nvPr/>
        </p:nvSpPr>
        <p:spPr>
          <a:xfrm>
            <a:off x="457200" y="4069080"/>
            <a:ext cx="8229600" cy="228600"/>
          </a:xfrm>
          <a:prstGeom prst="rect">
            <a:avLst/>
          </a:prstGeom>
          <a:noFill/>
        </p:spPr>
        <p:txBody>
          <a:bodyPr wrap="square">
            <a:spAutoFit/>
          </a:bodyPr>
          <a:lstStyle/>
          <a:p>
            <a:pPr algn="l">
              <a:defRPr sz="1000" b="0">
                <a:latin typeface="Malgun Gothic"/>
              </a:defRPr>
            </a:pPr>
            <a:r>
              <a:t>• 공단 설립과 별개로 해수부가</a:t>
            </a:r>
            <a:br/>
            <a:r>
              <a:t>국토부·농수산식품부·환경부로</a:t>
            </a:r>
            <a:br/>
            <a:r>
              <a:t>분리되어 정책 주관 불분명</a:t>
            </a:r>
          </a:p>
        </p:txBody>
      </p:sp>
      <p:sp>
        <p:nvSpPr>
          <p:cNvPr id="13" name="TextBox 12"/>
          <p:cNvSpPr txBox="1"/>
          <p:nvPr/>
        </p:nvSpPr>
        <p:spPr>
          <a:xfrm>
            <a:off x="457200" y="4389120"/>
            <a:ext cx="8229600" cy="228600"/>
          </a:xfrm>
          <a:prstGeom prst="rect">
            <a:avLst/>
          </a:prstGeom>
          <a:noFill/>
        </p:spPr>
        <p:txBody>
          <a:bodyPr wrap="square">
            <a:spAutoFit/>
          </a:bodyPr>
          <a:lstStyle/>
          <a:p>
            <a:pPr algn="l">
              <a:defRPr sz="1000" b="0">
                <a:latin typeface="Malgun Gothic"/>
              </a:defRPr>
            </a:pPr>
            <a:r>
              <a:t>'10년대</a:t>
            </a:r>
          </a:p>
        </p:txBody>
      </p:sp>
      <p:sp>
        <p:nvSpPr>
          <p:cNvPr id="14" name="TextBox 13"/>
          <p:cNvSpPr txBox="1"/>
          <p:nvPr/>
        </p:nvSpPr>
        <p:spPr>
          <a:xfrm>
            <a:off x="457200" y="4709160"/>
            <a:ext cx="8229600" cy="228600"/>
          </a:xfrm>
          <a:prstGeom prst="rect">
            <a:avLst/>
          </a:prstGeom>
          <a:noFill/>
        </p:spPr>
        <p:txBody>
          <a:bodyPr wrap="square">
            <a:spAutoFit/>
          </a:bodyPr>
          <a:lstStyle/>
          <a:p>
            <a:pPr algn="l">
              <a:defRPr sz="1000" b="0">
                <a:latin typeface="Malgun Gothic"/>
              </a:defRPr>
            </a:pPr>
            <a:r>
              <a:t>• 해양생태계 건강성 유지·보전</a:t>
            </a:r>
            <a:br/>
            <a:r>
              <a:t>• 해양환경 정책 범위 확대</a:t>
            </a:r>
          </a:p>
        </p:txBody>
      </p:sp>
      <p:sp>
        <p:nvSpPr>
          <p:cNvPr id="15" name="TextBox 14"/>
          <p:cNvSpPr txBox="1"/>
          <p:nvPr/>
        </p:nvSpPr>
        <p:spPr>
          <a:xfrm>
            <a:off x="457200" y="5029200"/>
            <a:ext cx="8229600" cy="457200"/>
          </a:xfrm>
          <a:prstGeom prst="rect">
            <a:avLst/>
          </a:prstGeom>
          <a:noFill/>
        </p:spPr>
        <p:txBody>
          <a:bodyPr wrap="square">
            <a:spAutoFit/>
          </a:bodyPr>
          <a:lstStyle/>
          <a:p>
            <a:pPr algn="l">
              <a:defRPr sz="1000" b="0">
                <a:latin typeface="Malgun Gothic"/>
              </a:defRPr>
            </a:pPr>
            <a:r>
              <a:t>• 해양환경 정책 연구·입안·평가</a:t>
            </a:r>
            <a:br/>
            <a:r>
              <a:t>인프라 확대를 꾀했으나 정책</a:t>
            </a:r>
            <a:br/>
            <a:r>
              <a:t>선도 주체의 모호성(해수부,</a:t>
            </a:r>
            <a:br/>
            <a:r>
              <a:t>공단, KMI 등), 정책역량 보유</a:t>
            </a:r>
            <a:br/>
            <a:r>
              <a:t>기관의 부재로 국가 해양환경</a:t>
            </a:r>
            <a:br/>
            <a:r>
              <a:t>정책의 확대 제한적</a:t>
            </a:r>
          </a:p>
        </p:txBody>
      </p:sp>
      <p:sp>
        <p:nvSpPr>
          <p:cNvPr id="16" name="TextBox 15"/>
          <p:cNvSpPr txBox="1"/>
          <p:nvPr/>
        </p:nvSpPr>
        <p:spPr>
          <a:xfrm>
            <a:off x="457200" y="5577840"/>
            <a:ext cx="8229600" cy="228600"/>
          </a:xfrm>
          <a:prstGeom prst="rect">
            <a:avLst/>
          </a:prstGeom>
          <a:noFill/>
        </p:spPr>
        <p:txBody>
          <a:bodyPr wrap="square">
            <a:spAutoFit/>
          </a:bodyPr>
          <a:lstStyle/>
          <a:p>
            <a:pPr algn="l">
              <a:defRPr sz="1000" b="0">
                <a:latin typeface="Malgun Gothic"/>
              </a:defRPr>
            </a:pPr>
            <a:r>
              <a:t>'20년대</a:t>
            </a:r>
          </a:p>
        </p:txBody>
      </p:sp>
      <p:sp>
        <p:nvSpPr>
          <p:cNvPr id="17" name="TextBox 16"/>
          <p:cNvSpPr txBox="1"/>
          <p:nvPr/>
        </p:nvSpPr>
        <p:spPr>
          <a:xfrm>
            <a:off x="457200" y="5897880"/>
            <a:ext cx="8229600" cy="228600"/>
          </a:xfrm>
          <a:prstGeom prst="rect">
            <a:avLst/>
          </a:prstGeom>
          <a:noFill/>
        </p:spPr>
        <p:txBody>
          <a:bodyPr wrap="square">
            <a:spAutoFit/>
          </a:bodyPr>
          <a:lstStyle/>
          <a:p>
            <a:pPr algn="l">
              <a:defRPr sz="1000" b="0">
                <a:latin typeface="Malgun Gothic"/>
              </a:defRPr>
            </a:pPr>
            <a:r>
              <a:t>• 해양 보전·이용·성장 관점 도입</a:t>
            </a:r>
            <a:br/>
            <a:r>
              <a:t>• 해양환경 개념·정책 재정의 필요</a:t>
            </a:r>
          </a:p>
        </p:txBody>
      </p:sp>
      <p:sp>
        <p:nvSpPr>
          <p:cNvPr id="18" name="TextBox 17"/>
          <p:cNvSpPr txBox="1"/>
          <p:nvPr/>
        </p:nvSpPr>
        <p:spPr>
          <a:xfrm>
            <a:off x="457200" y="6217920"/>
            <a:ext cx="8229600" cy="228600"/>
          </a:xfrm>
          <a:prstGeom prst="rect">
            <a:avLst/>
          </a:prstGeom>
          <a:noFill/>
        </p:spPr>
        <p:txBody>
          <a:bodyPr wrap="square">
            <a:spAutoFit/>
          </a:bodyPr>
          <a:lstStyle/>
          <a:p>
            <a:pPr algn="l">
              <a:defRPr sz="1000" b="0">
                <a:latin typeface="Malgun Gothic"/>
              </a:defRPr>
            </a:pPr>
            <a:r>
              <a:t>• 해양환경의 영역과 범위 확대에</a:t>
            </a:r>
            <a:br/>
            <a:r>
              <a:t>따라 해양환경 개념 재정의 필요</a:t>
            </a:r>
          </a:p>
        </p:txBody>
      </p:sp>
      <p:sp>
        <p:nvSpPr>
          <p:cNvPr id="19" name="TextBox 18"/>
          <p:cNvSpPr txBox="1"/>
          <p:nvPr/>
        </p:nvSpPr>
        <p:spPr>
          <a:xfrm>
            <a:off x="457200" y="6537960"/>
            <a:ext cx="8229600" cy="457200"/>
          </a:xfrm>
          <a:prstGeom prst="rect">
            <a:avLst/>
          </a:prstGeom>
          <a:noFill/>
        </p:spPr>
        <p:txBody>
          <a:bodyPr wrap="square">
            <a:spAutoFit/>
          </a:bodyPr>
          <a:lstStyle/>
          <a:p>
            <a:pPr algn="l">
              <a:defRPr sz="1000" b="0">
                <a:latin typeface="Malgun Gothic"/>
              </a:defRPr>
            </a:pPr>
            <a:r>
              <a:t>• 새로운 해양환경 개념에 따라</a:t>
            </a:r>
            <a:br/>
            <a:r>
              <a:t>해양환경 정책 방향성 수립을</a:t>
            </a:r>
            <a:br/>
            <a:r>
              <a:t>지원하고 정책 수행을 선도할</a:t>
            </a:r>
            <a:br/>
            <a:r>
              <a:t>해양환경 전문기관 필요</a:t>
            </a:r>
          </a:p>
        </p:txBody>
      </p:sp>
      <p:sp>
        <p:nvSpPr>
          <p:cNvPr id="20" name="TextBox 19"/>
          <p:cNvSpPr txBox="1"/>
          <p:nvPr/>
        </p:nvSpPr>
        <p:spPr>
          <a:xfrm>
            <a:off x="457200" y="7086600"/>
            <a:ext cx="8229600" cy="228600"/>
          </a:xfrm>
          <a:prstGeom prst="rect">
            <a:avLst/>
          </a:prstGeom>
          <a:noFill/>
        </p:spPr>
        <p:txBody>
          <a:bodyPr wrap="square">
            <a:spAutoFit/>
          </a:bodyPr>
          <a:lstStyle/>
          <a:p>
            <a:pPr algn="l">
              <a:defRPr sz="1000" b="0">
                <a:latin typeface="Malgun Gothic"/>
              </a:defRPr>
            </a:pPr>
            <a:r>
              <a:t>해양환경</a:t>
            </a:r>
            <a:br/>
            <a:r>
              <a:t>전문기관으로서</a:t>
            </a:r>
            <a:br/>
            <a:r>
              <a:t>공단의 역할과</a:t>
            </a:r>
            <a:br/>
            <a:r>
              <a:t>위상 재정의</a:t>
            </a:r>
          </a:p>
        </p:txBody>
      </p:sp>
      <p:sp>
        <p:nvSpPr>
          <p:cNvPr id="21" name="TextBox 20"/>
          <p:cNvSpPr txBox="1"/>
          <p:nvPr/>
        </p:nvSpPr>
        <p:spPr>
          <a:xfrm>
            <a:off x="457200" y="7406640"/>
            <a:ext cx="8229600" cy="914400"/>
          </a:xfrm>
          <a:prstGeom prst="rect">
            <a:avLst/>
          </a:prstGeom>
          <a:noFill/>
        </p:spPr>
        <p:txBody>
          <a:bodyPr wrap="square">
            <a:spAutoFit/>
          </a:bodyPr>
          <a:lstStyle/>
          <a:p>
            <a:pPr algn="l">
              <a:defRPr sz="1000" b="0">
                <a:latin typeface="Malgun Gothic"/>
              </a:defRPr>
            </a:pPr>
            <a:r>
              <a:t>✓ 해양환경은 해운물류, 수산업 등 직접적 경제효과를 가진 부문에 비해 정책 연구와 개발에 충분한 투자가 이루어지지 않음</a:t>
            </a:r>
            <a:br/>
            <a:r>
              <a:t>✓ 해양환경의 영역과 범위의 확대, 보전·복원의 개념에 대한 정의가 선제적으로 이루어지지 않고, 국제기구·시민단체 또는 산업자원부·환경부 등 외부적 요구에 따라가는 정책 수준에 머무르고 있음</a:t>
            </a:r>
          </a:p>
        </p:txBody>
      </p:sp>
      <p:sp>
        <p:nvSpPr>
          <p:cNvPr id="22" name="TextBox 21"/>
          <p:cNvSpPr txBox="1"/>
          <p:nvPr/>
        </p:nvSpPr>
        <p:spPr>
          <a:xfrm>
            <a:off x="457200" y="8412480"/>
            <a:ext cx="8229600" cy="457200"/>
          </a:xfrm>
          <a:prstGeom prst="rect">
            <a:avLst/>
          </a:prstGeom>
          <a:noFill/>
        </p:spPr>
        <p:txBody>
          <a:bodyPr wrap="square">
            <a:spAutoFit/>
          </a:bodyPr>
          <a:lstStyle/>
          <a:p>
            <a:pPr algn="l">
              <a:defRPr sz="1000" b="0">
                <a:latin typeface="Malgun Gothic"/>
              </a:defRPr>
            </a:pPr>
            <a:r>
              <a:t>✓ 해양환경의 영역과 범위, 개념을 정의하고,</a:t>
            </a:r>
            <a:br/>
            <a:r>
              <a:t>✓ 해양환경 정책 방향성을 수립을 지원하며,</a:t>
            </a:r>
            <a:br/>
            <a:r>
              <a:t>√ 정책 수행을 선도할 전문기관 필요</a:t>
            </a:r>
            <a:br/>
            <a:br/>
            <a:r>
              <a:t>⇒ “해양환경공단"의 새로운 역할과 위상</a:t>
            </a:r>
          </a:p>
        </p:txBody>
      </p:sp>
      <p:sp>
        <p:nvSpPr>
          <p:cNvPr id="23" name="TextBox 22"/>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 | Page 117</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1. 전략수립 방향성 - 국민참여 확대</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공단의 해양환경정보, 해양환경교육 제공 기능을 국민소통과 참여를 위한 해양환경 통합 플랫폼으로 통합 재구축하여 국민참여를 확대하고 관심국민을 늘리고 해양환경 활동가를 양성하는 플랫폼으로 성장, 발전시킴</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118 | Page 119</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가치체계·전략체계 재정립</a:t>
            </a:r>
          </a:p>
        </p:txBody>
      </p:sp>
      <p:sp>
        <p:nvSpPr>
          <p:cNvPr id="3" name="TextBox 2"/>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None | Page 120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가치체계·전략체계 재정립 - 미션 후보 도출 (1/5)</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전략 방향성으로부터 미션 구성 키워드를 추출하여 미션 후보 “깨끗하고 안전한 바다로 국민 행복을 증진하고, 해양의 더 나은 미래를 열어간다”를 아래와 같이 도출함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전략 방향성</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1. 해양 방제 기본역량 강화</a:t>
            </a:r>
          </a:p>
        </p:txBody>
      </p:sp>
      <p:sp>
        <p:nvSpPr>
          <p:cNvPr id="6" name="TextBox 5"/>
          <p:cNvSpPr txBox="1"/>
          <p:nvPr/>
        </p:nvSpPr>
        <p:spPr>
          <a:xfrm>
            <a:off x="457200" y="2148840"/>
            <a:ext cx="8229600" cy="228600"/>
          </a:xfrm>
          <a:prstGeom prst="rect">
            <a:avLst/>
          </a:prstGeom>
          <a:noFill/>
        </p:spPr>
        <p:txBody>
          <a:bodyPr wrap="square">
            <a:spAutoFit/>
          </a:bodyPr>
          <a:lstStyle/>
          <a:p>
            <a:pPr algn="l">
              <a:defRPr sz="1000" b="0">
                <a:latin typeface="Malgun Gothic"/>
              </a:defRPr>
            </a:pPr>
            <a:r>
              <a:t>2. 공적기능과 공공성 강화</a:t>
            </a:r>
          </a:p>
        </p:txBody>
      </p:sp>
      <p:sp>
        <p:nvSpPr>
          <p:cNvPr id="7" name="TextBox 6"/>
          <p:cNvSpPr txBox="1"/>
          <p:nvPr/>
        </p:nvSpPr>
        <p:spPr>
          <a:xfrm>
            <a:off x="457200" y="2468880"/>
            <a:ext cx="8229600" cy="228600"/>
          </a:xfrm>
          <a:prstGeom prst="rect">
            <a:avLst/>
          </a:prstGeom>
          <a:noFill/>
        </p:spPr>
        <p:txBody>
          <a:bodyPr wrap="square">
            <a:spAutoFit/>
          </a:bodyPr>
          <a:lstStyle/>
          <a:p>
            <a:pPr algn="l">
              <a:defRPr sz="1000" b="0">
                <a:latin typeface="Malgun Gothic"/>
              </a:defRPr>
            </a:pPr>
            <a:r>
              <a:t>3. 해양생태 통합관리체계 확장</a:t>
            </a:r>
          </a:p>
        </p:txBody>
      </p:sp>
      <p:sp>
        <p:nvSpPr>
          <p:cNvPr id="8" name="TextBox 7"/>
          <p:cNvSpPr txBox="1"/>
          <p:nvPr/>
        </p:nvSpPr>
        <p:spPr>
          <a:xfrm>
            <a:off x="457200" y="2788920"/>
            <a:ext cx="8229600" cy="228600"/>
          </a:xfrm>
          <a:prstGeom prst="rect">
            <a:avLst/>
          </a:prstGeom>
          <a:noFill/>
        </p:spPr>
        <p:txBody>
          <a:bodyPr wrap="square">
            <a:spAutoFit/>
          </a:bodyPr>
          <a:lstStyle/>
          <a:p>
            <a:pPr algn="l">
              <a:defRPr sz="1000" b="0">
                <a:latin typeface="Malgun Gothic"/>
              </a:defRPr>
            </a:pPr>
            <a:r>
              <a:t>4. 해양폐기물 정화·관리체계 강화</a:t>
            </a:r>
          </a:p>
        </p:txBody>
      </p:sp>
      <p:sp>
        <p:nvSpPr>
          <p:cNvPr id="9" name="TextBox 8"/>
          <p:cNvSpPr txBox="1"/>
          <p:nvPr/>
        </p:nvSpPr>
        <p:spPr>
          <a:xfrm>
            <a:off x="457200" y="3108960"/>
            <a:ext cx="8229600" cy="228600"/>
          </a:xfrm>
          <a:prstGeom prst="rect">
            <a:avLst/>
          </a:prstGeom>
          <a:noFill/>
        </p:spPr>
        <p:txBody>
          <a:bodyPr wrap="square">
            <a:spAutoFit/>
          </a:bodyPr>
          <a:lstStyle/>
          <a:p>
            <a:pPr algn="l">
              <a:defRPr sz="1000" b="0">
                <a:latin typeface="Malgun Gothic"/>
              </a:defRPr>
            </a:pPr>
            <a:r>
              <a:t>5. 해양환경변화 예측역량 강화</a:t>
            </a:r>
          </a:p>
        </p:txBody>
      </p:sp>
      <p:sp>
        <p:nvSpPr>
          <p:cNvPr id="10" name="TextBox 9"/>
          <p:cNvSpPr txBox="1"/>
          <p:nvPr/>
        </p:nvSpPr>
        <p:spPr>
          <a:xfrm>
            <a:off x="457200" y="3429000"/>
            <a:ext cx="8229600" cy="228600"/>
          </a:xfrm>
          <a:prstGeom prst="rect">
            <a:avLst/>
          </a:prstGeom>
          <a:noFill/>
        </p:spPr>
        <p:txBody>
          <a:bodyPr wrap="square">
            <a:spAutoFit/>
          </a:bodyPr>
          <a:lstStyle/>
          <a:p>
            <a:pPr algn="l">
              <a:defRPr sz="1000" b="0">
                <a:latin typeface="Malgun Gothic"/>
              </a:defRPr>
            </a:pPr>
            <a:r>
              <a:t>6. 해양환경 정책기능 강화</a:t>
            </a:r>
          </a:p>
        </p:txBody>
      </p:sp>
      <p:sp>
        <p:nvSpPr>
          <p:cNvPr id="11" name="TextBox 10"/>
          <p:cNvSpPr txBox="1"/>
          <p:nvPr/>
        </p:nvSpPr>
        <p:spPr>
          <a:xfrm>
            <a:off x="457200" y="3749040"/>
            <a:ext cx="8229600" cy="228600"/>
          </a:xfrm>
          <a:prstGeom prst="rect">
            <a:avLst/>
          </a:prstGeom>
          <a:noFill/>
        </p:spPr>
        <p:txBody>
          <a:bodyPr wrap="square">
            <a:spAutoFit/>
          </a:bodyPr>
          <a:lstStyle/>
          <a:p>
            <a:pPr algn="l">
              <a:defRPr sz="1000" b="0">
                <a:latin typeface="Malgun Gothic"/>
              </a:defRPr>
            </a:pPr>
            <a:r>
              <a:t>7. 미래성장사업 규모의 경제 실현</a:t>
            </a:r>
          </a:p>
        </p:txBody>
      </p:sp>
      <p:sp>
        <p:nvSpPr>
          <p:cNvPr id="12" name="TextBox 11"/>
          <p:cNvSpPr txBox="1"/>
          <p:nvPr/>
        </p:nvSpPr>
        <p:spPr>
          <a:xfrm>
            <a:off x="457200" y="4069080"/>
            <a:ext cx="8229600" cy="228600"/>
          </a:xfrm>
          <a:prstGeom prst="rect">
            <a:avLst/>
          </a:prstGeom>
          <a:noFill/>
        </p:spPr>
        <p:txBody>
          <a:bodyPr wrap="square">
            <a:spAutoFit/>
          </a:bodyPr>
          <a:lstStyle/>
          <a:p>
            <a:pPr algn="l">
              <a:defRPr sz="1000" b="0">
                <a:latin typeface="Malgun Gothic"/>
              </a:defRPr>
            </a:pPr>
            <a:r>
              <a:t>8. 해양환경 국민 플랫폼으로 성장</a:t>
            </a:r>
          </a:p>
        </p:txBody>
      </p:sp>
      <p:sp>
        <p:nvSpPr>
          <p:cNvPr id="13" name="TextBox 12"/>
          <p:cNvSpPr txBox="1"/>
          <p:nvPr/>
        </p:nvSpPr>
        <p:spPr>
          <a:xfrm>
            <a:off x="457200" y="4389120"/>
            <a:ext cx="8229600" cy="228600"/>
          </a:xfrm>
          <a:prstGeom prst="rect">
            <a:avLst/>
          </a:prstGeom>
          <a:noFill/>
        </p:spPr>
        <p:txBody>
          <a:bodyPr wrap="square">
            <a:spAutoFit/>
          </a:bodyPr>
          <a:lstStyle/>
          <a:p>
            <a:pPr algn="l">
              <a:defRPr sz="1000" b="0">
                <a:latin typeface="Malgun Gothic"/>
              </a:defRPr>
            </a:pPr>
            <a:r>
              <a:t>9. 해양 신산업 육성 기반조성</a:t>
            </a:r>
          </a:p>
        </p:txBody>
      </p:sp>
      <p:sp>
        <p:nvSpPr>
          <p:cNvPr id="14" name="TextBox 13"/>
          <p:cNvSpPr txBox="1"/>
          <p:nvPr/>
        </p:nvSpPr>
        <p:spPr>
          <a:xfrm>
            <a:off x="457200" y="4709160"/>
            <a:ext cx="8229600" cy="228600"/>
          </a:xfrm>
          <a:prstGeom prst="rect">
            <a:avLst/>
          </a:prstGeom>
          <a:noFill/>
        </p:spPr>
        <p:txBody>
          <a:bodyPr wrap="square">
            <a:spAutoFit/>
          </a:bodyPr>
          <a:lstStyle/>
          <a:p>
            <a:pPr algn="l">
              <a:defRPr sz="1000" b="0">
                <a:latin typeface="Malgun Gothic"/>
              </a:defRPr>
            </a:pPr>
            <a:r>
              <a:t>10. 해양 기후변화·탄소중립 주도</a:t>
            </a:r>
          </a:p>
        </p:txBody>
      </p:sp>
      <p:sp>
        <p:nvSpPr>
          <p:cNvPr id="15" name="TextBox 14"/>
          <p:cNvSpPr txBox="1"/>
          <p:nvPr/>
        </p:nvSpPr>
        <p:spPr>
          <a:xfrm>
            <a:off x="457200" y="5029200"/>
            <a:ext cx="8229600" cy="274320"/>
          </a:xfrm>
          <a:prstGeom prst="rect">
            <a:avLst/>
          </a:prstGeom>
          <a:noFill/>
        </p:spPr>
        <p:txBody>
          <a:bodyPr wrap="square">
            <a:spAutoFit/>
          </a:bodyPr>
          <a:lstStyle/>
          <a:p>
            <a:pPr algn="l">
              <a:defRPr sz="1200" b="1">
                <a:solidFill>
                  <a:srgbClr val="003366"/>
                </a:solidFill>
                <a:latin typeface="Malgun Gothic"/>
              </a:defRPr>
            </a:pPr>
            <a:r>
              <a:t>미션 구성 키워드</a:t>
            </a:r>
          </a:p>
        </p:txBody>
      </p:sp>
      <p:sp>
        <p:nvSpPr>
          <p:cNvPr id="16" name="TextBox 15"/>
          <p:cNvSpPr txBox="1"/>
          <p:nvPr/>
        </p:nvSpPr>
        <p:spPr>
          <a:xfrm>
            <a:off x="457200" y="5394960"/>
            <a:ext cx="8229600" cy="228600"/>
          </a:xfrm>
          <a:prstGeom prst="rect">
            <a:avLst/>
          </a:prstGeom>
          <a:noFill/>
        </p:spPr>
        <p:txBody>
          <a:bodyPr wrap="square">
            <a:spAutoFit/>
          </a:bodyPr>
          <a:lstStyle/>
          <a:p>
            <a:pPr algn="l">
              <a:defRPr sz="1000" b="0">
                <a:latin typeface="Malgun Gothic"/>
              </a:defRPr>
            </a:pPr>
            <a:r>
              <a:t>사업 범위</a:t>
            </a:r>
          </a:p>
        </p:txBody>
      </p:sp>
      <p:sp>
        <p:nvSpPr>
          <p:cNvPr id="17" name="TextBox 16"/>
          <p:cNvSpPr txBox="1"/>
          <p:nvPr/>
        </p:nvSpPr>
        <p:spPr>
          <a:xfrm>
            <a:off x="457200" y="5715000"/>
            <a:ext cx="8229600" cy="228600"/>
          </a:xfrm>
          <a:prstGeom prst="rect">
            <a:avLst/>
          </a:prstGeom>
          <a:noFill/>
        </p:spPr>
        <p:txBody>
          <a:bodyPr wrap="square">
            <a:spAutoFit/>
          </a:bodyPr>
          <a:lstStyle/>
          <a:p>
            <a:pPr algn="l">
              <a:defRPr sz="1000" b="0">
                <a:latin typeface="Malgun Gothic"/>
              </a:defRPr>
            </a:pPr>
            <a:r>
              <a:t>깨끗한, 안전한, 바다, 해양</a:t>
            </a:r>
          </a:p>
        </p:txBody>
      </p:sp>
      <p:sp>
        <p:nvSpPr>
          <p:cNvPr id="18" name="TextBox 17"/>
          <p:cNvSpPr txBox="1"/>
          <p:nvPr/>
        </p:nvSpPr>
        <p:spPr>
          <a:xfrm>
            <a:off x="457200" y="6035040"/>
            <a:ext cx="8229600" cy="228600"/>
          </a:xfrm>
          <a:prstGeom prst="rect">
            <a:avLst/>
          </a:prstGeom>
          <a:noFill/>
        </p:spPr>
        <p:txBody>
          <a:bodyPr wrap="square">
            <a:spAutoFit/>
          </a:bodyPr>
          <a:lstStyle/>
          <a:p>
            <a:pPr algn="l">
              <a:defRPr sz="1000" b="0">
                <a:latin typeface="Malgun Gothic"/>
              </a:defRPr>
            </a:pPr>
            <a:r>
              <a:t>고객·수혜자</a:t>
            </a:r>
          </a:p>
        </p:txBody>
      </p:sp>
      <p:sp>
        <p:nvSpPr>
          <p:cNvPr id="19" name="TextBox 18"/>
          <p:cNvSpPr txBox="1"/>
          <p:nvPr/>
        </p:nvSpPr>
        <p:spPr>
          <a:xfrm>
            <a:off x="457200" y="6355080"/>
            <a:ext cx="8229600" cy="228600"/>
          </a:xfrm>
          <a:prstGeom prst="rect">
            <a:avLst/>
          </a:prstGeom>
          <a:noFill/>
        </p:spPr>
        <p:txBody>
          <a:bodyPr wrap="square">
            <a:spAutoFit/>
          </a:bodyPr>
          <a:lstStyle/>
          <a:p>
            <a:pPr algn="l">
              <a:defRPr sz="1000" b="0">
                <a:latin typeface="Malgun Gothic"/>
              </a:defRPr>
            </a:pPr>
            <a:r>
              <a:t>국민, 미래</a:t>
            </a:r>
          </a:p>
        </p:txBody>
      </p:sp>
      <p:sp>
        <p:nvSpPr>
          <p:cNvPr id="20" name="TextBox 19"/>
          <p:cNvSpPr txBox="1"/>
          <p:nvPr/>
        </p:nvSpPr>
        <p:spPr>
          <a:xfrm>
            <a:off x="457200" y="6675120"/>
            <a:ext cx="8229600" cy="228600"/>
          </a:xfrm>
          <a:prstGeom prst="rect">
            <a:avLst/>
          </a:prstGeom>
          <a:noFill/>
        </p:spPr>
        <p:txBody>
          <a:bodyPr wrap="square">
            <a:spAutoFit/>
          </a:bodyPr>
          <a:lstStyle/>
          <a:p>
            <a:pPr algn="l">
              <a:defRPr sz="1000" b="0">
                <a:latin typeface="Malgun Gothic"/>
              </a:defRPr>
            </a:pPr>
            <a:r>
              <a:t>효과·효용</a:t>
            </a:r>
          </a:p>
        </p:txBody>
      </p:sp>
      <p:sp>
        <p:nvSpPr>
          <p:cNvPr id="21" name="TextBox 20"/>
          <p:cNvSpPr txBox="1"/>
          <p:nvPr/>
        </p:nvSpPr>
        <p:spPr>
          <a:xfrm>
            <a:off x="457200" y="6995160"/>
            <a:ext cx="8229600" cy="228600"/>
          </a:xfrm>
          <a:prstGeom prst="rect">
            <a:avLst/>
          </a:prstGeom>
          <a:noFill/>
        </p:spPr>
        <p:txBody>
          <a:bodyPr wrap="square">
            <a:spAutoFit/>
          </a:bodyPr>
          <a:lstStyle/>
          <a:p>
            <a:pPr algn="l">
              <a:defRPr sz="1000" b="0">
                <a:latin typeface="Malgun Gothic"/>
              </a:defRPr>
            </a:pPr>
            <a:r>
              <a:t>(국민) 행복, 더 나은</a:t>
            </a:r>
          </a:p>
        </p:txBody>
      </p:sp>
      <p:sp>
        <p:nvSpPr>
          <p:cNvPr id="22" name="TextBox 21"/>
          <p:cNvSpPr txBox="1"/>
          <p:nvPr/>
        </p:nvSpPr>
        <p:spPr>
          <a:xfrm>
            <a:off x="457200" y="7315200"/>
            <a:ext cx="8229600" cy="228600"/>
          </a:xfrm>
          <a:prstGeom prst="rect">
            <a:avLst/>
          </a:prstGeom>
          <a:noFill/>
        </p:spPr>
        <p:txBody>
          <a:bodyPr wrap="square">
            <a:spAutoFit/>
          </a:bodyPr>
          <a:lstStyle/>
          <a:p>
            <a:pPr algn="l">
              <a:defRPr sz="1000" b="0">
                <a:latin typeface="Malgun Gothic"/>
              </a:defRPr>
            </a:pPr>
            <a:r>
              <a:t>주요 가치</a:t>
            </a:r>
          </a:p>
        </p:txBody>
      </p:sp>
      <p:sp>
        <p:nvSpPr>
          <p:cNvPr id="23" name="TextBox 22"/>
          <p:cNvSpPr txBox="1"/>
          <p:nvPr/>
        </p:nvSpPr>
        <p:spPr>
          <a:xfrm>
            <a:off x="457200" y="7635240"/>
            <a:ext cx="8229600" cy="228600"/>
          </a:xfrm>
          <a:prstGeom prst="rect">
            <a:avLst/>
          </a:prstGeom>
          <a:noFill/>
        </p:spPr>
        <p:txBody>
          <a:bodyPr wrap="square">
            <a:spAutoFit/>
          </a:bodyPr>
          <a:lstStyle/>
          <a:p>
            <a:pPr algn="l">
              <a:defRPr sz="1000" b="0">
                <a:latin typeface="Malgun Gothic"/>
              </a:defRPr>
            </a:pPr>
            <a:r>
              <a:t>해양(환경) 개선·보전</a:t>
            </a:r>
          </a:p>
        </p:txBody>
      </p:sp>
      <p:sp>
        <p:nvSpPr>
          <p:cNvPr id="24" name="Rectangle 23"/>
          <p:cNvSpPr/>
          <p:nvPr/>
        </p:nvSpPr>
        <p:spPr>
          <a:xfrm>
            <a:off x="45720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25" name="TextBox 24"/>
          <p:cNvSpPr txBox="1"/>
          <p:nvPr/>
        </p:nvSpPr>
        <p:spPr>
          <a:xfrm>
            <a:off x="54864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26" name="Rectangle 25"/>
          <p:cNvSpPr/>
          <p:nvPr/>
        </p:nvSpPr>
        <p:spPr>
          <a:xfrm>
            <a:off x="323088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27" name="TextBox 26"/>
          <p:cNvSpPr txBox="1"/>
          <p:nvPr/>
        </p:nvSpPr>
        <p:spPr>
          <a:xfrm>
            <a:off x="332232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28" name="Rectangle 27"/>
          <p:cNvSpPr/>
          <p:nvPr/>
        </p:nvSpPr>
        <p:spPr>
          <a:xfrm>
            <a:off x="600456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29" name="TextBox 28"/>
          <p:cNvSpPr txBox="1"/>
          <p:nvPr/>
        </p:nvSpPr>
        <p:spPr>
          <a:xfrm>
            <a:off x="609600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30" name="TextBox 29"/>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120 | Page 121</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가치체계·전략체계 재정립 - 미션 후보 도출 (2/5)</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전략 방향성으로부터 미션 구성 키워드를 추출하여 미션 후보 “국민에게 깨끗하고 안전한 해양환경을 제공하고, 더 나은 미래해양을 만들어 간다”를 아래와 같이 도출함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122</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가치체계·전략체계 재정립 - 미션 후보 도출 (3/5)</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전략 방향성으로부터 미션 구성 키워드를 추출하여 미션 후보 “깨끗하고 안전한 해양을 현재와 미래의 국민에게 제공한다”를 아래와 같이 도출함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122 | Page 123</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가치체계·전략체계 재정립 - 미션 후보 도출 (4/5)</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전략 방향성으로부터 미션 구성 키워드를 추출하여 미션 후보 “깨끗하고 안전한 해양의 보전과 이용으로 해양의 가치를 높인다”를 아래와 같이 도출함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None | Page 124</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가치체계·전략체계 재정립 - 미션 후보 도출 (5/5)</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전략 방향성으로부터 미션 구성 키워드를 추출하여 미션 후보 “해양환경을 깨끗하고 안전하게 조성하고, 해양의 이용가치를 높여 해양산업과 국가경제에 기여한다”를 아래와 같이 도출함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해양환경공단 | Page 125</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가치체계·전략체계 재정립 - 미션 후보案 평가</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전략방향성에 기반하여 도출된 미션 후보를 미션 구성항목의 적절한 반영을 기준으로 평가하여 아래와 같이 미션 후보의 평가를 통해 새로운 미션 후보 안을 선택함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미션 구성항목 적정 반영 기준에 따른 미션 후보 案 평가</a:t>
            </a:r>
          </a:p>
        </p:txBody>
      </p:sp>
      <p:sp>
        <p:nvSpPr>
          <p:cNvPr id="5" name="TextBox 4"/>
          <p:cNvSpPr txBox="1"/>
          <p:nvPr/>
        </p:nvSpPr>
        <p:spPr>
          <a:xfrm>
            <a:off x="457200" y="1828800"/>
            <a:ext cx="8229600" cy="457200"/>
          </a:xfrm>
          <a:prstGeom prst="rect">
            <a:avLst/>
          </a:prstGeom>
          <a:noFill/>
        </p:spPr>
        <p:txBody>
          <a:bodyPr wrap="square">
            <a:spAutoFit/>
          </a:bodyPr>
          <a:lstStyle/>
          <a:p>
            <a:pPr algn="l">
              <a:defRPr sz="900" b="0">
                <a:latin typeface="Malgun Gothic"/>
              </a:defRPr>
            </a:pPr>
            <a:r>
              <a:t>[TABLE]</a:t>
            </a:r>
            <a:br/>
            <a:r>
              <a:t>Table containing Mission options and assessment against criteria</a:t>
            </a:r>
          </a:p>
        </p:txBody>
      </p:sp>
      <p:sp>
        <p:nvSpPr>
          <p:cNvPr id="6" name="TextBox 5"/>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125 | Page 126</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가치체계·전략체계 재정립 - 미션 후보案 선정</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기존 미션과 새로 도출된 미션 후보 案을 미션 구성항목의 5개 기준으로 평가하고 새로운 미션안 2개와 기존안을 미션 후보로 선정함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미션 후보 선정</a:t>
            </a:r>
          </a:p>
        </p:txBody>
      </p:sp>
      <p:sp>
        <p:nvSpPr>
          <p:cNvPr id="5" name="TextBox 4"/>
          <p:cNvSpPr txBox="1"/>
          <p:nvPr/>
        </p:nvSpPr>
        <p:spPr>
          <a:xfrm>
            <a:off x="457200" y="1828800"/>
            <a:ext cx="8229600" cy="457200"/>
          </a:xfrm>
          <a:prstGeom prst="rect">
            <a:avLst/>
          </a:prstGeom>
          <a:noFill/>
        </p:spPr>
        <p:txBody>
          <a:bodyPr wrap="square">
            <a:spAutoFit/>
          </a:bodyPr>
          <a:lstStyle/>
          <a:p>
            <a:pPr algn="l">
              <a:defRPr sz="900" b="0">
                <a:latin typeface="Malgun Gothic"/>
              </a:defRPr>
            </a:pPr>
            <a:r>
              <a:t>[TABLE]</a:t>
            </a:r>
            <a:br/>
            <a:r>
              <a:t>Table with mission options and evaluation criteria</a:t>
            </a:r>
          </a:p>
        </p:txBody>
      </p:sp>
      <p:sp>
        <p:nvSpPr>
          <p:cNvPr id="6" name="TextBox 5"/>
          <p:cNvSpPr txBox="1"/>
          <p:nvPr/>
        </p:nvSpPr>
        <p:spPr>
          <a:xfrm>
            <a:off x="457200" y="2377440"/>
            <a:ext cx="8229600" cy="274320"/>
          </a:xfrm>
          <a:prstGeom prst="rect">
            <a:avLst/>
          </a:prstGeom>
          <a:noFill/>
        </p:spPr>
        <p:txBody>
          <a:bodyPr wrap="square">
            <a:spAutoFit/>
          </a:bodyPr>
          <a:lstStyle/>
          <a:p>
            <a:pPr algn="l">
              <a:defRPr sz="1200" b="1">
                <a:solidFill>
                  <a:srgbClr val="003366"/>
                </a:solidFill>
                <a:latin typeface="Malgun Gothic"/>
              </a:defRPr>
            </a:pPr>
            <a:r>
              <a:t>미션 후보안 선정</a:t>
            </a:r>
          </a:p>
        </p:txBody>
      </p:sp>
      <p:sp>
        <p:nvSpPr>
          <p:cNvPr id="7" name="TextBox 6"/>
          <p:cNvSpPr txBox="1"/>
          <p:nvPr/>
        </p:nvSpPr>
        <p:spPr>
          <a:xfrm>
            <a:off x="457200" y="2743200"/>
            <a:ext cx="8229600" cy="685800"/>
          </a:xfrm>
          <a:prstGeom prst="rect">
            <a:avLst/>
          </a:prstGeom>
          <a:noFill/>
        </p:spPr>
        <p:txBody>
          <a:bodyPr wrap="square">
            <a:spAutoFit/>
          </a:bodyPr>
          <a:lstStyle/>
          <a:p>
            <a:pPr algn="l">
              <a:defRPr sz="1000" b="0">
                <a:latin typeface="Malgun Gothic"/>
              </a:defRPr>
            </a:pPr>
            <a:r>
              <a:t>✓ 설립목적, 사업범위, 수혜·고객, 주요가치, 파급효과의 5개의 기준으로 총 5개의 미션 후보안 중 2개를 선정하고, 기존의 미션과 함께 최종 선정을 위한 임직원 가치체계 선호도 조사를 실시함</a:t>
            </a:r>
          </a:p>
        </p:txBody>
      </p:sp>
      <p:sp>
        <p:nvSpPr>
          <p:cNvPr id="8" name="TextBox 7"/>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127</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가치체계·전략체계 재정립 - 미션 선정 : 임직원 설문조사</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Ⅲ. 가치체계·전략체계 재정립</a:t>
            </a:r>
            <a:br/>
            <a:r>
              <a:t>미션 임직원 선호도 설문 결과 “깨끗하고 안전한 바다로 국민 행복을 증진하고, 해양의 더 나은 미래를 열어간다"가</a:t>
            </a:r>
            <a:br/>
            <a:r>
              <a:t>과반의 선택을 받아, 미션으로 최종 선정함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미션 선호도 설문 : “깨끗하고 안전한 바다로 국민 행복을 증진하고, 해양의 더 나은 미래를 열어간다”</a:t>
            </a:r>
          </a:p>
        </p:txBody>
      </p:sp>
      <p:sp>
        <p:nvSpPr>
          <p:cNvPr id="5" name="TextBox 4"/>
          <p:cNvSpPr txBox="1"/>
          <p:nvPr/>
        </p:nvSpPr>
        <p:spPr>
          <a:xfrm>
            <a:off x="457200" y="1828800"/>
            <a:ext cx="8229600" cy="1143000"/>
          </a:xfrm>
          <a:prstGeom prst="rect">
            <a:avLst/>
          </a:prstGeom>
          <a:noFill/>
        </p:spPr>
        <p:txBody>
          <a:bodyPr wrap="square">
            <a:spAutoFit/>
          </a:bodyPr>
          <a:lstStyle/>
          <a:p>
            <a:pPr algn="l">
              <a:defRPr sz="1000" b="0">
                <a:latin typeface="Malgun Gothic"/>
              </a:defRPr>
            </a:pPr>
            <a:r>
              <a:t>깨끗하고 안전한 바다로 국민 행복을 증진하고,</a:t>
            </a:r>
            <a:br/>
            <a:r>
              <a:t>해양의 더 나은 미래를 열어간다</a:t>
            </a:r>
            <a:br/>
            <a:br/>
            <a:r>
              <a:t>해양생태계를 복원하고 해양을 정화하며, 오염의 위해로부터</a:t>
            </a:r>
            <a:br/>
            <a:r>
              <a:t>국민과 해양을 지키는 해양환경 보전·방제 전문기관으로,</a:t>
            </a:r>
            <a:br/>
            <a:r>
              <a:t>국민이 해양을 이용하고 향유하는 행복을 통해 삶의 질을</a:t>
            </a:r>
            <a:br/>
            <a:r>
              <a:t>높이고, 미래 세대를 위해 해양환경을 개선하고 보전하는 국가</a:t>
            </a:r>
            <a:br/>
            <a:r>
              <a:t>해양환경 대표기관으로서 확장된 책임과 소명을 명시하고 있는</a:t>
            </a:r>
            <a:br/>
            <a:r>
              <a:t>미션</a:t>
            </a:r>
          </a:p>
        </p:txBody>
      </p:sp>
      <p:sp>
        <p:nvSpPr>
          <p:cNvPr id="6" name="TextBox 5"/>
          <p:cNvSpPr txBox="1"/>
          <p:nvPr/>
        </p:nvSpPr>
        <p:spPr>
          <a:xfrm>
            <a:off x="457200" y="3063240"/>
            <a:ext cx="8229600" cy="457200"/>
          </a:xfrm>
          <a:prstGeom prst="rect">
            <a:avLst/>
          </a:prstGeom>
          <a:noFill/>
        </p:spPr>
        <p:txBody>
          <a:bodyPr wrap="square">
            <a:spAutoFit/>
          </a:bodyPr>
          <a:lstStyle/>
          <a:p>
            <a:pPr algn="l">
              <a:defRPr sz="1000" b="0">
                <a:latin typeface="Malgun Gothic"/>
              </a:defRPr>
            </a:pPr>
            <a:r>
              <a:t>Bar chart showing 207, 61, and 89 values for 1안, 2안, and 3안 (기존) respectively.</a:t>
            </a:r>
          </a:p>
        </p:txBody>
      </p:sp>
      <p:sp>
        <p:nvSpPr>
          <p:cNvPr id="7" name="TextBox 6"/>
          <p:cNvSpPr txBox="1"/>
          <p:nvPr/>
        </p:nvSpPr>
        <p:spPr>
          <a:xfrm>
            <a:off x="457200" y="3611880"/>
            <a:ext cx="8229600" cy="457200"/>
          </a:xfrm>
          <a:prstGeom prst="rect">
            <a:avLst/>
          </a:prstGeom>
          <a:noFill/>
        </p:spPr>
        <p:txBody>
          <a:bodyPr wrap="square">
            <a:spAutoFit/>
          </a:bodyPr>
          <a:lstStyle/>
          <a:p>
            <a:pPr algn="l">
              <a:defRPr sz="1000" b="0">
                <a:latin typeface="Malgun Gothic"/>
              </a:defRPr>
            </a:pPr>
            <a:r>
              <a:t>응답자의 과반 이상 (207명, 58%)이 설문 1안</a:t>
            </a:r>
            <a:br/>
            <a:r>
              <a:t>“깨끗하고 안전한 바다로 국민 행복을 증진하고,</a:t>
            </a:r>
            <a:br/>
            <a:r>
              <a:t>해양의 더 나은 미래를 열어간다”를 선택</a:t>
            </a:r>
          </a:p>
        </p:txBody>
      </p:sp>
      <p:sp>
        <p:nvSpPr>
          <p:cNvPr id="8" name="TextBox 7"/>
          <p:cNvSpPr txBox="1"/>
          <p:nvPr/>
        </p:nvSpPr>
        <p:spPr>
          <a:xfrm>
            <a:off x="457200" y="4160520"/>
            <a:ext cx="8229600" cy="685800"/>
          </a:xfrm>
          <a:prstGeom prst="rect">
            <a:avLst/>
          </a:prstGeom>
          <a:noFill/>
        </p:spPr>
        <p:txBody>
          <a:bodyPr wrap="square">
            <a:spAutoFit/>
          </a:bodyPr>
          <a:lstStyle/>
          <a:p>
            <a:pPr algn="l">
              <a:defRPr sz="1000" b="0">
                <a:latin typeface="Malgun Gothic"/>
              </a:defRPr>
            </a:pPr>
            <a:r>
              <a:t>깨끗하고 안전한 해양의 보전과 이용으로</a:t>
            </a:r>
            <a:br/>
            <a:r>
              <a:t>해양의 가치를 높인다</a:t>
            </a:r>
            <a:br/>
            <a:br/>
            <a:r>
              <a:t>해양 방제·정화·보전에 '이용'을 추가하여 공단 업의 영역을</a:t>
            </a:r>
            <a:br/>
            <a:r>
              <a:t>확대 정의하고, 해양환경의 방제·정화·보전을 통해 궁극적으로</a:t>
            </a:r>
            <a:br/>
            <a:r>
              <a:t>해양의 가치를 제고하는 것을 창출 가치로 제시하고 있는 미션</a:t>
            </a:r>
          </a:p>
        </p:txBody>
      </p:sp>
      <p:sp>
        <p:nvSpPr>
          <p:cNvPr id="9" name="TextBox 8"/>
          <p:cNvSpPr txBox="1"/>
          <p:nvPr/>
        </p:nvSpPr>
        <p:spPr>
          <a:xfrm>
            <a:off x="457200" y="4937760"/>
            <a:ext cx="8229600" cy="685800"/>
          </a:xfrm>
          <a:prstGeom prst="rect">
            <a:avLst/>
          </a:prstGeom>
          <a:noFill/>
        </p:spPr>
        <p:txBody>
          <a:bodyPr wrap="square">
            <a:spAutoFit/>
          </a:bodyPr>
          <a:lstStyle/>
          <a:p>
            <a:pPr algn="l">
              <a:defRPr sz="1000" b="0">
                <a:latin typeface="Malgun Gothic"/>
              </a:defRPr>
            </a:pPr>
            <a:r>
              <a:t>깨끗하고 안전한 해양환경을 조성하여</a:t>
            </a:r>
            <a:br/>
            <a:r>
              <a:t>국민 삶의 질 향상</a:t>
            </a:r>
            <a:br/>
            <a:br/>
            <a:r>
              <a:t>기존 미션으로, 설립목적의 주요 항목을 발췌하여 해양환경 정화,</a:t>
            </a:r>
            <a:br/>
            <a:r>
              <a:t>보전과 방제를 통해 국민 삶의 질을 개선하는 공단의 목적을</a:t>
            </a:r>
            <a:br/>
            <a:r>
              <a:t>준용하고 있는 미션</a:t>
            </a:r>
          </a:p>
        </p:txBody>
      </p:sp>
      <p:sp>
        <p:nvSpPr>
          <p:cNvPr id="10" name="TextBox 9"/>
          <p:cNvSpPr txBox="1"/>
          <p:nvPr/>
        </p:nvSpPr>
        <p:spPr>
          <a:xfrm>
            <a:off x="457200" y="5715000"/>
            <a:ext cx="8229600" cy="274320"/>
          </a:xfrm>
          <a:prstGeom prst="rect">
            <a:avLst/>
          </a:prstGeom>
          <a:noFill/>
        </p:spPr>
        <p:txBody>
          <a:bodyPr wrap="square">
            <a:spAutoFit/>
          </a:bodyPr>
          <a:lstStyle/>
          <a:p>
            <a:pPr algn="l">
              <a:defRPr sz="1200" b="1">
                <a:solidFill>
                  <a:srgbClr val="003366"/>
                </a:solidFill>
                <a:latin typeface="Malgun Gothic"/>
              </a:defRPr>
            </a:pPr>
            <a:r>
              <a:t>설문 결과</a:t>
            </a:r>
            <a:br/>
            <a:r>
              <a:t>및</a:t>
            </a:r>
            <a:br/>
            <a:r>
              <a:t>미션 선정</a:t>
            </a:r>
          </a:p>
        </p:txBody>
      </p:sp>
      <p:sp>
        <p:nvSpPr>
          <p:cNvPr id="11" name="TextBox 10"/>
          <p:cNvSpPr txBox="1"/>
          <p:nvPr/>
        </p:nvSpPr>
        <p:spPr>
          <a:xfrm>
            <a:off x="457200" y="6080760"/>
            <a:ext cx="8229600" cy="685800"/>
          </a:xfrm>
          <a:prstGeom prst="rect">
            <a:avLst/>
          </a:prstGeom>
          <a:noFill/>
        </p:spPr>
        <p:txBody>
          <a:bodyPr wrap="square">
            <a:spAutoFit/>
          </a:bodyPr>
          <a:lstStyle/>
          <a:p>
            <a:pPr algn="l">
              <a:defRPr sz="1000" b="0">
                <a:latin typeface="Malgun Gothic"/>
              </a:defRPr>
            </a:pPr>
            <a:r>
              <a:t>✓ “깨끗하고 안전한 바다로 국민 행복을 증진하고,</a:t>
            </a:r>
            <a:br/>
            <a:r>
              <a:t>해양의 더 나은 미래를 열어간다”가 응답자</a:t>
            </a:r>
            <a:br/>
            <a:r>
              <a:t>과반(58%)의 선택으로 선호도가 가장 높은 것으로</a:t>
            </a:r>
            <a:br/>
            <a:r>
              <a:t>조사됨</a:t>
            </a:r>
            <a:br/>
            <a:r>
              <a:t>→ 공단 2030 新 가치체계 “미션”으로 선정</a:t>
            </a:r>
          </a:p>
        </p:txBody>
      </p:sp>
      <p:sp>
        <p:nvSpPr>
          <p:cNvPr id="12" name="TextBox 11"/>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 | Page 128</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가치체계·전략체계 재정립 - 비전 후보 도출 (1/5)</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전략 방향성으로부터 비전 구성요소별 키워드를 추출하여 비전 후보 “해양의 보전과 이용을 선도하는 해양환경 국민 플랫폼 기관”을 아래와 같이 도출함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128 | Page 129</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가치체계·전략체계 재정립 - 비전 후보 도출 (2/5)</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전략 방향성으로부터 비전 구성요소별 키워드를 추출하여 비전 후보 “해양의 미래가치를 높이는 해양환경 대표 정책기관"을 아래와 같이 도출함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None | Page 130</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가치체계·전략체계 재정립 - 비전 후보 도출 (3/5)</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전략 방향성으로부터 비전 구성요소별 키워드를 추출하여 비전 후보 “국민과 함께 지속가능한 바다를 만들어가는 해양환경 대표기관”을 아래와 같이 도출함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130 | Page 131</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가치체계·전략체계 재정립 - 비전 후보 도출 (4/5)</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전략 방향성으로부터 비전 구성요소별 키워드를 추출하여 비전 후보 “미래 해양을 선도하는 해양환경 정책기관”을 아래와 같이 도출함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 | Page 132</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가치체계·전략체계 재정립 - 비전 후보 도출 (5/5)</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전략 방향성으로부터 비전 구성요소별 키워드를 추출하여 비전 후보 “해양의 성장 발전을 선도하는 해양정책 플랫폼 기관”을 아래와 같이 도출함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133</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가치체계·전략체계 재정립 - 비전 후보案 평가</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전략방향성에 기반하여 도출된 비전 후보를 비전 구성요소의 충실한 반영을 기준으로 평가하여 아래와 같이 비전 후보의 평가를 통해 새로운 비전 후보 안을 선택함</a:t>
            </a:r>
          </a:p>
        </p:txBody>
      </p:sp>
      <p:sp>
        <p:nvSpPr>
          <p:cNvPr id="4" name="TextBox 3"/>
          <p:cNvSpPr txBox="1"/>
          <p:nvPr/>
        </p:nvSpPr>
        <p:spPr>
          <a:xfrm>
            <a:off x="457200" y="1463040"/>
            <a:ext cx="8229600" cy="228600"/>
          </a:xfrm>
          <a:prstGeom prst="rect">
            <a:avLst/>
          </a:prstGeom>
          <a:noFill/>
        </p:spPr>
        <p:txBody>
          <a:bodyPr wrap="square">
            <a:spAutoFit/>
          </a:bodyPr>
          <a:lstStyle/>
          <a:p>
            <a:pPr algn="l">
              <a:defRPr sz="1000" b="0">
                <a:latin typeface="Malgun Gothic"/>
              </a:defRPr>
            </a:pPr>
            <a:r>
              <a:t>비전 구성요소의 충실한 반영 기준에 따른 비전 후보 평가</a:t>
            </a:r>
          </a:p>
        </p:txBody>
      </p:sp>
      <p:sp>
        <p:nvSpPr>
          <p:cNvPr id="5" name="TextBox 4"/>
          <p:cNvSpPr txBox="1"/>
          <p:nvPr/>
        </p:nvSpPr>
        <p:spPr>
          <a:xfrm>
            <a:off x="457200" y="1783080"/>
            <a:ext cx="8229600" cy="228600"/>
          </a:xfrm>
          <a:prstGeom prst="rect">
            <a:avLst/>
          </a:prstGeom>
          <a:noFill/>
        </p:spPr>
        <p:txBody>
          <a:bodyPr wrap="square">
            <a:spAutoFit/>
          </a:bodyPr>
          <a:lstStyle/>
          <a:p>
            <a:pPr algn="l">
              <a:defRPr sz="1000" b="0">
                <a:latin typeface="Malgun Gothic"/>
              </a:defRPr>
            </a:pPr>
            <a:r>
              <a:t>비전 후보 案</a:t>
            </a:r>
          </a:p>
        </p:txBody>
      </p:sp>
      <p:sp>
        <p:nvSpPr>
          <p:cNvPr id="6" name="TextBox 5"/>
          <p:cNvSpPr txBox="1"/>
          <p:nvPr/>
        </p:nvSpPr>
        <p:spPr>
          <a:xfrm>
            <a:off x="457200" y="2103120"/>
            <a:ext cx="8229600" cy="228600"/>
          </a:xfrm>
          <a:prstGeom prst="rect">
            <a:avLst/>
          </a:prstGeom>
          <a:noFill/>
        </p:spPr>
        <p:txBody>
          <a:bodyPr wrap="square">
            <a:spAutoFit/>
          </a:bodyPr>
          <a:lstStyle/>
          <a:p>
            <a:pPr algn="l">
              <a:defRPr sz="1000" b="0">
                <a:latin typeface="Malgun Gothic"/>
              </a:defRPr>
            </a:pPr>
            <a:r>
              <a:t>방향성</a:t>
            </a:r>
          </a:p>
        </p:txBody>
      </p:sp>
      <p:sp>
        <p:nvSpPr>
          <p:cNvPr id="7" name="TextBox 6"/>
          <p:cNvSpPr txBox="1"/>
          <p:nvPr/>
        </p:nvSpPr>
        <p:spPr>
          <a:xfrm>
            <a:off x="457200" y="2423160"/>
            <a:ext cx="8229600" cy="228600"/>
          </a:xfrm>
          <a:prstGeom prst="rect">
            <a:avLst/>
          </a:prstGeom>
          <a:noFill/>
        </p:spPr>
        <p:txBody>
          <a:bodyPr wrap="square">
            <a:spAutoFit/>
          </a:bodyPr>
          <a:lstStyle/>
          <a:p>
            <a:pPr algn="l">
              <a:defRPr sz="1000" b="0">
                <a:latin typeface="Malgun Gothic"/>
              </a:defRPr>
            </a:pPr>
            <a:r>
              <a:t>도전성</a:t>
            </a:r>
          </a:p>
        </p:txBody>
      </p:sp>
      <p:sp>
        <p:nvSpPr>
          <p:cNvPr id="8" name="TextBox 7"/>
          <p:cNvSpPr txBox="1"/>
          <p:nvPr/>
        </p:nvSpPr>
        <p:spPr>
          <a:xfrm>
            <a:off x="457200" y="2743200"/>
            <a:ext cx="8229600" cy="228600"/>
          </a:xfrm>
          <a:prstGeom prst="rect">
            <a:avLst/>
          </a:prstGeom>
          <a:noFill/>
        </p:spPr>
        <p:txBody>
          <a:bodyPr wrap="square">
            <a:spAutoFit/>
          </a:bodyPr>
          <a:lstStyle/>
          <a:p>
            <a:pPr algn="l">
              <a:defRPr sz="1000" b="0">
                <a:latin typeface="Malgun Gothic"/>
              </a:defRPr>
            </a:pPr>
            <a:r>
              <a:t>실현가능성</a:t>
            </a:r>
          </a:p>
        </p:txBody>
      </p:sp>
      <p:sp>
        <p:nvSpPr>
          <p:cNvPr id="9" name="TextBox 8"/>
          <p:cNvSpPr txBox="1"/>
          <p:nvPr/>
        </p:nvSpPr>
        <p:spPr>
          <a:xfrm>
            <a:off x="457200" y="3063240"/>
            <a:ext cx="8229600" cy="228600"/>
          </a:xfrm>
          <a:prstGeom prst="rect">
            <a:avLst/>
          </a:prstGeom>
          <a:noFill/>
        </p:spPr>
        <p:txBody>
          <a:bodyPr wrap="square">
            <a:spAutoFit/>
          </a:bodyPr>
          <a:lstStyle/>
          <a:p>
            <a:pPr algn="l">
              <a:defRPr sz="1000" b="0">
                <a:latin typeface="Malgun Gothic"/>
              </a:defRPr>
            </a:pPr>
            <a:r>
              <a:t>구체성</a:t>
            </a:r>
          </a:p>
        </p:txBody>
      </p:sp>
      <p:sp>
        <p:nvSpPr>
          <p:cNvPr id="10" name="TextBox 9"/>
          <p:cNvSpPr txBox="1"/>
          <p:nvPr/>
        </p:nvSpPr>
        <p:spPr>
          <a:xfrm>
            <a:off x="457200" y="3383280"/>
            <a:ext cx="8229600" cy="228600"/>
          </a:xfrm>
          <a:prstGeom prst="rect">
            <a:avLst/>
          </a:prstGeom>
          <a:noFill/>
        </p:spPr>
        <p:txBody>
          <a:bodyPr wrap="square">
            <a:spAutoFit/>
          </a:bodyPr>
          <a:lstStyle/>
          <a:p>
            <a:pPr algn="l">
              <a:defRPr sz="1000" b="0">
                <a:latin typeface="Malgun Gothic"/>
              </a:defRPr>
            </a:pPr>
            <a:r>
              <a:t>감동·설렘</a:t>
            </a:r>
          </a:p>
        </p:txBody>
      </p:sp>
      <p:sp>
        <p:nvSpPr>
          <p:cNvPr id="11" name="TextBox 10"/>
          <p:cNvSpPr txBox="1"/>
          <p:nvPr/>
        </p:nvSpPr>
        <p:spPr>
          <a:xfrm>
            <a:off x="457200" y="3703320"/>
            <a:ext cx="8229600" cy="228600"/>
          </a:xfrm>
          <a:prstGeom prst="rect">
            <a:avLst/>
          </a:prstGeom>
          <a:noFill/>
        </p:spPr>
        <p:txBody>
          <a:bodyPr wrap="square">
            <a:spAutoFit/>
          </a:bodyPr>
          <a:lstStyle/>
          <a:p>
            <a:pPr algn="l">
              <a:defRPr sz="1000" b="0">
                <a:latin typeface="Malgun Gothic"/>
              </a:defRPr>
            </a:pPr>
            <a:r>
              <a:t>종합</a:t>
            </a:r>
          </a:p>
        </p:txBody>
      </p:sp>
      <p:sp>
        <p:nvSpPr>
          <p:cNvPr id="12" name="TextBox 11"/>
          <p:cNvSpPr txBox="1"/>
          <p:nvPr/>
        </p:nvSpPr>
        <p:spPr>
          <a:xfrm>
            <a:off x="457200" y="4023360"/>
            <a:ext cx="8229600" cy="228600"/>
          </a:xfrm>
          <a:prstGeom prst="rect">
            <a:avLst/>
          </a:prstGeom>
          <a:noFill/>
        </p:spPr>
        <p:txBody>
          <a:bodyPr wrap="square">
            <a:spAutoFit/>
          </a:bodyPr>
          <a:lstStyle/>
          <a:p>
            <a:pPr algn="l">
              <a:defRPr sz="1000" b="0">
                <a:latin typeface="Malgun Gothic"/>
              </a:defRPr>
            </a:pPr>
            <a:r>
              <a:t>1 해양의 보전과 이용을 선도하는 해양환경 국민 플랫폼 기관</a:t>
            </a:r>
          </a:p>
        </p:txBody>
      </p:sp>
      <p:sp>
        <p:nvSpPr>
          <p:cNvPr id="13" name="TextBox 12"/>
          <p:cNvSpPr txBox="1"/>
          <p:nvPr/>
        </p:nvSpPr>
        <p:spPr>
          <a:xfrm>
            <a:off x="457200" y="4343400"/>
            <a:ext cx="8229600" cy="228600"/>
          </a:xfrm>
          <a:prstGeom prst="rect">
            <a:avLst/>
          </a:prstGeom>
          <a:noFill/>
        </p:spPr>
        <p:txBody>
          <a:bodyPr wrap="square">
            <a:spAutoFit/>
          </a:bodyPr>
          <a:lstStyle/>
          <a:p>
            <a:pPr algn="l">
              <a:defRPr sz="1000" b="0">
                <a:latin typeface="Malgun Gothic"/>
              </a:defRPr>
            </a:pPr>
            <a:r>
              <a:t>2 해양의 미래가치를 높이는 해양환경 대표 정책기관</a:t>
            </a:r>
          </a:p>
        </p:txBody>
      </p:sp>
      <p:sp>
        <p:nvSpPr>
          <p:cNvPr id="14" name="TextBox 13"/>
          <p:cNvSpPr txBox="1"/>
          <p:nvPr/>
        </p:nvSpPr>
        <p:spPr>
          <a:xfrm>
            <a:off x="457200" y="4663440"/>
            <a:ext cx="8229600" cy="228600"/>
          </a:xfrm>
          <a:prstGeom prst="rect">
            <a:avLst/>
          </a:prstGeom>
          <a:noFill/>
        </p:spPr>
        <p:txBody>
          <a:bodyPr wrap="square">
            <a:spAutoFit/>
          </a:bodyPr>
          <a:lstStyle/>
          <a:p>
            <a:pPr algn="l">
              <a:defRPr sz="1000" b="0">
                <a:latin typeface="Malgun Gothic"/>
              </a:defRPr>
            </a:pPr>
            <a:r>
              <a:t>3 국민과 함께 지속가능한 바다를 만들어가는 해양환경 대표기관</a:t>
            </a:r>
          </a:p>
        </p:txBody>
      </p:sp>
      <p:sp>
        <p:nvSpPr>
          <p:cNvPr id="15" name="TextBox 14"/>
          <p:cNvSpPr txBox="1"/>
          <p:nvPr/>
        </p:nvSpPr>
        <p:spPr>
          <a:xfrm>
            <a:off x="457200" y="4983480"/>
            <a:ext cx="8229600" cy="228600"/>
          </a:xfrm>
          <a:prstGeom prst="rect">
            <a:avLst/>
          </a:prstGeom>
          <a:noFill/>
        </p:spPr>
        <p:txBody>
          <a:bodyPr wrap="square">
            <a:spAutoFit/>
          </a:bodyPr>
          <a:lstStyle/>
          <a:p>
            <a:pPr algn="l">
              <a:defRPr sz="1000" b="0">
                <a:latin typeface="Malgun Gothic"/>
              </a:defRPr>
            </a:pPr>
            <a:r>
              <a:t>4 미래 해양을 선도하는 해양환경 정책기관</a:t>
            </a:r>
          </a:p>
        </p:txBody>
      </p:sp>
      <p:sp>
        <p:nvSpPr>
          <p:cNvPr id="16" name="TextBox 15"/>
          <p:cNvSpPr txBox="1"/>
          <p:nvPr/>
        </p:nvSpPr>
        <p:spPr>
          <a:xfrm>
            <a:off x="457200" y="5303520"/>
            <a:ext cx="8229600" cy="228600"/>
          </a:xfrm>
          <a:prstGeom prst="rect">
            <a:avLst/>
          </a:prstGeom>
          <a:noFill/>
        </p:spPr>
        <p:txBody>
          <a:bodyPr wrap="square">
            <a:spAutoFit/>
          </a:bodyPr>
          <a:lstStyle/>
          <a:p>
            <a:pPr algn="l">
              <a:defRPr sz="1000" b="0">
                <a:latin typeface="Malgun Gothic"/>
              </a:defRPr>
            </a:pPr>
            <a:r>
              <a:t>5 해양의 성장 발전을 선도하는 해양정책 플랫폼 기관</a:t>
            </a:r>
          </a:p>
        </p:txBody>
      </p:sp>
      <p:sp>
        <p:nvSpPr>
          <p:cNvPr id="17" name="TextBox 16"/>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Ⅲ. 가치체계·전략체계 재정립 | Page 134</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가치체계·전략체계 재정립 - 기존 비전 슬로건 전환 : 임직원 설문조사</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슬로건 임직원 선호도 설문 결과, 기존 비전인 “건강한 바다, 풍요로운 미래, 행복한 국민 with KOEM”을 슬로건으로 사용하는 것에 대하여 대다수(90%)의 찬성으로 슬로건으로 채택함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기존 비전 슬로건 활용 선호도 설문 : 기존 비전의 슬로건 채택</a:t>
            </a:r>
          </a:p>
        </p:txBody>
      </p:sp>
      <p:sp>
        <p:nvSpPr>
          <p:cNvPr id="5" name="TextBox 4"/>
          <p:cNvSpPr txBox="1"/>
          <p:nvPr/>
        </p:nvSpPr>
        <p:spPr>
          <a:xfrm>
            <a:off x="457200" y="1828800"/>
            <a:ext cx="4023360" cy="685800"/>
          </a:xfrm>
          <a:prstGeom prst="rect">
            <a:avLst/>
          </a:prstGeom>
          <a:noFill/>
        </p:spPr>
        <p:txBody>
          <a:bodyPr wrap="square">
            <a:spAutoFit/>
          </a:bodyPr>
          <a:lstStyle/>
          <a:p>
            <a:pPr algn="l">
              <a:defRPr sz="1000" b="0">
                <a:latin typeface="Malgun Gothic"/>
              </a:defRPr>
            </a:pPr>
            <a:r>
              <a:t>기존 비전인 “건강한 바다, 풍요로운 미래, 행복한 국민 with KOEM"은 공단의 가치를 잘 담고 있어, 새로운 가치체계에서 슬로건(Slogan)으로 사용하여 기존 디자인과 도안을 활용하는 것에 대해 어떻게 생각하는지 선택해 주십시오</a:t>
            </a:r>
          </a:p>
        </p:txBody>
      </p:sp>
      <p:sp>
        <p:nvSpPr>
          <p:cNvPr id="6" name="TextBox 5"/>
          <p:cNvSpPr txBox="1"/>
          <p:nvPr/>
        </p:nvSpPr>
        <p:spPr>
          <a:xfrm>
            <a:off x="457200" y="2606040"/>
            <a:ext cx="4023360" cy="228600"/>
          </a:xfrm>
          <a:prstGeom prst="rect">
            <a:avLst/>
          </a:prstGeom>
          <a:noFill/>
        </p:spPr>
        <p:txBody>
          <a:bodyPr wrap="square">
            <a:spAutoFit/>
          </a:bodyPr>
          <a:lstStyle/>
          <a:p>
            <a:pPr algn="l">
              <a:defRPr sz="1000" b="0">
                <a:latin typeface="Malgun Gothic"/>
              </a:defRPr>
            </a:pPr>
            <a:r>
              <a:t>건강한 바다</a:t>
            </a:r>
            <a:br/>
            <a:r>
              <a:t>풍요로운 미래</a:t>
            </a:r>
            <a:br/>
            <a:r>
              <a:t>행복한 국민</a:t>
            </a:r>
            <a:br/>
            <a:r>
              <a:t>with KOEM</a:t>
            </a:r>
          </a:p>
        </p:txBody>
      </p:sp>
      <p:sp>
        <p:nvSpPr>
          <p:cNvPr id="7" name="TextBox 6"/>
          <p:cNvSpPr txBox="1"/>
          <p:nvPr/>
        </p:nvSpPr>
        <p:spPr>
          <a:xfrm>
            <a:off x="457200" y="2926080"/>
            <a:ext cx="4023360" cy="228600"/>
          </a:xfrm>
          <a:prstGeom prst="rect">
            <a:avLst/>
          </a:prstGeom>
          <a:noFill/>
        </p:spPr>
        <p:txBody>
          <a:bodyPr wrap="square">
            <a:spAutoFit/>
          </a:bodyPr>
          <a:lstStyle/>
          <a:p>
            <a:pPr algn="l">
              <a:defRPr sz="1000" b="0">
                <a:latin typeface="Malgun Gothic"/>
              </a:defRPr>
            </a:pPr>
            <a:r>
              <a:t>찬성 슬로건으로 활용하는 것이 적절하고 좋겠다</a:t>
            </a:r>
          </a:p>
        </p:txBody>
      </p:sp>
      <p:sp>
        <p:nvSpPr>
          <p:cNvPr id="8" name="TextBox 7"/>
          <p:cNvSpPr txBox="1"/>
          <p:nvPr/>
        </p:nvSpPr>
        <p:spPr>
          <a:xfrm>
            <a:off x="457200" y="3246120"/>
            <a:ext cx="4023360" cy="228600"/>
          </a:xfrm>
          <a:prstGeom prst="rect">
            <a:avLst/>
          </a:prstGeom>
          <a:noFill/>
        </p:spPr>
        <p:txBody>
          <a:bodyPr wrap="square">
            <a:spAutoFit/>
          </a:bodyPr>
          <a:lstStyle/>
          <a:p>
            <a:pPr algn="l">
              <a:defRPr sz="1000" b="0">
                <a:latin typeface="Malgun Gothic"/>
              </a:defRPr>
            </a:pPr>
            <a:r>
              <a:t>반대 슬로건으로 활용하는 것은 부적절하다</a:t>
            </a:r>
          </a:p>
        </p:txBody>
      </p:sp>
      <p:sp>
        <p:nvSpPr>
          <p:cNvPr id="9" name="Rectangle 8"/>
          <p:cNvSpPr/>
          <p:nvPr/>
        </p:nvSpPr>
        <p:spPr>
          <a:xfrm>
            <a:off x="45720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0" name="TextBox 9"/>
          <p:cNvSpPr txBox="1"/>
          <p:nvPr/>
        </p:nvSpPr>
        <p:spPr>
          <a:xfrm>
            <a:off x="54864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1" name="Rectangle 10"/>
          <p:cNvSpPr/>
          <p:nvPr/>
        </p:nvSpPr>
        <p:spPr>
          <a:xfrm>
            <a:off x="323088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2" name="TextBox 11"/>
          <p:cNvSpPr txBox="1"/>
          <p:nvPr/>
        </p:nvSpPr>
        <p:spPr>
          <a:xfrm>
            <a:off x="332232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3" name="Rectangle 12"/>
          <p:cNvSpPr/>
          <p:nvPr/>
        </p:nvSpPr>
        <p:spPr>
          <a:xfrm>
            <a:off x="600456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4" name="TextBox 13"/>
          <p:cNvSpPr txBox="1"/>
          <p:nvPr/>
        </p:nvSpPr>
        <p:spPr>
          <a:xfrm>
            <a:off x="609600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5" name="TextBox 14"/>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137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가치체계·전략체계 재정립 - 핵심가치 리뉴얼 구성</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핵심가치의 구성 기준과 리뉴얼 구성 계획</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137 | Page 138</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가치체계·전략체계 재정립 - 핵심가치 후보군 도출</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전략 방향성과 핵심가치 구성 체계, 비전 案의 주요 가치를 반영하고 정리하여 아래와 같이 핵심가치 후보군을 도출함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핵심가치 후보군 도출 : 전략 방향성과 비전 도출안의 주요가치 반영</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프로정신</a:t>
            </a:r>
            <a:br/>
            <a:r>
              <a:t>• 해양환경 분야 전문가로서 자부심</a:t>
            </a:r>
            <a:br/>
            <a:r>
              <a:t> 가진 프로의식의 함양과 발현</a:t>
            </a:r>
          </a:p>
        </p:txBody>
      </p:sp>
      <p:sp>
        <p:nvSpPr>
          <p:cNvPr id="6" name="TextBox 5"/>
          <p:cNvSpPr txBox="1"/>
          <p:nvPr/>
        </p:nvSpPr>
        <p:spPr>
          <a:xfrm>
            <a:off x="457200" y="2148840"/>
            <a:ext cx="8229600" cy="228600"/>
          </a:xfrm>
          <a:prstGeom prst="rect">
            <a:avLst/>
          </a:prstGeom>
          <a:noFill/>
        </p:spPr>
        <p:txBody>
          <a:bodyPr wrap="square">
            <a:spAutoFit/>
          </a:bodyPr>
          <a:lstStyle/>
          <a:p>
            <a:pPr algn="l">
              <a:defRPr sz="1000" b="0">
                <a:latin typeface="Malgun Gothic"/>
              </a:defRPr>
            </a:pPr>
            <a:r>
              <a:t>열린혁신</a:t>
            </a:r>
            <a:br/>
            <a:r>
              <a:t>• 해양환경 플랫폼으로서 유관기관,</a:t>
            </a:r>
            <a:br/>
            <a:r>
              <a:t> 민간과 열린 네트워크 통한 혁신</a:t>
            </a:r>
          </a:p>
        </p:txBody>
      </p:sp>
      <p:sp>
        <p:nvSpPr>
          <p:cNvPr id="7" name="TextBox 6"/>
          <p:cNvSpPr txBox="1"/>
          <p:nvPr/>
        </p:nvSpPr>
        <p:spPr>
          <a:xfrm>
            <a:off x="457200" y="2468880"/>
            <a:ext cx="8229600" cy="228600"/>
          </a:xfrm>
          <a:prstGeom prst="rect">
            <a:avLst/>
          </a:prstGeom>
          <a:noFill/>
        </p:spPr>
        <p:txBody>
          <a:bodyPr wrap="square">
            <a:spAutoFit/>
          </a:bodyPr>
          <a:lstStyle/>
          <a:p>
            <a:pPr algn="l">
              <a:defRPr sz="1000" b="0">
                <a:latin typeface="Malgun Gothic"/>
              </a:defRPr>
            </a:pPr>
            <a:r>
              <a:t>국민소통</a:t>
            </a:r>
            <a:br/>
            <a:r>
              <a:t>• 해양환경 정책과 정보를 국민과</a:t>
            </a:r>
            <a:br/>
            <a:r>
              <a:t> 공유하고 공감하는 소통의 추구</a:t>
            </a:r>
          </a:p>
        </p:txBody>
      </p:sp>
      <p:sp>
        <p:nvSpPr>
          <p:cNvPr id="8" name="TextBox 7"/>
          <p:cNvSpPr txBox="1"/>
          <p:nvPr/>
        </p:nvSpPr>
        <p:spPr>
          <a:xfrm>
            <a:off x="457200" y="2788920"/>
            <a:ext cx="8229600" cy="228600"/>
          </a:xfrm>
          <a:prstGeom prst="rect">
            <a:avLst/>
          </a:prstGeom>
          <a:noFill/>
        </p:spPr>
        <p:txBody>
          <a:bodyPr wrap="square">
            <a:spAutoFit/>
          </a:bodyPr>
          <a:lstStyle/>
          <a:p>
            <a:pPr algn="l">
              <a:defRPr sz="1000" b="0">
                <a:latin typeface="Malgun Gothic"/>
              </a:defRPr>
            </a:pPr>
            <a:r>
              <a:t>지속가능경영</a:t>
            </a:r>
            <a:br/>
            <a:r>
              <a:t>• 환경·사회·윤리에 입각한 해양과</a:t>
            </a:r>
            <a:br/>
            <a:r>
              <a:t> 환경, 사회의 지속가능성 강화</a:t>
            </a:r>
          </a:p>
        </p:txBody>
      </p:sp>
      <p:sp>
        <p:nvSpPr>
          <p:cNvPr id="9" name="TextBox 8"/>
          <p:cNvSpPr txBox="1"/>
          <p:nvPr/>
        </p:nvSpPr>
        <p:spPr>
          <a:xfrm>
            <a:off x="457200" y="3108960"/>
            <a:ext cx="8229600" cy="228600"/>
          </a:xfrm>
          <a:prstGeom prst="rect">
            <a:avLst/>
          </a:prstGeom>
          <a:noFill/>
        </p:spPr>
        <p:txBody>
          <a:bodyPr wrap="square">
            <a:spAutoFit/>
          </a:bodyPr>
          <a:lstStyle/>
          <a:p>
            <a:pPr algn="l">
              <a:defRPr sz="1000" b="0">
                <a:latin typeface="Malgun Gothic"/>
              </a:defRPr>
            </a:pPr>
            <a:r>
              <a:t>미래지향</a:t>
            </a:r>
            <a:br/>
            <a:r>
              <a:t>• 해양환경 대표기관으로 해양의</a:t>
            </a:r>
            <a:br/>
            <a:r>
              <a:t> 미래를 만드는 기상과 포부 견지</a:t>
            </a:r>
          </a:p>
        </p:txBody>
      </p:sp>
      <p:sp>
        <p:nvSpPr>
          <p:cNvPr id="10" name="TextBox 9"/>
          <p:cNvSpPr txBox="1"/>
          <p:nvPr/>
        </p:nvSpPr>
        <p:spPr>
          <a:xfrm>
            <a:off x="457200" y="3429000"/>
            <a:ext cx="8229600" cy="228600"/>
          </a:xfrm>
          <a:prstGeom prst="rect">
            <a:avLst/>
          </a:prstGeom>
          <a:noFill/>
        </p:spPr>
        <p:txBody>
          <a:bodyPr wrap="square">
            <a:spAutoFit/>
          </a:bodyPr>
          <a:lstStyle/>
          <a:p>
            <a:pPr algn="l">
              <a:defRPr sz="1000" b="0">
                <a:latin typeface="Malgun Gothic"/>
              </a:defRPr>
            </a:pPr>
            <a:r>
              <a:t>혁신성장</a:t>
            </a:r>
            <a:br/>
            <a:r>
              <a:t>• 해양환경 산업 육성과 지원으로</a:t>
            </a:r>
            <a:br/>
            <a:r>
              <a:t> 공단과 산업의 동반성장 도모</a:t>
            </a:r>
          </a:p>
        </p:txBody>
      </p:sp>
      <p:sp>
        <p:nvSpPr>
          <p:cNvPr id="11" name="TextBox 10"/>
          <p:cNvSpPr txBox="1"/>
          <p:nvPr/>
        </p:nvSpPr>
        <p:spPr>
          <a:xfrm>
            <a:off x="457200" y="3749040"/>
            <a:ext cx="8229600" cy="228600"/>
          </a:xfrm>
          <a:prstGeom prst="rect">
            <a:avLst/>
          </a:prstGeom>
          <a:noFill/>
        </p:spPr>
        <p:txBody>
          <a:bodyPr wrap="square">
            <a:spAutoFit/>
          </a:bodyPr>
          <a:lstStyle/>
          <a:p>
            <a:pPr algn="l">
              <a:defRPr sz="1000" b="0">
                <a:latin typeface="Malgun Gothic"/>
              </a:defRPr>
            </a:pPr>
            <a:r>
              <a:t>국민참여</a:t>
            </a:r>
            <a:br/>
            <a:r>
              <a:t>• 해양환경 플랫폼을 통해 국민의</a:t>
            </a:r>
            <a:br/>
            <a:r>
              <a:t> 참여를 적극 장려하고 강화함</a:t>
            </a:r>
          </a:p>
        </p:txBody>
      </p:sp>
      <p:sp>
        <p:nvSpPr>
          <p:cNvPr id="12" name="TextBox 11"/>
          <p:cNvSpPr txBox="1"/>
          <p:nvPr/>
        </p:nvSpPr>
        <p:spPr>
          <a:xfrm>
            <a:off x="457200" y="4069080"/>
            <a:ext cx="8229600" cy="228600"/>
          </a:xfrm>
          <a:prstGeom prst="rect">
            <a:avLst/>
          </a:prstGeom>
          <a:noFill/>
        </p:spPr>
        <p:txBody>
          <a:bodyPr wrap="square">
            <a:spAutoFit/>
          </a:bodyPr>
          <a:lstStyle/>
          <a:p>
            <a:pPr algn="l">
              <a:defRPr sz="1000" b="0">
                <a:latin typeface="Malgun Gothic"/>
              </a:defRPr>
            </a:pPr>
            <a:r>
              <a:t>책임경영</a:t>
            </a:r>
            <a:br/>
            <a:r>
              <a:t>• 공기업, 공공기관으로서 사업의</a:t>
            </a:r>
            <a:br/>
            <a:r>
              <a:t> 과정과 결과에 책임을 다하는 경영</a:t>
            </a:r>
          </a:p>
        </p:txBody>
      </p:sp>
      <p:sp>
        <p:nvSpPr>
          <p:cNvPr id="13" name="TextBox 12"/>
          <p:cNvSpPr txBox="1"/>
          <p:nvPr/>
        </p:nvSpPr>
        <p:spPr>
          <a:xfrm>
            <a:off x="457200" y="4389120"/>
            <a:ext cx="8229600" cy="228600"/>
          </a:xfrm>
          <a:prstGeom prst="rect">
            <a:avLst/>
          </a:prstGeom>
          <a:noFill/>
        </p:spPr>
        <p:txBody>
          <a:bodyPr wrap="square">
            <a:spAutoFit/>
          </a:bodyPr>
          <a:lstStyle/>
          <a:p>
            <a:pPr algn="l">
              <a:defRPr sz="1000" b="0">
                <a:latin typeface="Malgun Gothic"/>
              </a:defRPr>
            </a:pPr>
            <a:r>
              <a:t>최고지향</a:t>
            </a:r>
            <a:br/>
            <a:r>
              <a:t>• 해양환경 각 분야에서 최고의</a:t>
            </a:r>
            <a:br/>
            <a:r>
              <a:t> 전문성을 지향함</a:t>
            </a:r>
          </a:p>
        </p:txBody>
      </p:sp>
      <p:sp>
        <p:nvSpPr>
          <p:cNvPr id="14" name="TextBox 13"/>
          <p:cNvSpPr txBox="1"/>
          <p:nvPr/>
        </p:nvSpPr>
        <p:spPr>
          <a:xfrm>
            <a:off x="457200" y="4709160"/>
            <a:ext cx="8229600" cy="228600"/>
          </a:xfrm>
          <a:prstGeom prst="rect">
            <a:avLst/>
          </a:prstGeom>
          <a:noFill/>
        </p:spPr>
        <p:txBody>
          <a:bodyPr wrap="square">
            <a:spAutoFit/>
          </a:bodyPr>
          <a:lstStyle/>
          <a:p>
            <a:pPr algn="l">
              <a:defRPr sz="1000" b="0">
                <a:latin typeface="Malgun Gothic"/>
              </a:defRPr>
            </a:pPr>
            <a:r>
              <a:t>협력성장</a:t>
            </a:r>
            <a:br/>
            <a:r>
              <a:t>• 해양수산 유관기관, 지자체, 민간</a:t>
            </a:r>
            <a:br/>
            <a:r>
              <a:t> 협력을 통해 동반 성장을 추구</a:t>
            </a:r>
          </a:p>
        </p:txBody>
      </p:sp>
      <p:sp>
        <p:nvSpPr>
          <p:cNvPr id="15" name="TextBox 14"/>
          <p:cNvSpPr txBox="1"/>
          <p:nvPr/>
        </p:nvSpPr>
        <p:spPr>
          <a:xfrm>
            <a:off x="457200" y="5029200"/>
            <a:ext cx="8229600" cy="228600"/>
          </a:xfrm>
          <a:prstGeom prst="rect">
            <a:avLst/>
          </a:prstGeom>
          <a:noFill/>
        </p:spPr>
        <p:txBody>
          <a:bodyPr wrap="square">
            <a:spAutoFit/>
          </a:bodyPr>
          <a:lstStyle/>
          <a:p>
            <a:pPr algn="l">
              <a:defRPr sz="1000" b="0">
                <a:latin typeface="Malgun Gothic"/>
              </a:defRPr>
            </a:pPr>
            <a:r>
              <a:t>혁신소통</a:t>
            </a:r>
            <a:br/>
            <a:r>
              <a:t>• 형식과 틀을 깨는 능동적, 적극적</a:t>
            </a:r>
            <a:br/>
            <a:r>
              <a:t> 소통의 혁신을 추구</a:t>
            </a:r>
          </a:p>
        </p:txBody>
      </p:sp>
      <p:sp>
        <p:nvSpPr>
          <p:cNvPr id="16" name="TextBox 15"/>
          <p:cNvSpPr txBox="1"/>
          <p:nvPr/>
        </p:nvSpPr>
        <p:spPr>
          <a:xfrm>
            <a:off x="457200" y="5349240"/>
            <a:ext cx="8229600" cy="228600"/>
          </a:xfrm>
          <a:prstGeom prst="rect">
            <a:avLst/>
          </a:prstGeom>
          <a:noFill/>
        </p:spPr>
        <p:txBody>
          <a:bodyPr wrap="square">
            <a:spAutoFit/>
          </a:bodyPr>
          <a:lstStyle/>
          <a:p>
            <a:pPr algn="l">
              <a:defRPr sz="1000" b="0">
                <a:latin typeface="Malgun Gothic"/>
              </a:defRPr>
            </a:pPr>
            <a:r>
              <a:t>투명경영</a:t>
            </a:r>
            <a:br/>
            <a:r>
              <a:t>• 의사결정 기준과 절차가 투명하여</a:t>
            </a:r>
            <a:br/>
            <a:r>
              <a:t> 기회균등과 공정성을 보장하는 경영</a:t>
            </a:r>
          </a:p>
        </p:txBody>
      </p:sp>
      <p:sp>
        <p:nvSpPr>
          <p:cNvPr id="17" name="TextBox 16"/>
          <p:cNvSpPr txBox="1"/>
          <p:nvPr/>
        </p:nvSpPr>
        <p:spPr>
          <a:xfrm>
            <a:off x="457200" y="5669280"/>
            <a:ext cx="8229600" cy="228600"/>
          </a:xfrm>
          <a:prstGeom prst="rect">
            <a:avLst/>
          </a:prstGeom>
          <a:noFill/>
        </p:spPr>
        <p:txBody>
          <a:bodyPr wrap="square">
            <a:spAutoFit/>
          </a:bodyPr>
          <a:lstStyle/>
          <a:p>
            <a:pPr algn="l">
              <a:defRPr sz="1000" b="0">
                <a:latin typeface="Malgun Gothic"/>
              </a:defRPr>
            </a:pPr>
            <a:r>
              <a:t>인재중심</a:t>
            </a:r>
            <a:br/>
            <a:r>
              <a:t>• 해양환경 전문성 강화를 위해</a:t>
            </a:r>
            <a:br/>
            <a:r>
              <a:t> 인재 확보와 양성에 중점을 둠</a:t>
            </a:r>
          </a:p>
        </p:txBody>
      </p:sp>
      <p:sp>
        <p:nvSpPr>
          <p:cNvPr id="18" name="TextBox 17"/>
          <p:cNvSpPr txBox="1"/>
          <p:nvPr/>
        </p:nvSpPr>
        <p:spPr>
          <a:xfrm>
            <a:off x="457200" y="5989320"/>
            <a:ext cx="8229600" cy="228600"/>
          </a:xfrm>
          <a:prstGeom prst="rect">
            <a:avLst/>
          </a:prstGeom>
          <a:noFill/>
        </p:spPr>
        <p:txBody>
          <a:bodyPr wrap="square">
            <a:spAutoFit/>
          </a:bodyPr>
          <a:lstStyle/>
          <a:p>
            <a:pPr algn="l">
              <a:defRPr sz="1000" b="0">
                <a:latin typeface="Malgun Gothic"/>
              </a:defRPr>
            </a:pPr>
            <a:r>
              <a:t>창의도전</a:t>
            </a:r>
            <a:br/>
            <a:r>
              <a:t>• 사업과 정책에서 새로운 기술과</a:t>
            </a:r>
            <a:br/>
            <a:r>
              <a:t> 방식으로 두려움 없이 도전 추구</a:t>
            </a:r>
          </a:p>
        </p:txBody>
      </p:sp>
      <p:sp>
        <p:nvSpPr>
          <p:cNvPr id="19" name="TextBox 18"/>
          <p:cNvSpPr txBox="1"/>
          <p:nvPr/>
        </p:nvSpPr>
        <p:spPr>
          <a:xfrm>
            <a:off x="457200" y="6309360"/>
            <a:ext cx="8229600" cy="228600"/>
          </a:xfrm>
          <a:prstGeom prst="rect">
            <a:avLst/>
          </a:prstGeom>
          <a:noFill/>
        </p:spPr>
        <p:txBody>
          <a:bodyPr wrap="square">
            <a:spAutoFit/>
          </a:bodyPr>
          <a:lstStyle/>
          <a:p>
            <a:pPr algn="l">
              <a:defRPr sz="1000" b="0">
                <a:latin typeface="Malgun Gothic"/>
              </a:defRPr>
            </a:pPr>
            <a:r>
              <a:t>안전원칙</a:t>
            </a:r>
            <a:br/>
            <a:r>
              <a:t>• 사업수행과 관리에서 안전을 기본</a:t>
            </a:r>
            <a:br/>
            <a:r>
              <a:t> 원칙으로 삼아 수행함</a:t>
            </a:r>
          </a:p>
        </p:txBody>
      </p:sp>
      <p:sp>
        <p:nvSpPr>
          <p:cNvPr id="20" name="TextBox 19"/>
          <p:cNvSpPr txBox="1"/>
          <p:nvPr/>
        </p:nvSpPr>
        <p:spPr>
          <a:xfrm>
            <a:off x="457200" y="6629400"/>
            <a:ext cx="8229600" cy="228600"/>
          </a:xfrm>
          <a:prstGeom prst="rect">
            <a:avLst/>
          </a:prstGeom>
          <a:noFill/>
        </p:spPr>
        <p:txBody>
          <a:bodyPr wrap="square">
            <a:spAutoFit/>
          </a:bodyPr>
          <a:lstStyle/>
          <a:p>
            <a:pPr algn="l">
              <a:defRPr sz="1000" b="0">
                <a:latin typeface="Malgun Gothic"/>
              </a:defRPr>
            </a:pPr>
            <a:r>
              <a:t>윤리경영</a:t>
            </a:r>
            <a:br/>
            <a:r>
              <a:t>• 청렴, 투명성을 바탕으로 인권과</a:t>
            </a:r>
            <a:br/>
            <a:r>
              <a:t> 기회균등, 공정경제를 실현</a:t>
            </a:r>
          </a:p>
        </p:txBody>
      </p:sp>
      <p:sp>
        <p:nvSpPr>
          <p:cNvPr id="21" name="TextBox 20"/>
          <p:cNvSpPr txBox="1"/>
          <p:nvPr/>
        </p:nvSpPr>
        <p:spPr>
          <a:xfrm>
            <a:off x="457200" y="6949440"/>
            <a:ext cx="8229600" cy="228600"/>
          </a:xfrm>
          <a:prstGeom prst="rect">
            <a:avLst/>
          </a:prstGeom>
          <a:noFill/>
        </p:spPr>
        <p:txBody>
          <a:bodyPr wrap="square">
            <a:spAutoFit/>
          </a:bodyPr>
          <a:lstStyle/>
          <a:p>
            <a:pPr algn="l">
              <a:defRPr sz="1000" b="0">
                <a:latin typeface="Malgun Gothic"/>
              </a:defRPr>
            </a:pPr>
            <a:r>
              <a:t>전문역량</a:t>
            </a:r>
            <a:br/>
            <a:r>
              <a:t>• 해양환경분야 전문역량 확보를</a:t>
            </a:r>
            <a:br/>
            <a:r>
              <a:t> 통한 해양환경 전문성 추구</a:t>
            </a:r>
          </a:p>
        </p:txBody>
      </p:sp>
      <p:sp>
        <p:nvSpPr>
          <p:cNvPr id="22" name="TextBox 21"/>
          <p:cNvSpPr txBox="1"/>
          <p:nvPr/>
        </p:nvSpPr>
        <p:spPr>
          <a:xfrm>
            <a:off x="457200" y="7269480"/>
            <a:ext cx="8229600" cy="228600"/>
          </a:xfrm>
          <a:prstGeom prst="rect">
            <a:avLst/>
          </a:prstGeom>
          <a:noFill/>
        </p:spPr>
        <p:txBody>
          <a:bodyPr wrap="square">
            <a:spAutoFit/>
          </a:bodyPr>
          <a:lstStyle/>
          <a:p>
            <a:pPr algn="l">
              <a:defRPr sz="1000" b="0">
                <a:latin typeface="Malgun Gothic"/>
              </a:defRPr>
            </a:pPr>
            <a:r>
              <a:t>혁신선도</a:t>
            </a:r>
            <a:br/>
            <a:r>
              <a:t>• 변화에 능동적인 조직문화 선도</a:t>
            </a:r>
          </a:p>
        </p:txBody>
      </p:sp>
      <p:sp>
        <p:nvSpPr>
          <p:cNvPr id="23" name="TextBox 22"/>
          <p:cNvSpPr txBox="1"/>
          <p:nvPr/>
        </p:nvSpPr>
        <p:spPr>
          <a:xfrm>
            <a:off x="457200" y="7589520"/>
            <a:ext cx="8229600" cy="228600"/>
          </a:xfrm>
          <a:prstGeom prst="rect">
            <a:avLst/>
          </a:prstGeom>
          <a:noFill/>
        </p:spPr>
        <p:txBody>
          <a:bodyPr wrap="square">
            <a:spAutoFit/>
          </a:bodyPr>
          <a:lstStyle/>
          <a:p>
            <a:pPr algn="l">
              <a:defRPr sz="1000" b="0">
                <a:latin typeface="Malgun Gothic"/>
              </a:defRPr>
            </a:pPr>
            <a:r>
              <a:t>안전우선</a:t>
            </a:r>
            <a:br/>
            <a:r>
              <a:t>• 사업 수행과 관리에서 안전을</a:t>
            </a:r>
            <a:br/>
            <a:r>
              <a:t> 제일 중요한 가치로 우선함</a:t>
            </a:r>
          </a:p>
        </p:txBody>
      </p:sp>
      <p:sp>
        <p:nvSpPr>
          <p:cNvPr id="24" name="TextBox 23"/>
          <p:cNvSpPr txBox="1"/>
          <p:nvPr/>
        </p:nvSpPr>
        <p:spPr>
          <a:xfrm>
            <a:off x="457200" y="7909560"/>
            <a:ext cx="8229600" cy="228600"/>
          </a:xfrm>
          <a:prstGeom prst="rect">
            <a:avLst/>
          </a:prstGeom>
          <a:noFill/>
        </p:spPr>
        <p:txBody>
          <a:bodyPr wrap="square">
            <a:spAutoFit/>
          </a:bodyPr>
          <a:lstStyle/>
          <a:p>
            <a:pPr algn="l">
              <a:defRPr sz="1000" b="0">
                <a:latin typeface="Malgun Gothic"/>
              </a:defRPr>
            </a:pPr>
            <a:r>
              <a:t>윤리의식</a:t>
            </a:r>
            <a:br/>
            <a:r>
              <a:t>• 투명성과 공정성을 바탕으로</a:t>
            </a:r>
            <a:br/>
            <a:r>
              <a:t> 윤리기준에 따른 운영과 관리</a:t>
            </a:r>
          </a:p>
        </p:txBody>
      </p:sp>
      <p:sp>
        <p:nvSpPr>
          <p:cNvPr id="25" name="TextBox 24"/>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138 | Page 139</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가치체계·전략체계 재정립 -핵심가치 후보案 선정</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핵심가치 리뉴얼 구성 편성에서 전문성, 혁신성, 개방성을 동시에 포괄하고 있는 새로운 핵심가치안 2개와 기존안을 핵심가치 후보로 선정함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139 | Page 140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가치체계·전략체계 재정립 - 경영방침 구성 예시</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경영방침은 경영이념, 기본방침, 일반방침, 부분방침 등으로 조직 내 의사결정에 일관성을 확보하기 위해 설정한 지도원칙이나 실행절차로, 주로 최고경영자를 포함한 경영진의 경영이념과 태도 등 원칙이 주로 채용되고 있음</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141 | Page 142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가치체계·전략체계 재정립 - 경영방침 후보 선정</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도출된 경영방침 후보 중 주요가치, 사업운영, 업무방식 분류의 유사항목 중 의미전달이 명확한 ‘환경경영(선도)', '공정경제', '공익우선', '국민참여', '개성의 조화', '일하는 보람'을 경영방침 후보로 선정함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추구하는 주요 가치</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사회적가치(선도)</a:t>
            </a:r>
            <a:br/>
            <a:r>
              <a:t>• 공기업으로 ESG, 사회적가치 실현</a:t>
            </a:r>
            <a:br/>
            <a:r>
              <a:t>트렌드 선도</a:t>
            </a:r>
          </a:p>
        </p:txBody>
      </p:sp>
      <p:sp>
        <p:nvSpPr>
          <p:cNvPr id="6" name="TextBox 5"/>
          <p:cNvSpPr txBox="1"/>
          <p:nvPr/>
        </p:nvSpPr>
        <p:spPr>
          <a:xfrm>
            <a:off x="457200" y="2148840"/>
            <a:ext cx="8229600" cy="228600"/>
          </a:xfrm>
          <a:prstGeom prst="rect">
            <a:avLst/>
          </a:prstGeom>
          <a:noFill/>
        </p:spPr>
        <p:txBody>
          <a:bodyPr wrap="square">
            <a:spAutoFit/>
          </a:bodyPr>
          <a:lstStyle/>
          <a:p>
            <a:pPr algn="l">
              <a:defRPr sz="1000" b="0">
                <a:latin typeface="Malgun Gothic"/>
              </a:defRPr>
            </a:pPr>
            <a:r>
              <a:t>환경경영(선도)</a:t>
            </a:r>
            <a:br/>
            <a:r>
              <a:t>• 공기업으로 ESG경영의 "환경"영역</a:t>
            </a:r>
            <a:br/>
            <a:r>
              <a:t>기업활동 대안제시 및 선도</a:t>
            </a:r>
          </a:p>
        </p:txBody>
      </p:sp>
      <p:sp>
        <p:nvSpPr>
          <p:cNvPr id="7" name="TextBox 6"/>
          <p:cNvSpPr txBox="1"/>
          <p:nvPr/>
        </p:nvSpPr>
        <p:spPr>
          <a:xfrm>
            <a:off x="457200" y="2468880"/>
            <a:ext cx="8229600" cy="228600"/>
          </a:xfrm>
          <a:prstGeom prst="rect">
            <a:avLst/>
          </a:prstGeom>
          <a:noFill/>
        </p:spPr>
        <p:txBody>
          <a:bodyPr wrap="square">
            <a:spAutoFit/>
          </a:bodyPr>
          <a:lstStyle/>
          <a:p>
            <a:pPr algn="l">
              <a:defRPr sz="1000" b="0">
                <a:latin typeface="Malgun Gothic"/>
              </a:defRPr>
            </a:pPr>
            <a:r>
              <a:t>공정한 동행</a:t>
            </a:r>
            <a:br/>
            <a:r>
              <a:t>• 협력업체와 관계에서 공정경제</a:t>
            </a:r>
            <a:br/>
            <a:r>
              <a:t>추구(갑질 근절, 상생추구)</a:t>
            </a:r>
          </a:p>
        </p:txBody>
      </p:sp>
      <p:sp>
        <p:nvSpPr>
          <p:cNvPr id="8" name="TextBox 7"/>
          <p:cNvSpPr txBox="1"/>
          <p:nvPr/>
        </p:nvSpPr>
        <p:spPr>
          <a:xfrm>
            <a:off x="457200" y="2788920"/>
            <a:ext cx="8229600" cy="228600"/>
          </a:xfrm>
          <a:prstGeom prst="rect">
            <a:avLst/>
          </a:prstGeom>
          <a:noFill/>
        </p:spPr>
        <p:txBody>
          <a:bodyPr wrap="square">
            <a:spAutoFit/>
          </a:bodyPr>
          <a:lstStyle/>
          <a:p>
            <a:pPr algn="l">
              <a:defRPr sz="1000" b="0">
                <a:latin typeface="Malgun Gothic"/>
              </a:defRPr>
            </a:pPr>
            <a:r>
              <a:t>공정경제</a:t>
            </a:r>
            <a:br/>
            <a:r>
              <a:t>• 기업 투명성과 상생 분위기 확산</a:t>
            </a:r>
            <a:br/>
            <a:r>
              <a:t>• 정당한 경쟁과 보상을 보장</a:t>
            </a:r>
          </a:p>
        </p:txBody>
      </p:sp>
      <p:sp>
        <p:nvSpPr>
          <p:cNvPr id="9" name="TextBox 8"/>
          <p:cNvSpPr txBox="1"/>
          <p:nvPr/>
        </p:nvSpPr>
        <p:spPr>
          <a:xfrm>
            <a:off x="457200" y="3108960"/>
            <a:ext cx="8229600" cy="274320"/>
          </a:xfrm>
          <a:prstGeom prst="rect">
            <a:avLst/>
          </a:prstGeom>
          <a:noFill/>
        </p:spPr>
        <p:txBody>
          <a:bodyPr wrap="square">
            <a:spAutoFit/>
          </a:bodyPr>
          <a:lstStyle/>
          <a:p>
            <a:pPr algn="l">
              <a:defRPr sz="1200" b="1">
                <a:solidFill>
                  <a:srgbClr val="003366"/>
                </a:solidFill>
                <a:latin typeface="Malgun Gothic"/>
              </a:defRPr>
            </a:pPr>
            <a:r>
              <a:t>사업운영 우선 기준</a:t>
            </a:r>
          </a:p>
        </p:txBody>
      </p:sp>
      <p:sp>
        <p:nvSpPr>
          <p:cNvPr id="10" name="TextBox 9"/>
          <p:cNvSpPr txBox="1"/>
          <p:nvPr/>
        </p:nvSpPr>
        <p:spPr>
          <a:xfrm>
            <a:off x="457200" y="3474720"/>
            <a:ext cx="8229600" cy="228600"/>
          </a:xfrm>
          <a:prstGeom prst="rect">
            <a:avLst/>
          </a:prstGeom>
          <a:noFill/>
        </p:spPr>
        <p:txBody>
          <a:bodyPr wrap="square">
            <a:spAutoFit/>
          </a:bodyPr>
          <a:lstStyle/>
          <a:p>
            <a:pPr algn="l">
              <a:defRPr sz="1000" b="0">
                <a:latin typeface="Malgun Gothic"/>
              </a:defRPr>
            </a:pPr>
            <a:r>
              <a:t>공익우선</a:t>
            </a:r>
            <a:br/>
            <a:r>
              <a:t>• 공기업으로 공공의 가치에 우선을</a:t>
            </a:r>
            <a:br/>
            <a:r>
              <a:t>두어 업무를 수행함</a:t>
            </a:r>
          </a:p>
        </p:txBody>
      </p:sp>
      <p:sp>
        <p:nvSpPr>
          <p:cNvPr id="11" name="TextBox 10"/>
          <p:cNvSpPr txBox="1"/>
          <p:nvPr/>
        </p:nvSpPr>
        <p:spPr>
          <a:xfrm>
            <a:off x="457200" y="3794760"/>
            <a:ext cx="8229600" cy="228600"/>
          </a:xfrm>
          <a:prstGeom prst="rect">
            <a:avLst/>
          </a:prstGeom>
          <a:noFill/>
        </p:spPr>
        <p:txBody>
          <a:bodyPr wrap="square">
            <a:spAutoFit/>
          </a:bodyPr>
          <a:lstStyle/>
          <a:p>
            <a:pPr algn="l">
              <a:defRPr sz="1000" b="0">
                <a:latin typeface="Malgun Gothic"/>
              </a:defRPr>
            </a:pPr>
            <a:r>
              <a:t>공공성 강화(추구)</a:t>
            </a:r>
            <a:br/>
            <a:r>
              <a:t>• 공공기관으로서 사회의 공적 가치</a:t>
            </a:r>
            <a:br/>
            <a:r>
              <a:t>추구 강화</a:t>
            </a:r>
          </a:p>
        </p:txBody>
      </p:sp>
      <p:sp>
        <p:nvSpPr>
          <p:cNvPr id="12" name="TextBox 11"/>
          <p:cNvSpPr txBox="1"/>
          <p:nvPr/>
        </p:nvSpPr>
        <p:spPr>
          <a:xfrm>
            <a:off x="457200" y="4114800"/>
            <a:ext cx="8229600" cy="228600"/>
          </a:xfrm>
          <a:prstGeom prst="rect">
            <a:avLst/>
          </a:prstGeom>
          <a:noFill/>
        </p:spPr>
        <p:txBody>
          <a:bodyPr wrap="square">
            <a:spAutoFit/>
          </a:bodyPr>
          <a:lstStyle/>
          <a:p>
            <a:pPr algn="l">
              <a:defRPr sz="1000" b="0">
                <a:latin typeface="Malgun Gothic"/>
              </a:defRPr>
            </a:pPr>
            <a:r>
              <a:t>국민참여</a:t>
            </a:r>
            <a:br/>
            <a:r>
              <a:t>• 국민·시민이 참여하고 함께 만들어</a:t>
            </a:r>
            <a:br/>
            <a:r>
              <a:t>가는 국민참여 지향</a:t>
            </a:r>
          </a:p>
        </p:txBody>
      </p:sp>
      <p:sp>
        <p:nvSpPr>
          <p:cNvPr id="13" name="TextBox 12"/>
          <p:cNvSpPr txBox="1"/>
          <p:nvPr/>
        </p:nvSpPr>
        <p:spPr>
          <a:xfrm>
            <a:off x="457200" y="4434840"/>
            <a:ext cx="8229600" cy="228600"/>
          </a:xfrm>
          <a:prstGeom prst="rect">
            <a:avLst/>
          </a:prstGeom>
          <a:noFill/>
        </p:spPr>
        <p:txBody>
          <a:bodyPr wrap="square">
            <a:spAutoFit/>
          </a:bodyPr>
          <a:lstStyle/>
          <a:p>
            <a:pPr algn="l">
              <a:defRPr sz="1000" b="0">
                <a:latin typeface="Malgun Gothic"/>
              </a:defRPr>
            </a:pPr>
            <a:r>
              <a:t>국민소통</a:t>
            </a:r>
            <a:br/>
            <a:r>
              <a:t>• 해양환경은 국민과 함께 소통하고</a:t>
            </a:r>
            <a:br/>
            <a:r>
              <a:t>만들어가는 것이 필요</a:t>
            </a:r>
          </a:p>
        </p:txBody>
      </p:sp>
      <p:sp>
        <p:nvSpPr>
          <p:cNvPr id="14" name="TextBox 13"/>
          <p:cNvSpPr txBox="1"/>
          <p:nvPr/>
        </p:nvSpPr>
        <p:spPr>
          <a:xfrm>
            <a:off x="457200" y="4754880"/>
            <a:ext cx="8229600" cy="274320"/>
          </a:xfrm>
          <a:prstGeom prst="rect">
            <a:avLst/>
          </a:prstGeom>
          <a:noFill/>
        </p:spPr>
        <p:txBody>
          <a:bodyPr wrap="square">
            <a:spAutoFit/>
          </a:bodyPr>
          <a:lstStyle/>
          <a:p>
            <a:pPr algn="l">
              <a:defRPr sz="1200" b="1">
                <a:solidFill>
                  <a:srgbClr val="003366"/>
                </a:solidFill>
                <a:latin typeface="Malgun Gothic"/>
              </a:defRPr>
            </a:pPr>
            <a:r>
              <a:t>일하는 방식의 기준</a:t>
            </a:r>
          </a:p>
        </p:txBody>
      </p:sp>
      <p:sp>
        <p:nvSpPr>
          <p:cNvPr id="15" name="TextBox 14"/>
          <p:cNvSpPr txBox="1"/>
          <p:nvPr/>
        </p:nvSpPr>
        <p:spPr>
          <a:xfrm>
            <a:off x="457200" y="5120640"/>
            <a:ext cx="8229600" cy="228600"/>
          </a:xfrm>
          <a:prstGeom prst="rect">
            <a:avLst/>
          </a:prstGeom>
          <a:noFill/>
        </p:spPr>
        <p:txBody>
          <a:bodyPr wrap="square">
            <a:spAutoFit/>
          </a:bodyPr>
          <a:lstStyle/>
          <a:p>
            <a:pPr algn="l">
              <a:defRPr sz="1000" b="0">
                <a:latin typeface="Malgun Gothic"/>
              </a:defRPr>
            </a:pPr>
            <a:r>
              <a:t>개성의 조화</a:t>
            </a:r>
            <a:br/>
            <a:r>
              <a:t>• 구성원 개인 역량과 특성에 대한</a:t>
            </a:r>
            <a:br/>
            <a:r>
              <a:t>존중을 바탕으로 조화를 이룸</a:t>
            </a:r>
          </a:p>
        </p:txBody>
      </p:sp>
      <p:sp>
        <p:nvSpPr>
          <p:cNvPr id="16" name="TextBox 15"/>
          <p:cNvSpPr txBox="1"/>
          <p:nvPr/>
        </p:nvSpPr>
        <p:spPr>
          <a:xfrm>
            <a:off x="457200" y="5440680"/>
            <a:ext cx="8229600" cy="228600"/>
          </a:xfrm>
          <a:prstGeom prst="rect">
            <a:avLst/>
          </a:prstGeom>
          <a:noFill/>
        </p:spPr>
        <p:txBody>
          <a:bodyPr wrap="square">
            <a:spAutoFit/>
          </a:bodyPr>
          <a:lstStyle/>
          <a:p>
            <a:pPr algn="l">
              <a:defRPr sz="1000" b="0">
                <a:latin typeface="Malgun Gothic"/>
              </a:defRPr>
            </a:pPr>
            <a:r>
              <a:t>개성존중</a:t>
            </a:r>
            <a:br/>
            <a:r>
              <a:t>• 구성원 개인의 성격과 특성을</a:t>
            </a:r>
            <a:br/>
            <a:r>
              <a:t>존중하여 역량을 펼치게 함</a:t>
            </a:r>
          </a:p>
        </p:txBody>
      </p:sp>
      <p:sp>
        <p:nvSpPr>
          <p:cNvPr id="17" name="TextBox 16"/>
          <p:cNvSpPr txBox="1"/>
          <p:nvPr/>
        </p:nvSpPr>
        <p:spPr>
          <a:xfrm>
            <a:off x="457200" y="5760720"/>
            <a:ext cx="8229600" cy="228600"/>
          </a:xfrm>
          <a:prstGeom prst="rect">
            <a:avLst/>
          </a:prstGeom>
          <a:noFill/>
        </p:spPr>
        <p:txBody>
          <a:bodyPr wrap="square">
            <a:spAutoFit/>
          </a:bodyPr>
          <a:lstStyle/>
          <a:p>
            <a:pPr algn="l">
              <a:defRPr sz="1000" b="0">
                <a:latin typeface="Malgun Gothic"/>
              </a:defRPr>
            </a:pPr>
            <a:r>
              <a:t>일하는 보람</a:t>
            </a:r>
            <a:br/>
            <a:r>
              <a:t>• 보람 있는 노동과 직장생활</a:t>
            </a:r>
            <a:br/>
            <a:r>
              <a:t>• 일하는 방식의 변화 추구</a:t>
            </a:r>
          </a:p>
        </p:txBody>
      </p:sp>
      <p:sp>
        <p:nvSpPr>
          <p:cNvPr id="18" name="TextBox 17"/>
          <p:cNvSpPr txBox="1"/>
          <p:nvPr/>
        </p:nvSpPr>
        <p:spPr>
          <a:xfrm>
            <a:off x="457200" y="6080760"/>
            <a:ext cx="8229600" cy="228600"/>
          </a:xfrm>
          <a:prstGeom prst="rect">
            <a:avLst/>
          </a:prstGeom>
          <a:noFill/>
        </p:spPr>
        <p:txBody>
          <a:bodyPr wrap="square">
            <a:spAutoFit/>
          </a:bodyPr>
          <a:lstStyle/>
          <a:p>
            <a:pPr algn="l">
              <a:defRPr sz="1000" b="0">
                <a:latin typeface="Malgun Gothic"/>
              </a:defRPr>
            </a:pPr>
            <a:r>
              <a:t>일하는 기쁨</a:t>
            </a:r>
            <a:br/>
            <a:r>
              <a:t>• 보람 있는 직장생활의 추구</a:t>
            </a:r>
            <a:br/>
            <a:r>
              <a:t>• 일과 삶의 조화를 통한 삶의 보람</a:t>
            </a:r>
          </a:p>
        </p:txBody>
      </p:sp>
      <p:sp>
        <p:nvSpPr>
          <p:cNvPr id="19" name="TextBox 18"/>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144</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가치체계·전략체계 재정립 - 임직원 설문조사 개요 및 결과</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공단의 新가치체계 선정을 위해 가치체계 후보案에 대한 임직원 선호도 설문조사 결과, 총 372명(참여율 52.8%)이 참여하여 아래와 같이 가치체계 선호도 조사에 따라 新가치체계를 선정함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설문조사 목적 및 수행방법</a:t>
            </a:r>
          </a:p>
        </p:txBody>
      </p:sp>
      <p:sp>
        <p:nvSpPr>
          <p:cNvPr id="5" name="TextBox 4"/>
          <p:cNvSpPr txBox="1"/>
          <p:nvPr/>
        </p:nvSpPr>
        <p:spPr>
          <a:xfrm>
            <a:off x="457200" y="1828800"/>
            <a:ext cx="4023360" cy="685800"/>
          </a:xfrm>
          <a:prstGeom prst="rect">
            <a:avLst/>
          </a:prstGeom>
          <a:noFill/>
        </p:spPr>
        <p:txBody>
          <a:bodyPr wrap="square">
            <a:spAutoFit/>
          </a:bodyPr>
          <a:lstStyle/>
          <a:p>
            <a:pPr algn="l">
              <a:defRPr sz="1000" b="0">
                <a:latin typeface="Malgun Gothic"/>
              </a:defRPr>
            </a:pPr>
            <a:r>
              <a:t>• 공단 임직원의 공단의 미션, 비전, 핵심가치 등 新가치체계 후보에 대한 선호도와 의견을 반영함</a:t>
            </a:r>
            <a:br/>
            <a:r>
              <a:t>• 가치체계 재정립 과정에서 임직원의 의견을 반영하여 새로운 가치체계에 대한 수용도를 제고함</a:t>
            </a:r>
          </a:p>
        </p:txBody>
      </p:sp>
      <p:sp>
        <p:nvSpPr>
          <p:cNvPr id="6" name="TextBox 5"/>
          <p:cNvSpPr txBox="1"/>
          <p:nvPr/>
        </p:nvSpPr>
        <p:spPr>
          <a:xfrm>
            <a:off x="457200" y="2606040"/>
            <a:ext cx="4023360" cy="228600"/>
          </a:xfrm>
          <a:prstGeom prst="rect">
            <a:avLst/>
          </a:prstGeom>
          <a:noFill/>
        </p:spPr>
        <p:txBody>
          <a:bodyPr wrap="square">
            <a:spAutoFit/>
          </a:bodyPr>
          <a:lstStyle/>
          <a:p>
            <a:pPr algn="l">
              <a:defRPr sz="1000" b="0">
                <a:latin typeface="Malgun Gothic"/>
              </a:defRPr>
            </a:pPr>
            <a:r>
              <a:t>• 2021.04.28 ~ 2021.05.06</a:t>
            </a:r>
            <a:br/>
            <a:r>
              <a:t>- 9일 동안 진행</a:t>
            </a:r>
          </a:p>
        </p:txBody>
      </p:sp>
      <p:sp>
        <p:nvSpPr>
          <p:cNvPr id="7" name="TextBox 6"/>
          <p:cNvSpPr txBox="1"/>
          <p:nvPr/>
        </p:nvSpPr>
        <p:spPr>
          <a:xfrm>
            <a:off x="457200" y="2926080"/>
            <a:ext cx="4023360" cy="457200"/>
          </a:xfrm>
          <a:prstGeom prst="rect">
            <a:avLst/>
          </a:prstGeom>
          <a:noFill/>
        </p:spPr>
        <p:txBody>
          <a:bodyPr wrap="square">
            <a:spAutoFit/>
          </a:bodyPr>
          <a:lstStyle/>
          <a:p>
            <a:pPr algn="l">
              <a:defRPr sz="1000" b="0">
                <a:latin typeface="Malgun Gothic"/>
              </a:defRPr>
            </a:pPr>
            <a:r>
              <a:t>• KOEM 임직원 대상</a:t>
            </a:r>
            <a:br/>
            <a:r>
              <a:t>- 설문대상 임직원 704명 중 372명 설문 참여</a:t>
            </a:r>
            <a:br/>
            <a:r>
              <a:t>- 참여율 52.8%</a:t>
            </a:r>
          </a:p>
        </p:txBody>
      </p:sp>
      <p:sp>
        <p:nvSpPr>
          <p:cNvPr id="8" name="TextBox 7"/>
          <p:cNvSpPr txBox="1"/>
          <p:nvPr/>
        </p:nvSpPr>
        <p:spPr>
          <a:xfrm>
            <a:off x="457200" y="3474720"/>
            <a:ext cx="4023360" cy="685800"/>
          </a:xfrm>
          <a:prstGeom prst="rect">
            <a:avLst/>
          </a:prstGeom>
          <a:noFill/>
        </p:spPr>
        <p:txBody>
          <a:bodyPr wrap="square">
            <a:spAutoFit/>
          </a:bodyPr>
          <a:lstStyle/>
          <a:p>
            <a:pPr algn="l">
              <a:defRPr sz="1000" b="0">
                <a:latin typeface="Malgun Gothic"/>
              </a:defRPr>
            </a:pPr>
            <a:r>
              <a:t>• 온라인 설문 (모바일 포함)</a:t>
            </a:r>
            <a:br/>
            <a:r>
              <a:t>: 온라인 설문 URL를 통해 각 문항에 대하여 설문 참여자의 선호도 답변 선택</a:t>
            </a:r>
            <a:br/>
            <a:r>
              <a:t>- 미션, 비전, 핵심가치에 대해 선호案 선택</a:t>
            </a:r>
            <a:br/>
            <a:r>
              <a:t>- 기존 비전의 슬로건 활용에 대한 의견 수렴</a:t>
            </a:r>
            <a:br/>
            <a:r>
              <a:t>- 각 항목에 대한 추가 의견 서술</a:t>
            </a:r>
          </a:p>
        </p:txBody>
      </p:sp>
      <p:sp>
        <p:nvSpPr>
          <p:cNvPr id="9" name="TextBox 8"/>
          <p:cNvSpPr txBox="1"/>
          <p:nvPr/>
        </p:nvSpPr>
        <p:spPr>
          <a:xfrm>
            <a:off x="457200" y="4251960"/>
            <a:ext cx="8229600" cy="274320"/>
          </a:xfrm>
          <a:prstGeom prst="rect">
            <a:avLst/>
          </a:prstGeom>
          <a:noFill/>
        </p:spPr>
        <p:txBody>
          <a:bodyPr wrap="square">
            <a:spAutoFit/>
          </a:bodyPr>
          <a:lstStyle/>
          <a:p>
            <a:pPr algn="l">
              <a:defRPr sz="1200" b="1">
                <a:solidFill>
                  <a:srgbClr val="003366"/>
                </a:solidFill>
                <a:latin typeface="Malgun Gothic"/>
              </a:defRPr>
            </a:pPr>
            <a:r>
              <a:t>설문결과 선정된 新 가치체계</a:t>
            </a:r>
          </a:p>
        </p:txBody>
      </p:sp>
      <p:sp>
        <p:nvSpPr>
          <p:cNvPr id="10" name="TextBox 9"/>
          <p:cNvSpPr txBox="1"/>
          <p:nvPr/>
        </p:nvSpPr>
        <p:spPr>
          <a:xfrm>
            <a:off x="4663440" y="2194560"/>
            <a:ext cx="4023360" cy="228600"/>
          </a:xfrm>
          <a:prstGeom prst="rect">
            <a:avLst/>
          </a:prstGeom>
          <a:noFill/>
        </p:spPr>
        <p:txBody>
          <a:bodyPr wrap="square">
            <a:spAutoFit/>
          </a:bodyPr>
          <a:lstStyle/>
          <a:p>
            <a:pPr algn="l">
              <a:defRPr sz="1000" b="0">
                <a:latin typeface="Malgun Gothic"/>
              </a:defRPr>
            </a:pPr>
            <a:r>
              <a:t>깨끗하고 안전한 바다로 국민 행복을 증진하고,</a:t>
            </a:r>
            <a:br/>
            <a:r>
              <a:t>해양의 더 나은 미래를 열어간다</a:t>
            </a:r>
          </a:p>
        </p:txBody>
      </p:sp>
      <p:sp>
        <p:nvSpPr>
          <p:cNvPr id="11" name="TextBox 10"/>
          <p:cNvSpPr txBox="1"/>
          <p:nvPr/>
        </p:nvSpPr>
        <p:spPr>
          <a:xfrm>
            <a:off x="457200" y="4617720"/>
            <a:ext cx="4023360" cy="228600"/>
          </a:xfrm>
          <a:prstGeom prst="rect">
            <a:avLst/>
          </a:prstGeom>
          <a:noFill/>
        </p:spPr>
        <p:txBody>
          <a:bodyPr wrap="square">
            <a:spAutoFit/>
          </a:bodyPr>
          <a:lstStyle/>
          <a:p>
            <a:pPr algn="l">
              <a:defRPr sz="1000" b="0">
                <a:latin typeface="Malgun Gothic"/>
              </a:defRPr>
            </a:pPr>
            <a:r>
              <a:t>해양의 보전과 이용을 선도하는</a:t>
            </a:r>
            <a:br/>
            <a:r>
              <a:t>해양환경 국민 플랫폼 기관</a:t>
            </a:r>
          </a:p>
        </p:txBody>
      </p:sp>
      <p:sp>
        <p:nvSpPr>
          <p:cNvPr id="12" name="TextBox 11"/>
          <p:cNvSpPr txBox="1"/>
          <p:nvPr/>
        </p:nvSpPr>
        <p:spPr>
          <a:xfrm>
            <a:off x="457200" y="4937760"/>
            <a:ext cx="4023360" cy="228600"/>
          </a:xfrm>
          <a:prstGeom prst="rect">
            <a:avLst/>
          </a:prstGeom>
          <a:noFill/>
        </p:spPr>
        <p:txBody>
          <a:bodyPr wrap="square">
            <a:spAutoFit/>
          </a:bodyPr>
          <a:lstStyle/>
          <a:p>
            <a:pPr algn="l">
              <a:defRPr sz="1000" b="0">
                <a:latin typeface="Malgun Gothic"/>
              </a:defRPr>
            </a:pPr>
            <a:r>
              <a:t>전문역량, 안전우선, 열린혁신, 협력성장</a:t>
            </a:r>
          </a:p>
        </p:txBody>
      </p:sp>
      <p:sp>
        <p:nvSpPr>
          <p:cNvPr id="13" name="TextBox 12"/>
          <p:cNvSpPr txBox="1"/>
          <p:nvPr/>
        </p:nvSpPr>
        <p:spPr>
          <a:xfrm>
            <a:off x="4663440" y="2514600"/>
            <a:ext cx="4023360" cy="228600"/>
          </a:xfrm>
          <a:prstGeom prst="rect">
            <a:avLst/>
          </a:prstGeom>
          <a:noFill/>
        </p:spPr>
        <p:txBody>
          <a:bodyPr wrap="square">
            <a:spAutoFit/>
          </a:bodyPr>
          <a:lstStyle/>
          <a:p>
            <a:pPr algn="l">
              <a:defRPr sz="1000" b="0">
                <a:latin typeface="Malgun Gothic"/>
              </a:defRPr>
            </a:pPr>
            <a:r>
              <a:t>건강한 바다, 풍요로운 미래, 행복한 국민</a:t>
            </a:r>
            <a:br/>
            <a:r>
              <a:t>with KOEM</a:t>
            </a:r>
          </a:p>
        </p:txBody>
      </p:sp>
      <p:sp>
        <p:nvSpPr>
          <p:cNvPr id="14" name="TextBox 1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None | Page 146</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2. 가치체계·전략체계 재정립 - 가치체계 확정案</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공단 가치체계(미션, 비전, 핵심가치, 경영방침) 리뉴얼 확정안을 아래와 같이 선정하여 제시함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가치체계(미션, 비전, 핵심가치, 경영방침) 확정案</a:t>
            </a:r>
          </a:p>
        </p:txBody>
      </p:sp>
      <p:sp>
        <p:nvSpPr>
          <p:cNvPr id="5" name="TextBox 4"/>
          <p:cNvSpPr txBox="1"/>
          <p:nvPr/>
        </p:nvSpPr>
        <p:spPr>
          <a:xfrm>
            <a:off x="457200" y="1828800"/>
            <a:ext cx="8229600" cy="685800"/>
          </a:xfrm>
          <a:prstGeom prst="rect">
            <a:avLst/>
          </a:prstGeom>
          <a:noFill/>
        </p:spPr>
        <p:txBody>
          <a:bodyPr wrap="square">
            <a:spAutoFit/>
          </a:bodyPr>
          <a:lstStyle/>
          <a:p>
            <a:pPr algn="l">
              <a:defRPr sz="1000" b="0">
                <a:latin typeface="Malgun Gothic"/>
              </a:defRPr>
            </a:pPr>
            <a:r>
              <a:t>① 생명·생산·생활의 종합 공간인 해양의 훼손 및 오염으로 인한 위해를 예방하고,</a:t>
            </a:r>
            <a:br/>
            <a:r>
              <a:t>② 국민들이 안심하고 이용할 수 있는 깨끗하고 안전한 해양환경을 조성하여,</a:t>
            </a:r>
            <a:br/>
            <a:r>
              <a:t>③ 윤택하고 풍요로운 해양의 지속가능한 이용가치를 창조하여 국민 행복과 삶의 질 향상</a:t>
            </a:r>
          </a:p>
        </p:txBody>
      </p:sp>
      <p:sp>
        <p:nvSpPr>
          <p:cNvPr id="6" name="TextBox 5"/>
          <p:cNvSpPr txBox="1"/>
          <p:nvPr/>
        </p:nvSpPr>
        <p:spPr>
          <a:xfrm>
            <a:off x="457200" y="2606040"/>
            <a:ext cx="8229600" cy="274320"/>
          </a:xfrm>
          <a:prstGeom prst="rect">
            <a:avLst/>
          </a:prstGeom>
          <a:noFill/>
        </p:spPr>
        <p:txBody>
          <a:bodyPr wrap="square">
            <a:spAutoFit/>
          </a:bodyPr>
          <a:lstStyle/>
          <a:p>
            <a:pPr algn="l">
              <a:defRPr sz="1200" b="1">
                <a:solidFill>
                  <a:srgbClr val="003366"/>
                </a:solidFill>
                <a:latin typeface="Malgun Gothic"/>
              </a:defRPr>
            </a:pPr>
            <a:r>
              <a:t>가치체계 확정</a:t>
            </a:r>
          </a:p>
        </p:txBody>
      </p:sp>
      <p:sp>
        <p:nvSpPr>
          <p:cNvPr id="7" name="TextBox 6"/>
          <p:cNvSpPr txBox="1"/>
          <p:nvPr/>
        </p:nvSpPr>
        <p:spPr>
          <a:xfrm>
            <a:off x="457200" y="2971800"/>
            <a:ext cx="8229600" cy="228600"/>
          </a:xfrm>
          <a:prstGeom prst="rect">
            <a:avLst/>
          </a:prstGeom>
          <a:noFill/>
        </p:spPr>
        <p:txBody>
          <a:bodyPr wrap="square">
            <a:spAutoFit/>
          </a:bodyPr>
          <a:lstStyle/>
          <a:p>
            <a:pPr algn="l">
              <a:defRPr sz="1000" b="0">
                <a:latin typeface="Malgun Gothic"/>
              </a:defRPr>
            </a:pPr>
            <a:r>
              <a:t>미션</a:t>
            </a:r>
          </a:p>
        </p:txBody>
      </p:sp>
      <p:sp>
        <p:nvSpPr>
          <p:cNvPr id="8" name="TextBox 7"/>
          <p:cNvSpPr txBox="1"/>
          <p:nvPr/>
        </p:nvSpPr>
        <p:spPr>
          <a:xfrm>
            <a:off x="457200" y="3291840"/>
            <a:ext cx="8229600" cy="228600"/>
          </a:xfrm>
          <a:prstGeom prst="rect">
            <a:avLst/>
          </a:prstGeom>
          <a:noFill/>
        </p:spPr>
        <p:txBody>
          <a:bodyPr wrap="square">
            <a:spAutoFit/>
          </a:bodyPr>
          <a:lstStyle/>
          <a:p>
            <a:pPr algn="l">
              <a:defRPr sz="1000" b="0">
                <a:latin typeface="Malgun Gothic"/>
              </a:defRPr>
            </a:pPr>
            <a:r>
              <a:t>깨끗하고 안전한 바다로 국민 행복을 증진하고, 해양의 더 나은 미래를 열어간다</a:t>
            </a:r>
          </a:p>
        </p:txBody>
      </p:sp>
      <p:sp>
        <p:nvSpPr>
          <p:cNvPr id="9" name="TextBox 8"/>
          <p:cNvSpPr txBox="1"/>
          <p:nvPr/>
        </p:nvSpPr>
        <p:spPr>
          <a:xfrm>
            <a:off x="457200" y="3611880"/>
            <a:ext cx="8229600" cy="228600"/>
          </a:xfrm>
          <a:prstGeom prst="rect">
            <a:avLst/>
          </a:prstGeom>
          <a:noFill/>
        </p:spPr>
        <p:txBody>
          <a:bodyPr wrap="square">
            <a:spAutoFit/>
          </a:bodyPr>
          <a:lstStyle/>
          <a:p>
            <a:pPr algn="l">
              <a:defRPr sz="1000" b="0">
                <a:latin typeface="Malgun Gothic"/>
              </a:defRPr>
            </a:pPr>
            <a:r>
              <a:t>비전</a:t>
            </a:r>
          </a:p>
        </p:txBody>
      </p:sp>
      <p:sp>
        <p:nvSpPr>
          <p:cNvPr id="10" name="TextBox 9"/>
          <p:cNvSpPr txBox="1"/>
          <p:nvPr/>
        </p:nvSpPr>
        <p:spPr>
          <a:xfrm>
            <a:off x="457200" y="3931920"/>
            <a:ext cx="8229600" cy="228600"/>
          </a:xfrm>
          <a:prstGeom prst="rect">
            <a:avLst/>
          </a:prstGeom>
          <a:noFill/>
        </p:spPr>
        <p:txBody>
          <a:bodyPr wrap="square">
            <a:spAutoFit/>
          </a:bodyPr>
          <a:lstStyle/>
          <a:p>
            <a:pPr algn="l">
              <a:defRPr sz="1000" b="0">
                <a:latin typeface="Malgun Gothic"/>
              </a:defRPr>
            </a:pPr>
            <a:r>
              <a:t>해양의 보전과 이용을 선도하는 해양환경 국민 플랫폼 기관</a:t>
            </a:r>
          </a:p>
        </p:txBody>
      </p:sp>
      <p:sp>
        <p:nvSpPr>
          <p:cNvPr id="11" name="TextBox 10"/>
          <p:cNvSpPr txBox="1"/>
          <p:nvPr/>
        </p:nvSpPr>
        <p:spPr>
          <a:xfrm>
            <a:off x="457200" y="4251960"/>
            <a:ext cx="8229600" cy="228600"/>
          </a:xfrm>
          <a:prstGeom prst="rect">
            <a:avLst/>
          </a:prstGeom>
          <a:noFill/>
        </p:spPr>
        <p:txBody>
          <a:bodyPr wrap="square">
            <a:spAutoFit/>
          </a:bodyPr>
          <a:lstStyle/>
          <a:p>
            <a:pPr algn="l">
              <a:defRPr sz="1000" b="0">
                <a:latin typeface="Malgun Gothic"/>
              </a:defRPr>
            </a:pPr>
            <a:r>
              <a:t>슬로건</a:t>
            </a:r>
          </a:p>
        </p:txBody>
      </p:sp>
      <p:sp>
        <p:nvSpPr>
          <p:cNvPr id="12" name="TextBox 11"/>
          <p:cNvSpPr txBox="1"/>
          <p:nvPr/>
        </p:nvSpPr>
        <p:spPr>
          <a:xfrm>
            <a:off x="457200" y="4572000"/>
            <a:ext cx="8229600" cy="228600"/>
          </a:xfrm>
          <a:prstGeom prst="rect">
            <a:avLst/>
          </a:prstGeom>
          <a:noFill/>
        </p:spPr>
        <p:txBody>
          <a:bodyPr wrap="square">
            <a:spAutoFit/>
          </a:bodyPr>
          <a:lstStyle/>
          <a:p>
            <a:pPr algn="l">
              <a:defRPr sz="1000" b="0">
                <a:latin typeface="Malgun Gothic"/>
              </a:defRPr>
            </a:pPr>
            <a:r>
              <a:t>건강한 바다, 풍요로운 미래, 행복한 국민 with KOEM</a:t>
            </a:r>
          </a:p>
        </p:txBody>
      </p:sp>
      <p:sp>
        <p:nvSpPr>
          <p:cNvPr id="13" name="TextBox 12"/>
          <p:cNvSpPr txBox="1"/>
          <p:nvPr/>
        </p:nvSpPr>
        <p:spPr>
          <a:xfrm>
            <a:off x="457200" y="4892040"/>
            <a:ext cx="8229600" cy="228600"/>
          </a:xfrm>
          <a:prstGeom prst="rect">
            <a:avLst/>
          </a:prstGeom>
          <a:noFill/>
        </p:spPr>
        <p:txBody>
          <a:bodyPr wrap="square">
            <a:spAutoFit/>
          </a:bodyPr>
          <a:lstStyle/>
          <a:p>
            <a:pPr algn="l">
              <a:defRPr sz="1000" b="0">
                <a:latin typeface="Malgun Gothic"/>
              </a:defRPr>
            </a:pPr>
            <a:r>
              <a:t>핵심가치</a:t>
            </a:r>
          </a:p>
        </p:txBody>
      </p:sp>
      <p:sp>
        <p:nvSpPr>
          <p:cNvPr id="14" name="TextBox 13"/>
          <p:cNvSpPr txBox="1"/>
          <p:nvPr/>
        </p:nvSpPr>
        <p:spPr>
          <a:xfrm>
            <a:off x="457200" y="5212080"/>
            <a:ext cx="8229600" cy="228600"/>
          </a:xfrm>
          <a:prstGeom prst="rect">
            <a:avLst/>
          </a:prstGeom>
          <a:noFill/>
        </p:spPr>
        <p:txBody>
          <a:bodyPr wrap="square">
            <a:spAutoFit/>
          </a:bodyPr>
          <a:lstStyle/>
          <a:p>
            <a:pPr algn="l">
              <a:defRPr sz="1000" b="0">
                <a:latin typeface="Malgun Gothic"/>
              </a:defRPr>
            </a:pPr>
            <a:r>
              <a:t>전문역량</a:t>
            </a:r>
          </a:p>
        </p:txBody>
      </p:sp>
      <p:sp>
        <p:nvSpPr>
          <p:cNvPr id="15" name="TextBox 14"/>
          <p:cNvSpPr txBox="1"/>
          <p:nvPr/>
        </p:nvSpPr>
        <p:spPr>
          <a:xfrm>
            <a:off x="457200" y="5532120"/>
            <a:ext cx="8229600" cy="228600"/>
          </a:xfrm>
          <a:prstGeom prst="rect">
            <a:avLst/>
          </a:prstGeom>
          <a:noFill/>
        </p:spPr>
        <p:txBody>
          <a:bodyPr wrap="square">
            <a:spAutoFit/>
          </a:bodyPr>
          <a:lstStyle/>
          <a:p>
            <a:pPr algn="l">
              <a:defRPr sz="1000" b="0">
                <a:latin typeface="Malgun Gothic"/>
              </a:defRPr>
            </a:pPr>
            <a:r>
              <a:t>안전우선</a:t>
            </a:r>
          </a:p>
        </p:txBody>
      </p:sp>
      <p:sp>
        <p:nvSpPr>
          <p:cNvPr id="16" name="TextBox 15"/>
          <p:cNvSpPr txBox="1"/>
          <p:nvPr/>
        </p:nvSpPr>
        <p:spPr>
          <a:xfrm>
            <a:off x="457200" y="5852160"/>
            <a:ext cx="8229600" cy="228600"/>
          </a:xfrm>
          <a:prstGeom prst="rect">
            <a:avLst/>
          </a:prstGeom>
          <a:noFill/>
        </p:spPr>
        <p:txBody>
          <a:bodyPr wrap="square">
            <a:spAutoFit/>
          </a:bodyPr>
          <a:lstStyle/>
          <a:p>
            <a:pPr algn="l">
              <a:defRPr sz="1000" b="0">
                <a:latin typeface="Malgun Gothic"/>
              </a:defRPr>
            </a:pPr>
            <a:r>
              <a:t>열린혁신</a:t>
            </a:r>
          </a:p>
        </p:txBody>
      </p:sp>
      <p:sp>
        <p:nvSpPr>
          <p:cNvPr id="17" name="TextBox 16"/>
          <p:cNvSpPr txBox="1"/>
          <p:nvPr/>
        </p:nvSpPr>
        <p:spPr>
          <a:xfrm>
            <a:off x="457200" y="6172200"/>
            <a:ext cx="8229600" cy="228600"/>
          </a:xfrm>
          <a:prstGeom prst="rect">
            <a:avLst/>
          </a:prstGeom>
          <a:noFill/>
        </p:spPr>
        <p:txBody>
          <a:bodyPr wrap="square">
            <a:spAutoFit/>
          </a:bodyPr>
          <a:lstStyle/>
          <a:p>
            <a:pPr algn="l">
              <a:defRPr sz="1000" b="0">
                <a:latin typeface="Malgun Gothic"/>
              </a:defRPr>
            </a:pPr>
            <a:r>
              <a:t>협력성장</a:t>
            </a:r>
          </a:p>
        </p:txBody>
      </p:sp>
      <p:sp>
        <p:nvSpPr>
          <p:cNvPr id="18" name="TextBox 17"/>
          <p:cNvSpPr txBox="1"/>
          <p:nvPr/>
        </p:nvSpPr>
        <p:spPr>
          <a:xfrm>
            <a:off x="457200" y="6492240"/>
            <a:ext cx="8229600" cy="228600"/>
          </a:xfrm>
          <a:prstGeom prst="rect">
            <a:avLst/>
          </a:prstGeom>
          <a:noFill/>
        </p:spPr>
        <p:txBody>
          <a:bodyPr wrap="square">
            <a:spAutoFit/>
          </a:bodyPr>
          <a:lstStyle/>
          <a:p>
            <a:pPr algn="l">
              <a:defRPr sz="1000" b="0">
                <a:latin typeface="Malgun Gothic"/>
              </a:defRPr>
            </a:pPr>
            <a:r>
              <a:t>경영방침</a:t>
            </a:r>
          </a:p>
        </p:txBody>
      </p:sp>
      <p:sp>
        <p:nvSpPr>
          <p:cNvPr id="19" name="TextBox 18"/>
          <p:cNvSpPr txBox="1"/>
          <p:nvPr/>
        </p:nvSpPr>
        <p:spPr>
          <a:xfrm>
            <a:off x="457200" y="6812280"/>
            <a:ext cx="8229600" cy="228600"/>
          </a:xfrm>
          <a:prstGeom prst="rect">
            <a:avLst/>
          </a:prstGeom>
          <a:noFill/>
        </p:spPr>
        <p:txBody>
          <a:bodyPr wrap="square">
            <a:spAutoFit/>
          </a:bodyPr>
          <a:lstStyle/>
          <a:p>
            <a:pPr algn="l">
              <a:defRPr sz="1000" b="0">
                <a:latin typeface="Malgun Gothic"/>
              </a:defRPr>
            </a:pPr>
            <a:r>
              <a:t>공정경제</a:t>
            </a:r>
          </a:p>
        </p:txBody>
      </p:sp>
      <p:sp>
        <p:nvSpPr>
          <p:cNvPr id="20" name="TextBox 19"/>
          <p:cNvSpPr txBox="1"/>
          <p:nvPr/>
        </p:nvSpPr>
        <p:spPr>
          <a:xfrm>
            <a:off x="457200" y="7132320"/>
            <a:ext cx="8229600" cy="228600"/>
          </a:xfrm>
          <a:prstGeom prst="rect">
            <a:avLst/>
          </a:prstGeom>
          <a:noFill/>
        </p:spPr>
        <p:txBody>
          <a:bodyPr wrap="square">
            <a:spAutoFit/>
          </a:bodyPr>
          <a:lstStyle/>
          <a:p>
            <a:pPr algn="l">
              <a:defRPr sz="1000" b="0">
                <a:latin typeface="Malgun Gothic"/>
              </a:defRPr>
            </a:pPr>
            <a:r>
              <a:t>공익우선</a:t>
            </a:r>
          </a:p>
        </p:txBody>
      </p:sp>
      <p:sp>
        <p:nvSpPr>
          <p:cNvPr id="21" name="TextBox 20"/>
          <p:cNvSpPr txBox="1"/>
          <p:nvPr/>
        </p:nvSpPr>
        <p:spPr>
          <a:xfrm>
            <a:off x="457200" y="7452360"/>
            <a:ext cx="8229600" cy="228600"/>
          </a:xfrm>
          <a:prstGeom prst="rect">
            <a:avLst/>
          </a:prstGeom>
          <a:noFill/>
        </p:spPr>
        <p:txBody>
          <a:bodyPr wrap="square">
            <a:spAutoFit/>
          </a:bodyPr>
          <a:lstStyle/>
          <a:p>
            <a:pPr algn="l">
              <a:defRPr sz="1000" b="0">
                <a:latin typeface="Malgun Gothic"/>
              </a:defRPr>
            </a:pPr>
            <a:r>
              <a:t>국민참여</a:t>
            </a:r>
          </a:p>
        </p:txBody>
      </p:sp>
      <p:sp>
        <p:nvSpPr>
          <p:cNvPr id="22" name="TextBox 21"/>
          <p:cNvSpPr txBox="1"/>
          <p:nvPr/>
        </p:nvSpPr>
        <p:spPr>
          <a:xfrm>
            <a:off x="457200" y="7772400"/>
            <a:ext cx="8229600" cy="228600"/>
          </a:xfrm>
          <a:prstGeom prst="rect">
            <a:avLst/>
          </a:prstGeom>
          <a:noFill/>
        </p:spPr>
        <p:txBody>
          <a:bodyPr wrap="square">
            <a:spAutoFit/>
          </a:bodyPr>
          <a:lstStyle/>
          <a:p>
            <a:pPr algn="l">
              <a:defRPr sz="1000" b="0">
                <a:latin typeface="Malgun Gothic"/>
              </a:defRPr>
            </a:pPr>
            <a:r>
              <a:t>일하는 보람</a:t>
            </a:r>
          </a:p>
        </p:txBody>
      </p:sp>
      <p:sp>
        <p:nvSpPr>
          <p:cNvPr id="23" name="TextBox 22"/>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 | Page 147</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전략목표·전략과제 수립</a:t>
            </a:r>
          </a:p>
        </p:txBody>
      </p:sp>
      <p:sp>
        <p:nvSpPr>
          <p:cNvPr id="3" name="TextBox 2"/>
          <p:cNvSpPr txBox="1"/>
          <p:nvPr/>
        </p:nvSpPr>
        <p:spPr>
          <a:xfrm>
            <a:off x="457200" y="1463040"/>
            <a:ext cx="8229600" cy="228600"/>
          </a:xfrm>
          <a:prstGeom prst="rect">
            <a:avLst/>
          </a:prstGeom>
          <a:noFill/>
        </p:spPr>
        <p:txBody>
          <a:bodyPr wrap="square">
            <a:spAutoFit/>
          </a:bodyPr>
          <a:lstStyle/>
          <a:p>
            <a:pPr algn="l">
              <a:defRPr sz="1000" b="0">
                <a:latin typeface="Malgun Gothic"/>
              </a:defRPr>
            </a:pPr>
            <a:r>
              <a:t>KOEM 해양환경공단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None | Page 148</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전략목표·전략과제 수립 - SWOT분석을 통한 전략과제 도출</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내·외부 환경분석을 통해 정리된 강점과 약점, 기회와 위협요인을 매트릭스로 배열하여 전략과제를 SO전략, WO전략, ST전략, WT전략 사분면으로 도출함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149</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전략목표·전략과제 수립 - S-O전략</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강점과 기회요인을 결합하여 사업 확대와 영역 확장을 통한 S-O 성장 전략과제를 다음과 같이 도출함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150</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전략목표·전략과제 수립 - S-T전략</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강점과 위협요인을 결합하여 선택과 집중을 통해 강점의 활용을 극대화하고 위험을 회피하는 S-T 선택과 집중 및 위험회피 전략과제를 다음과 같이 도출함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150 | Page 151</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전략목표·전략과제 수립 - W-O전략 : 기회요인 활용을 위한 역량확보</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약점과 기회요인을 결합하여 기회요인을 활용하기 위해 필요한 역량과 자원을 확보하는 W-O 기회를 위한 역량과</a:t>
            </a:r>
            <a:br/>
            <a:r>
              <a:t>자산 확보 전략 과제를 다음과 같이 도출함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 | Page 152</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전략목표·전략과제 수립 - W-T전략</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약점과 위협요인을 결합하여 위험을 회피하거나 최소화하기 위한 W-T 개선과 혁신 전략 과제를 다음과 같이 도출함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Ⅲ. 가치체계·전략체계 재정립 | Page 153</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전략목표·전략과제 수립 - 사업영역별 전략목표 도출 (1/6)</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전략방향성과 SWOT 분석을 통해 도출된 전략과제에 기반하여 해양보전사업 부문 전략목표를 ‘협력적 해양환경관리 강화'로 아래와 같이 도출하고 해당 전략과제를 선정함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Ⅲ. 가치체계·전략체계 재정립 | Page 154</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전략목표·전략과제 수립 - 사업영역별 전략목표 도출 (2/6)</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전략방향성과 SWOT 분석을 통해 도출된 전략과제에 기반하여 해양방제사업 부문 전략목표를 ‘국민안심 통합 해양방제역량 강화'로 아래와 같이 도출하고 해당 전략과제를 선정함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154 | Page 155</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전략목표·전략과제 수립 - 사업영역별 전략목표 도출 (3/6)</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전략방향성과 SWOT 분석을 통해 도출된 전략과제에 기반하여 해양사업 부문의 전략목표를 ‘해양사업 공공성 강화'로 아래와 같이 도출하고 해당 전략과제를 선정함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155 | Page 156</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전략목표·전략과제 수립 - 사업영역별 전략목표 도출 (4/6)</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전략방향성과 SWOT 분석을 통해 도출된 전략과제에 기반하여 신규 영역으로 부서를 신설할 해양환경자원화 부문 전략목표를 '해양환경 이용·향유 증진'으로 아래와 같이 도출하고 해당 전략과제를 선정함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None | Page 157</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전략목표·전략과제 수립 - 사업영역별 전략목표 도출 (5/6)</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전략방향성과 SWOT 분석을 통해 도출된 전략과제에 기반하여 신규 영역으로 부서를 신설할 해양기후변화대응 부문의 전략목표를 ‘해양 기후변화대응 주도'로 아래와 같이 도출하고 해당 전략과제를 선정함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158</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전략목표·전략과제 수립 - 사업영역별 전략목표 도출 (6/6)</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전략방향성과 SWOT 분석을 통해 도출된 전략과제에 기반한 미래사업 및 정책기능 부문 전략목표를 ‘해양환경 정책 네트워크 강화'로 아래와 같이 도출하고 해당 전략과제를 선정함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159</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전략목표·전략과제 수립 - 경영관리 전략목표 도출 (1/2)</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전략방향성과 SWOT 분석을 통해 도출된 전략과제에 기반하여 경영관리 부문의 전략목표를 ‘지속가능 성장 기반 확보'로 아래와 같이 도출하고 해당 전략과제를 선정함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 | Page 160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전략목표·전략과제 수립 - 경영관리 전략목표 도출 (2/2)</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전략방향성과 SWOT 분석을 통해 도출된 전략과제에 기반하여 사회적가치 실현 선도 영역의 전략목표를 ‘건강한 일터에서 건강한 가치 창출'로 아래와 같이 도출하고 해당 전략과제를 선정함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전략 방향성</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1. 해양 방제 기본역량 강화</a:t>
            </a:r>
          </a:p>
        </p:txBody>
      </p:sp>
      <p:sp>
        <p:nvSpPr>
          <p:cNvPr id="6" name="TextBox 5"/>
          <p:cNvSpPr txBox="1"/>
          <p:nvPr/>
        </p:nvSpPr>
        <p:spPr>
          <a:xfrm>
            <a:off x="457200" y="2148840"/>
            <a:ext cx="8229600" cy="228600"/>
          </a:xfrm>
          <a:prstGeom prst="rect">
            <a:avLst/>
          </a:prstGeom>
          <a:noFill/>
        </p:spPr>
        <p:txBody>
          <a:bodyPr wrap="square">
            <a:spAutoFit/>
          </a:bodyPr>
          <a:lstStyle/>
          <a:p>
            <a:pPr algn="l">
              <a:defRPr sz="1000" b="0">
                <a:latin typeface="Malgun Gothic"/>
              </a:defRPr>
            </a:pPr>
            <a:r>
              <a:t>2. 공적기능과 공공성 강화</a:t>
            </a:r>
          </a:p>
        </p:txBody>
      </p:sp>
      <p:sp>
        <p:nvSpPr>
          <p:cNvPr id="7" name="TextBox 6"/>
          <p:cNvSpPr txBox="1"/>
          <p:nvPr/>
        </p:nvSpPr>
        <p:spPr>
          <a:xfrm>
            <a:off x="457200" y="2468880"/>
            <a:ext cx="8229600" cy="228600"/>
          </a:xfrm>
          <a:prstGeom prst="rect">
            <a:avLst/>
          </a:prstGeom>
          <a:noFill/>
        </p:spPr>
        <p:txBody>
          <a:bodyPr wrap="square">
            <a:spAutoFit/>
          </a:bodyPr>
          <a:lstStyle/>
          <a:p>
            <a:pPr algn="l">
              <a:defRPr sz="1000" b="0">
                <a:latin typeface="Malgun Gothic"/>
              </a:defRPr>
            </a:pPr>
            <a:r>
              <a:t>3. 해양생태 통합관리체계 확장</a:t>
            </a:r>
          </a:p>
        </p:txBody>
      </p:sp>
      <p:sp>
        <p:nvSpPr>
          <p:cNvPr id="8" name="TextBox 7"/>
          <p:cNvSpPr txBox="1"/>
          <p:nvPr/>
        </p:nvSpPr>
        <p:spPr>
          <a:xfrm>
            <a:off x="457200" y="2788920"/>
            <a:ext cx="8229600" cy="228600"/>
          </a:xfrm>
          <a:prstGeom prst="rect">
            <a:avLst/>
          </a:prstGeom>
          <a:noFill/>
        </p:spPr>
        <p:txBody>
          <a:bodyPr wrap="square">
            <a:spAutoFit/>
          </a:bodyPr>
          <a:lstStyle/>
          <a:p>
            <a:pPr algn="l">
              <a:defRPr sz="1000" b="0">
                <a:latin typeface="Malgun Gothic"/>
              </a:defRPr>
            </a:pPr>
            <a:r>
              <a:t>4. 해양폐기물 정화·관리체계 강화</a:t>
            </a:r>
          </a:p>
        </p:txBody>
      </p:sp>
      <p:sp>
        <p:nvSpPr>
          <p:cNvPr id="9" name="TextBox 8"/>
          <p:cNvSpPr txBox="1"/>
          <p:nvPr/>
        </p:nvSpPr>
        <p:spPr>
          <a:xfrm>
            <a:off x="457200" y="3108960"/>
            <a:ext cx="8229600" cy="228600"/>
          </a:xfrm>
          <a:prstGeom prst="rect">
            <a:avLst/>
          </a:prstGeom>
          <a:noFill/>
        </p:spPr>
        <p:txBody>
          <a:bodyPr wrap="square">
            <a:spAutoFit/>
          </a:bodyPr>
          <a:lstStyle/>
          <a:p>
            <a:pPr algn="l">
              <a:defRPr sz="1000" b="0">
                <a:latin typeface="Malgun Gothic"/>
              </a:defRPr>
            </a:pPr>
            <a:r>
              <a:t>5. 해양환경변화 예측역량 강화</a:t>
            </a:r>
          </a:p>
        </p:txBody>
      </p:sp>
      <p:sp>
        <p:nvSpPr>
          <p:cNvPr id="10" name="TextBox 9"/>
          <p:cNvSpPr txBox="1"/>
          <p:nvPr/>
        </p:nvSpPr>
        <p:spPr>
          <a:xfrm>
            <a:off x="457200" y="3429000"/>
            <a:ext cx="8229600" cy="228600"/>
          </a:xfrm>
          <a:prstGeom prst="rect">
            <a:avLst/>
          </a:prstGeom>
          <a:noFill/>
        </p:spPr>
        <p:txBody>
          <a:bodyPr wrap="square">
            <a:spAutoFit/>
          </a:bodyPr>
          <a:lstStyle/>
          <a:p>
            <a:pPr algn="l">
              <a:defRPr sz="1000" b="0">
                <a:latin typeface="Malgun Gothic"/>
              </a:defRPr>
            </a:pPr>
            <a:r>
              <a:t>6. 해양환경 정책기능 강화</a:t>
            </a:r>
          </a:p>
        </p:txBody>
      </p:sp>
      <p:sp>
        <p:nvSpPr>
          <p:cNvPr id="11" name="TextBox 10"/>
          <p:cNvSpPr txBox="1"/>
          <p:nvPr/>
        </p:nvSpPr>
        <p:spPr>
          <a:xfrm>
            <a:off x="457200" y="3749040"/>
            <a:ext cx="8229600" cy="228600"/>
          </a:xfrm>
          <a:prstGeom prst="rect">
            <a:avLst/>
          </a:prstGeom>
          <a:noFill/>
        </p:spPr>
        <p:txBody>
          <a:bodyPr wrap="square">
            <a:spAutoFit/>
          </a:bodyPr>
          <a:lstStyle/>
          <a:p>
            <a:pPr algn="l">
              <a:defRPr sz="1000" b="0">
                <a:latin typeface="Malgun Gothic"/>
              </a:defRPr>
            </a:pPr>
            <a:r>
              <a:t>7. 미래성장사업 규모의 경제 실현</a:t>
            </a:r>
          </a:p>
        </p:txBody>
      </p:sp>
      <p:sp>
        <p:nvSpPr>
          <p:cNvPr id="12" name="TextBox 11"/>
          <p:cNvSpPr txBox="1"/>
          <p:nvPr/>
        </p:nvSpPr>
        <p:spPr>
          <a:xfrm>
            <a:off x="457200" y="4069080"/>
            <a:ext cx="8229600" cy="228600"/>
          </a:xfrm>
          <a:prstGeom prst="rect">
            <a:avLst/>
          </a:prstGeom>
          <a:noFill/>
        </p:spPr>
        <p:txBody>
          <a:bodyPr wrap="square">
            <a:spAutoFit/>
          </a:bodyPr>
          <a:lstStyle/>
          <a:p>
            <a:pPr algn="l">
              <a:defRPr sz="1000" b="0">
                <a:latin typeface="Malgun Gothic"/>
              </a:defRPr>
            </a:pPr>
            <a:r>
              <a:t>8. 해양환경 국민 플랫폼으로 성장</a:t>
            </a:r>
          </a:p>
        </p:txBody>
      </p:sp>
      <p:sp>
        <p:nvSpPr>
          <p:cNvPr id="13" name="TextBox 12"/>
          <p:cNvSpPr txBox="1"/>
          <p:nvPr/>
        </p:nvSpPr>
        <p:spPr>
          <a:xfrm>
            <a:off x="457200" y="4389120"/>
            <a:ext cx="8229600" cy="228600"/>
          </a:xfrm>
          <a:prstGeom prst="rect">
            <a:avLst/>
          </a:prstGeom>
          <a:noFill/>
        </p:spPr>
        <p:txBody>
          <a:bodyPr wrap="square">
            <a:spAutoFit/>
          </a:bodyPr>
          <a:lstStyle/>
          <a:p>
            <a:pPr algn="l">
              <a:defRPr sz="1000" b="0">
                <a:latin typeface="Malgun Gothic"/>
              </a:defRPr>
            </a:pPr>
            <a:r>
              <a:t>9. 해양 신산업 육성 기반조성</a:t>
            </a:r>
          </a:p>
        </p:txBody>
      </p:sp>
      <p:sp>
        <p:nvSpPr>
          <p:cNvPr id="14" name="TextBox 13"/>
          <p:cNvSpPr txBox="1"/>
          <p:nvPr/>
        </p:nvSpPr>
        <p:spPr>
          <a:xfrm>
            <a:off x="457200" y="4709160"/>
            <a:ext cx="8229600" cy="228600"/>
          </a:xfrm>
          <a:prstGeom prst="rect">
            <a:avLst/>
          </a:prstGeom>
          <a:noFill/>
        </p:spPr>
        <p:txBody>
          <a:bodyPr wrap="square">
            <a:spAutoFit/>
          </a:bodyPr>
          <a:lstStyle/>
          <a:p>
            <a:pPr algn="l">
              <a:defRPr sz="1000" b="0">
                <a:latin typeface="Malgun Gothic"/>
              </a:defRPr>
            </a:pPr>
            <a:r>
              <a:t>10. 해양 기후변화·탄소중립 주도</a:t>
            </a:r>
          </a:p>
        </p:txBody>
      </p:sp>
      <p:sp>
        <p:nvSpPr>
          <p:cNvPr id="15" name="TextBox 14"/>
          <p:cNvSpPr txBox="1"/>
          <p:nvPr/>
        </p:nvSpPr>
        <p:spPr>
          <a:xfrm>
            <a:off x="457200" y="5029200"/>
            <a:ext cx="8229600" cy="274320"/>
          </a:xfrm>
          <a:prstGeom prst="rect">
            <a:avLst/>
          </a:prstGeom>
          <a:noFill/>
        </p:spPr>
        <p:txBody>
          <a:bodyPr wrap="square">
            <a:spAutoFit/>
          </a:bodyPr>
          <a:lstStyle/>
          <a:p>
            <a:pPr algn="l">
              <a:defRPr sz="1200" b="1">
                <a:solidFill>
                  <a:srgbClr val="003366"/>
                </a:solidFill>
                <a:latin typeface="Malgun Gothic"/>
              </a:defRPr>
            </a:pPr>
            <a:r>
              <a:t>SWOT 분석 도출 전략과제</a:t>
            </a:r>
          </a:p>
        </p:txBody>
      </p:sp>
      <p:sp>
        <p:nvSpPr>
          <p:cNvPr id="16" name="TextBox 15"/>
          <p:cNvSpPr txBox="1"/>
          <p:nvPr/>
        </p:nvSpPr>
        <p:spPr>
          <a:xfrm>
            <a:off x="457200" y="5394960"/>
            <a:ext cx="8229600" cy="228600"/>
          </a:xfrm>
          <a:prstGeom prst="rect">
            <a:avLst/>
          </a:prstGeom>
          <a:noFill/>
        </p:spPr>
        <p:txBody>
          <a:bodyPr wrap="square">
            <a:spAutoFit/>
          </a:bodyPr>
          <a:lstStyle/>
          <a:p>
            <a:pPr algn="l">
              <a:defRPr sz="1000" b="0">
                <a:latin typeface="Malgun Gothic"/>
              </a:defRPr>
            </a:pPr>
            <a:r>
              <a:t>지역 해양환경 개선사업 발굴·추진 확대</a:t>
            </a:r>
          </a:p>
        </p:txBody>
      </p:sp>
      <p:sp>
        <p:nvSpPr>
          <p:cNvPr id="17" name="TextBox 16"/>
          <p:cNvSpPr txBox="1"/>
          <p:nvPr/>
        </p:nvSpPr>
        <p:spPr>
          <a:xfrm>
            <a:off x="457200" y="5715000"/>
            <a:ext cx="8229600" cy="228600"/>
          </a:xfrm>
          <a:prstGeom prst="rect">
            <a:avLst/>
          </a:prstGeom>
          <a:noFill/>
        </p:spPr>
        <p:txBody>
          <a:bodyPr wrap="square">
            <a:spAutoFit/>
          </a:bodyPr>
          <a:lstStyle/>
          <a:p>
            <a:pPr algn="l">
              <a:defRPr sz="1000" b="0">
                <a:latin typeface="Malgun Gothic"/>
              </a:defRPr>
            </a:pPr>
            <a:r>
              <a:t>해안·어촌 활성화 뉴딜 사업 발굴, 추진</a:t>
            </a:r>
          </a:p>
        </p:txBody>
      </p:sp>
      <p:sp>
        <p:nvSpPr>
          <p:cNvPr id="18" name="TextBox 17"/>
          <p:cNvSpPr txBox="1"/>
          <p:nvPr/>
        </p:nvSpPr>
        <p:spPr>
          <a:xfrm>
            <a:off x="457200" y="6035040"/>
            <a:ext cx="8229600" cy="228600"/>
          </a:xfrm>
          <a:prstGeom prst="rect">
            <a:avLst/>
          </a:prstGeom>
          <a:noFill/>
        </p:spPr>
        <p:txBody>
          <a:bodyPr wrap="square">
            <a:spAutoFit/>
          </a:bodyPr>
          <a:lstStyle/>
          <a:p>
            <a:pPr algn="l">
              <a:defRPr sz="1000" b="0">
                <a:latin typeface="Malgun Gothic"/>
              </a:defRPr>
            </a:pPr>
            <a:r>
              <a:t>해양환경 국민참여 통합 플랫폼 구축·육성</a:t>
            </a:r>
          </a:p>
        </p:txBody>
      </p:sp>
      <p:sp>
        <p:nvSpPr>
          <p:cNvPr id="19" name="TextBox 18"/>
          <p:cNvSpPr txBox="1"/>
          <p:nvPr/>
        </p:nvSpPr>
        <p:spPr>
          <a:xfrm>
            <a:off x="457200" y="6355080"/>
            <a:ext cx="8229600" cy="228600"/>
          </a:xfrm>
          <a:prstGeom prst="rect">
            <a:avLst/>
          </a:prstGeom>
          <a:noFill/>
        </p:spPr>
        <p:txBody>
          <a:bodyPr wrap="square">
            <a:spAutoFit/>
          </a:bodyPr>
          <a:lstStyle/>
          <a:p>
            <a:pPr algn="l">
              <a:defRPr sz="1000" b="0">
                <a:latin typeface="Malgun Gothic"/>
              </a:defRPr>
            </a:pPr>
            <a:r>
              <a:t>윤리경영 시스템 고도화</a:t>
            </a:r>
          </a:p>
        </p:txBody>
      </p:sp>
      <p:sp>
        <p:nvSpPr>
          <p:cNvPr id="20" name="TextBox 19"/>
          <p:cNvSpPr txBox="1"/>
          <p:nvPr/>
        </p:nvSpPr>
        <p:spPr>
          <a:xfrm>
            <a:off x="457200" y="6675120"/>
            <a:ext cx="8229600" cy="228600"/>
          </a:xfrm>
          <a:prstGeom prst="rect">
            <a:avLst/>
          </a:prstGeom>
          <a:noFill/>
        </p:spPr>
        <p:txBody>
          <a:bodyPr wrap="square">
            <a:spAutoFit/>
          </a:bodyPr>
          <a:lstStyle/>
          <a:p>
            <a:pPr algn="l">
              <a:defRPr sz="1000" b="0">
                <a:latin typeface="Malgun Gothic"/>
              </a:defRPr>
            </a:pPr>
            <a:r>
              <a:t>해양재난 예방 및 대응체계 고도화</a:t>
            </a:r>
          </a:p>
        </p:txBody>
      </p:sp>
      <p:sp>
        <p:nvSpPr>
          <p:cNvPr id="21" name="TextBox 20"/>
          <p:cNvSpPr txBox="1"/>
          <p:nvPr/>
        </p:nvSpPr>
        <p:spPr>
          <a:xfrm>
            <a:off x="457200" y="6995160"/>
            <a:ext cx="8229600" cy="228600"/>
          </a:xfrm>
          <a:prstGeom prst="rect">
            <a:avLst/>
          </a:prstGeom>
          <a:noFill/>
        </p:spPr>
        <p:txBody>
          <a:bodyPr wrap="square">
            <a:spAutoFit/>
          </a:bodyPr>
          <a:lstStyle/>
          <a:p>
            <a:pPr algn="l">
              <a:defRPr sz="1000" b="0">
                <a:latin typeface="Malgun Gothic"/>
              </a:defRPr>
            </a:pPr>
            <a:r>
              <a:t>공단 관리사업 안전관리 확대 적용</a:t>
            </a:r>
          </a:p>
        </p:txBody>
      </p:sp>
      <p:sp>
        <p:nvSpPr>
          <p:cNvPr id="22" name="TextBox 21"/>
          <p:cNvSpPr txBox="1"/>
          <p:nvPr/>
        </p:nvSpPr>
        <p:spPr>
          <a:xfrm>
            <a:off x="457200" y="7315200"/>
            <a:ext cx="8229600" cy="274320"/>
          </a:xfrm>
          <a:prstGeom prst="rect">
            <a:avLst/>
          </a:prstGeom>
          <a:noFill/>
        </p:spPr>
        <p:txBody>
          <a:bodyPr wrap="square">
            <a:spAutoFit/>
          </a:bodyPr>
          <a:lstStyle/>
          <a:p>
            <a:pPr algn="l">
              <a:defRPr sz="1200" b="1">
                <a:solidFill>
                  <a:srgbClr val="003366"/>
                </a:solidFill>
                <a:latin typeface="Malgun Gothic"/>
              </a:defRPr>
            </a:pPr>
            <a:r>
              <a:t>사회적가치 전략목표</a:t>
            </a:r>
          </a:p>
        </p:txBody>
      </p:sp>
      <p:sp>
        <p:nvSpPr>
          <p:cNvPr id="23" name="TextBox 22"/>
          <p:cNvSpPr txBox="1"/>
          <p:nvPr/>
        </p:nvSpPr>
        <p:spPr>
          <a:xfrm>
            <a:off x="457200" y="7680960"/>
            <a:ext cx="8229600" cy="228600"/>
          </a:xfrm>
          <a:prstGeom prst="rect">
            <a:avLst/>
          </a:prstGeom>
          <a:noFill/>
        </p:spPr>
        <p:txBody>
          <a:bodyPr wrap="square">
            <a:spAutoFit/>
          </a:bodyPr>
          <a:lstStyle/>
          <a:p>
            <a:pPr algn="l">
              <a:defRPr sz="1000" b="0">
                <a:latin typeface="Malgun Gothic"/>
              </a:defRPr>
            </a:pPr>
            <a:r>
              <a:t>사람중심 안전·혁신 경영</a:t>
            </a:r>
          </a:p>
        </p:txBody>
      </p:sp>
      <p:sp>
        <p:nvSpPr>
          <p:cNvPr id="24" name="TextBox 23"/>
          <p:cNvSpPr txBox="1"/>
          <p:nvPr/>
        </p:nvSpPr>
        <p:spPr>
          <a:xfrm>
            <a:off x="457200" y="8001000"/>
            <a:ext cx="8229600" cy="228600"/>
          </a:xfrm>
          <a:prstGeom prst="rect">
            <a:avLst/>
          </a:prstGeom>
          <a:noFill/>
        </p:spPr>
        <p:txBody>
          <a:bodyPr wrap="square">
            <a:spAutoFit/>
          </a:bodyPr>
          <a:lstStyle/>
          <a:p>
            <a:pPr algn="l">
              <a:defRPr sz="1000" b="0">
                <a:latin typeface="Malgun Gothic"/>
              </a:defRPr>
            </a:pPr>
            <a:r>
              <a:t>상생협력 공정경제 생태계 조성</a:t>
            </a:r>
          </a:p>
        </p:txBody>
      </p:sp>
      <p:sp>
        <p:nvSpPr>
          <p:cNvPr id="25" name="TextBox 24"/>
          <p:cNvSpPr txBox="1"/>
          <p:nvPr/>
        </p:nvSpPr>
        <p:spPr>
          <a:xfrm>
            <a:off x="457200" y="8321040"/>
            <a:ext cx="8229600" cy="228600"/>
          </a:xfrm>
          <a:prstGeom prst="rect">
            <a:avLst/>
          </a:prstGeom>
          <a:noFill/>
        </p:spPr>
        <p:txBody>
          <a:bodyPr wrap="square">
            <a:spAutoFit/>
          </a:bodyPr>
          <a:lstStyle/>
          <a:p>
            <a:pPr algn="l">
              <a:defRPr sz="1000" b="0">
                <a:latin typeface="Malgun Gothic"/>
              </a:defRPr>
            </a:pPr>
            <a:r>
              <a:t>건강하고 안전한 근로환경 제공</a:t>
            </a:r>
          </a:p>
        </p:txBody>
      </p:sp>
      <p:sp>
        <p:nvSpPr>
          <p:cNvPr id="26" name="TextBox 25"/>
          <p:cNvSpPr txBox="1"/>
          <p:nvPr/>
        </p:nvSpPr>
        <p:spPr>
          <a:xfrm>
            <a:off x="457200" y="8641080"/>
            <a:ext cx="8229600" cy="228600"/>
          </a:xfrm>
          <a:prstGeom prst="rect">
            <a:avLst/>
          </a:prstGeom>
          <a:noFill/>
        </p:spPr>
        <p:txBody>
          <a:bodyPr wrap="square">
            <a:spAutoFit/>
          </a:bodyPr>
          <a:lstStyle/>
          <a:p>
            <a:pPr algn="l">
              <a:defRPr sz="1000" b="0">
                <a:latin typeface="Malgun Gothic"/>
              </a:defRPr>
            </a:pPr>
            <a:r>
              <a:t>투명한 경영으로 공정한 기회 보장</a:t>
            </a:r>
          </a:p>
        </p:txBody>
      </p:sp>
      <p:sp>
        <p:nvSpPr>
          <p:cNvPr id="27" name="TextBox 26"/>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 | Page 161</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전략목표·전략과제 수립 - 사업영역별 전략목표 도출</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공단의 현재 및 미래 사업영역별 전략목표와 해당 전략과제를 아래와 같이 도출함 (추가 전략과제 후보群 포함)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사업목표별 전략목표 도출</a:t>
            </a:r>
          </a:p>
        </p:txBody>
      </p:sp>
      <p:sp>
        <p:nvSpPr>
          <p:cNvPr id="5" name="TextBox 4"/>
          <p:cNvSpPr txBox="1"/>
          <p:nvPr/>
        </p:nvSpPr>
        <p:spPr>
          <a:xfrm>
            <a:off x="457200" y="1828800"/>
            <a:ext cx="8229600" cy="4343400"/>
          </a:xfrm>
          <a:prstGeom prst="rect">
            <a:avLst/>
          </a:prstGeom>
          <a:noFill/>
        </p:spPr>
        <p:txBody>
          <a:bodyPr wrap="square">
            <a:spAutoFit/>
          </a:bodyPr>
          <a:lstStyle/>
          <a:p>
            <a:pPr algn="l">
              <a:defRPr sz="900" b="0">
                <a:latin typeface="Malgun Gothic"/>
              </a:defRPr>
            </a:pPr>
            <a:r>
              <a:t>[TABLE]</a:t>
            </a:r>
            <a:br/>
            <a:r>
              <a:t>사업영역	해양보전	해양방제	해양사업	미래전략</a:t>
            </a:r>
            <a:br/>
            <a:r>
              <a:t>전략목표	건강한 해양생태계 보전	안전한 해양환경 수호	해양사업 공공성 강화	해양환경 네트워크 중심</a:t>
            </a:r>
            <a:br/>
            <a:r>
              <a:t>전략과제	• 해양환경 통합 Solution 제공</a:t>
            </a:r>
            <a:br/>
            <a:r>
              <a:t>• 해양폐기물 선순환 체계 구축</a:t>
            </a:r>
            <a:br/>
            <a:r>
              <a:t>• 해양환경 국민참여 강화</a:t>
            </a:r>
            <a:br/>
            <a:r>
              <a:t>• 지자체 협력 해양보전사업 강화</a:t>
            </a:r>
            <a:br/>
            <a:r>
              <a:t>• 국민친화적 조사연구 확대	• SMART 해양사고 대응역량 강화</a:t>
            </a:r>
            <a:br/>
            <a:r>
              <a:t>• 협력적 해양오염 예방·대응 체계화</a:t>
            </a:r>
            <a:br/>
            <a:r>
              <a:t>• 해양오염 예측·대응능력 증진</a:t>
            </a:r>
            <a:br/>
            <a:r>
              <a:t>• 위험유해물질(HNS) 방제역량 확보</a:t>
            </a:r>
            <a:br/>
            <a:r>
              <a:t>• 해양방제 분석·연구기능 강화	• 해양사업 공익우선 운영 확대</a:t>
            </a:r>
            <a:br/>
            <a:r>
              <a:t>• 상생기반 해양사업 효율성 제고</a:t>
            </a:r>
            <a:br/>
            <a:r>
              <a:t>• 예선사업 지속가능 체계 구축</a:t>
            </a:r>
            <a:br/>
            <a:r>
              <a:t>• 공익성 확보 수익사업 발굴</a:t>
            </a:r>
            <a:br/>
            <a:r>
              <a:t>• 골재채취단지 친환경관리 체계화	• 해양정책 협력 네트워크 구축</a:t>
            </a:r>
            <a:br/>
            <a:r>
              <a:t>• 해양환경 국민 플랫폼 육성</a:t>
            </a:r>
            <a:br/>
            <a:r>
              <a:t>• 미래사업 연속성·수익성 확보</a:t>
            </a:r>
            <a:br/>
            <a:r>
              <a:t>• 해양 그린뉴딜 사업 선도</a:t>
            </a:r>
            <a:br/>
            <a:r>
              <a:t>• 신성장사업 발굴·육성 강화</a:t>
            </a:r>
            <a:br/>
            <a:r>
              <a:t>사업영역	해양환경자원화	해양기후변화대응	경영관리	사회적가치</a:t>
            </a:r>
            <a:br/>
            <a:r>
              <a:t>전략목표	국민의 해양 이용·향유 증진	해양 기후변화대응 주도	지속가능 성장기반 확보	사람중심 안전·혁신 경영</a:t>
            </a:r>
            <a:br/>
            <a:r>
              <a:t>전략과제	• 해양환경 자원화사업 확대</a:t>
            </a:r>
            <a:br/>
            <a:r>
              <a:t>• 해양공간계획 관리체계 구축</a:t>
            </a:r>
            <a:br/>
            <a:r>
              <a:t>• 해양 이용·향유산업 기반조성</a:t>
            </a:r>
            <a:br/>
            <a:r>
              <a:t>• 해상 환경·생태공원 사업화</a:t>
            </a:r>
            <a:br/>
            <a:r>
              <a:t>• 해양에너지 친환경 개발 지원	• 해양 기후변화대응 협력체 구축</a:t>
            </a:r>
            <a:br/>
            <a:r>
              <a:t>• 해양 기후변화대응 체계 수립</a:t>
            </a:r>
            <a:br/>
            <a:r>
              <a:t>• 해양 탄소중립 이행기반 마련</a:t>
            </a:r>
            <a:br/>
            <a:r>
              <a:t>• 해양 대기오염 관리체계 구축</a:t>
            </a:r>
            <a:br/>
            <a:r>
              <a:t>• 블루카본 연관사업 발굴·육성	• 사업구조 및 재무건전성 제고</a:t>
            </a:r>
            <a:br/>
            <a:r>
              <a:t>• 인재육성을 통한 전문성 강화</a:t>
            </a:r>
            <a:br/>
            <a:r>
              <a:t>• 데이터 기반 의사결정 체계화</a:t>
            </a:r>
            <a:br/>
            <a:r>
              <a:t>• 디지털전환(DT) 추진 구체화</a:t>
            </a:r>
            <a:br/>
            <a:r>
              <a:t>• 지속성장을 위한 재무자원 확보	• 상생협력 공정경제 생태계 조성</a:t>
            </a:r>
            <a:br/>
            <a:r>
              <a:t>• 건강하고 안전한 근로환경 제공</a:t>
            </a:r>
            <a:br/>
            <a:r>
              <a:t>• 투명한 경영으로 공정한 기회 보장</a:t>
            </a:r>
            <a:br/>
            <a:r>
              <a:t>• 청렴·윤리경영 조직문화 정착</a:t>
            </a:r>
            <a:br/>
            <a:r>
              <a:t>• 해양환경 사회적경제 육성 지원</a:t>
            </a:r>
          </a:p>
        </p:txBody>
      </p:sp>
      <p:sp>
        <p:nvSpPr>
          <p:cNvPr id="6" name="TextBox 5"/>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161 | Page 162</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전략목표·전략과제 수립 - 전략체계도(단기)</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가치체계, 전략목표 및 전략과제 안을 결합한 전략체계도를 아래와 같이 재정립함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162 | Page 163</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전략목표·전략과제 수립 - 전략체계도 후보 (장기案)</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가치체계와 확장된 전략목표 및 전략과제를 결합한 전략체계도 장기 추천案을 아래와 같이 제시함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Ⅲ. 가치체계·전략체계 재정립 | Page 164</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전략목표·전략과제 수립 - 세부실행과제 수립 및 신사업 발굴 (1/2)</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전략목표 달성을 위한 전략과제별 세부실행과제와 우선투자 및 집중육성 미래성장사업을 아래와 같이 수립함</a:t>
            </a:r>
          </a:p>
        </p:txBody>
      </p:sp>
      <p:sp>
        <p:nvSpPr>
          <p:cNvPr id="4" name="Rectangle 3"/>
          <p:cNvSpPr/>
          <p:nvPr/>
        </p:nvSpPr>
        <p:spPr>
          <a:xfrm>
            <a:off x="45720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5" name="TextBox 4"/>
          <p:cNvSpPr txBox="1"/>
          <p:nvPr/>
        </p:nvSpPr>
        <p:spPr>
          <a:xfrm>
            <a:off x="54864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6" name="Rectangle 5"/>
          <p:cNvSpPr/>
          <p:nvPr/>
        </p:nvSpPr>
        <p:spPr>
          <a:xfrm>
            <a:off x="323088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7" name="TextBox 6"/>
          <p:cNvSpPr txBox="1"/>
          <p:nvPr/>
        </p:nvSpPr>
        <p:spPr>
          <a:xfrm>
            <a:off x="332232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8" name="Rectangle 7"/>
          <p:cNvSpPr/>
          <p:nvPr/>
        </p:nvSpPr>
        <p:spPr>
          <a:xfrm>
            <a:off x="600456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9" name="TextBox 8"/>
          <p:cNvSpPr txBox="1"/>
          <p:nvPr/>
        </p:nvSpPr>
        <p:spPr>
          <a:xfrm>
            <a:off x="609600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0" name="TextBox 9"/>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Strategic Initiatives</a:t>
            </a:r>
          </a:p>
        </p:txBody>
      </p:sp>
      <p:sp>
        <p:nvSpPr>
          <p:cNvPr id="11" name="TextBox 10"/>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Strategic Task</a:t>
            </a:r>
          </a:p>
        </p:txBody>
      </p:sp>
      <p:sp>
        <p:nvSpPr>
          <p:cNvPr id="12" name="TextBox 11"/>
          <p:cNvSpPr txBox="1"/>
          <p:nvPr/>
        </p:nvSpPr>
        <p:spPr>
          <a:xfrm>
            <a:off x="457200" y="2148840"/>
            <a:ext cx="8229600" cy="457200"/>
          </a:xfrm>
          <a:prstGeom prst="rect">
            <a:avLst/>
          </a:prstGeom>
          <a:noFill/>
        </p:spPr>
        <p:txBody>
          <a:bodyPr wrap="square">
            <a:spAutoFit/>
          </a:bodyPr>
          <a:lstStyle/>
          <a:p>
            <a:pPr algn="l">
              <a:defRPr sz="1000" b="0">
                <a:latin typeface="Malgun Gothic"/>
              </a:defRPr>
            </a:pPr>
            <a:r>
              <a:t>1. Providing Integrated Marine Environment Solutions</a:t>
            </a:r>
          </a:p>
        </p:txBody>
      </p:sp>
      <p:sp>
        <p:nvSpPr>
          <p:cNvPr id="13" name="TextBox 12"/>
          <p:cNvSpPr txBox="1"/>
          <p:nvPr/>
        </p:nvSpPr>
        <p:spPr>
          <a:xfrm>
            <a:off x="457200" y="2697480"/>
            <a:ext cx="8229600" cy="457200"/>
          </a:xfrm>
          <a:prstGeom prst="rect">
            <a:avLst/>
          </a:prstGeom>
          <a:noFill/>
        </p:spPr>
        <p:txBody>
          <a:bodyPr wrap="square">
            <a:spAutoFit/>
          </a:bodyPr>
          <a:lstStyle/>
          <a:p>
            <a:pPr algn="l">
              <a:defRPr sz="1000" b="0">
                <a:latin typeface="Malgun Gothic"/>
              </a:defRPr>
            </a:pPr>
            <a:r>
              <a:t>2. Establishing a virtuous cycle system for marine waste</a:t>
            </a:r>
          </a:p>
        </p:txBody>
      </p:sp>
      <p:sp>
        <p:nvSpPr>
          <p:cNvPr id="14" name="TextBox 13"/>
          <p:cNvSpPr txBox="1"/>
          <p:nvPr/>
        </p:nvSpPr>
        <p:spPr>
          <a:xfrm>
            <a:off x="457200" y="3246120"/>
            <a:ext cx="8229600" cy="457200"/>
          </a:xfrm>
          <a:prstGeom prst="rect">
            <a:avLst/>
          </a:prstGeom>
          <a:noFill/>
        </p:spPr>
        <p:txBody>
          <a:bodyPr wrap="square">
            <a:spAutoFit/>
          </a:bodyPr>
          <a:lstStyle/>
          <a:p>
            <a:pPr algn="l">
              <a:defRPr sz="1000" b="0">
                <a:latin typeface="Malgun Gothic"/>
              </a:defRPr>
            </a:pPr>
            <a:r>
              <a:t>3. Strengthening public participation in the marine environment</a:t>
            </a:r>
          </a:p>
        </p:txBody>
      </p:sp>
      <p:sp>
        <p:nvSpPr>
          <p:cNvPr id="15" name="TextBox 14"/>
          <p:cNvSpPr txBox="1"/>
          <p:nvPr/>
        </p:nvSpPr>
        <p:spPr>
          <a:xfrm>
            <a:off x="457200" y="3794760"/>
            <a:ext cx="8229600" cy="457200"/>
          </a:xfrm>
          <a:prstGeom prst="rect">
            <a:avLst/>
          </a:prstGeom>
          <a:noFill/>
        </p:spPr>
        <p:txBody>
          <a:bodyPr wrap="square">
            <a:spAutoFit/>
          </a:bodyPr>
          <a:lstStyle/>
          <a:p>
            <a:pPr algn="l">
              <a:defRPr sz="1000" b="0">
                <a:latin typeface="Malgun Gothic"/>
              </a:defRPr>
            </a:pPr>
            <a:r>
              <a:t>4. Strengthening SMART marine accident response capabilities</a:t>
            </a:r>
          </a:p>
        </p:txBody>
      </p:sp>
      <p:sp>
        <p:nvSpPr>
          <p:cNvPr id="16" name="TextBox 15"/>
          <p:cNvSpPr txBox="1"/>
          <p:nvPr/>
        </p:nvSpPr>
        <p:spPr>
          <a:xfrm>
            <a:off x="457200" y="4343400"/>
            <a:ext cx="8229600" cy="457200"/>
          </a:xfrm>
          <a:prstGeom prst="rect">
            <a:avLst/>
          </a:prstGeom>
          <a:noFill/>
        </p:spPr>
        <p:txBody>
          <a:bodyPr wrap="square">
            <a:spAutoFit/>
          </a:bodyPr>
          <a:lstStyle/>
          <a:p>
            <a:pPr algn="l">
              <a:defRPr sz="1000" b="0">
                <a:latin typeface="Malgun Gothic"/>
              </a:defRPr>
            </a:pPr>
            <a:r>
              <a:t>5. Systematizing cooperative marine pollution prevention and response</a:t>
            </a:r>
          </a:p>
        </p:txBody>
      </p:sp>
      <p:sp>
        <p:nvSpPr>
          <p:cNvPr id="17" name="TextBox 16"/>
          <p:cNvSpPr txBox="1"/>
          <p:nvPr/>
        </p:nvSpPr>
        <p:spPr>
          <a:xfrm>
            <a:off x="457200" y="4892040"/>
            <a:ext cx="8229600" cy="457200"/>
          </a:xfrm>
          <a:prstGeom prst="rect">
            <a:avLst/>
          </a:prstGeom>
          <a:noFill/>
        </p:spPr>
        <p:txBody>
          <a:bodyPr wrap="square">
            <a:spAutoFit/>
          </a:bodyPr>
          <a:lstStyle/>
          <a:p>
            <a:pPr algn="l">
              <a:defRPr sz="1000" b="0">
                <a:latin typeface="Malgun Gothic"/>
              </a:defRPr>
            </a:pPr>
            <a:r>
              <a:t>6. Strengthening the publicness of marine projects</a:t>
            </a:r>
          </a:p>
        </p:txBody>
      </p:sp>
      <p:sp>
        <p:nvSpPr>
          <p:cNvPr id="18" name="TextBox 17"/>
          <p:cNvSpPr txBox="1"/>
          <p:nvPr/>
        </p:nvSpPr>
        <p:spPr>
          <a:xfrm>
            <a:off x="457200" y="5440680"/>
            <a:ext cx="8229600" cy="274320"/>
          </a:xfrm>
          <a:prstGeom prst="rect">
            <a:avLst/>
          </a:prstGeom>
          <a:noFill/>
        </p:spPr>
        <p:txBody>
          <a:bodyPr wrap="square">
            <a:spAutoFit/>
          </a:bodyPr>
          <a:lstStyle/>
          <a:p>
            <a:pPr algn="l">
              <a:defRPr sz="1200" b="1">
                <a:solidFill>
                  <a:srgbClr val="003366"/>
                </a:solidFill>
                <a:latin typeface="Malgun Gothic"/>
              </a:defRPr>
            </a:pPr>
            <a:r>
              <a:t>Detailed Implementation Tasks &amp; New Businesses</a:t>
            </a:r>
          </a:p>
        </p:txBody>
      </p:sp>
      <p:sp>
        <p:nvSpPr>
          <p:cNvPr id="19" name="TextBox 18"/>
          <p:cNvSpPr txBox="1"/>
          <p:nvPr/>
        </p:nvSpPr>
        <p:spPr>
          <a:xfrm>
            <a:off x="457200" y="5806440"/>
            <a:ext cx="8229600" cy="228600"/>
          </a:xfrm>
          <a:prstGeom prst="rect">
            <a:avLst/>
          </a:prstGeom>
          <a:noFill/>
        </p:spPr>
        <p:txBody>
          <a:bodyPr wrap="square">
            <a:spAutoFit/>
          </a:bodyPr>
          <a:lstStyle/>
          <a:p>
            <a:pPr algn="l">
              <a:defRPr sz="1000" b="0">
                <a:latin typeface="Malgun Gothic"/>
              </a:defRPr>
            </a:pPr>
            <a:r>
              <a:t>Detailed Implementation Tasks (80)</a:t>
            </a:r>
          </a:p>
        </p:txBody>
      </p:sp>
      <p:sp>
        <p:nvSpPr>
          <p:cNvPr id="20" name="TextBox 19"/>
          <p:cNvSpPr txBox="1"/>
          <p:nvPr/>
        </p:nvSpPr>
        <p:spPr>
          <a:xfrm>
            <a:off x="457200" y="6126480"/>
            <a:ext cx="8229600" cy="2971800"/>
          </a:xfrm>
          <a:prstGeom prst="rect">
            <a:avLst/>
          </a:prstGeom>
          <a:noFill/>
        </p:spPr>
        <p:txBody>
          <a:bodyPr wrap="square">
            <a:spAutoFit/>
          </a:bodyPr>
          <a:lstStyle/>
          <a:p>
            <a:pPr algn="l">
              <a:defRPr sz="1000" b="0">
                <a:latin typeface="Malgun Gothic"/>
              </a:defRPr>
            </a:pPr>
            <a:r>
              <a:t>Systematizing comprehensive national marine ecosystem surveys, removing and managing harmful marine organisms, restoring habitat functions and populations, operating marine environment and water quality measurement networks, operating marine environment quality control systems, establishing cooperative systems for measuring and monitoring marine radioactivity, expanding and strengthening the designation and management system of marine protected areas, strengthening tidal flat and estuarine ecosystem restoration projects, and strengthening the monitoring of persistent organic pollutants (9 implementation tasks)</a:t>
            </a:r>
          </a:p>
        </p:txBody>
      </p:sp>
      <p:sp>
        <p:nvSpPr>
          <p:cNvPr id="21" name="TextBox 20"/>
          <p:cNvSpPr txBox="1"/>
          <p:nvPr/>
        </p:nvSpPr>
        <p:spPr>
          <a:xfrm>
            <a:off x="457200" y="9189720"/>
            <a:ext cx="8229600" cy="1828800"/>
          </a:xfrm>
          <a:prstGeom prst="rect">
            <a:avLst/>
          </a:prstGeom>
          <a:noFill/>
        </p:spPr>
        <p:txBody>
          <a:bodyPr wrap="square">
            <a:spAutoFit/>
          </a:bodyPr>
          <a:lstStyle/>
          <a:p>
            <a:pPr algn="l">
              <a:defRPr sz="1000" b="0">
                <a:latin typeface="Malgun Gothic"/>
              </a:defRPr>
            </a:pPr>
            <a:r>
              <a:t>Strengthening the role of hubs for responding to marine waste, systematizing the timely collection of marine waste and waste oil, investigating and purifying contaminated areas and sedimentary deposits, systematizing the investigation and purification of submerged waste, and establishing a system for investigating the distribution of marine microplastics (5 implementation tasks)</a:t>
            </a:r>
          </a:p>
        </p:txBody>
      </p:sp>
      <p:sp>
        <p:nvSpPr>
          <p:cNvPr id="22" name="TextBox 21"/>
          <p:cNvSpPr txBox="1"/>
          <p:nvPr/>
        </p:nvSpPr>
        <p:spPr>
          <a:xfrm>
            <a:off x="457200" y="11109960"/>
            <a:ext cx="8229600" cy="914400"/>
          </a:xfrm>
          <a:prstGeom prst="rect">
            <a:avLst/>
          </a:prstGeom>
          <a:noFill/>
        </p:spPr>
        <p:txBody>
          <a:bodyPr wrap="square">
            <a:spAutoFit/>
          </a:bodyPr>
          <a:lstStyle/>
          <a:p>
            <a:pPr algn="l">
              <a:defRPr sz="1000" b="0">
                <a:latin typeface="Malgun Gothic"/>
              </a:defRPr>
            </a:pPr>
            <a:r>
              <a:t>Establishing an integrated marine environment information management system and promoting public marine environment education (2 implementation tasks)</a:t>
            </a:r>
          </a:p>
        </p:txBody>
      </p:sp>
      <p:sp>
        <p:nvSpPr>
          <p:cNvPr id="23" name="TextBox 22"/>
          <p:cNvSpPr txBox="1"/>
          <p:nvPr/>
        </p:nvSpPr>
        <p:spPr>
          <a:xfrm>
            <a:off x="457200" y="12115800"/>
            <a:ext cx="8229600" cy="2743200"/>
          </a:xfrm>
          <a:prstGeom prst="rect">
            <a:avLst/>
          </a:prstGeom>
          <a:noFill/>
        </p:spPr>
        <p:txBody>
          <a:bodyPr wrap="square">
            <a:spAutoFit/>
          </a:bodyPr>
          <a:lstStyle/>
          <a:p>
            <a:pPr algn="l">
              <a:defRPr sz="1000" b="0">
                <a:latin typeface="Malgun Gothic"/>
              </a:defRPr>
            </a:pPr>
            <a:r>
              <a:t>Strengthening the management of prevention burden charges and fees, establishing an HNS prevention response system, integrating private prevention resources management system, establishing an ICT-based proactive prevention response system, enhancing the construction capacity of prevention vessels and improving prevention infrastructure, systematizing the comprehensive management of prevention equipment, strengthening the management capacity of prevention vessels, and promoting research and development of prevention technologies (8 implementation tasks)</a:t>
            </a:r>
          </a:p>
        </p:txBody>
      </p:sp>
      <p:sp>
        <p:nvSpPr>
          <p:cNvPr id="24" name="TextBox 23"/>
          <p:cNvSpPr txBox="1"/>
          <p:nvPr/>
        </p:nvSpPr>
        <p:spPr>
          <a:xfrm>
            <a:off x="457200" y="14950440"/>
            <a:ext cx="8229600" cy="2286000"/>
          </a:xfrm>
          <a:prstGeom prst="rect">
            <a:avLst/>
          </a:prstGeom>
          <a:noFill/>
        </p:spPr>
        <p:txBody>
          <a:bodyPr wrap="square">
            <a:spAutoFit/>
          </a:bodyPr>
          <a:lstStyle/>
          <a:p>
            <a:pPr algn="l">
              <a:defRPr sz="1000" b="0">
                <a:latin typeface="Malgun Gothic"/>
              </a:defRPr>
            </a:pPr>
            <a:r>
              <a:t>Implementing co-work prevention responses with related organizations and local residents, implementing national, public, and private integrated prevention systems, establishing prevention response centers, fostering resident-led prevention responses, establishing a safety-first marine disaster response posture, expanding international prevention services, managing sunken vessels, and promoting public marine pollution prevention and prevention education (8 implementation tasks)</a:t>
            </a:r>
          </a:p>
        </p:txBody>
      </p:sp>
      <p:sp>
        <p:nvSpPr>
          <p:cNvPr id="25" name="TextBox 24"/>
          <p:cNvSpPr txBox="1"/>
          <p:nvPr/>
        </p:nvSpPr>
        <p:spPr>
          <a:xfrm>
            <a:off x="457200" y="17327880"/>
            <a:ext cx="8229600" cy="1143000"/>
          </a:xfrm>
          <a:prstGeom prst="rect">
            <a:avLst/>
          </a:prstGeom>
          <a:noFill/>
        </p:spPr>
        <p:txBody>
          <a:bodyPr wrap="square">
            <a:spAutoFit/>
          </a:bodyPr>
          <a:lstStyle/>
          <a:p>
            <a:pPr algn="l">
              <a:defRPr sz="1000" b="0">
                <a:latin typeface="Malgun Gothic"/>
              </a:defRPr>
            </a:pPr>
            <a:r>
              <a:t>Strengthening support for marine accident prevention and response, strengthening the public function of port tugboats, providing stable pilot services, and managing environmentally friendly aggregate extraction sites (4 implementation tasks)</a:t>
            </a:r>
          </a:p>
        </p:txBody>
      </p:sp>
      <p:sp>
        <p:nvSpPr>
          <p:cNvPr id="26" name="TextBox 25"/>
          <p:cNvSpPr txBox="1"/>
          <p:nvPr/>
        </p:nvSpPr>
        <p:spPr>
          <a:xfrm>
            <a:off x="457200" y="18562320"/>
            <a:ext cx="8229600" cy="274320"/>
          </a:xfrm>
          <a:prstGeom prst="rect">
            <a:avLst/>
          </a:prstGeom>
          <a:noFill/>
        </p:spPr>
        <p:txBody>
          <a:bodyPr wrap="square">
            <a:spAutoFit/>
          </a:bodyPr>
          <a:lstStyle/>
          <a:p>
            <a:pPr algn="l">
              <a:defRPr sz="1200" b="1">
                <a:solidFill>
                  <a:srgbClr val="003366"/>
                </a:solidFill>
                <a:latin typeface="Malgun Gothic"/>
              </a:defRPr>
            </a:pPr>
            <a:r>
              <a:t>Intensive Development of Future Growth Projects</a:t>
            </a:r>
          </a:p>
        </p:txBody>
      </p:sp>
      <p:sp>
        <p:nvSpPr>
          <p:cNvPr id="27" name="TextBox 26"/>
          <p:cNvSpPr txBox="1"/>
          <p:nvPr/>
        </p:nvSpPr>
        <p:spPr>
          <a:xfrm>
            <a:off x="457200" y="18928080"/>
            <a:ext cx="8229600" cy="457200"/>
          </a:xfrm>
          <a:prstGeom prst="rect">
            <a:avLst/>
          </a:prstGeom>
          <a:noFill/>
        </p:spPr>
        <p:txBody>
          <a:bodyPr wrap="square">
            <a:spAutoFit/>
          </a:bodyPr>
          <a:lstStyle/>
          <a:p>
            <a:pPr algn="l">
              <a:defRPr sz="1000" b="0">
                <a:latin typeface="Malgun Gothic"/>
              </a:defRPr>
            </a:pPr>
            <a:r>
              <a:t>Intensive Development of Future Growth Projects (10)</a:t>
            </a:r>
          </a:p>
        </p:txBody>
      </p:sp>
      <p:sp>
        <p:nvSpPr>
          <p:cNvPr id="28" name="TextBox 27"/>
          <p:cNvSpPr txBox="1"/>
          <p:nvPr/>
        </p:nvSpPr>
        <p:spPr>
          <a:xfrm>
            <a:off x="457200" y="19476720"/>
            <a:ext cx="8229600" cy="685800"/>
          </a:xfrm>
          <a:prstGeom prst="rect">
            <a:avLst/>
          </a:prstGeom>
          <a:noFill/>
        </p:spPr>
        <p:txBody>
          <a:bodyPr wrap="square">
            <a:spAutoFit/>
          </a:bodyPr>
          <a:lstStyle/>
          <a:p>
            <a:pPr algn="l">
              <a:defRPr sz="1000" b="0">
                <a:latin typeface="Malgun Gothic"/>
              </a:defRPr>
            </a:pPr>
            <a:r>
              <a:t>Monitoring marine radioactive materials, restoring marine ecosystems (tidal flats) (2 nurturing projects)</a:t>
            </a:r>
          </a:p>
        </p:txBody>
      </p:sp>
      <p:sp>
        <p:nvSpPr>
          <p:cNvPr id="29" name="TextBox 28"/>
          <p:cNvSpPr txBox="1"/>
          <p:nvPr/>
        </p:nvSpPr>
        <p:spPr>
          <a:xfrm>
            <a:off x="457200" y="20253960"/>
            <a:ext cx="8229600" cy="914400"/>
          </a:xfrm>
          <a:prstGeom prst="rect">
            <a:avLst/>
          </a:prstGeom>
          <a:noFill/>
        </p:spPr>
        <p:txBody>
          <a:bodyPr wrap="square">
            <a:spAutoFit/>
          </a:bodyPr>
          <a:lstStyle/>
          <a:p>
            <a:pPr algn="l">
              <a:defRPr sz="1000" b="0">
                <a:latin typeface="Malgun Gothic"/>
              </a:defRPr>
            </a:pPr>
            <a:r>
              <a:t>Developing and distributing marine waste collection and treatment technologies, operating the National Marine Waste Management Center (2 nurturing projects)</a:t>
            </a:r>
          </a:p>
        </p:txBody>
      </p:sp>
      <p:sp>
        <p:nvSpPr>
          <p:cNvPr id="30" name="TextBox 29"/>
          <p:cNvSpPr txBox="1"/>
          <p:nvPr/>
        </p:nvSpPr>
        <p:spPr>
          <a:xfrm>
            <a:off x="457200" y="21259800"/>
            <a:ext cx="8229600" cy="685800"/>
          </a:xfrm>
          <a:prstGeom prst="rect">
            <a:avLst/>
          </a:prstGeom>
          <a:noFill/>
        </p:spPr>
        <p:txBody>
          <a:bodyPr wrap="square">
            <a:spAutoFit/>
          </a:bodyPr>
          <a:lstStyle/>
          <a:p>
            <a:pPr algn="l">
              <a:defRPr sz="1000" b="0">
                <a:latin typeface="Malgun Gothic"/>
              </a:defRPr>
            </a:pPr>
            <a:r>
              <a:t>Building and nurturing a platform for public participation in the marine environment (1 nurturing project)</a:t>
            </a:r>
          </a:p>
        </p:txBody>
      </p:sp>
      <p:sp>
        <p:nvSpPr>
          <p:cNvPr id="31" name="TextBox 30"/>
          <p:cNvSpPr txBox="1"/>
          <p:nvPr/>
        </p:nvSpPr>
        <p:spPr>
          <a:xfrm>
            <a:off x="457200" y="22037040"/>
            <a:ext cx="8229600" cy="457200"/>
          </a:xfrm>
          <a:prstGeom prst="rect">
            <a:avLst/>
          </a:prstGeom>
          <a:noFill/>
        </p:spPr>
        <p:txBody>
          <a:bodyPr wrap="square">
            <a:spAutoFit/>
          </a:bodyPr>
          <a:lstStyle/>
          <a:p>
            <a:pPr algn="l">
              <a:defRPr sz="1000" b="0">
                <a:latin typeface="Malgun Gothic"/>
              </a:defRPr>
            </a:pPr>
            <a:r>
              <a:t>Operating environmentally friendly aggregate extraction sites (1 nurturing project)</a:t>
            </a:r>
          </a:p>
        </p:txBody>
      </p:sp>
      <p:sp>
        <p:nvSpPr>
          <p:cNvPr id="32" name="TextBox 31"/>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165</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3. 전략목표·전략과제 수립 - 세부실행과제 수립 및 신사업 발굴 (2/2)</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전략목표 달성을 위한 전략과제별 세부실행과제와 우선투자 및 집중육성 미래성장사업을 아래와 같이 수립함</a:t>
            </a:r>
          </a:p>
        </p:txBody>
      </p:sp>
      <p:sp>
        <p:nvSpPr>
          <p:cNvPr id="4" name="TextBox 3"/>
          <p:cNvSpPr txBox="1"/>
          <p:nvPr/>
        </p:nvSpPr>
        <p:spPr>
          <a:xfrm>
            <a:off x="457200" y="1463040"/>
            <a:ext cx="8229600" cy="685800"/>
          </a:xfrm>
          <a:prstGeom prst="rect">
            <a:avLst/>
          </a:prstGeom>
          <a:noFill/>
        </p:spPr>
        <p:txBody>
          <a:bodyPr wrap="square">
            <a:spAutoFit/>
          </a:bodyPr>
          <a:lstStyle/>
          <a:p>
            <a:pPr algn="l">
              <a:defRPr sz="900" b="0">
                <a:latin typeface="Malgun Gothic"/>
              </a:defRPr>
            </a:pPr>
            <a:r>
              <a:t>[TABLE]</a:t>
            </a:r>
            <a:br/>
            <a:r>
              <a:t>Strategic Alignment Table with Strategic Objectives, Action Items, Detailed Execution Items and Focused Growth Future Businesses</a:t>
            </a:r>
          </a:p>
        </p:txBody>
      </p:sp>
      <p:sp>
        <p:nvSpPr>
          <p:cNvPr id="5" name="TextBox 4"/>
          <p:cNvSpPr txBox="1"/>
          <p:nvPr/>
        </p:nvSpPr>
        <p:spPr>
          <a:xfrm>
            <a:off x="457200" y="2240280"/>
            <a:ext cx="8229600" cy="457200"/>
          </a:xfrm>
          <a:prstGeom prst="rect">
            <a:avLst/>
          </a:prstGeom>
          <a:noFill/>
        </p:spPr>
        <p:txBody>
          <a:bodyPr wrap="square">
            <a:spAutoFit/>
          </a:bodyPr>
          <a:lstStyle/>
          <a:p>
            <a:pPr algn="l">
              <a:defRPr sz="1000" b="0">
                <a:latin typeface="Malgun Gothic"/>
              </a:defRPr>
            </a:pPr>
            <a:r>
              <a:t>7. 해양환경 이용·향유 자원화 확대 해양치유산업 기반조성, 해양공간 통합관리 기반 구축 (2개 실행과제)</a:t>
            </a:r>
          </a:p>
        </p:txBody>
      </p:sp>
      <p:sp>
        <p:nvSpPr>
          <p:cNvPr id="6" name="TextBox 5"/>
          <p:cNvSpPr txBox="1"/>
          <p:nvPr/>
        </p:nvSpPr>
        <p:spPr>
          <a:xfrm>
            <a:off x="457200" y="2788920"/>
            <a:ext cx="8229600" cy="228600"/>
          </a:xfrm>
          <a:prstGeom prst="rect">
            <a:avLst/>
          </a:prstGeom>
          <a:noFill/>
        </p:spPr>
        <p:txBody>
          <a:bodyPr wrap="square">
            <a:spAutoFit/>
          </a:bodyPr>
          <a:lstStyle/>
          <a:p>
            <a:pPr algn="l">
              <a:defRPr sz="1000" b="0">
                <a:latin typeface="Malgun Gothic"/>
              </a:defRPr>
            </a:pPr>
            <a:r>
              <a:t>연안뉴딜 : 연안습지·갯벌</a:t>
            </a:r>
            <a:br/>
            <a:r>
              <a:t>생태복원 사업, 해양 이용·향유</a:t>
            </a:r>
            <a:br/>
            <a:r>
              <a:t>新산업 육성 (2개 육성사업)</a:t>
            </a:r>
          </a:p>
        </p:txBody>
      </p:sp>
      <p:sp>
        <p:nvSpPr>
          <p:cNvPr id="7" name="TextBox 6"/>
          <p:cNvSpPr txBox="1"/>
          <p:nvPr/>
        </p:nvSpPr>
        <p:spPr>
          <a:xfrm>
            <a:off x="457200" y="3108960"/>
            <a:ext cx="8229600" cy="685800"/>
          </a:xfrm>
          <a:prstGeom prst="rect">
            <a:avLst/>
          </a:prstGeom>
          <a:noFill/>
        </p:spPr>
        <p:txBody>
          <a:bodyPr wrap="square">
            <a:spAutoFit/>
          </a:bodyPr>
          <a:lstStyle/>
          <a:p>
            <a:pPr algn="l">
              <a:defRPr sz="1000" b="0">
                <a:latin typeface="Malgun Gothic"/>
              </a:defRPr>
            </a:pPr>
            <a:r>
              <a:t>8. 해양 탄소중립 이행기반 구축</a:t>
            </a:r>
            <a:br/>
            <a:r>
              <a:t>해양수산부문 기후변화 대응체계 구축, 해상풍력단지 개발 지원, 블루카본</a:t>
            </a:r>
            <a:br/>
            <a:r>
              <a:t>국가 통계 생산기반 구축, 해양대기환경 통합관리체계 구축 (4개 실행과제)</a:t>
            </a:r>
          </a:p>
        </p:txBody>
      </p:sp>
      <p:sp>
        <p:nvSpPr>
          <p:cNvPr id="8" name="TextBox 7"/>
          <p:cNvSpPr txBox="1"/>
          <p:nvPr/>
        </p:nvSpPr>
        <p:spPr>
          <a:xfrm>
            <a:off x="457200" y="3886200"/>
            <a:ext cx="8229600" cy="457200"/>
          </a:xfrm>
          <a:prstGeom prst="rect">
            <a:avLst/>
          </a:prstGeom>
          <a:noFill/>
        </p:spPr>
        <p:txBody>
          <a:bodyPr wrap="square">
            <a:spAutoFit/>
          </a:bodyPr>
          <a:lstStyle/>
          <a:p>
            <a:pPr algn="l">
              <a:defRPr sz="1000" b="0">
                <a:latin typeface="Malgun Gothic"/>
              </a:defRPr>
            </a:pPr>
            <a:r>
              <a:t>지역밀착형 탄소중립 오션뉴딜</a:t>
            </a:r>
            <a:br/>
            <a:r>
              <a:t>운영, 해상풍력 실증 지원 및</a:t>
            </a:r>
            <a:br/>
            <a:r>
              <a:t>디지털 정보화 (2개 육성사업)</a:t>
            </a:r>
          </a:p>
        </p:txBody>
      </p:sp>
      <p:sp>
        <p:nvSpPr>
          <p:cNvPr id="9" name="TextBox 8"/>
          <p:cNvSpPr txBox="1"/>
          <p:nvPr/>
        </p:nvSpPr>
        <p:spPr>
          <a:xfrm>
            <a:off x="457200" y="4434840"/>
            <a:ext cx="8229600" cy="1143000"/>
          </a:xfrm>
          <a:prstGeom prst="rect">
            <a:avLst/>
          </a:prstGeom>
          <a:noFill/>
        </p:spPr>
        <p:txBody>
          <a:bodyPr wrap="square">
            <a:spAutoFit/>
          </a:bodyPr>
          <a:lstStyle/>
          <a:p>
            <a:pPr algn="l">
              <a:defRPr sz="1000" b="0">
                <a:latin typeface="Malgun Gothic"/>
              </a:defRPr>
            </a:pPr>
            <a:r>
              <a:t>9. 지속가능 성장기반 확보</a:t>
            </a:r>
            <a:br/>
            <a:r>
              <a:t>전사적 통합 재무위험관리, 지속적 재무건전성 유지, 예산 편성·집행·사후평가</a:t>
            </a:r>
            <a:br/>
            <a:r>
              <a:t>효율화, 전략기반 재무계획 수립 및 변화 관리 체계화, 상시적 기능점검체계 운영,</a:t>
            </a:r>
            <a:br/>
            <a:r>
              <a:t>전문성을 갖춘 KOEM형 인재 양성, 임직원 직무역량 개발·향상, 합리적 보수체계</a:t>
            </a:r>
            <a:br/>
            <a:r>
              <a:t>구축, 전략적 자산관리 종합체계 구축, 전사 디지털전환 전략 수립·추진, 해양환경</a:t>
            </a:r>
            <a:br/>
            <a:r>
              <a:t>국제협력 네트워크 강화, 국제협력을 통한 新사업 창출 (12개 실행과제)</a:t>
            </a:r>
          </a:p>
        </p:txBody>
      </p:sp>
      <p:sp>
        <p:nvSpPr>
          <p:cNvPr id="10" name="TextBox 9"/>
          <p:cNvSpPr txBox="1"/>
          <p:nvPr/>
        </p:nvSpPr>
        <p:spPr>
          <a:xfrm>
            <a:off x="457200" y="5669280"/>
            <a:ext cx="8229600" cy="914400"/>
          </a:xfrm>
          <a:prstGeom prst="rect">
            <a:avLst/>
          </a:prstGeom>
          <a:noFill/>
        </p:spPr>
        <p:txBody>
          <a:bodyPr wrap="square">
            <a:spAutoFit/>
          </a:bodyPr>
          <a:lstStyle/>
          <a:p>
            <a:pPr algn="l">
              <a:defRPr sz="1000" b="0">
                <a:latin typeface="Malgun Gothic"/>
              </a:defRPr>
            </a:pPr>
            <a:r>
              <a:t>10. 상생협력 공정경제 생태계 조성</a:t>
            </a:r>
            <a:br/>
            <a:r>
              <a:t>국민참여·소통을 통한 국민체감 혁신, 경영혁신체계 구축·운영, 공정문화 조성</a:t>
            </a:r>
            <a:br/>
            <a:r>
              <a:t>및 제도개선, 중소기업 동반성장 활성화, 사회공헌 및 지역경제 활성화,</a:t>
            </a:r>
            <a:br/>
            <a:r>
              <a:t>CS경영체계 관리 고도화, 공공데이터 및 지식자산 관리 고도화, KOEM 국민</a:t>
            </a:r>
            <a:br/>
            <a:r>
              <a:t>희망 일자리 창출, 민간일자리 확대 추진 (9개 실행과제)</a:t>
            </a:r>
          </a:p>
        </p:txBody>
      </p:sp>
      <p:sp>
        <p:nvSpPr>
          <p:cNvPr id="11" name="TextBox 10"/>
          <p:cNvSpPr txBox="1"/>
          <p:nvPr/>
        </p:nvSpPr>
        <p:spPr>
          <a:xfrm>
            <a:off x="457200" y="6675120"/>
            <a:ext cx="8229600" cy="685800"/>
          </a:xfrm>
          <a:prstGeom prst="rect">
            <a:avLst/>
          </a:prstGeom>
          <a:noFill/>
        </p:spPr>
        <p:txBody>
          <a:bodyPr wrap="square">
            <a:spAutoFit/>
          </a:bodyPr>
          <a:lstStyle/>
          <a:p>
            <a:pPr algn="l">
              <a:defRPr sz="1000" b="0">
                <a:latin typeface="Malgun Gothic"/>
              </a:defRPr>
            </a:pPr>
            <a:r>
              <a:t>11. 건강하고 안전한 근로환경 제공</a:t>
            </a:r>
            <a:br/>
            <a:r>
              <a:t>안전한 근로환경 조성 및 제공, 안전관리 영역 확대 및 체계화, 노사 상생</a:t>
            </a:r>
            <a:br/>
            <a:r>
              <a:t>조직문화 정착, 노사관계 관리 역량 강화, 정보보안 및 접근성 증대 (5개</a:t>
            </a:r>
            <a:br/>
            <a:r>
              <a:t>실행과제)</a:t>
            </a:r>
          </a:p>
        </p:txBody>
      </p:sp>
      <p:sp>
        <p:nvSpPr>
          <p:cNvPr id="12" name="TextBox 11"/>
          <p:cNvSpPr txBox="1"/>
          <p:nvPr/>
        </p:nvSpPr>
        <p:spPr>
          <a:xfrm>
            <a:off x="457200" y="7452360"/>
            <a:ext cx="8229600" cy="1143000"/>
          </a:xfrm>
          <a:prstGeom prst="rect">
            <a:avLst/>
          </a:prstGeom>
          <a:noFill/>
        </p:spPr>
        <p:txBody>
          <a:bodyPr wrap="square">
            <a:spAutoFit/>
          </a:bodyPr>
          <a:lstStyle/>
          <a:p>
            <a:pPr algn="l">
              <a:defRPr sz="1000" b="0">
                <a:latin typeface="Malgun Gothic"/>
              </a:defRPr>
            </a:pPr>
            <a:r>
              <a:t>12. 투명한 경영으로 공정한 기회 보장</a:t>
            </a:r>
            <a:br/>
            <a:r>
              <a:t>청렴문화 확산, 내부견제 제도 운영 강화, 대국민 소통 활성화, 윤리경영시스템</a:t>
            </a:r>
            <a:br/>
            <a:r>
              <a:t>활성화, 경영공시 고도화, 성과관리 체계 고도화, 기록정보서비스 제공 및 기록문화</a:t>
            </a:r>
            <a:br/>
            <a:r>
              <a:t>확산, 인사관리 공정성 제고, 여성인재 육성 강화, 사회형평적 채용 및 일자리 확대,</a:t>
            </a:r>
            <a:br/>
            <a:r>
              <a:t>임금피크제 운영을 통한 청년 채용 확대, 데이터 기반 행정 활성화 (12개 실행과제)</a:t>
            </a:r>
          </a:p>
        </p:txBody>
      </p:sp>
      <p:sp>
        <p:nvSpPr>
          <p:cNvPr id="13" name="TextBox 12"/>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166</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경영목표 수립</a:t>
            </a:r>
          </a:p>
        </p:txBody>
      </p:sp>
      <p:sp>
        <p:nvSpPr>
          <p:cNvPr id="3" name="TextBox 2"/>
          <p:cNvSpPr txBox="1"/>
          <p:nvPr/>
        </p:nvSpPr>
        <p:spPr>
          <a:xfrm>
            <a:off x="457200" y="1463040"/>
            <a:ext cx="8229600" cy="228600"/>
          </a:xfrm>
          <a:prstGeom prst="rect">
            <a:avLst/>
          </a:prstGeom>
          <a:noFill/>
        </p:spPr>
        <p:txBody>
          <a:bodyPr wrap="square">
            <a:spAutoFit/>
          </a:bodyPr>
          <a:lstStyle/>
          <a:p>
            <a:pPr algn="l">
              <a:defRPr sz="1000" b="0">
                <a:latin typeface="Malgun Gothic"/>
              </a:defRPr>
            </a:pPr>
            <a:r>
              <a:t>KOEM 해양환경공단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None | Page 167</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경영목표 수립 - 경영목표 수립 프로세스</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아래와 같이 사업부문별 목표 후보군 도출 후 경영목표 후보군 평가를 통해 경영목표를 선정하고 연도별 목표를 수립하는 프로세스를 통해 경영목표를 수립함</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168</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경영목표 수립 - 경영목표 평가기준 수립 : SMART</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경영목표 선정을 위한 평가는 SMART(구체성, 측정가능성, 달성가능성, 논리적연관성, 기한제한성)를 기준으로 활용하며, 객관화를 위해 항목별로 평가기준을 수립하여 적용함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경영목표 평가기준 수립 : SMART</a:t>
            </a:r>
          </a:p>
        </p:txBody>
      </p:sp>
      <p:sp>
        <p:nvSpPr>
          <p:cNvPr id="5" name="TextBox 4"/>
          <p:cNvSpPr txBox="1"/>
          <p:nvPr/>
        </p:nvSpPr>
        <p:spPr>
          <a:xfrm>
            <a:off x="457200" y="1828800"/>
            <a:ext cx="8229600" cy="457200"/>
          </a:xfrm>
          <a:prstGeom prst="rect">
            <a:avLst/>
          </a:prstGeom>
          <a:noFill/>
        </p:spPr>
        <p:txBody>
          <a:bodyPr wrap="square">
            <a:spAutoFit/>
          </a:bodyPr>
          <a:lstStyle/>
          <a:p>
            <a:pPr algn="l">
              <a:defRPr sz="900" b="0">
                <a:latin typeface="Malgun Gothic"/>
              </a:defRPr>
            </a:pPr>
            <a:r>
              <a:t>[TABLE]</a:t>
            </a:r>
            <a:br/>
            <a:r>
              <a:t>Table outlining SMART criteria and corresponding evaluation standards.</a:t>
            </a:r>
          </a:p>
        </p:txBody>
      </p:sp>
      <p:sp>
        <p:nvSpPr>
          <p:cNvPr id="6" name="TextBox 5"/>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해양환경공단 169 | Page 170</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경영목표 수립 - 해양보전부문 지표 선정</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해양보전 부문의 경영목표 지표 Pool 중, 1등급 해역 비율, 갯벌복원 면적을 적용 가능한 적정 지표로 선정함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경영목표 지표 Pool ① 해양보전</a:t>
            </a:r>
          </a:p>
        </p:txBody>
      </p:sp>
      <p:sp>
        <p:nvSpPr>
          <p:cNvPr id="5" name="TextBox 4"/>
          <p:cNvSpPr txBox="1"/>
          <p:nvPr/>
        </p:nvSpPr>
        <p:spPr>
          <a:xfrm>
            <a:off x="457200" y="1828800"/>
            <a:ext cx="8229600" cy="914400"/>
          </a:xfrm>
          <a:prstGeom prst="rect">
            <a:avLst/>
          </a:prstGeom>
          <a:noFill/>
        </p:spPr>
        <p:txBody>
          <a:bodyPr wrap="square">
            <a:spAutoFit/>
          </a:bodyPr>
          <a:lstStyle/>
          <a:p>
            <a:pPr algn="l">
              <a:defRPr sz="900" b="0">
                <a:latin typeface="Malgun Gothic"/>
              </a:defRPr>
            </a:pPr>
            <a:r>
              <a:t>[TABLE]</a:t>
            </a:r>
            <a:br/>
            <a:r>
              <a:t>Table describing key performance indicators related to marine conservation including metrics for water quality, ecosystem health, protected areas, and restoration efforts.</a:t>
            </a:r>
          </a:p>
        </p:txBody>
      </p:sp>
      <p:sp>
        <p:nvSpPr>
          <p:cNvPr id="6" name="TextBox 5"/>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Ⅲ. 가치체계·전략체계 재정립 | Page 171</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경영목표 수립 - 미래성장(신규)사업 지표 선정</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미래성장(신규) 사업 부문의 경영목표 지표 Pool 중, 미래성장사업 매출 비율, 미래성장사업 매출액을 적용 가능한 적정 지표로 선정함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경영목표 지표 Pool ④ 미래성장(신규)사업</a:t>
            </a:r>
          </a:p>
        </p:txBody>
      </p:sp>
      <p:sp>
        <p:nvSpPr>
          <p:cNvPr id="5" name="TextBox 4"/>
          <p:cNvSpPr txBox="1"/>
          <p:nvPr/>
        </p:nvSpPr>
        <p:spPr>
          <a:xfrm>
            <a:off x="457200" y="1828800"/>
            <a:ext cx="8229600" cy="685800"/>
          </a:xfrm>
          <a:prstGeom prst="rect">
            <a:avLst/>
          </a:prstGeom>
          <a:noFill/>
        </p:spPr>
        <p:txBody>
          <a:bodyPr wrap="square">
            <a:spAutoFit/>
          </a:bodyPr>
          <a:lstStyle/>
          <a:p>
            <a:pPr algn="l">
              <a:defRPr sz="900" b="0">
                <a:latin typeface="Malgun Gothic"/>
              </a:defRPr>
            </a:pPr>
            <a:r>
              <a:t>[TABLE]</a:t>
            </a:r>
            <a:br/>
            <a:r>
              <a:t>Table with data on 사업성과 지표, 경영목표 지표 후보, 지표 산식, and 지표 평가 for 미래성장사업 매출 비율, 미래성장사업 매출액, 해양환경 국민 플랫폼 참여자 수, 해양 정책입안 수, and 해양환경 국제협력 네트워크 수</a:t>
            </a:r>
          </a:p>
        </p:txBody>
      </p:sp>
      <p:sp>
        <p:nvSpPr>
          <p:cNvPr id="6" name="TextBox 5"/>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 | Page 174</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경영목표 수립 - 경영관리 부문 지표선정</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경영관리 부문의 경영목표 지표 Pool 중, 재무건전성, 인재개발 프로그램 참여 직원 수를 적용 가능한 적정 지표로 선정함</a:t>
            </a:r>
          </a:p>
        </p:txBody>
      </p:sp>
      <p:sp>
        <p:nvSpPr>
          <p:cNvPr id="4" name="TextBox 3"/>
          <p:cNvSpPr txBox="1"/>
          <p:nvPr/>
        </p:nvSpPr>
        <p:spPr>
          <a:xfrm>
            <a:off x="457200" y="1463040"/>
            <a:ext cx="8229600" cy="228600"/>
          </a:xfrm>
          <a:prstGeom prst="rect">
            <a:avLst/>
          </a:prstGeom>
          <a:noFill/>
        </p:spPr>
        <p:txBody>
          <a:bodyPr wrap="square">
            <a:spAutoFit/>
          </a:bodyPr>
          <a:lstStyle/>
          <a:p>
            <a:pPr algn="l">
              <a:defRPr sz="900" b="0">
                <a:latin typeface="Malgun Gothic"/>
              </a:defRPr>
            </a:pPr>
            <a:r>
              <a:t>[TABLE]</a:t>
            </a:r>
            <a:br/>
            <a:r>
              <a:t>See Table Data</a:t>
            </a:r>
          </a:p>
        </p:txBody>
      </p:sp>
      <p:sp>
        <p:nvSpPr>
          <p:cNvPr id="5" name="TextBox 4"/>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None | Page 175</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경영목표 수립 - 사회적가치 지표 선정</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사회적가치 부문의 경영목표 지표 Pool 중, 양질의 일자리 창출, 사회적가치 창출 화폐 환산을 적용 가능한 적정 지표로 선정함 (화폐가치 환산 후 대표지표 채택 재검토)</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경영목표 지표 Pool ⑥ 사회적가치</a:t>
            </a:r>
          </a:p>
        </p:txBody>
      </p:sp>
      <p:sp>
        <p:nvSpPr>
          <p:cNvPr id="5" name="TextBox 4"/>
          <p:cNvSpPr txBox="1"/>
          <p:nvPr/>
        </p:nvSpPr>
        <p:spPr>
          <a:xfrm>
            <a:off x="457200" y="1828800"/>
            <a:ext cx="8229600" cy="4343400"/>
          </a:xfrm>
          <a:prstGeom prst="rect">
            <a:avLst/>
          </a:prstGeom>
          <a:noFill/>
        </p:spPr>
        <p:txBody>
          <a:bodyPr wrap="square">
            <a:spAutoFit/>
          </a:bodyPr>
          <a:lstStyle/>
          <a:p>
            <a:pPr algn="l">
              <a:defRPr sz="900" b="0">
                <a:latin typeface="Malgun Gothic"/>
              </a:defRPr>
            </a:pPr>
            <a:r>
              <a:t>[TABLE]</a:t>
            </a:r>
            <a:br/>
            <a:r>
              <a:t>[[구분, 성과(추산) 지표, 성과(추산) 지표, 성과(결과) 지표, 공인성과 지표, 공인성과 지표],</a:t>
            </a:r>
            <a:br/>
            <a:r>
              <a:t>[경영목표 지표 후보, 양질의 일자리 창출 (3,100개/年), 사회적가치 창출 화폐 환산 (-억 원/年), 중대재해 Zero (중대재해사고 "0"건), KOBEX 지수 (지속가능경영), 청렴도 평가등급],</a:t>
            </a:r>
            <a:br/>
            <a:r>
              <a:t>[지표 산식, - 연간 공단 사업에 의한 일자리 창출 수를 각 개별 사업별로 계수하여 합산 - 연간 공단 일자리 창출 = ∑(투자사업 + 민간위탁 + 사회적일자리 + 파트너십), - 공단 사회적가치 창출 화폐단위 환산 - 공단 사회적 가치 창출 = ∑(사회적가치 화폐 환산)  투자평가 기준으로 SROI, SROE 등 추가적 지표활용 가능, - 중대재해사고 : 사망자 발생, 3개월이상 요양 부상자 동시 2인 이상 발생, 부상자 또는 직업성 질병자가 10인 이상 동시에 발생 재해 ·중대재해사고 "0"건 달성, - KOBEX(지속가능경영실태 조사) 평가결과, - 국민권익위원회 청렴도 조사 결과 (1~5등급 체계)],</a:t>
            </a:r>
            <a:br/>
            <a:r>
              <a:t>[*지표 평가, O: 일자리창출 성과, O: 사회적가치 창출 합산, O: 안전관리 노력의 성과, O: 지속가능경영 공인지표, O: 윤리·청렴 공인지표],</a:t>
            </a:r>
            <a:br/>
            <a:r>
              <a:t>[, O: 내부 환산기준 적용, O: 내부 환산기준 마련 필요, O: 법적 정의에 따른 기준, O: 외부 공인지표, O: 외부 공인지표],</a:t>
            </a:r>
            <a:br/>
            <a:r>
              <a:t>[, O: 공단 목표기준, O: 공단 목표기준, O: 공단 목표기준, O: 공단 목표기준, O: 공단 목표기준],</a:t>
            </a:r>
            <a:br/>
            <a:r>
              <a:t>[, O: 사회적가치 대표 항목, O: 사회적가치 전체 환산, O: 사회적가치 대표 항목, O: 종합 지속가능성 지표, X: 윤리경영 부분지표],</a:t>
            </a:r>
            <a:br/>
            <a:r>
              <a:t>[, O: 공단목표, 연간관리, O: 공단목표, 연간관리, O: 공단목표, 연간관리, O: 공단목표, 연간관리, O: 공단목표, 연간관리]]</a:t>
            </a:r>
          </a:p>
        </p:txBody>
      </p:sp>
      <p:sp>
        <p:nvSpPr>
          <p:cNvPr id="6" name="TextBox 5"/>
          <p:cNvSpPr txBox="1"/>
          <p:nvPr/>
        </p:nvSpPr>
        <p:spPr>
          <a:xfrm>
            <a:off x="457200" y="6263640"/>
            <a:ext cx="8229600" cy="685800"/>
          </a:xfrm>
          <a:prstGeom prst="rect">
            <a:avLst/>
          </a:prstGeom>
          <a:noFill/>
        </p:spPr>
        <p:txBody>
          <a:bodyPr wrap="square">
            <a:spAutoFit/>
          </a:bodyPr>
          <a:lstStyle/>
          <a:p>
            <a:pPr algn="l">
              <a:defRPr sz="1000" b="0">
                <a:latin typeface="Malgun Gothic"/>
              </a:defRPr>
            </a:pPr>
            <a:r>
              <a:t>*지표평가 기준 : Specific(구체성), Measurable(측정가능성), Achievable(달성가능성), Relevant(논리적 연관성), Time-bound(기한제한성)</a:t>
            </a:r>
          </a:p>
        </p:txBody>
      </p:sp>
      <p:sp>
        <p:nvSpPr>
          <p:cNvPr id="7" name="TextBox 6"/>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Ⅲ. 가치체계·전략체계 재정립 | Page 176</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경영목표 수립 - 해양환경자원개발 지표 선정</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해양환경자원 개발 및 해양환경산업 육성의 경영목표 지표 Pool 중, 해양환경자원 개발 규모, 해양환경 신산업 지원 규모를 적용 가능한 적정 지표로 선정함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경영목표 지표 Pool ⑦ 해양환경자원개발·해양환경산업육성</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900" b="0">
                <a:latin typeface="Malgun Gothic"/>
              </a:defRPr>
            </a:pPr>
            <a:r>
              <a:t>[TABLE]</a:t>
            </a:r>
            <a:br/>
            <a:r>
              <a:t>See below</a:t>
            </a:r>
          </a:p>
        </p:txBody>
      </p:sp>
      <p:sp>
        <p:nvSpPr>
          <p:cNvPr id="6" name="TextBox 5"/>
          <p:cNvSpPr txBox="1"/>
          <p:nvPr/>
        </p:nvSpPr>
        <p:spPr>
          <a:xfrm>
            <a:off x="457200" y="2148840"/>
            <a:ext cx="8229600" cy="685800"/>
          </a:xfrm>
          <a:prstGeom prst="rect">
            <a:avLst/>
          </a:prstGeom>
          <a:noFill/>
        </p:spPr>
        <p:txBody>
          <a:bodyPr wrap="square">
            <a:spAutoFit/>
          </a:bodyPr>
          <a:lstStyle/>
          <a:p>
            <a:pPr algn="l">
              <a:defRPr sz="1000" b="0">
                <a:latin typeface="Malgun Gothic"/>
              </a:defRPr>
            </a:pPr>
            <a:r>
              <a:t>*지표평가 기준 : Specific(구체성), Measurable(측정가능성), Achievable(달성가능성), Relevant(논리적 연관성), Time-bound(기한제한성)</a:t>
            </a:r>
          </a:p>
        </p:txBody>
      </p:sp>
      <p:sp>
        <p:nvSpPr>
          <p:cNvPr id="7" name="TextBox 6"/>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177</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경영목표 수립 - 기후변화대응 지표 선정</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해양 기후변화대응과 탄소중립 부문의 경영목표 지표 Pool 중, 해양기인 탄소중립 달성도, 연간 블루카본 생산 증가를 적용 가능한 적정 지표로 선정함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경영목표 지표 Pool ⑧ 해양 기후변화대응, 탄소중립</a:t>
            </a:r>
          </a:p>
        </p:txBody>
      </p:sp>
      <p:sp>
        <p:nvSpPr>
          <p:cNvPr id="5" name="TextBox 4"/>
          <p:cNvSpPr txBox="1"/>
          <p:nvPr/>
        </p:nvSpPr>
        <p:spPr>
          <a:xfrm>
            <a:off x="457200" y="1828800"/>
            <a:ext cx="8229600" cy="3429000"/>
          </a:xfrm>
          <a:prstGeom prst="rect">
            <a:avLst/>
          </a:prstGeom>
          <a:noFill/>
        </p:spPr>
        <p:txBody>
          <a:bodyPr wrap="square">
            <a:spAutoFit/>
          </a:bodyPr>
          <a:lstStyle/>
          <a:p>
            <a:pPr algn="l">
              <a:defRPr sz="900" b="0">
                <a:latin typeface="Malgun Gothic"/>
              </a:defRPr>
            </a:pPr>
            <a:r>
              <a:t>[TABLE]</a:t>
            </a:r>
            <a:br/>
            <a:r>
              <a:t>The slide contains a table outlining key performance indicators (KPIs) related to climate change adaptation and carbon neutrality within the marine sector. The table is structured with columns for category, blue carbon indicators, infrastructure indicators, carbon neutrality indicators, unit project indicators, and port/air quality indicators. The rows define the KPI candidates, their calculation methods, and an assessment of the indicators based on the SMART criteria (Specific, Measurable, Achievable, Relevant, Time-bound). The overall takeaway is the strategic alignment of these KPIs with the overarching goals of climate change mitigation and sustainable development within the marine environment.</a:t>
            </a:r>
          </a:p>
        </p:txBody>
      </p:sp>
      <p:sp>
        <p:nvSpPr>
          <p:cNvPr id="6" name="TextBox 5"/>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178</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경영목표 수립 - 경영목표 후보군 평가 (1/2)</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경영목표 후보군 평가를 아래와 같이 실시하여 해양보전부문의 1등급 해역비율, 갯벌복원 면적, 해양방제부문의 공단 통합 해상방제능력, 미래성장사업부문의 미래성장사업 매출 비율을 경영목표로 선정함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경영목표 후보군 평가 : SMART 평가기준 적용</a:t>
            </a:r>
          </a:p>
        </p:txBody>
      </p:sp>
      <p:sp>
        <p:nvSpPr>
          <p:cNvPr id="5" name="TextBox 4"/>
          <p:cNvSpPr txBox="1"/>
          <p:nvPr/>
        </p:nvSpPr>
        <p:spPr>
          <a:xfrm>
            <a:off x="457200" y="1828800"/>
            <a:ext cx="8229600" cy="2971800"/>
          </a:xfrm>
          <a:prstGeom prst="rect">
            <a:avLst/>
          </a:prstGeom>
          <a:noFill/>
        </p:spPr>
        <p:txBody>
          <a:bodyPr wrap="square">
            <a:spAutoFit/>
          </a:bodyPr>
          <a:lstStyle/>
          <a:p>
            <a:pPr algn="l">
              <a:defRPr sz="900" b="0">
                <a:latin typeface="Malgun Gothic"/>
              </a:defRPr>
            </a:pPr>
            <a:r>
              <a:t>[TABLE]</a:t>
            </a:r>
            <a:br/>
            <a:r>
              <a:t>The slide shows a table-like structure with multiple rows divided into four sections:</a:t>
            </a:r>
            <a:br/>
            <a:r>
              <a:t>1. &lt;해양보전부문 지표&gt;</a:t>
            </a:r>
            <a:br/>
            <a:r>
              <a:t>   - 1등급 해역 비율</a:t>
            </a:r>
            <a:br/>
            <a:r>
              <a:t>   - 해양생태계 보전지수</a:t>
            </a:r>
            <a:br/>
            <a:r>
              <a:t>   - 연안·해양 보호구역 면적</a:t>
            </a:r>
            <a:br/>
            <a:r>
              <a:t>   - 갯벌복원 면적</a:t>
            </a:r>
            <a:br/>
            <a:r>
              <a:t>   - 특별관리해역 수질 2등급 이상 비율</a:t>
            </a:r>
            <a:br/>
            <a:r>
              <a:t>2. &lt;해양사업부문 지표&gt;</a:t>
            </a:r>
            <a:br/>
            <a:r>
              <a:t>   - 항만예선 공익 투입률</a:t>
            </a:r>
            <a:br/>
            <a:r>
              <a:t>   - 예선사업 수익성</a:t>
            </a:r>
            <a:br/>
            <a:r>
              <a:t>   - 예선사업 매출실적 달성도</a:t>
            </a:r>
            <a:br/>
            <a:r>
              <a:t>   - 항만예선 구조·구난 건수</a:t>
            </a:r>
            <a:br/>
            <a:r>
              <a:t>   - 자산(예선) 및 노동 생산성</a:t>
            </a:r>
            <a:br/>
            <a:r>
              <a:t>3. &lt;해양방제부문 지표&gt;</a:t>
            </a:r>
            <a:br/>
            <a:r>
              <a:t>   - 공단 통합 해상방제능력</a:t>
            </a:r>
            <a:br/>
            <a:r>
              <a:t>   - 해양오염사고방제 참여율</a:t>
            </a:r>
            <a:br/>
            <a:r>
              <a:t>   - 해양오염사고 예방률</a:t>
            </a:r>
            <a:br/>
            <a:r>
              <a:t>   - 해양오염사고 방제 점유율</a:t>
            </a:r>
            <a:br/>
            <a:r>
              <a:t>   - 해양오염 예측 정확도</a:t>
            </a:r>
            <a:br/>
            <a:r>
              <a:t>4. &lt;미래성장사업 지표&gt;</a:t>
            </a:r>
            <a:br/>
            <a:r>
              <a:t>   - 미래성장사업 매출 비율</a:t>
            </a:r>
            <a:br/>
            <a:r>
              <a:t>   - 미래성장사업 매출액</a:t>
            </a:r>
            <a:br/>
            <a:r>
              <a:t>   - 해양환경 국민 플랫폼 참여자 수</a:t>
            </a:r>
            <a:br/>
            <a:r>
              <a:t>   - 해양 정책입안 수</a:t>
            </a:r>
            <a:br/>
            <a:r>
              <a:t>   - 해양환경 국제협력 네트워크 수</a:t>
            </a:r>
            <a:br/>
            <a:r>
              <a:t>Each row has a SMART assessment (S, M, A, R, T) indicated by filled or partially filled circles.</a:t>
            </a:r>
          </a:p>
        </p:txBody>
      </p:sp>
      <p:sp>
        <p:nvSpPr>
          <p:cNvPr id="6" name="TextBox 5"/>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Ⅲ. 가치체계·전략체계 재정립 | Page 179</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경영목표 수립 - 경영목표 후보군 평가 (2/2)</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경영목표 선정을 위한 후보군 평가를 평가 기준에 의해 실시하여 아래와 같이 경영관리부문 재무건전성 제고, 사회적가치 실현 부문 중대재해 “Zero”를 경영목표로 선정함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경영목표 후보군 평가 : SMART 평가기준 적용</a:t>
            </a:r>
          </a:p>
        </p:txBody>
      </p:sp>
      <p:sp>
        <p:nvSpPr>
          <p:cNvPr id="5" name="TextBox 4"/>
          <p:cNvSpPr txBox="1"/>
          <p:nvPr/>
        </p:nvSpPr>
        <p:spPr>
          <a:xfrm>
            <a:off x="457200" y="1828800"/>
            <a:ext cx="8229600" cy="3200400"/>
          </a:xfrm>
          <a:prstGeom prst="rect">
            <a:avLst/>
          </a:prstGeom>
          <a:noFill/>
        </p:spPr>
        <p:txBody>
          <a:bodyPr wrap="square">
            <a:spAutoFit/>
          </a:bodyPr>
          <a:lstStyle/>
          <a:p>
            <a:pPr algn="l">
              <a:defRPr sz="900" b="0">
                <a:latin typeface="Malgun Gothic"/>
              </a:defRPr>
            </a:pPr>
            <a:r>
              <a:t>[TABLE]</a:t>
            </a:r>
            <a:br/>
            <a:r>
              <a:t>S M A R T &lt;경영관리부문 지표&gt; 재무건전성 제고 [SMART ratings] 인재개발 프로그램 참여 직원 수 [SMART ratings] 인사운영 만족도 [SMART ratings] 신용평가등급 AAA [SMART ratings] 차입금의존도 Zero [SMART ratings] &lt;해양환경자원화(신사업) 지표&gt; S M A R T 해양환경 자원화사업 실적 [SMART ratings] 해양환경 신산업 지원 규모 [SMART ratings] 해양치유산업 규모 [SMART ratings] 해양생태관광 관광객 수 [SMART ratings] 해양에너지 발전량 [SMART ratings] &lt;사회적가치 실현 지표&gt; 양질의 일자리 창출 [SMART ratings] 사회적가치 창출 화폐 환산 [SMART ratings] 중대재해 "Zero" [SMART ratings] KOBEX 지수 [SMART ratings] 청렴도 평가등급 [SMART ratings] &lt;기후변화대응(신사업) 지표&gt; 연간 블루카본 생산량 [SMART ratings] 해양 기후변화 예측률 [SMART ratings] 해양기인 탄소중립 (Net-Zero) 달성도 [SMART ratings] 해상풍력 유력후보지 개수 [SMART ratings] 항만 초미세먼지 배출량 감축 [SMART ratings]</a:t>
            </a:r>
          </a:p>
        </p:txBody>
      </p:sp>
      <p:sp>
        <p:nvSpPr>
          <p:cNvPr id="6" name="TextBox 5"/>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Ⅲ. 가치체계·전략체계 재정립 | Page 180</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경영목표 수립 - 경영목표 선정</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경영목표 후보군 중 현재 운영 중인 사업과 경영관리에 입각해 6개 경영목표를 SMART 기준으로 평가하여 선정함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경영목표 후보군 중 6대 경영목표 선정</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900" b="0">
                <a:latin typeface="Malgun Gothic"/>
              </a:defRPr>
            </a:pPr>
            <a:r>
              <a:t>[TABLE]</a:t>
            </a:r>
            <a:br/>
            <a:r>
              <a:t>See below</a:t>
            </a:r>
          </a:p>
        </p:txBody>
      </p:sp>
      <p:sp>
        <p:nvSpPr>
          <p:cNvPr id="6" name="TextBox 5"/>
          <p:cNvSpPr txBox="1"/>
          <p:nvPr/>
        </p:nvSpPr>
        <p:spPr>
          <a:xfrm>
            <a:off x="457200" y="2148840"/>
            <a:ext cx="8229600" cy="274320"/>
          </a:xfrm>
          <a:prstGeom prst="rect">
            <a:avLst/>
          </a:prstGeom>
          <a:noFill/>
        </p:spPr>
        <p:txBody>
          <a:bodyPr wrap="square">
            <a:spAutoFit/>
          </a:bodyPr>
          <a:lstStyle/>
          <a:p>
            <a:pPr algn="l">
              <a:defRPr sz="1200" b="1">
                <a:solidFill>
                  <a:srgbClr val="003366"/>
                </a:solidFill>
                <a:latin typeface="Malgun Gothic"/>
              </a:defRPr>
            </a:pPr>
            <a:r>
              <a:t>N/A</a:t>
            </a:r>
          </a:p>
        </p:txBody>
      </p:sp>
      <p:sp>
        <p:nvSpPr>
          <p:cNvPr id="7" name="TextBox 6"/>
          <p:cNvSpPr txBox="1"/>
          <p:nvPr/>
        </p:nvSpPr>
        <p:spPr>
          <a:xfrm>
            <a:off x="457200" y="2514600"/>
            <a:ext cx="8229600" cy="457200"/>
          </a:xfrm>
          <a:prstGeom prst="rect">
            <a:avLst/>
          </a:prstGeom>
          <a:noFill/>
        </p:spPr>
        <p:txBody>
          <a:bodyPr wrap="square">
            <a:spAutoFit/>
          </a:bodyPr>
          <a:lstStyle/>
          <a:p>
            <a:pPr algn="l">
              <a:defRPr sz="1000" b="0">
                <a:latin typeface="Malgun Gothic"/>
              </a:defRPr>
            </a:pPr>
            <a:r>
              <a:t>&gt; 1등급 해역 비율</a:t>
            </a:r>
            <a:br/>
            <a:r>
              <a:t>&gt; 갯벌복원 면적(누적)</a:t>
            </a:r>
            <a:br/>
            <a:r>
              <a:t>&gt; 공단 통합 해상방제능력</a:t>
            </a:r>
            <a:br/>
            <a:r>
              <a:t>&gt; 미래성장사업 매출 비율</a:t>
            </a:r>
            <a:br/>
            <a:r>
              <a:t>&gt; 중대재해 "Zero" 달성</a:t>
            </a:r>
            <a:br/>
            <a:r>
              <a:t>&gt; 재무건전성(영업이익률)</a:t>
            </a:r>
          </a:p>
        </p:txBody>
      </p:sp>
      <p:sp>
        <p:nvSpPr>
          <p:cNvPr id="8" name="TextBox 7"/>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N/A | Page 181</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경영목표 수립 - 경영목표 유형 분류</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경영목표 설정 시 '전략 방향성', '집적된 데이터', '데이터의 활용', '정책·경제 환경' 요인을 기준으로 목표설정 유형을 분류하고, 각 지표에 적합한 유형별 목표설정 방식을 적용하여 경영목표를 설정함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경영목표 유형 분류</a:t>
            </a:r>
          </a:p>
        </p:txBody>
      </p:sp>
      <p:sp>
        <p:nvSpPr>
          <p:cNvPr id="5" name="TextBox 4"/>
          <p:cNvSpPr txBox="1"/>
          <p:nvPr/>
        </p:nvSpPr>
        <p:spPr>
          <a:xfrm>
            <a:off x="457200" y="1828800"/>
            <a:ext cx="8229600" cy="685800"/>
          </a:xfrm>
          <a:prstGeom prst="rect">
            <a:avLst/>
          </a:prstGeom>
          <a:noFill/>
        </p:spPr>
        <p:txBody>
          <a:bodyPr wrap="square">
            <a:spAutoFit/>
          </a:bodyPr>
          <a:lstStyle/>
          <a:p>
            <a:pPr algn="l">
              <a:defRPr sz="900" b="0">
                <a:latin typeface="Malgun Gothic"/>
              </a:defRPr>
            </a:pPr>
            <a:r>
              <a:t>[TABLE]</a:t>
            </a:r>
            <a:br/>
            <a:r>
              <a:t>Table outlining different goal-setting types based on factors like strategic alignment, data availability, and environmental impact predictability.</a:t>
            </a:r>
          </a:p>
        </p:txBody>
      </p:sp>
      <p:sp>
        <p:nvSpPr>
          <p:cNvPr id="6" name="TextBox 5"/>
          <p:cNvSpPr txBox="1"/>
          <p:nvPr/>
        </p:nvSpPr>
        <p:spPr>
          <a:xfrm>
            <a:off x="457200" y="2606040"/>
            <a:ext cx="8229600" cy="457200"/>
          </a:xfrm>
          <a:prstGeom prst="rect">
            <a:avLst/>
          </a:prstGeom>
          <a:noFill/>
        </p:spPr>
        <p:txBody>
          <a:bodyPr wrap="square">
            <a:spAutoFit/>
          </a:bodyPr>
          <a:lstStyle/>
          <a:p>
            <a:pPr algn="l">
              <a:defRPr sz="1000" b="0">
                <a:latin typeface="Malgun Gothic"/>
              </a:defRPr>
            </a:pPr>
            <a:r>
              <a:t>*경영진 의지에 의한 전략형 목표유형은 과거 데이터 분석, 외부 데이터 접근성을 확인, 참고 정보로 활용함</a:t>
            </a:r>
          </a:p>
        </p:txBody>
      </p:sp>
      <p:sp>
        <p:nvSpPr>
          <p:cNvPr id="7" name="TextBox 6"/>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182 | Page 183</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경영목표 수립 - 경영목표 설정 ① 1등급 해역 비율 (1/3)</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1등급 해역 비율 목표는 기존 해양수질 측정조사 자료와 제5차 해양환경종합계획의 국가 목표를 반영하여 '25년 17개 해역(65%), '30년 19개 해역(73%)를 기준으로 연도별 목표를 가속구간과 점증구간으로 구분하여 목표를 설정함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경영목표 설정 ① 1등급 해역 비율</a:t>
            </a:r>
          </a:p>
        </p:txBody>
      </p:sp>
      <p:sp>
        <p:nvSpPr>
          <p:cNvPr id="5" name="TextBox 4"/>
          <p:cNvSpPr txBox="1"/>
          <p:nvPr/>
        </p:nvSpPr>
        <p:spPr>
          <a:xfrm>
            <a:off x="457200" y="1828800"/>
            <a:ext cx="8229600" cy="914400"/>
          </a:xfrm>
          <a:prstGeom prst="rect">
            <a:avLst/>
          </a:prstGeom>
          <a:noFill/>
        </p:spPr>
        <p:txBody>
          <a:bodyPr wrap="square">
            <a:spAutoFit/>
          </a:bodyPr>
          <a:lstStyle/>
          <a:p>
            <a:pPr algn="l">
              <a:defRPr sz="900" b="0">
                <a:latin typeface="Malgun Gothic"/>
              </a:defRPr>
            </a:pPr>
            <a:r>
              <a:t>[TABLE]</a:t>
            </a:r>
            <a:br/>
            <a:r>
              <a:t>지표	'18	'19	'20	'21	'22	'23	'24	'25	'26	'27	'28	'29	'30</a:t>
            </a:r>
            <a:br/>
            <a:r>
              <a:t>1등급 해역 수	14	14	10	12	13	14	16	17	17	18	18	18	19</a:t>
            </a:r>
            <a:br/>
            <a:r>
              <a:t>1등급 해역 비율	54%	54%	38%	46%	50%	54%	62%	65%	65%	69%	69%	69%	73%</a:t>
            </a:r>
          </a:p>
        </p:txBody>
      </p:sp>
      <p:sp>
        <p:nvSpPr>
          <p:cNvPr id="6" name="TextBox 5"/>
          <p:cNvSpPr txBox="1"/>
          <p:nvPr/>
        </p:nvSpPr>
        <p:spPr>
          <a:xfrm>
            <a:off x="457200" y="2834640"/>
            <a:ext cx="8229600" cy="274320"/>
          </a:xfrm>
          <a:prstGeom prst="rect">
            <a:avLst/>
          </a:prstGeom>
          <a:noFill/>
        </p:spPr>
        <p:txBody>
          <a:bodyPr wrap="square">
            <a:spAutoFit/>
          </a:bodyPr>
          <a:lstStyle/>
          <a:p>
            <a:pPr algn="l">
              <a:defRPr sz="1200" b="1">
                <a:solidFill>
                  <a:srgbClr val="003366"/>
                </a:solidFill>
                <a:latin typeface="Malgun Gothic"/>
              </a:defRPr>
            </a:pPr>
            <a:r>
              <a:t>목표 설정 방식</a:t>
            </a:r>
          </a:p>
        </p:txBody>
      </p:sp>
      <p:sp>
        <p:nvSpPr>
          <p:cNvPr id="7" name="TextBox 6"/>
          <p:cNvSpPr txBox="1"/>
          <p:nvPr/>
        </p:nvSpPr>
        <p:spPr>
          <a:xfrm>
            <a:off x="457200" y="3200400"/>
            <a:ext cx="8229600" cy="1600200"/>
          </a:xfrm>
          <a:prstGeom prst="rect">
            <a:avLst/>
          </a:prstGeom>
          <a:noFill/>
        </p:spPr>
        <p:txBody>
          <a:bodyPr wrap="square">
            <a:spAutoFit/>
          </a:bodyPr>
          <a:lstStyle/>
          <a:p>
            <a:pPr algn="l">
              <a:defRPr sz="1000" b="0">
                <a:latin typeface="Malgun Gothic"/>
              </a:defRPr>
            </a:pPr>
            <a:r>
              <a:t>√ 1등급 해역 비율의 목표 설정은 기존 해양수질 측정 데이터를 기반으로 '18~'19년 1등급 해역 14개(54%)를 기준으로 수립된 제5차 해양환경종합계획의 국가 목표를 반영하여 설정함</a:t>
            </a:r>
            <a:br/>
            <a:r>
              <a:t>✓ '20년 1등급 해역 10개(38%) 현황을 기준으로, '25년 17개(65%), '30년 19개(73%) 국가 목표를 달성하기 위해, 점진적 개선을 고려하여 목표를 설정함</a:t>
            </a:r>
            <a:br/>
            <a:r>
              <a:t>✓ '20년 10개(38%)의 낮은 기저에서 '25년 17개(65%) 목표 달성을 위한 가속 수질개선 구간과 '25년 17개(65%) 달성 이후 '30년 19개(73%) 목표 달성을 위한 점진적 수질개선 구간으로 구분하여 목표를 설정함</a:t>
            </a:r>
          </a:p>
        </p:txBody>
      </p:sp>
      <p:sp>
        <p:nvSpPr>
          <p:cNvPr id="8" name="TextBox 7"/>
          <p:cNvSpPr txBox="1"/>
          <p:nvPr/>
        </p:nvSpPr>
        <p:spPr>
          <a:xfrm>
            <a:off x="457200" y="4892040"/>
            <a:ext cx="8229600" cy="228600"/>
          </a:xfrm>
          <a:prstGeom prst="rect">
            <a:avLst/>
          </a:prstGeom>
          <a:noFill/>
        </p:spPr>
        <p:txBody>
          <a:bodyPr wrap="square">
            <a:spAutoFit/>
          </a:bodyPr>
          <a:lstStyle/>
          <a:p>
            <a:pPr algn="l">
              <a:defRPr sz="1000" b="0">
                <a:latin typeface="Malgun Gothic"/>
              </a:defRPr>
            </a:pPr>
            <a:r>
              <a:t>전략목표</a:t>
            </a:r>
          </a:p>
        </p:txBody>
      </p:sp>
      <p:sp>
        <p:nvSpPr>
          <p:cNvPr id="9" name="TextBox 8"/>
          <p:cNvSpPr txBox="1"/>
          <p:nvPr/>
        </p:nvSpPr>
        <p:spPr>
          <a:xfrm>
            <a:off x="457200" y="5212080"/>
            <a:ext cx="8229600" cy="228600"/>
          </a:xfrm>
          <a:prstGeom prst="rect">
            <a:avLst/>
          </a:prstGeom>
          <a:noFill/>
        </p:spPr>
        <p:txBody>
          <a:bodyPr wrap="square">
            <a:spAutoFit/>
          </a:bodyPr>
          <a:lstStyle/>
          <a:p>
            <a:pPr algn="l">
              <a:defRPr sz="1000" b="0">
                <a:latin typeface="Malgun Gothic"/>
              </a:defRPr>
            </a:pPr>
            <a:r>
              <a:t>건강한 해양생태계 보전</a:t>
            </a:r>
          </a:p>
        </p:txBody>
      </p:sp>
      <p:sp>
        <p:nvSpPr>
          <p:cNvPr id="10" name="TextBox 9"/>
          <p:cNvSpPr txBox="1"/>
          <p:nvPr/>
        </p:nvSpPr>
        <p:spPr>
          <a:xfrm>
            <a:off x="457200" y="5532120"/>
            <a:ext cx="8229600" cy="228600"/>
          </a:xfrm>
          <a:prstGeom prst="rect">
            <a:avLst/>
          </a:prstGeom>
          <a:noFill/>
        </p:spPr>
        <p:txBody>
          <a:bodyPr wrap="square">
            <a:spAutoFit/>
          </a:bodyPr>
          <a:lstStyle/>
          <a:p>
            <a:pPr algn="l">
              <a:defRPr sz="1000" b="0">
                <a:latin typeface="Malgun Gothic"/>
              </a:defRPr>
            </a:pPr>
            <a:r>
              <a:t>경영목표</a:t>
            </a:r>
          </a:p>
        </p:txBody>
      </p:sp>
      <p:sp>
        <p:nvSpPr>
          <p:cNvPr id="11" name="TextBox 10"/>
          <p:cNvSpPr txBox="1"/>
          <p:nvPr/>
        </p:nvSpPr>
        <p:spPr>
          <a:xfrm>
            <a:off x="457200" y="5852160"/>
            <a:ext cx="8229600" cy="228600"/>
          </a:xfrm>
          <a:prstGeom prst="rect">
            <a:avLst/>
          </a:prstGeom>
          <a:noFill/>
        </p:spPr>
        <p:txBody>
          <a:bodyPr wrap="square">
            <a:spAutoFit/>
          </a:bodyPr>
          <a:lstStyle/>
          <a:p>
            <a:pPr algn="l">
              <a:defRPr sz="1000" b="0">
                <a:latin typeface="Malgun Gothic"/>
              </a:defRPr>
            </a:pPr>
            <a:r>
              <a:t>1등급 해역 비율</a:t>
            </a:r>
          </a:p>
        </p:txBody>
      </p:sp>
      <p:sp>
        <p:nvSpPr>
          <p:cNvPr id="12" name="TextBox 11"/>
          <p:cNvSpPr txBox="1"/>
          <p:nvPr/>
        </p:nvSpPr>
        <p:spPr>
          <a:xfrm>
            <a:off x="457200" y="6172200"/>
            <a:ext cx="8229600" cy="228600"/>
          </a:xfrm>
          <a:prstGeom prst="rect">
            <a:avLst/>
          </a:prstGeom>
          <a:noFill/>
        </p:spPr>
        <p:txBody>
          <a:bodyPr wrap="square">
            <a:spAutoFit/>
          </a:bodyPr>
          <a:lstStyle/>
          <a:p>
            <a:pPr algn="l">
              <a:defRPr sz="1000" b="0">
                <a:latin typeface="Malgun Gothic"/>
              </a:defRPr>
            </a:pPr>
            <a:r>
              <a:t>목표설정 유형</a:t>
            </a:r>
          </a:p>
        </p:txBody>
      </p:sp>
      <p:sp>
        <p:nvSpPr>
          <p:cNvPr id="13" name="TextBox 12"/>
          <p:cNvSpPr txBox="1"/>
          <p:nvPr/>
        </p:nvSpPr>
        <p:spPr>
          <a:xfrm>
            <a:off x="457200" y="6492240"/>
            <a:ext cx="8229600" cy="228600"/>
          </a:xfrm>
          <a:prstGeom prst="rect">
            <a:avLst/>
          </a:prstGeom>
          <a:noFill/>
        </p:spPr>
        <p:txBody>
          <a:bodyPr wrap="square">
            <a:spAutoFit/>
          </a:bodyPr>
          <a:lstStyle/>
          <a:p>
            <a:pPr algn="l">
              <a:defRPr sz="1000" b="0">
                <a:latin typeface="Malgun Gothic"/>
              </a:defRPr>
            </a:pPr>
            <a:r>
              <a:t>전략형</a:t>
            </a:r>
          </a:p>
        </p:txBody>
      </p:sp>
      <p:sp>
        <p:nvSpPr>
          <p:cNvPr id="14" name="TextBox 13"/>
          <p:cNvSpPr txBox="1"/>
          <p:nvPr/>
        </p:nvSpPr>
        <p:spPr>
          <a:xfrm>
            <a:off x="457200" y="6812280"/>
            <a:ext cx="8229600" cy="228600"/>
          </a:xfrm>
          <a:prstGeom prst="rect">
            <a:avLst/>
          </a:prstGeom>
          <a:noFill/>
        </p:spPr>
        <p:txBody>
          <a:bodyPr wrap="square">
            <a:spAutoFit/>
          </a:bodyPr>
          <a:lstStyle/>
          <a:p>
            <a:pPr algn="l">
              <a:defRPr sz="1000" b="0">
                <a:latin typeface="Malgun Gothic"/>
              </a:defRPr>
            </a:pPr>
            <a:r>
              <a:t>기술</a:t>
            </a:r>
            <a:br/>
            <a:r>
              <a:t>분석형1</a:t>
            </a:r>
          </a:p>
        </p:txBody>
      </p:sp>
      <p:sp>
        <p:nvSpPr>
          <p:cNvPr id="15" name="TextBox 14"/>
          <p:cNvSpPr txBox="1"/>
          <p:nvPr/>
        </p:nvSpPr>
        <p:spPr>
          <a:xfrm>
            <a:off x="457200" y="7132320"/>
            <a:ext cx="8229600" cy="228600"/>
          </a:xfrm>
          <a:prstGeom prst="rect">
            <a:avLst/>
          </a:prstGeom>
          <a:noFill/>
        </p:spPr>
        <p:txBody>
          <a:bodyPr wrap="square">
            <a:spAutoFit/>
          </a:bodyPr>
          <a:lstStyle/>
          <a:p>
            <a:pPr algn="l">
              <a:defRPr sz="1000" b="0">
                <a:latin typeface="Malgun Gothic"/>
              </a:defRPr>
            </a:pPr>
            <a:r>
              <a:t>기술</a:t>
            </a:r>
            <a:br/>
            <a:r>
              <a:t>분석형2</a:t>
            </a:r>
          </a:p>
        </p:txBody>
      </p:sp>
      <p:sp>
        <p:nvSpPr>
          <p:cNvPr id="16" name="TextBox 15"/>
          <p:cNvSpPr txBox="1"/>
          <p:nvPr/>
        </p:nvSpPr>
        <p:spPr>
          <a:xfrm>
            <a:off x="457200" y="7452360"/>
            <a:ext cx="8229600" cy="228600"/>
          </a:xfrm>
          <a:prstGeom prst="rect">
            <a:avLst/>
          </a:prstGeom>
          <a:noFill/>
        </p:spPr>
        <p:txBody>
          <a:bodyPr wrap="square">
            <a:spAutoFit/>
          </a:bodyPr>
          <a:lstStyle/>
          <a:p>
            <a:pPr algn="l">
              <a:defRPr sz="1000" b="0">
                <a:latin typeface="Malgun Gothic"/>
              </a:defRPr>
            </a:pPr>
            <a:r>
              <a:t>벤치마킹형</a:t>
            </a:r>
          </a:p>
        </p:txBody>
      </p:sp>
      <p:sp>
        <p:nvSpPr>
          <p:cNvPr id="17" name="TextBox 16"/>
          <p:cNvSpPr txBox="1"/>
          <p:nvPr/>
        </p:nvSpPr>
        <p:spPr>
          <a:xfrm>
            <a:off x="457200" y="7772400"/>
            <a:ext cx="8229600" cy="228600"/>
          </a:xfrm>
          <a:prstGeom prst="rect">
            <a:avLst/>
          </a:prstGeom>
          <a:noFill/>
        </p:spPr>
        <p:txBody>
          <a:bodyPr wrap="square">
            <a:spAutoFit/>
          </a:bodyPr>
          <a:lstStyle/>
          <a:p>
            <a:pPr algn="l">
              <a:defRPr sz="1000" b="0">
                <a:latin typeface="Malgun Gothic"/>
              </a:defRPr>
            </a:pPr>
            <a:r>
              <a:t>현업설정형</a:t>
            </a:r>
          </a:p>
        </p:txBody>
      </p:sp>
      <p:sp>
        <p:nvSpPr>
          <p:cNvPr id="18" name="TextBox 17"/>
          <p:cNvSpPr txBox="1"/>
          <p:nvPr/>
        </p:nvSpPr>
        <p:spPr>
          <a:xfrm>
            <a:off x="457200" y="8092440"/>
            <a:ext cx="8229600" cy="228600"/>
          </a:xfrm>
          <a:prstGeom prst="rect">
            <a:avLst/>
          </a:prstGeom>
          <a:noFill/>
        </p:spPr>
        <p:txBody>
          <a:bodyPr wrap="square">
            <a:spAutoFit/>
          </a:bodyPr>
          <a:lstStyle/>
          <a:p>
            <a:pPr algn="l">
              <a:defRPr sz="1000" b="0">
                <a:latin typeface="Malgun Gothic"/>
              </a:defRPr>
            </a:pPr>
            <a:r>
              <a:t>관리</a:t>
            </a:r>
            <a:br/>
            <a:r>
              <a:t>KPI化*</a:t>
            </a:r>
          </a:p>
        </p:txBody>
      </p:sp>
      <p:sp>
        <p:nvSpPr>
          <p:cNvPr id="19" name="TextBox 18"/>
          <p:cNvSpPr txBox="1"/>
          <p:nvPr/>
        </p:nvSpPr>
        <p:spPr>
          <a:xfrm>
            <a:off x="457200" y="8412480"/>
            <a:ext cx="8229600" cy="228600"/>
          </a:xfrm>
          <a:prstGeom prst="rect">
            <a:avLst/>
          </a:prstGeom>
          <a:noFill/>
        </p:spPr>
        <p:txBody>
          <a:bodyPr wrap="square">
            <a:spAutoFit/>
          </a:bodyPr>
          <a:lstStyle/>
          <a:p>
            <a:pPr algn="l">
              <a:defRPr sz="1000" b="0">
                <a:latin typeface="Malgun Gothic"/>
              </a:defRPr>
            </a:pPr>
            <a:r>
              <a:t>제5차 해양환경종합계획 국가목표</a:t>
            </a:r>
          </a:p>
        </p:txBody>
      </p:sp>
      <p:sp>
        <p:nvSpPr>
          <p:cNvPr id="20" name="TextBox 19"/>
          <p:cNvSpPr txBox="1"/>
          <p:nvPr/>
        </p:nvSpPr>
        <p:spPr>
          <a:xfrm>
            <a:off x="457200" y="8732520"/>
            <a:ext cx="8229600" cy="457200"/>
          </a:xfrm>
          <a:prstGeom prst="rect">
            <a:avLst/>
          </a:prstGeom>
          <a:noFill/>
        </p:spPr>
        <p:txBody>
          <a:bodyPr wrap="square">
            <a:spAutoFit/>
          </a:bodyPr>
          <a:lstStyle/>
          <a:p>
            <a:pPr algn="l">
              <a:defRPr sz="1000" b="0">
                <a:latin typeface="Malgun Gothic"/>
              </a:defRPr>
            </a:pPr>
            <a:r>
              <a:t>'20년 10개(38%)의 낮은</a:t>
            </a:r>
            <a:br/>
            <a:r>
              <a:t>기저에서 '25년 17개(65%)</a:t>
            </a:r>
            <a:br/>
            <a:r>
              <a:t>목표 달성을 위한 가속</a:t>
            </a:r>
            <a:br/>
            <a:r>
              <a:t>수질개선 구간</a:t>
            </a:r>
          </a:p>
        </p:txBody>
      </p:sp>
      <p:sp>
        <p:nvSpPr>
          <p:cNvPr id="21" name="TextBox 20"/>
          <p:cNvSpPr txBox="1"/>
          <p:nvPr/>
        </p:nvSpPr>
        <p:spPr>
          <a:xfrm>
            <a:off x="457200" y="9281160"/>
            <a:ext cx="8229600" cy="457200"/>
          </a:xfrm>
          <a:prstGeom prst="rect">
            <a:avLst/>
          </a:prstGeom>
          <a:noFill/>
        </p:spPr>
        <p:txBody>
          <a:bodyPr wrap="square">
            <a:spAutoFit/>
          </a:bodyPr>
          <a:lstStyle/>
          <a:p>
            <a:pPr algn="l">
              <a:defRPr sz="1000" b="0">
                <a:latin typeface="Malgun Gothic"/>
              </a:defRPr>
            </a:pPr>
            <a:r>
              <a:t>'25년 17개(65%) 목표 달성</a:t>
            </a:r>
            <a:br/>
            <a:r>
              <a:t>이후 '30년 19개(73%) 목표</a:t>
            </a:r>
            <a:br/>
            <a:r>
              <a:t>달성을 위한 점진적</a:t>
            </a:r>
            <a:br/>
            <a:r>
              <a:t>수질개선 구간</a:t>
            </a:r>
          </a:p>
        </p:txBody>
      </p:sp>
      <p:sp>
        <p:nvSpPr>
          <p:cNvPr id="22" name="TextBox 21"/>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183 | Page 184</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경영목표 수립 - 경영목표 설정 ① 1등급 해역 비율 (2/3)</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1등급 해역 비율의 해역별 수질등급기준을 WQI를 사용하고, 제5차 해양환경종합계획에서 '19년 현황을 기준으로, '25년 및 '30년의 목표를 각각 65%, 73%로 수립하고 있음</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경영목표 설정 ① 1등급 해역 비율 : 해역별 수질등급 기준 및 제5차 해양환경종합계획 목표</a:t>
            </a:r>
          </a:p>
        </p:txBody>
      </p:sp>
      <p:sp>
        <p:nvSpPr>
          <p:cNvPr id="5" name="TextBox 4"/>
          <p:cNvSpPr txBox="1"/>
          <p:nvPr/>
        </p:nvSpPr>
        <p:spPr>
          <a:xfrm>
            <a:off x="457200" y="1828800"/>
            <a:ext cx="8229600" cy="1371600"/>
          </a:xfrm>
          <a:prstGeom prst="rect">
            <a:avLst/>
          </a:prstGeom>
          <a:noFill/>
        </p:spPr>
        <p:txBody>
          <a:bodyPr wrap="square">
            <a:spAutoFit/>
          </a:bodyPr>
          <a:lstStyle/>
          <a:p>
            <a:pPr algn="l">
              <a:defRPr sz="1000" b="0">
                <a:latin typeface="Malgun Gothic"/>
              </a:defRPr>
            </a:pPr>
            <a:r>
              <a:t>해역별 수질등급기준 (해양수산부 고지 제2018-10호)</a:t>
            </a:r>
            <a:br/>
            <a:r>
              <a:t>• 해역별 수질등급기준 : 해역을 해류, 조석, 탁도, 수심 등을 기준으로 다섯 가지의 생태구로 구분하고 부영양화의 원인항목에 해당하는 평가항목으로 계산된 수질등급기준</a:t>
            </a:r>
            <a:br/>
            <a:br/>
            <a:r>
              <a:t>• 수질평가지수(WQI, Water Quality Index)</a:t>
            </a:r>
            <a:br/>
            <a:r>
              <a:t>= 10×[저층산소포화도(DO)] + 6×[(식물플랑크톤 농도(Chl-a) +</a:t>
            </a:r>
            <a:br/>
            <a:r>
              <a:t>투명도(SD))/2] + 4×[(용존무기질소 농도(DIN) +용존무기인</a:t>
            </a:r>
            <a:br/>
            <a:r>
              <a:t>농도(DIP))/2]</a:t>
            </a:r>
            <a:br/>
            <a:br/>
            <a:r>
              <a:t>• 수질평가지수에 따른 해역등급 분류</a:t>
            </a:r>
          </a:p>
        </p:txBody>
      </p:sp>
      <p:sp>
        <p:nvSpPr>
          <p:cNvPr id="6" name="TextBox 5"/>
          <p:cNvSpPr txBox="1"/>
          <p:nvPr/>
        </p:nvSpPr>
        <p:spPr>
          <a:xfrm>
            <a:off x="457200" y="3291840"/>
            <a:ext cx="8229600" cy="685800"/>
          </a:xfrm>
          <a:prstGeom prst="rect">
            <a:avLst/>
          </a:prstGeom>
          <a:noFill/>
        </p:spPr>
        <p:txBody>
          <a:bodyPr wrap="square">
            <a:spAutoFit/>
          </a:bodyPr>
          <a:lstStyle/>
          <a:p>
            <a:pPr algn="l">
              <a:defRPr sz="900" b="0">
                <a:latin typeface="Malgun Gothic"/>
              </a:defRPr>
            </a:pPr>
            <a:r>
              <a:t>[TABLE]</a:t>
            </a:r>
            <a:br/>
            <a:r>
              <a:t>등급 | 수질평가 지수값 (WQI)</a:t>
            </a:r>
            <a:br/>
            <a:r>
              <a:t>---</a:t>
            </a:r>
            <a:br/>
            <a:r>
              <a:t>I (매우 좋음) | 23 이하</a:t>
            </a:r>
            <a:br/>
            <a:r>
              <a:t>---</a:t>
            </a:r>
            <a:br/>
            <a:r>
              <a:t>II (좋음) | 24 - 33</a:t>
            </a:r>
            <a:br/>
            <a:r>
              <a:t>---</a:t>
            </a:r>
            <a:br/>
            <a:r>
              <a:t>III (보통) | 34 - 46</a:t>
            </a:r>
            <a:br/>
            <a:r>
              <a:t>---</a:t>
            </a:r>
            <a:br/>
            <a:r>
              <a:t>IV (나쁨) | 47 - 59</a:t>
            </a:r>
            <a:br/>
            <a:r>
              <a:t>---</a:t>
            </a:r>
            <a:br/>
            <a:r>
              <a:t>V (매우 나쁨) | 60 이상</a:t>
            </a:r>
          </a:p>
        </p:txBody>
      </p:sp>
      <p:sp>
        <p:nvSpPr>
          <p:cNvPr id="7" name="Rectangle 6"/>
          <p:cNvSpPr/>
          <p:nvPr/>
        </p:nvSpPr>
        <p:spPr>
          <a:xfrm>
            <a:off x="45720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8" name="TextBox 7"/>
          <p:cNvSpPr txBox="1"/>
          <p:nvPr/>
        </p:nvSpPr>
        <p:spPr>
          <a:xfrm>
            <a:off x="54864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9" name="Rectangle 8"/>
          <p:cNvSpPr/>
          <p:nvPr/>
        </p:nvSpPr>
        <p:spPr>
          <a:xfrm>
            <a:off x="323088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0" name="TextBox 9"/>
          <p:cNvSpPr txBox="1"/>
          <p:nvPr/>
        </p:nvSpPr>
        <p:spPr>
          <a:xfrm>
            <a:off x="332232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1" name="Rectangle 10"/>
          <p:cNvSpPr/>
          <p:nvPr/>
        </p:nvSpPr>
        <p:spPr>
          <a:xfrm>
            <a:off x="600456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2" name="TextBox 11"/>
          <p:cNvSpPr txBox="1"/>
          <p:nvPr/>
        </p:nvSpPr>
        <p:spPr>
          <a:xfrm>
            <a:off x="609600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3" name="TextBox 12"/>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 | Page 185</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경영목표 수립 - 경영목표 설정 ① 1등급 해역 비율 (3/3)</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'18년~'20년 26개 해역에 대한 수질등급 조사에서 1등급은 '18년, '19년 14개에서 '20년 10개로 4개 지역이 감소된 것으로 측정되었으며, 수질개선이 필요한 해역은 2등급 및 3등급의 16개 해역으로 조사됨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경영목표 설정 ① 1등급 해역 비율 : 3개년 26개 해역 수질등급 현황</a:t>
            </a:r>
          </a:p>
        </p:txBody>
      </p:sp>
      <p:sp>
        <p:nvSpPr>
          <p:cNvPr id="5" name="TextBox 4"/>
          <p:cNvSpPr txBox="1"/>
          <p:nvPr/>
        </p:nvSpPr>
        <p:spPr>
          <a:xfrm>
            <a:off x="457200" y="1828800"/>
            <a:ext cx="8229600" cy="1143000"/>
          </a:xfrm>
          <a:prstGeom prst="rect">
            <a:avLst/>
          </a:prstGeom>
          <a:noFill/>
        </p:spPr>
        <p:txBody>
          <a:bodyPr wrap="square">
            <a:spAutoFit/>
          </a:bodyPr>
          <a:lstStyle/>
          <a:p>
            <a:pPr algn="l">
              <a:defRPr sz="900" b="0">
                <a:latin typeface="Malgun Gothic"/>
              </a:defRPr>
            </a:pPr>
            <a:r>
              <a:t>[TABLE]</a:t>
            </a:r>
            <a:br/>
            <a:r>
              <a:t>Table with water quality data by region, year, and water quality grade. Columns include 측정망 구성, 생태구역, 해역명칭, 해수수질(등급) for 2018, 2019, and 2020. There is also a table showing grade, count, and percentage for each grade for 2018, 2019, and 2020.</a:t>
            </a:r>
          </a:p>
        </p:txBody>
      </p:sp>
      <p:sp>
        <p:nvSpPr>
          <p:cNvPr id="6" name="TextBox 5"/>
          <p:cNvSpPr txBox="1"/>
          <p:nvPr/>
        </p:nvSpPr>
        <p:spPr>
          <a:xfrm>
            <a:off x="457200" y="3063240"/>
            <a:ext cx="8229600" cy="274320"/>
          </a:xfrm>
          <a:prstGeom prst="rect">
            <a:avLst/>
          </a:prstGeom>
          <a:noFill/>
        </p:spPr>
        <p:txBody>
          <a:bodyPr wrap="square">
            <a:spAutoFit/>
          </a:bodyPr>
          <a:lstStyle/>
          <a:p>
            <a:pPr algn="l">
              <a:defRPr sz="1200" b="1">
                <a:solidFill>
                  <a:srgbClr val="003366"/>
                </a:solidFill>
                <a:latin typeface="Malgun Gothic"/>
              </a:defRPr>
            </a:pPr>
            <a:r>
              <a:t>해수수질 개선 필요 구역</a:t>
            </a:r>
          </a:p>
        </p:txBody>
      </p:sp>
      <p:sp>
        <p:nvSpPr>
          <p:cNvPr id="7" name="TextBox 6"/>
          <p:cNvSpPr txBox="1"/>
          <p:nvPr/>
        </p:nvSpPr>
        <p:spPr>
          <a:xfrm>
            <a:off x="457200" y="3429000"/>
            <a:ext cx="8229600" cy="914400"/>
          </a:xfrm>
          <a:prstGeom prst="rect">
            <a:avLst/>
          </a:prstGeom>
          <a:noFill/>
        </p:spPr>
        <p:txBody>
          <a:bodyPr wrap="square">
            <a:spAutoFit/>
          </a:bodyPr>
          <a:lstStyle/>
          <a:p>
            <a:pPr algn="l">
              <a:defRPr sz="900" b="0">
                <a:latin typeface="Malgun Gothic"/>
              </a:defRPr>
            </a:pPr>
            <a:r>
              <a:t>[TABLE]</a:t>
            </a:r>
            <a:br/>
            <a:r>
              <a:t>Table listing areas requiring water quality improvement for 2018, 2019, and 2020. Columns are 구분, 2018년, 2019년, 2020년, with specific locations listed for each year.</a:t>
            </a:r>
          </a:p>
        </p:txBody>
      </p:sp>
      <p:sp>
        <p:nvSpPr>
          <p:cNvPr id="8" name="TextBox 7"/>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186</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경영목표 수립 - 경영목표 설정 ② 갯벌복원 면적 (1/2)</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갯벌복원 면적(누적) 목표는 기존 갯벌복원 사업의 추진 경과와 제5차 해양환경종합계획의 국가 목표를 반영하여 누적 복원면적을 '25년 4.5m², '30년 10.0㎢로 가속해서 증가시키는 것으로 연도별 목표를 구간별로 설정함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목표 설정 방식</a:t>
            </a:r>
          </a:p>
        </p:txBody>
      </p:sp>
      <p:sp>
        <p:nvSpPr>
          <p:cNvPr id="5" name="TextBox 4"/>
          <p:cNvSpPr txBox="1"/>
          <p:nvPr/>
        </p:nvSpPr>
        <p:spPr>
          <a:xfrm>
            <a:off x="457200" y="1828800"/>
            <a:ext cx="8229600" cy="1371600"/>
          </a:xfrm>
          <a:prstGeom prst="rect">
            <a:avLst/>
          </a:prstGeom>
          <a:noFill/>
        </p:spPr>
        <p:txBody>
          <a:bodyPr wrap="square">
            <a:spAutoFit/>
          </a:bodyPr>
          <a:lstStyle/>
          <a:p>
            <a:pPr algn="l">
              <a:defRPr sz="1000" b="0">
                <a:latin typeface="Malgun Gothic"/>
              </a:defRPr>
            </a:pPr>
            <a:r>
              <a:t>✓ 갯벌복원 면적 목표설정은 제5차</a:t>
            </a:r>
            <a:br/>
            <a:r>
              <a:t>해양환경종합계획의 국가 목표를</a:t>
            </a:r>
            <a:br/>
            <a:r>
              <a:t>반영하여 '25년, '30년 복원면적 누적 목표를</a:t>
            </a:r>
            <a:br/>
            <a:r>
              <a:t>달성하기 위한 연간 목표를 설정함</a:t>
            </a:r>
            <a:br/>
            <a:r>
              <a:t>✓ '20년부터 '25년까지는 '25년 4.5m² 목표</a:t>
            </a:r>
            <a:br/>
            <a:r>
              <a:t>달성을 위해 연간 0.6m²를 매년 복원하는</a:t>
            </a:r>
            <a:br/>
            <a:r>
              <a:t>것으로 목표를 수립함</a:t>
            </a:r>
            <a:br/>
            <a:r>
              <a:t>✓ '26~'30년은 '25년부터 갯벌복원의 속도를</a:t>
            </a:r>
            <a:br/>
            <a:r>
              <a:t>가속하여 '30년 10.0m² 국가목표 달성을</a:t>
            </a:r>
            <a:br/>
            <a:r>
              <a:t>위해 연간 1.0~1.2m²를 매년 복원하는</a:t>
            </a:r>
            <a:br/>
            <a:r>
              <a:t>것으로 복원속도를 가속하는 것으로 목표를</a:t>
            </a:r>
            <a:br/>
            <a:r>
              <a:t>설정함</a:t>
            </a:r>
          </a:p>
        </p:txBody>
      </p:sp>
      <p:sp>
        <p:nvSpPr>
          <p:cNvPr id="6" name="TextBox 5"/>
          <p:cNvSpPr txBox="1"/>
          <p:nvPr/>
        </p:nvSpPr>
        <p:spPr>
          <a:xfrm>
            <a:off x="457200" y="3291840"/>
            <a:ext cx="8229600" cy="274320"/>
          </a:xfrm>
          <a:prstGeom prst="rect">
            <a:avLst/>
          </a:prstGeom>
          <a:noFill/>
        </p:spPr>
        <p:txBody>
          <a:bodyPr wrap="square">
            <a:spAutoFit/>
          </a:bodyPr>
          <a:lstStyle/>
          <a:p>
            <a:pPr algn="l">
              <a:defRPr sz="1200" b="1">
                <a:solidFill>
                  <a:srgbClr val="003366"/>
                </a:solidFill>
                <a:latin typeface="Malgun Gothic"/>
              </a:defRPr>
            </a:pPr>
            <a:r>
              <a:t>지표</a:t>
            </a:r>
          </a:p>
        </p:txBody>
      </p:sp>
      <p:sp>
        <p:nvSpPr>
          <p:cNvPr id="7" name="TextBox 6"/>
          <p:cNvSpPr txBox="1"/>
          <p:nvPr/>
        </p:nvSpPr>
        <p:spPr>
          <a:xfrm>
            <a:off x="457200" y="3657600"/>
            <a:ext cx="8229600" cy="914400"/>
          </a:xfrm>
          <a:prstGeom prst="rect">
            <a:avLst/>
          </a:prstGeom>
          <a:noFill/>
        </p:spPr>
        <p:txBody>
          <a:bodyPr wrap="square">
            <a:spAutoFit/>
          </a:bodyPr>
          <a:lstStyle/>
          <a:p>
            <a:pPr algn="l">
              <a:defRPr sz="900" b="0">
                <a:latin typeface="Malgun Gothic"/>
              </a:defRPr>
            </a:pPr>
            <a:r>
              <a:t>[TABLE]</a:t>
            </a:r>
            <a:br/>
            <a:r>
              <a:t>||'20|'21|'22|'23|'24|'25|'26|'27|'28|'29|'30|</a:t>
            </a:r>
            <a:br/>
            <a:r>
              <a:t>|---|---|---|---|---|---|---|---|---|---|---|---|</a:t>
            </a:r>
            <a:br/>
            <a:r>
              <a:t>|갯벌복원 면적 (누적, km²)|1.5|2.1|2.7|3.3|3.9|4.5|5.5|6.5|7.6|8.8|10.0|</a:t>
            </a:r>
          </a:p>
        </p:txBody>
      </p:sp>
      <p:sp>
        <p:nvSpPr>
          <p:cNvPr id="8" name="TextBox 7"/>
          <p:cNvSpPr txBox="1"/>
          <p:nvPr/>
        </p:nvSpPr>
        <p:spPr>
          <a:xfrm>
            <a:off x="457200" y="4663440"/>
            <a:ext cx="8229600" cy="274320"/>
          </a:xfrm>
          <a:prstGeom prst="rect">
            <a:avLst/>
          </a:prstGeom>
          <a:noFill/>
        </p:spPr>
        <p:txBody>
          <a:bodyPr wrap="square">
            <a:spAutoFit/>
          </a:bodyPr>
          <a:lstStyle/>
          <a:p>
            <a:pPr algn="l">
              <a:defRPr sz="1200" b="1">
                <a:solidFill>
                  <a:srgbClr val="003366"/>
                </a:solidFill>
                <a:latin typeface="Malgun Gothic"/>
              </a:defRPr>
            </a:pPr>
            <a:r>
              <a:t>제5차 해양환경종합계획 국가목표</a:t>
            </a:r>
          </a:p>
        </p:txBody>
      </p:sp>
      <p:sp>
        <p:nvSpPr>
          <p:cNvPr id="9" name="TextBox 8"/>
          <p:cNvSpPr txBox="1"/>
          <p:nvPr/>
        </p:nvSpPr>
        <p:spPr>
          <a:xfrm>
            <a:off x="457200" y="5029200"/>
            <a:ext cx="8229600" cy="457200"/>
          </a:xfrm>
          <a:prstGeom prst="rect">
            <a:avLst/>
          </a:prstGeom>
          <a:noFill/>
        </p:spPr>
        <p:txBody>
          <a:bodyPr wrap="square">
            <a:spAutoFit/>
          </a:bodyPr>
          <a:lstStyle/>
          <a:p>
            <a:pPr algn="l">
              <a:defRPr sz="1000" b="0">
                <a:latin typeface="Malgun Gothic"/>
              </a:defRPr>
            </a:pPr>
            <a:r>
              <a:t>'21년부터 '25년까지 年 0.6km²</a:t>
            </a:r>
            <a:br/>
            <a:r>
              <a:t>갯벌복원사업 실시하여 '25년</a:t>
            </a:r>
            <a:br/>
            <a:r>
              <a:t>◆ 누적 갯벌복원 목표인 4.5km²를</a:t>
            </a:r>
            <a:br/>
            <a:r>
              <a:t>달성하는 기준으로 연간 0.6km²</a:t>
            </a:r>
            <a:br/>
            <a:r>
              <a:t>갯벌복원 사업 시행 목표 수립</a:t>
            </a:r>
          </a:p>
        </p:txBody>
      </p:sp>
      <p:sp>
        <p:nvSpPr>
          <p:cNvPr id="10" name="TextBox 9"/>
          <p:cNvSpPr txBox="1"/>
          <p:nvPr/>
        </p:nvSpPr>
        <p:spPr>
          <a:xfrm>
            <a:off x="457200" y="5577840"/>
            <a:ext cx="8229600" cy="685800"/>
          </a:xfrm>
          <a:prstGeom prst="rect">
            <a:avLst/>
          </a:prstGeom>
          <a:noFill/>
        </p:spPr>
        <p:txBody>
          <a:bodyPr wrap="square">
            <a:spAutoFit/>
          </a:bodyPr>
          <a:lstStyle/>
          <a:p>
            <a:pPr algn="l">
              <a:defRPr sz="1000" b="0">
                <a:latin typeface="Malgun Gothic"/>
              </a:defRPr>
            </a:pPr>
            <a:r>
              <a:t>'26년부터 '30년까지는 기존</a:t>
            </a:r>
            <a:br/>
            <a:r>
              <a:t>갯벌복원에 비해 가속된</a:t>
            </a:r>
            <a:br/>
            <a:r>
              <a:t>갯벌복원 사업 실시로, 연간</a:t>
            </a:r>
            <a:br/>
            <a:r>
              <a:t>1.0~1.2m²의 갯벌을 복원해 '30년</a:t>
            </a:r>
            <a:br/>
            <a:r>
              <a:t>10.0km² 갯벌복원 누적 목표를</a:t>
            </a:r>
            <a:br/>
            <a:r>
              <a:t>달성하도록 경영목표 수립</a:t>
            </a:r>
          </a:p>
        </p:txBody>
      </p:sp>
      <p:sp>
        <p:nvSpPr>
          <p:cNvPr id="11" name="TextBox 10"/>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187</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경영목표 수립 - 경영목표 설정 ② 갯벌복원 면적 (2/2)</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제5차 해양환경 종합계획의 주요지표 중 갯벌복원 면적은 해양생태관광, 해양치유의 자원으로 활용할 수 있으며,</a:t>
            </a:r>
            <a:br/>
            <a:r>
              <a:t>블루카본으로 탄소흡수 기능을 가진 갯벌복원 사업에서 공단의 주도적인 역할과 목표의 관리가 필요함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경영목표 설정 ② 갯벌복원 면적(누적) : 제5차 해양환경종합계획 갯벌복원 면적 목표</a:t>
            </a:r>
          </a:p>
        </p:txBody>
      </p:sp>
      <p:sp>
        <p:nvSpPr>
          <p:cNvPr id="5" name="TextBox 4"/>
          <p:cNvSpPr txBox="1"/>
          <p:nvPr/>
        </p:nvSpPr>
        <p:spPr>
          <a:xfrm>
            <a:off x="457200" y="1828800"/>
            <a:ext cx="4023360" cy="228600"/>
          </a:xfrm>
          <a:prstGeom prst="rect">
            <a:avLst/>
          </a:prstGeom>
          <a:noFill/>
        </p:spPr>
        <p:txBody>
          <a:bodyPr wrap="square">
            <a:spAutoFit/>
          </a:bodyPr>
          <a:lstStyle/>
          <a:p>
            <a:pPr algn="l">
              <a:defRPr sz="1000" b="0">
                <a:latin typeface="Malgun Gothic"/>
              </a:defRPr>
            </a:pPr>
            <a:r>
              <a:t>갯벌면적 현황 (2018년 기준)</a:t>
            </a:r>
          </a:p>
        </p:txBody>
      </p:sp>
      <p:sp>
        <p:nvSpPr>
          <p:cNvPr id="6" name="TextBox 5"/>
          <p:cNvSpPr txBox="1"/>
          <p:nvPr/>
        </p:nvSpPr>
        <p:spPr>
          <a:xfrm>
            <a:off x="457200" y="2148840"/>
            <a:ext cx="4023360" cy="228600"/>
          </a:xfrm>
          <a:prstGeom prst="rect">
            <a:avLst/>
          </a:prstGeom>
          <a:noFill/>
        </p:spPr>
        <p:txBody>
          <a:bodyPr wrap="square">
            <a:spAutoFit/>
          </a:bodyPr>
          <a:lstStyle/>
          <a:p>
            <a:pPr algn="l">
              <a:defRPr sz="1000" b="0">
                <a:latin typeface="Malgun Gothic"/>
              </a:defRPr>
            </a:pPr>
            <a:r>
              <a:t>갯벌 면적은 '18년 2,482m²로 '87년 대비 22.5% 감소함</a:t>
            </a:r>
          </a:p>
        </p:txBody>
      </p:sp>
      <p:sp>
        <p:nvSpPr>
          <p:cNvPr id="7" name="TextBox 6"/>
          <p:cNvSpPr txBox="1"/>
          <p:nvPr/>
        </p:nvSpPr>
        <p:spPr>
          <a:xfrm>
            <a:off x="457200" y="2468880"/>
            <a:ext cx="4023360" cy="228600"/>
          </a:xfrm>
          <a:prstGeom prst="rect">
            <a:avLst/>
          </a:prstGeom>
          <a:noFill/>
        </p:spPr>
        <p:txBody>
          <a:bodyPr wrap="square">
            <a:spAutoFit/>
          </a:bodyPr>
          <a:lstStyle/>
          <a:p>
            <a:pPr algn="l">
              <a:defRPr sz="1000" b="0">
                <a:latin typeface="Malgun Gothic"/>
              </a:defRPr>
            </a:pPr>
            <a:r>
              <a:t>Bar chart showing 갯벌 면적 현황 from '87년 to '18년</a:t>
            </a:r>
          </a:p>
        </p:txBody>
      </p:sp>
      <p:sp>
        <p:nvSpPr>
          <p:cNvPr id="8" name="TextBox 7"/>
          <p:cNvSpPr txBox="1"/>
          <p:nvPr/>
        </p:nvSpPr>
        <p:spPr>
          <a:xfrm>
            <a:off x="457200" y="2788920"/>
            <a:ext cx="4023360" cy="457200"/>
          </a:xfrm>
          <a:prstGeom prst="rect">
            <a:avLst/>
          </a:prstGeom>
          <a:noFill/>
        </p:spPr>
        <p:txBody>
          <a:bodyPr wrap="square">
            <a:spAutoFit/>
          </a:bodyPr>
          <a:lstStyle/>
          <a:p>
            <a:pPr algn="l">
              <a:defRPr sz="1000" b="0">
                <a:latin typeface="Malgun Gothic"/>
              </a:defRPr>
            </a:pPr>
            <a:r>
              <a:t>지역별로는 전남(42.5%),</a:t>
            </a:r>
            <a:br/>
            <a:r>
              <a:t>인천·경기(36.1%) 및</a:t>
            </a:r>
            <a:br/>
            <a:r>
              <a:t>충남(13.7%) 지역에 우리나라</a:t>
            </a:r>
            <a:br/>
            <a:r>
              <a:t>연안습지의 90% 이상이</a:t>
            </a:r>
            <a:br/>
            <a:r>
              <a:t>분포되어 있음</a:t>
            </a:r>
          </a:p>
        </p:txBody>
      </p:sp>
      <p:sp>
        <p:nvSpPr>
          <p:cNvPr id="9" name="TextBox 8"/>
          <p:cNvSpPr txBox="1"/>
          <p:nvPr/>
        </p:nvSpPr>
        <p:spPr>
          <a:xfrm>
            <a:off x="457200" y="3337560"/>
            <a:ext cx="4023360" cy="228600"/>
          </a:xfrm>
          <a:prstGeom prst="rect">
            <a:avLst/>
          </a:prstGeom>
          <a:noFill/>
        </p:spPr>
        <p:txBody>
          <a:bodyPr wrap="square">
            <a:spAutoFit/>
          </a:bodyPr>
          <a:lstStyle/>
          <a:p>
            <a:pPr algn="l">
              <a:defRPr sz="1000" b="0">
                <a:latin typeface="Malgun Gothic"/>
              </a:defRPr>
            </a:pPr>
            <a:r>
              <a:t>Pie chart showing 지역별 갯벌 분포</a:t>
            </a:r>
          </a:p>
        </p:txBody>
      </p:sp>
      <p:sp>
        <p:nvSpPr>
          <p:cNvPr id="10" name="Rectangle 9"/>
          <p:cNvSpPr/>
          <p:nvPr/>
        </p:nvSpPr>
        <p:spPr>
          <a:xfrm>
            <a:off x="45720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1" name="TextBox 10"/>
          <p:cNvSpPr txBox="1"/>
          <p:nvPr/>
        </p:nvSpPr>
        <p:spPr>
          <a:xfrm>
            <a:off x="54864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2" name="Rectangle 11"/>
          <p:cNvSpPr/>
          <p:nvPr/>
        </p:nvSpPr>
        <p:spPr>
          <a:xfrm>
            <a:off x="323088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3" name="TextBox 12"/>
          <p:cNvSpPr txBox="1"/>
          <p:nvPr/>
        </p:nvSpPr>
        <p:spPr>
          <a:xfrm>
            <a:off x="332232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4" name="Rectangle 13"/>
          <p:cNvSpPr/>
          <p:nvPr/>
        </p:nvSpPr>
        <p:spPr>
          <a:xfrm>
            <a:off x="600456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5" name="TextBox 14"/>
          <p:cNvSpPr txBox="1"/>
          <p:nvPr/>
        </p:nvSpPr>
        <p:spPr>
          <a:xfrm>
            <a:off x="609600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6" name="TextBox 15"/>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187 | Page 188</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경영목표 수립 - 경영목표 설정 ③ 공단통합 해상방제능력 (1/3)</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공단 통합 해상방제능력 목표는 ‘30년까지 유출유 75% 해상회수 기준 목표로 해상방제능력을 증대하여, '22~'30년 연간 100→900kℓ로 방제능력 증가치를 가중하여 목표를 설정함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목표 설정 방식</a:t>
            </a:r>
          </a:p>
        </p:txBody>
      </p:sp>
      <p:sp>
        <p:nvSpPr>
          <p:cNvPr id="5" name="TextBox 4"/>
          <p:cNvSpPr txBox="1"/>
          <p:nvPr/>
        </p:nvSpPr>
        <p:spPr>
          <a:xfrm>
            <a:off x="457200" y="1828800"/>
            <a:ext cx="8229600" cy="1828800"/>
          </a:xfrm>
          <a:prstGeom prst="rect">
            <a:avLst/>
          </a:prstGeom>
          <a:noFill/>
        </p:spPr>
        <p:txBody>
          <a:bodyPr wrap="square">
            <a:spAutoFit/>
          </a:bodyPr>
          <a:lstStyle/>
          <a:p>
            <a:pPr algn="l">
              <a:defRPr sz="1000" b="0">
                <a:latin typeface="Malgun Gothic"/>
              </a:defRPr>
            </a:pPr>
            <a:r>
              <a:t>✓ 현재 우리나라는 30만톤 유조선 사고 최대</a:t>
            </a:r>
            <a:br/>
            <a:r>
              <a:t>유출량 45,000kℓ의 1/3인 15,000kℓ 회수(1/3</a:t>
            </a:r>
            <a:br/>
            <a:r>
              <a:t>휘발, 1/3 해상 회수, 1/3 해안 회수)를</a:t>
            </a:r>
            <a:br/>
            <a:r>
              <a:t>방제능력 목표로 하고 있으며, 이중 민간이</a:t>
            </a:r>
            <a:br/>
            <a:r>
              <a:t>60%의 회수를 책임지고 있음</a:t>
            </a:r>
            <a:br/>
            <a:r>
              <a:t>- 3개 권역 합계 국가 유회수용량 목표는</a:t>
            </a:r>
            <a:br/>
            <a:r>
              <a:t>22,500kℓ이며, 이중 민간이 60%인 13,500</a:t>
            </a:r>
            <a:br/>
            <a:r>
              <a:t>kl를 목표량으로 하고 있음</a:t>
            </a:r>
            <a:br/>
            <a:r>
              <a:t>✓ 해상회수량을 늘리면, 현재 1/3 해안흡착</a:t>
            </a:r>
            <a:br/>
            <a:r>
              <a:t>사후 회수를 최소화 할 수 있음을 고려해,</a:t>
            </a:r>
            <a:br/>
            <a:r>
              <a:t>'30년까지 유출유 75% 해상회수를 기준</a:t>
            </a:r>
            <a:br/>
            <a:r>
              <a:t>목표로 통합 해상방제능력을 증대함</a:t>
            </a:r>
            <a:br/>
            <a:r>
              <a:t>(일본 동경만의 경우 최대유출량 23,000kℓ</a:t>
            </a:r>
            <a:br/>
            <a:r>
              <a:t>100% 회수를 기준으로 방제능력 보유)</a:t>
            </a:r>
            <a:br/>
            <a:r>
              <a:t>✓ '30년 이후에도 '50년에 90% 해상회수를</a:t>
            </a:r>
            <a:br/>
            <a:r>
              <a:t>목표로 자원을 확보하고 방제능력을 증대함</a:t>
            </a:r>
          </a:p>
        </p:txBody>
      </p:sp>
      <p:sp>
        <p:nvSpPr>
          <p:cNvPr id="6" name="TextBox 5"/>
          <p:cNvSpPr txBox="1"/>
          <p:nvPr/>
        </p:nvSpPr>
        <p:spPr>
          <a:xfrm>
            <a:off x="457200" y="3749040"/>
            <a:ext cx="8229600" cy="274320"/>
          </a:xfrm>
          <a:prstGeom prst="rect">
            <a:avLst/>
          </a:prstGeom>
          <a:noFill/>
        </p:spPr>
        <p:txBody>
          <a:bodyPr wrap="square">
            <a:spAutoFit/>
          </a:bodyPr>
          <a:lstStyle/>
          <a:p>
            <a:pPr algn="l">
              <a:defRPr sz="1200" b="1">
                <a:solidFill>
                  <a:srgbClr val="003366"/>
                </a:solidFill>
                <a:latin typeface="Malgun Gothic"/>
              </a:defRPr>
            </a:pPr>
            <a:r>
              <a:t>지표</a:t>
            </a:r>
          </a:p>
        </p:txBody>
      </p:sp>
      <p:sp>
        <p:nvSpPr>
          <p:cNvPr id="7" name="TextBox 6"/>
          <p:cNvSpPr txBox="1"/>
          <p:nvPr/>
        </p:nvSpPr>
        <p:spPr>
          <a:xfrm>
            <a:off x="457200" y="4114800"/>
            <a:ext cx="8229600" cy="914400"/>
          </a:xfrm>
          <a:prstGeom prst="rect">
            <a:avLst/>
          </a:prstGeom>
          <a:noFill/>
        </p:spPr>
        <p:txBody>
          <a:bodyPr wrap="square">
            <a:spAutoFit/>
          </a:bodyPr>
          <a:lstStyle/>
          <a:p>
            <a:pPr algn="l">
              <a:defRPr sz="900" b="0">
                <a:latin typeface="Malgun Gothic"/>
              </a:defRPr>
            </a:pPr>
            <a:r>
              <a:t>[TABLE]</a:t>
            </a:r>
            <a:br/>
            <a:r>
              <a:t>민간통합</a:t>
            </a:r>
            <a:br/>
            <a:r>
              <a:t>해상방제능력 16,000 16,500 16,600+ 16,800+ 17,100+ 17,500 18,000 18,600+ 19,350+ 20,250+</a:t>
            </a:r>
            <a:br/>
            <a:r>
              <a:t>(유출유회수, kl)</a:t>
            </a:r>
            <a:br/>
            <a:r>
              <a:t>방제능력 증가 - +500 +100 +200 +300 +400 +500 +600 +750 +900</a:t>
            </a:r>
            <a:br/>
          </a:p>
        </p:txBody>
      </p:sp>
      <p:sp>
        <p:nvSpPr>
          <p:cNvPr id="8" name="TextBox 7"/>
          <p:cNvSpPr txBox="1"/>
          <p:nvPr/>
        </p:nvSpPr>
        <p:spPr>
          <a:xfrm>
            <a:off x="457200" y="5120640"/>
            <a:ext cx="8229600" cy="457200"/>
          </a:xfrm>
          <a:prstGeom prst="rect">
            <a:avLst/>
          </a:prstGeom>
          <a:noFill/>
        </p:spPr>
        <p:txBody>
          <a:bodyPr wrap="square">
            <a:spAutoFit/>
          </a:bodyPr>
          <a:lstStyle/>
          <a:p>
            <a:pPr algn="l">
              <a:defRPr sz="1000" b="0">
                <a:latin typeface="Malgun Gothic"/>
              </a:defRPr>
            </a:pPr>
            <a:r>
              <a:t>~'22년은 다목적</a:t>
            </a:r>
            <a:br/>
            <a:r>
              <a:t>대형방제선 건조</a:t>
            </a:r>
            <a:br/>
            <a:r>
              <a:t>투입 등 개별</a:t>
            </a:r>
            <a:br/>
            <a:r>
              <a:t>요소를 고려해</a:t>
            </a:r>
            <a:br/>
            <a:r>
              <a:t>연도별 방제능력</a:t>
            </a:r>
            <a:br/>
            <a:r>
              <a:t>목표 수립</a:t>
            </a:r>
          </a:p>
        </p:txBody>
      </p:sp>
      <p:sp>
        <p:nvSpPr>
          <p:cNvPr id="9" name="TextBox 8"/>
          <p:cNvSpPr txBox="1"/>
          <p:nvPr/>
        </p:nvSpPr>
        <p:spPr>
          <a:xfrm>
            <a:off x="457200" y="5669280"/>
            <a:ext cx="8229600" cy="685800"/>
          </a:xfrm>
          <a:prstGeom prst="rect">
            <a:avLst/>
          </a:prstGeom>
          <a:noFill/>
        </p:spPr>
        <p:txBody>
          <a:bodyPr wrap="square">
            <a:spAutoFit/>
          </a:bodyPr>
          <a:lstStyle/>
          <a:p>
            <a:pPr algn="l">
              <a:defRPr sz="1000" b="0">
                <a:latin typeface="Malgun Gothic"/>
              </a:defRPr>
            </a:pPr>
            <a:r>
              <a:t>'23~'30년은 연간 방제능력 증가분 목표를 100→900kℓ로 매년</a:t>
            </a:r>
            <a:br/>
            <a:r>
              <a:t>가중 증가시키는 방식으로, '30년 회수대상 유출유(1/3 휘발분</a:t>
            </a:r>
            <a:br/>
            <a:r>
              <a:t>제외한 회수대상 기름)의 75% 해상회수를 기준으로 공단 통합</a:t>
            </a:r>
            <a:br/>
            <a:r>
              <a:t>민간 해상방제능력을 증대하는 것으로 목표를 수립함</a:t>
            </a:r>
          </a:p>
        </p:txBody>
      </p:sp>
      <p:sp>
        <p:nvSpPr>
          <p:cNvPr id="10" name="TextBox 9"/>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188 | Page 189</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경영목표 수립 - 경영목표 설정 ③ 공단통합 해상방제능력 (2/3)</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민간-공공 해양오염방제 통합관리 체계 구축에 따라 해양방제부문의 경영목표를 공단 통합 해상방제능력으로 수립함</a:t>
            </a:r>
          </a:p>
        </p:txBody>
      </p:sp>
      <p:sp>
        <p:nvSpPr>
          <p:cNvPr id="4" name="TextBox 3"/>
          <p:cNvSpPr txBox="1"/>
          <p:nvPr/>
        </p:nvSpPr>
        <p:spPr>
          <a:xfrm>
            <a:off x="457200" y="1463040"/>
            <a:ext cx="8229600" cy="457200"/>
          </a:xfrm>
          <a:prstGeom prst="rect">
            <a:avLst/>
          </a:prstGeom>
          <a:noFill/>
        </p:spPr>
        <p:txBody>
          <a:bodyPr wrap="square">
            <a:spAutoFit/>
          </a:bodyPr>
          <a:lstStyle/>
          <a:p>
            <a:pPr algn="l">
              <a:defRPr sz="1000" b="0">
                <a:latin typeface="Malgun Gothic"/>
              </a:defRPr>
            </a:pPr>
            <a:r>
              <a:t>경영목표 설정 ③ 공단통합 해상방제능력 : 유출유회수능력 ‘21년 16,000+kl → ‘30년 20,250+kl</a:t>
            </a:r>
          </a:p>
        </p:txBody>
      </p:sp>
      <p:sp>
        <p:nvSpPr>
          <p:cNvPr id="5" name="TextBox 4"/>
          <p:cNvSpPr txBox="1"/>
          <p:nvPr/>
        </p:nvSpPr>
        <p:spPr>
          <a:xfrm>
            <a:off x="457200" y="2011680"/>
            <a:ext cx="8229600" cy="914400"/>
          </a:xfrm>
          <a:prstGeom prst="rect">
            <a:avLst/>
          </a:prstGeom>
          <a:noFill/>
        </p:spPr>
        <p:txBody>
          <a:bodyPr wrap="square">
            <a:spAutoFit/>
          </a:bodyPr>
          <a:lstStyle/>
          <a:p>
            <a:pPr algn="l">
              <a:defRPr sz="1000" b="0">
                <a:latin typeface="Malgun Gothic"/>
              </a:defRPr>
            </a:pPr>
            <a:r>
              <a:t>해양방제부문 경영목표 : 공단통합 해상방제능력 '21년 16,000+kℓ, '25년</a:t>
            </a:r>
            <a:br/>
            <a:r>
              <a:t>17,100+kℓ, '30년 20,250+kl ('30년 유출유 해상회수 75% 기준 통합역량 확보)</a:t>
            </a:r>
            <a:br/>
            <a:r>
              <a:t>⇒ "해안회수(1/3)의 최소화 → 국제기준(IMO)보다 높은 해상회수목표 수립</a:t>
            </a:r>
            <a:br/>
            <a:r>
              <a:t>⇒ 유회수기 회수용량 + 유흡착재 제거용량 합산 (일일 8시간, 3일 작업기준)</a:t>
            </a:r>
          </a:p>
        </p:txBody>
      </p:sp>
      <p:sp>
        <p:nvSpPr>
          <p:cNvPr id="6" name="TextBox 5"/>
          <p:cNvSpPr txBox="1"/>
          <p:nvPr/>
        </p:nvSpPr>
        <p:spPr>
          <a:xfrm>
            <a:off x="457200" y="3017520"/>
            <a:ext cx="8229600" cy="228600"/>
          </a:xfrm>
          <a:prstGeom prst="rect">
            <a:avLst/>
          </a:prstGeom>
          <a:noFill/>
        </p:spPr>
        <p:txBody>
          <a:bodyPr wrap="square">
            <a:spAutoFit/>
          </a:bodyPr>
          <a:lstStyle/>
          <a:p>
            <a:pPr algn="l">
              <a:defRPr sz="1000" b="0">
                <a:latin typeface="Malgun Gothic"/>
              </a:defRPr>
            </a:pPr>
            <a:r>
              <a:t>[방제능력 (Capacity) 계산] : 방제능력 = (①+②) X ③</a:t>
            </a:r>
          </a:p>
        </p:txBody>
      </p:sp>
      <p:sp>
        <p:nvSpPr>
          <p:cNvPr id="7" name="TextBox 6"/>
          <p:cNvSpPr txBox="1"/>
          <p:nvPr/>
        </p:nvSpPr>
        <p:spPr>
          <a:xfrm>
            <a:off x="457200" y="3337560"/>
            <a:ext cx="8229600" cy="1143000"/>
          </a:xfrm>
          <a:prstGeom prst="rect">
            <a:avLst/>
          </a:prstGeom>
          <a:noFill/>
        </p:spPr>
        <p:txBody>
          <a:bodyPr wrap="square">
            <a:spAutoFit/>
          </a:bodyPr>
          <a:lstStyle/>
          <a:p>
            <a:pPr algn="l">
              <a:defRPr sz="1000" b="0">
                <a:latin typeface="Malgun Gothic"/>
              </a:defRPr>
            </a:pPr>
            <a:r>
              <a:t>① 유회수기 기름 해상회수능력</a:t>
            </a:r>
            <a:br/>
            <a:r>
              <a:t>∑(유회수기 용량 × 기계적효율계수(0.2)) X 작업일수(3일) X 작업시간(8hrs) X 동원률(0.33)</a:t>
            </a:r>
            <a:br/>
            <a:r>
              <a:t>*회수기 동원률 0.33 (장비 특성에 따른 동원률)</a:t>
            </a:r>
            <a:br/>
            <a:r>
              <a:t>⇒ 공단 법정보유 기준 유회수기 방제능력 합계 : 9,381kℓ/hr</a:t>
            </a:r>
            <a:br/>
            <a:r>
              <a:t>→ 법정 유회수기 기반 유회수능력 : 14,860kℓ (9,381kl/h X 8hrs X 3days X 0.2 X 0.33)</a:t>
            </a:r>
          </a:p>
        </p:txBody>
      </p:sp>
      <p:sp>
        <p:nvSpPr>
          <p:cNvPr id="8" name="TextBox 7"/>
          <p:cNvSpPr txBox="1"/>
          <p:nvPr/>
        </p:nvSpPr>
        <p:spPr>
          <a:xfrm>
            <a:off x="457200" y="4572000"/>
            <a:ext cx="8229600" cy="914400"/>
          </a:xfrm>
          <a:prstGeom prst="rect">
            <a:avLst/>
          </a:prstGeom>
          <a:noFill/>
        </p:spPr>
        <p:txBody>
          <a:bodyPr wrap="square">
            <a:spAutoFit/>
          </a:bodyPr>
          <a:lstStyle/>
          <a:p>
            <a:pPr algn="l">
              <a:defRPr sz="1000" b="0">
                <a:latin typeface="Malgun Gothic"/>
              </a:defRPr>
            </a:pPr>
            <a:r>
              <a:t>② 유흡착재 제거용량</a:t>
            </a:r>
            <a:br/>
            <a:r>
              <a:t>: 유흡착재 제거용량 = 154kℓ (52 x 10.0 X 0.33 X 0.9)</a:t>
            </a:r>
            <a:br/>
            <a:r>
              <a:t>⇒ 공단 보유량 52,000kg X 제거효율(10.0)* X 동원률(0.33) X 벙커C유 밀도(0.9: 0.89~1.01 kg/l)</a:t>
            </a:r>
            <a:br/>
            <a:r>
              <a:t>*유흡착재 1종(매트, 롤, 쿠션 모양) 흡유량 성능시험기준 : 유흡착재 1g당 10.0g 이상</a:t>
            </a:r>
          </a:p>
        </p:txBody>
      </p:sp>
      <p:sp>
        <p:nvSpPr>
          <p:cNvPr id="9" name="TextBox 8"/>
          <p:cNvSpPr txBox="1"/>
          <p:nvPr/>
        </p:nvSpPr>
        <p:spPr>
          <a:xfrm>
            <a:off x="457200" y="5577840"/>
            <a:ext cx="8229600" cy="3429000"/>
          </a:xfrm>
          <a:prstGeom prst="rect">
            <a:avLst/>
          </a:prstGeom>
          <a:noFill/>
        </p:spPr>
        <p:txBody>
          <a:bodyPr wrap="square">
            <a:spAutoFit/>
          </a:bodyPr>
          <a:lstStyle/>
          <a:p>
            <a:pPr algn="l">
              <a:defRPr sz="1000" b="0">
                <a:latin typeface="Malgun Gothic"/>
              </a:defRPr>
            </a:pPr>
            <a:r>
              <a:t>③ Soft 방제역량 가중치 : (방제능력 실질 활용역량 가중지표, 최소 0.86 ~ 최대 1.16)</a:t>
            </a:r>
            <a:br/>
            <a:r>
              <a:t>1) 전문인력교육 : 전문인력 교육에 따른 방제자원 활용능력 개선</a:t>
            </a:r>
            <a:br/>
            <a:r>
              <a:t>교육목표 100% 달성 1.00 / 10% 이상 초과달성 1.05 / 목표미달 0.95</a:t>
            </a:r>
            <a:br/>
            <a:r>
              <a:t>2) 방제훈련 실시 횟수 및 참여율 : 훈련에 따른 대응역량 및 방제자원 활용능력 유지, 개선</a:t>
            </a:r>
            <a:br/>
            <a:r>
              <a:t>실시 횟수 및 참여율 목표 100% 달성 1.00 / 10% 이상 초과달성 1.03 / 목표미달 0.97</a:t>
            </a:r>
            <a:br/>
            <a:r>
              <a:t>3) 방제선박 규모 : 방제용도 선박 동원 규모(동원가능 선박 수, 선박 톤수)에 따른 방제효율 향상</a:t>
            </a:r>
            <a:br/>
            <a:r>
              <a:t>공단 동원가능 방제용도 선박 총 보유규모(총 보유 74척, 10,889톤 중 작업선, 조사선, 방제부선 제외 방</a:t>
            </a:r>
            <a:br/>
            <a:r>
              <a:t>제용도 선박 58척 8,318톤 규모) 기준 : 총톤수 8,300톤의 100% 유지 1.00 / 105%(추가 확보) 목표 초과</a:t>
            </a:r>
            <a:br/>
            <a:r>
              <a:t>1.03 / 100% 미만 0.97</a:t>
            </a:r>
            <a:br/>
            <a:r>
              <a:t>4) 통합 해양방제 체계화 : 민간 통합방제 체계 구축을 통한 방제동원체계 개선</a:t>
            </a:r>
            <a:br/>
            <a:r>
              <a:t>동원협약 체결업체('21년 방제조합 가입업체 포함 40개(전체 73개 중 54.8%) 목표?) 목표 100% 달성</a:t>
            </a:r>
            <a:br/>
            <a:r>
              <a:t>1.00 / 10% 이상 초과달성 1.02 / 목표미달 0.98</a:t>
            </a:r>
            <a:br/>
            <a:r>
              <a:t>5) 방제장비 현대화 비율 : 방제장비 현대화로 방제자원 (기계적·성능) 효율 유지 및 개선</a:t>
            </a:r>
            <a:br/>
            <a:r>
              <a:t>현대화(교체) 목표 100% 달성 1.00 / 10% 이상 초과달성 1.02 / 목표미달 0.98</a:t>
            </a:r>
          </a:p>
        </p:txBody>
      </p:sp>
      <p:sp>
        <p:nvSpPr>
          <p:cNvPr id="10" name="TextBox 9"/>
          <p:cNvSpPr txBox="1"/>
          <p:nvPr/>
        </p:nvSpPr>
        <p:spPr>
          <a:xfrm>
            <a:off x="457200" y="9098280"/>
            <a:ext cx="8229600" cy="228600"/>
          </a:xfrm>
          <a:prstGeom prst="rect">
            <a:avLst/>
          </a:prstGeom>
          <a:noFill/>
        </p:spPr>
        <p:txBody>
          <a:bodyPr wrap="square">
            <a:spAutoFit/>
          </a:bodyPr>
          <a:lstStyle/>
          <a:p>
            <a:pPr algn="l">
              <a:defRPr sz="1000" b="0">
                <a:latin typeface="Malgun Gothic"/>
              </a:defRPr>
            </a:pPr>
            <a:r>
              <a:t>목표설정 참고 내용</a:t>
            </a:r>
          </a:p>
        </p:txBody>
      </p:sp>
      <p:sp>
        <p:nvSpPr>
          <p:cNvPr id="11" name="TextBox 10"/>
          <p:cNvSpPr txBox="1"/>
          <p:nvPr/>
        </p:nvSpPr>
        <p:spPr>
          <a:xfrm>
            <a:off x="457200" y="9418320"/>
            <a:ext cx="8229600" cy="457200"/>
          </a:xfrm>
          <a:prstGeom prst="rect">
            <a:avLst/>
          </a:prstGeom>
          <a:noFill/>
        </p:spPr>
        <p:txBody>
          <a:bodyPr wrap="square">
            <a:spAutoFit/>
          </a:bodyPr>
          <a:lstStyle/>
          <a:p>
            <a:pPr algn="l">
              <a:defRPr sz="1000" b="0">
                <a:latin typeface="Malgun Gothic"/>
              </a:defRPr>
            </a:pPr>
            <a:r>
              <a:t>1. (해상기름회수) 유효 회수용량 산식 :</a:t>
            </a:r>
            <a:br/>
            <a:r>
              <a:t>유회수기 용량(kl/hr) X 작업일수(3일) X 일 작업시간(8 hrs)</a:t>
            </a:r>
            <a:br/>
            <a:r>
              <a:t>X 효율계수(0.2) X 동원률(0.33)</a:t>
            </a:r>
          </a:p>
        </p:txBody>
      </p:sp>
      <p:sp>
        <p:nvSpPr>
          <p:cNvPr id="12" name="TextBox 11"/>
          <p:cNvSpPr txBox="1"/>
          <p:nvPr/>
        </p:nvSpPr>
        <p:spPr>
          <a:xfrm>
            <a:off x="457200" y="9966960"/>
            <a:ext cx="8229600" cy="1600200"/>
          </a:xfrm>
          <a:prstGeom prst="rect">
            <a:avLst/>
          </a:prstGeom>
          <a:noFill/>
        </p:spPr>
        <p:txBody>
          <a:bodyPr wrap="square">
            <a:spAutoFit/>
          </a:bodyPr>
          <a:lstStyle/>
          <a:p>
            <a:pPr algn="l">
              <a:defRPr sz="1000" b="0">
                <a:latin typeface="Malgun Gothic"/>
              </a:defRPr>
            </a:pPr>
            <a:r>
              <a:t>2. 민간 기름회수 목표</a:t>
            </a:r>
            <a:br/>
            <a:r>
              <a:t>국가 회수 목표량(3개 권역 합계 22,500kℓ)의 60%: 13,500 kl</a:t>
            </a:r>
            <a:br/>
            <a:r>
              <a:t>(3개 권역 합계)</a:t>
            </a:r>
            <a:br/>
            <a:r>
              <a:t>→ 30만톤급 유조선 사고 최대 유출량 45,000kℓ의 1/3</a:t>
            </a:r>
            <a:br/>
            <a:r>
              <a:t>15,000kℓ 회수 (1/3 휘발, 1/3 해상 회수, 1/3 해안 회수</a:t>
            </a:r>
            <a:br/>
            <a:r>
              <a:t>기준 해상회수 목표)</a:t>
            </a:r>
            <a:br/>
            <a:r>
              <a:t>→ 회수 목표량 15,000kℓ의 50%를 각 권역별 목표량으로</a:t>
            </a:r>
            <a:br/>
            <a:r>
              <a:t>설정 : 사고발생시 인근 권역 동원, 서-남, 동-남 권역 합계</a:t>
            </a:r>
            <a:br/>
            <a:r>
              <a:t>목표량 15,000kℓ로 해상회수 목표 달성</a:t>
            </a:r>
            <a:br/>
            <a:r>
              <a:t>→ 각 권역별 3일간 회수 목표량 7,500kl (권역 일일 회수</a:t>
            </a:r>
            <a:br/>
            <a:r>
              <a:t>목표량 2,500kl)</a:t>
            </a:r>
          </a:p>
        </p:txBody>
      </p:sp>
      <p:sp>
        <p:nvSpPr>
          <p:cNvPr id="13" name="TextBox 12"/>
          <p:cNvSpPr txBox="1"/>
          <p:nvPr/>
        </p:nvSpPr>
        <p:spPr>
          <a:xfrm>
            <a:off x="457200" y="11658600"/>
            <a:ext cx="8229600" cy="914400"/>
          </a:xfrm>
          <a:prstGeom prst="rect">
            <a:avLst/>
          </a:prstGeom>
          <a:noFill/>
        </p:spPr>
        <p:txBody>
          <a:bodyPr wrap="square">
            <a:spAutoFit/>
          </a:bodyPr>
          <a:lstStyle/>
          <a:p>
            <a:pPr algn="l">
              <a:defRPr sz="1000" b="0">
                <a:latin typeface="Malgun Gothic"/>
              </a:defRPr>
            </a:pPr>
            <a:r>
              <a:t>※ 참고 : 일본 유회수 목표량 "동경만 기준 최대유출량</a:t>
            </a:r>
            <a:br/>
            <a:r>
              <a:t>23,000kl" 100% 회수 (3일 작업 기준)</a:t>
            </a:r>
            <a:br/>
            <a:r>
              <a:t>&gt; 방제선 및 유회수기 제거 목표치 : 23,000kl X 80% =</a:t>
            </a:r>
            <a:br/>
            <a:r>
              <a:t>18,400kl</a:t>
            </a:r>
            <a:br/>
            <a:r>
              <a:t>&gt; 유처리제, 유흡착포, 유겔화제 제거 목표치 : 23,000kl X</a:t>
            </a:r>
            <a:br/>
            <a:r>
              <a:t>20% = 4,600kl</a:t>
            </a:r>
          </a:p>
        </p:txBody>
      </p:sp>
      <p:sp>
        <p:nvSpPr>
          <p:cNvPr id="14" name="TextBox 1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189 | Page 190</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경영목표 수립 - 경영목표 설정 ③ 공단통합 해상방제능력 (3/3)</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미국, 일본 등 국가는 단일한 방제능력을 규정하기 보다는 각 지역의 특성을 반영하여 유동적으로 방제목표를 설정하고 이에 따른 방제능력 목표를 수립하고 있음</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미국, 일본, 말레이시아 방제역량 기준 비교</a:t>
            </a:r>
          </a:p>
        </p:txBody>
      </p:sp>
      <p:sp>
        <p:nvSpPr>
          <p:cNvPr id="5" name="TextBox 4"/>
          <p:cNvSpPr txBox="1"/>
          <p:nvPr/>
        </p:nvSpPr>
        <p:spPr>
          <a:xfrm>
            <a:off x="457200" y="1828800"/>
            <a:ext cx="8229600" cy="1143000"/>
          </a:xfrm>
          <a:prstGeom prst="rect">
            <a:avLst/>
          </a:prstGeom>
          <a:noFill/>
        </p:spPr>
        <p:txBody>
          <a:bodyPr wrap="square">
            <a:spAutoFit/>
          </a:bodyPr>
          <a:lstStyle/>
          <a:p>
            <a:pPr algn="l">
              <a:defRPr sz="900" b="0">
                <a:latin typeface="Malgun Gothic"/>
              </a:defRPr>
            </a:pPr>
            <a:r>
              <a:t>[TABLE]</a:t>
            </a:r>
            <a:br/>
            <a:r>
              <a:t>Table comparing oil spill response capabilities of the US, Japan, and Malaysia based on maximum spill volume, recovery target, responsible agencies, response time, response methods, and goal calculation methods.</a:t>
            </a:r>
          </a:p>
        </p:txBody>
      </p:sp>
      <p:sp>
        <p:nvSpPr>
          <p:cNvPr id="6" name="TextBox 5"/>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191</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경영목표 수립 - 경영목표 설정 ④ 재무건전성 제고 (1/3)</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재무건전성 제고 목표는 공단 사업의 손익구조 개선을 통한 (매출액)영업이익률의 개선 목표를 준시장형 공기업 18개 (전체 20개 공기업 중 예외적 2개 기업 제외) 평균 영업이익률과 당기순이익률에 준거하여 아래와 같이 설정함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목표 설정 방식</a:t>
            </a:r>
          </a:p>
        </p:txBody>
      </p:sp>
      <p:sp>
        <p:nvSpPr>
          <p:cNvPr id="5" name="TextBox 4"/>
          <p:cNvSpPr txBox="1"/>
          <p:nvPr/>
        </p:nvSpPr>
        <p:spPr>
          <a:xfrm>
            <a:off x="457200" y="1828800"/>
            <a:ext cx="8229600" cy="1600200"/>
          </a:xfrm>
          <a:prstGeom prst="rect">
            <a:avLst/>
          </a:prstGeom>
          <a:noFill/>
        </p:spPr>
        <p:txBody>
          <a:bodyPr wrap="square">
            <a:spAutoFit/>
          </a:bodyPr>
          <a:lstStyle/>
          <a:p>
            <a:pPr algn="l">
              <a:defRPr sz="1000" b="0">
                <a:latin typeface="Malgun Gothic"/>
              </a:defRPr>
            </a:pPr>
            <a:r>
              <a:t>✓ 준시장형 공기업의 '16년~'20년 5개년간 평균 영업이익률(8.3%), 당기순이익률(4.9%) 기준을 참고하여, 영업이익률 '25년 3%, '30년 5%를 목표로 수립함</a:t>
            </a:r>
            <a:br/>
            <a:r>
              <a:t>- 당기순이익률은 공단 수입 및 재무구조를 감안하여 영업이익률 + 2%로 추산함</a:t>
            </a:r>
            <a:br/>
            <a:r>
              <a:t>✓ '21~22년은 손실이 발생하는 사업의 효율성 개선과 사업별 계약과 비용 점검을 통해 이익으로 전환하고, '23~25년은 사업성을 확보한 신사업 추진을 통해 이익을 성장시키고, '26~30년 신사업이 안정화되고 기존 사업의 이익구조 개선이 정착되며 안정적인 성장기조로 '30년 5% 영업이익 목표를 달성할 수 있도록 목표를 설정함</a:t>
            </a:r>
          </a:p>
        </p:txBody>
      </p:sp>
      <p:sp>
        <p:nvSpPr>
          <p:cNvPr id="6" name="TextBox 5"/>
          <p:cNvSpPr txBox="1"/>
          <p:nvPr/>
        </p:nvSpPr>
        <p:spPr>
          <a:xfrm>
            <a:off x="457200" y="3520440"/>
            <a:ext cx="8229600" cy="274320"/>
          </a:xfrm>
          <a:prstGeom prst="rect">
            <a:avLst/>
          </a:prstGeom>
          <a:noFill/>
        </p:spPr>
        <p:txBody>
          <a:bodyPr wrap="square">
            <a:spAutoFit/>
          </a:bodyPr>
          <a:lstStyle/>
          <a:p>
            <a:pPr algn="l">
              <a:defRPr sz="1200" b="1">
                <a:solidFill>
                  <a:srgbClr val="003366"/>
                </a:solidFill>
                <a:latin typeface="Malgun Gothic"/>
              </a:defRPr>
            </a:pPr>
            <a:r>
              <a:t>지표</a:t>
            </a:r>
          </a:p>
        </p:txBody>
      </p:sp>
      <p:sp>
        <p:nvSpPr>
          <p:cNvPr id="7" name="TextBox 6"/>
          <p:cNvSpPr txBox="1"/>
          <p:nvPr/>
        </p:nvSpPr>
        <p:spPr>
          <a:xfrm>
            <a:off x="457200" y="3886200"/>
            <a:ext cx="8229600" cy="228600"/>
          </a:xfrm>
          <a:prstGeom prst="rect">
            <a:avLst/>
          </a:prstGeom>
          <a:noFill/>
        </p:spPr>
        <p:txBody>
          <a:bodyPr wrap="square">
            <a:spAutoFit/>
          </a:bodyPr>
          <a:lstStyle/>
          <a:p>
            <a:pPr algn="l">
              <a:defRPr sz="900" b="0">
                <a:latin typeface="Malgun Gothic"/>
              </a:defRPr>
            </a:pPr>
            <a:r>
              <a:t>[TABLE]</a:t>
            </a:r>
            <a:br/>
            <a:r>
              <a:t>See table in image</a:t>
            </a:r>
          </a:p>
        </p:txBody>
      </p:sp>
      <p:sp>
        <p:nvSpPr>
          <p:cNvPr id="8" name="Rectangle 7"/>
          <p:cNvSpPr/>
          <p:nvPr/>
        </p:nvSpPr>
        <p:spPr>
          <a:xfrm>
            <a:off x="45720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9" name="TextBox 8"/>
          <p:cNvSpPr txBox="1"/>
          <p:nvPr/>
        </p:nvSpPr>
        <p:spPr>
          <a:xfrm>
            <a:off x="54864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0" name="Rectangle 9"/>
          <p:cNvSpPr/>
          <p:nvPr/>
        </p:nvSpPr>
        <p:spPr>
          <a:xfrm>
            <a:off x="323088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1" name="TextBox 10"/>
          <p:cNvSpPr txBox="1"/>
          <p:nvPr/>
        </p:nvSpPr>
        <p:spPr>
          <a:xfrm>
            <a:off x="332232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2" name="Rectangle 11"/>
          <p:cNvSpPr/>
          <p:nvPr/>
        </p:nvSpPr>
        <p:spPr>
          <a:xfrm>
            <a:off x="6004560" y="1463040"/>
            <a:ext cx="2682240" cy="2286000"/>
          </a:xfrm>
          <a:prstGeom prst="rect">
            <a:avLst/>
          </a:prstGeom>
          <a:solidFill>
            <a:srgbClr val="F8F9FA"/>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0000"/>
                </a:solidFill>
                <a:latin typeface="Malgun Gothic"/>
              </a:defRPr>
            </a:pPr>
          </a:p>
        </p:txBody>
      </p:sp>
      <p:sp>
        <p:nvSpPr>
          <p:cNvPr id="13" name="TextBox 12"/>
          <p:cNvSpPr txBox="1"/>
          <p:nvPr/>
        </p:nvSpPr>
        <p:spPr>
          <a:xfrm>
            <a:off x="6096000" y="1554480"/>
            <a:ext cx="2499360" cy="365760"/>
          </a:xfrm>
          <a:prstGeom prst="rect">
            <a:avLst/>
          </a:prstGeom>
          <a:noFill/>
        </p:spPr>
        <p:txBody>
          <a:bodyPr wrap="square">
            <a:spAutoFit/>
          </a:bodyPr>
          <a:lstStyle/>
          <a:p>
            <a:pPr algn="ctr">
              <a:defRPr sz="1100" b="1">
                <a:solidFill>
                  <a:srgbClr val="003366"/>
                </a:solidFill>
                <a:latin typeface="Malgun Gothic"/>
              </a:defRPr>
            </a:pPr>
          </a:p>
        </p:txBody>
      </p:sp>
      <p:sp>
        <p:nvSpPr>
          <p:cNvPr id="14" name="TextBox 1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191 | Page 192</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경영목표 수립 - 경영목표 설정 ④ 재무건전성 제고 (2/3)</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예외적인 경우를 제외한 18개 준시장형 공기업의 5년간 평균 영업이익률은 8.3%, 당기순이익률은 4.9%이며, 공단은 동 기간에 영업이익률 평균 -2.0%, 당기순이익률 평균 -0.3%로 손실을 기록함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공단과 준시장형 공기업의 영업이익률 및 당기순이익률 추이</a:t>
            </a:r>
          </a:p>
        </p:txBody>
      </p:sp>
      <p:sp>
        <p:nvSpPr>
          <p:cNvPr id="5" name="TextBox 4"/>
          <p:cNvSpPr txBox="1"/>
          <p:nvPr/>
        </p:nvSpPr>
        <p:spPr>
          <a:xfrm>
            <a:off x="457200" y="1828800"/>
            <a:ext cx="4023360" cy="228600"/>
          </a:xfrm>
          <a:prstGeom prst="rect">
            <a:avLst/>
          </a:prstGeom>
          <a:noFill/>
        </p:spPr>
        <p:txBody>
          <a:bodyPr wrap="square">
            <a:spAutoFit/>
          </a:bodyPr>
          <a:lstStyle/>
          <a:p>
            <a:pPr algn="l">
              <a:defRPr sz="1000" b="0">
                <a:latin typeface="Malgun Gothic"/>
              </a:defRPr>
            </a:pPr>
            <a:r>
              <a:t>준시장형공기업* 영업이익률 추이('16~'20)</a:t>
            </a:r>
          </a:p>
        </p:txBody>
      </p:sp>
      <p:sp>
        <p:nvSpPr>
          <p:cNvPr id="6" name="TextBox 5"/>
          <p:cNvSpPr txBox="1"/>
          <p:nvPr/>
        </p:nvSpPr>
        <p:spPr>
          <a:xfrm>
            <a:off x="4663440" y="1828800"/>
            <a:ext cx="4023360" cy="228600"/>
          </a:xfrm>
          <a:prstGeom prst="rect">
            <a:avLst/>
          </a:prstGeom>
          <a:noFill/>
        </p:spPr>
        <p:txBody>
          <a:bodyPr wrap="square">
            <a:spAutoFit/>
          </a:bodyPr>
          <a:lstStyle/>
          <a:p>
            <a:pPr algn="l">
              <a:defRPr sz="1000" b="0">
                <a:latin typeface="Malgun Gothic"/>
              </a:defRPr>
            </a:pPr>
            <a:r>
              <a:t>준시장형공기업* 당기순이익률 추이('16~'20)</a:t>
            </a:r>
          </a:p>
        </p:txBody>
      </p:sp>
      <p:sp>
        <p:nvSpPr>
          <p:cNvPr id="7" name="TextBox 6"/>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*주택도시보증공사와 대한석탄공사를 제외한 18개 준시장형 공기업의 회계결산이익률 평균</a:t>
            </a:r>
            <a:br/>
            <a:r>
              <a:t>* Source: 각 기관 결산공시 자료 취합(알리오 공시 기준) | Page 193</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경영목표 수립 - 경영목표 설정 ④ 재무건전성 제고 (3/3)</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20개 준시장형 공기업의 '16년~'20년 5개년간 영업이익률, 당기순이익률 추이는 아래와 같으며, 예외적 기업을 제외한 18개 기업의 5개년 영업이익률 평균은 8.3%, 당기순이익률 평균은 4.9%로 나타남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준시장형 공기업의 영업이익률 추이 ('16~'20)</a:t>
            </a:r>
          </a:p>
        </p:txBody>
      </p:sp>
      <p:sp>
        <p:nvSpPr>
          <p:cNvPr id="5" name="TextBox 4"/>
          <p:cNvSpPr txBox="1"/>
          <p:nvPr/>
        </p:nvSpPr>
        <p:spPr>
          <a:xfrm>
            <a:off x="457200" y="1828800"/>
            <a:ext cx="4023360" cy="3886200"/>
          </a:xfrm>
          <a:prstGeom prst="rect">
            <a:avLst/>
          </a:prstGeom>
          <a:noFill/>
        </p:spPr>
        <p:txBody>
          <a:bodyPr wrap="square">
            <a:spAutoFit/>
          </a:bodyPr>
          <a:lstStyle/>
          <a:p>
            <a:pPr algn="l">
              <a:defRPr sz="900" b="0">
                <a:latin typeface="Malgun Gothic"/>
              </a:defRPr>
            </a:pPr>
            <a:r>
              <a:t>[TABLE]</a:t>
            </a:r>
            <a:br/>
            <a:r>
              <a:t>기관명	'16	'17	'18	'19	'20	5년 평균</a:t>
            </a:r>
            <a:br/>
            <a:r>
              <a:t>주택도시보증공사	59.8	82.6	74.1	45.8	40.2	60.5</a:t>
            </a:r>
            <a:br/>
            <a:r>
              <a:t>울산항만공사	45.2	37.6	45.6	41.1	31.0	40.1</a:t>
            </a:r>
            <a:br/>
            <a:r>
              <a:t>제주국제자유도시개발센터	22.1	29.0	23.5	14.3	7.2	19.2</a:t>
            </a:r>
            <a:br/>
            <a:r>
              <a:t>여수광양항만공사	14.8	18.7	13.9	15.1	14.2	15.3</a:t>
            </a:r>
            <a:br/>
            <a:r>
              <a:t>한국토지주택공사	13.8	12.7	14.5	13.6	17.7	14.5</a:t>
            </a:r>
            <a:br/>
            <a:r>
              <a:t>한전KPS	8.6	13.3	15.4	15.6	10.4	12.7</a:t>
            </a:r>
            <a:br/>
            <a:r>
              <a:t>한국수자원공사	10.1	12.7	14.0	11.1	14.6	12.5</a:t>
            </a:r>
            <a:br/>
            <a:r>
              <a:t>한국도로공사	8.9	12.1	14.2	6.5	10.4</a:t>
            </a:r>
            <a:br/>
            <a:r>
              <a:t>한국부동산원	12.3	7.9				10.1</a:t>
            </a:r>
            <a:br/>
            <a:r>
              <a:t>한전KDN	8.3	9.7	11.5	7.8	7.9	9.1</a:t>
            </a:r>
            <a:br/>
            <a:r>
              <a:t>그랜드코리아레저	27.6	21.6	21.9	19.7	-48.1	8.5</a:t>
            </a:r>
            <a:br/>
            <a:r>
              <a:t>한국전력기술					6.8	6.8</a:t>
            </a:r>
            <a:br/>
            <a:r>
              <a:t>주식회사 에스알		7.2	7.1	4.9	-4.9	3.6</a:t>
            </a:r>
            <a:br/>
            <a:r>
              <a:t>한국가스기술공사	6.9	2.3	2.0	5.5	0.5	3.4</a:t>
            </a:r>
            <a:br/>
            <a:r>
              <a:t>한국마사회	2.6	2.6	1.9			2.4</a:t>
            </a:r>
            <a:br/>
            <a:r>
              <a:t>한국조폐공사	1.9	2.7	2.9	3.4	-2.0	1.8</a:t>
            </a:r>
            <a:br/>
            <a:r>
              <a:t>해양환경공단	5.1	-1.0	-7.9	-3.3	-2.9	-2.0</a:t>
            </a:r>
            <a:br/>
            <a:r>
              <a:t>한국철도공사	2.1	-8.1	-0.5	-1.7	-24.4	-6.5</a:t>
            </a:r>
            <a:br/>
            <a:r>
              <a:t>한국방송광고진흥공사	-8.7	-12.4	-12.9	-17.9		-13.0</a:t>
            </a:r>
            <a:br/>
            <a:r>
              <a:t>대한석탄공사	-30.2	-37.2	-52.6	-144.3	-232.2	-99.3</a:t>
            </a:r>
            <a:br/>
            <a:r>
              <a:t>20개 준시장형 공기업 평균	11.7	11.2	10.4	2.6	-9.3	5.5</a:t>
            </a:r>
            <a:br/>
            <a:r>
              <a:t>18개 준시장형 공기업 평균*	11.4	9.8	10.3	9.6	2.3	8.3</a:t>
            </a:r>
          </a:p>
        </p:txBody>
      </p:sp>
      <p:sp>
        <p:nvSpPr>
          <p:cNvPr id="6" name="TextBox 5"/>
          <p:cNvSpPr txBox="1"/>
          <p:nvPr/>
        </p:nvSpPr>
        <p:spPr>
          <a:xfrm>
            <a:off x="457200" y="5806440"/>
            <a:ext cx="8229600" cy="274320"/>
          </a:xfrm>
          <a:prstGeom prst="rect">
            <a:avLst/>
          </a:prstGeom>
          <a:noFill/>
        </p:spPr>
        <p:txBody>
          <a:bodyPr wrap="square">
            <a:spAutoFit/>
          </a:bodyPr>
          <a:lstStyle/>
          <a:p>
            <a:pPr algn="l">
              <a:defRPr sz="1200" b="1">
                <a:solidFill>
                  <a:srgbClr val="003366"/>
                </a:solidFill>
                <a:latin typeface="Malgun Gothic"/>
              </a:defRPr>
            </a:pPr>
            <a:r>
              <a:t>준시장형 공기업의 당기순이익률 추이 ('16~'20)</a:t>
            </a:r>
          </a:p>
        </p:txBody>
      </p:sp>
      <p:sp>
        <p:nvSpPr>
          <p:cNvPr id="7" name="TextBox 6"/>
          <p:cNvSpPr txBox="1"/>
          <p:nvPr/>
        </p:nvSpPr>
        <p:spPr>
          <a:xfrm>
            <a:off x="4663440" y="2194560"/>
            <a:ext cx="4023360" cy="3657600"/>
          </a:xfrm>
          <a:prstGeom prst="rect">
            <a:avLst/>
          </a:prstGeom>
          <a:noFill/>
        </p:spPr>
        <p:txBody>
          <a:bodyPr wrap="square">
            <a:spAutoFit/>
          </a:bodyPr>
          <a:lstStyle/>
          <a:p>
            <a:pPr algn="l">
              <a:defRPr sz="900" b="0">
                <a:latin typeface="Malgun Gothic"/>
              </a:defRPr>
            </a:pPr>
            <a:r>
              <a:t>[TABLE]</a:t>
            </a:r>
            <a:br/>
            <a:r>
              <a:t>기관명	'16	'17	'18	'19	'20	5년 평균</a:t>
            </a:r>
            <a:br/>
            <a:r>
              <a:t>주택도시보증공사	54.1	69.2	62.6	36.2	29.9	50.4</a:t>
            </a:r>
            <a:br/>
            <a:r>
              <a:t>울산항만공사	35.0	36.5	33.5	32.3	15.3	30.5</a:t>
            </a:r>
            <a:br/>
            <a:r>
              <a:t>한국토지주택공사	9.7	11.8	11.5	10.9	13.5	11.5</a:t>
            </a:r>
            <a:br/>
            <a:r>
              <a:t>한전KPS	7.2	11.0	13.0	12.3	6.7	10.0</a:t>
            </a:r>
            <a:br/>
            <a:r>
              <a:t>한국부동산원	9.9	6.1				8.0</a:t>
            </a:r>
            <a:br/>
            <a:r>
              <a:t>한전KDN	7.3	7.9	9.6	6.7	7.0	7.7</a:t>
            </a:r>
            <a:br/>
            <a:r>
              <a:t>여수광양항만공사	2.0	8.7	7.5	7.9	9.4	7.1</a:t>
            </a:r>
            <a:br/>
            <a:r>
              <a:t>제주국제자유도시개발센터	13.3	24.9	15.8	1.8	-22.7	6.6</a:t>
            </a:r>
            <a:br/>
            <a:r>
              <a:t>그랜드코리아레저	20.9	16.1	16.2	14.8	-34.9	6.6</a:t>
            </a:r>
            <a:br/>
            <a:r>
              <a:t>한국전력기술					4.7	4.7</a:t>
            </a:r>
            <a:br/>
            <a:r>
              <a:t>한국수자원공사	-3.2	5.5	7.1	4.4	8.5	4.4</a:t>
            </a:r>
            <a:br/>
            <a:r>
              <a:t>한국마사회	3.0	2.8	2.4			2.7</a:t>
            </a:r>
            <a:br/>
            <a:r>
              <a:t>한국가스기술공사	6.0	1.0	2.0	2.1	0.4	2.3</a:t>
            </a:r>
            <a:br/>
            <a:r>
              <a:t>한국조폐공사	1.7	2.4	2.2	2.8	-1.5	1.5</a:t>
            </a:r>
            <a:br/>
            <a:r>
              <a:t>주식회사 에스알		5.5	5.8	2.8	-8.3	1.5</a:t>
            </a:r>
            <a:br/>
            <a:r>
              <a:t>한국도로공사		1.7	1.5	1.1	0.3	1.1</a:t>
            </a:r>
            <a:br/>
            <a:r>
              <a:t>해양환경공단	4.0	-0.4	-5.2	-0.2	0.4	-0.3</a:t>
            </a:r>
            <a:br/>
            <a:r>
              <a:t>한국방송광고진흥공사	-4.3	-7.5	-7.1	-11.1		-7.5</a:t>
            </a:r>
            <a:br/>
            <a:r>
              <a:t>한국철도공사	-4.0	-14.8	-1.7	-0.7	-27.1	-9.6</a:t>
            </a:r>
            <a:br/>
            <a:r>
              <a:t>대한석탄공사	-53.1	-57.8	-66.4	-208.7	-285.8	-134.4</a:t>
            </a:r>
            <a:br/>
            <a:r>
              <a:t>20개 준시장형 공기업 평균	6.2	7.2	6.1	-5.0	-16.7	0.2</a:t>
            </a:r>
            <a:br/>
            <a:r>
              <a:t>18개 준시장형 공기업 평균*	6.9	7.3	7.1	5.9	-1.9	4.9</a:t>
            </a:r>
          </a:p>
        </p:txBody>
      </p:sp>
      <p:sp>
        <p:nvSpPr>
          <p:cNvPr id="8" name="TextBox 7"/>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193 | Page 194</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경영목표 수립 - 경영목표 설정 ⑤ 미래성장 매출액 비중 (1/2)</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미래성장 매출액 비중 목표는 미래성장사업의 매출액 성장 목표를 전략적으로 수립하고 이에 따른 사업매출구성의 추산을 통해 '30년 미래성장 매출액 비중 60%를 목표로 설정함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경영목표 설정 ⑤ 미래성장 매출액 비중</a:t>
            </a:r>
          </a:p>
        </p:txBody>
      </p:sp>
      <p:sp>
        <p:nvSpPr>
          <p:cNvPr id="5" name="TextBox 4"/>
          <p:cNvSpPr txBox="1"/>
          <p:nvPr/>
        </p:nvSpPr>
        <p:spPr>
          <a:xfrm>
            <a:off x="457200" y="1828800"/>
            <a:ext cx="8229600" cy="274320"/>
          </a:xfrm>
          <a:prstGeom prst="rect">
            <a:avLst/>
          </a:prstGeom>
          <a:noFill/>
        </p:spPr>
        <p:txBody>
          <a:bodyPr wrap="square">
            <a:spAutoFit/>
          </a:bodyPr>
          <a:lstStyle/>
          <a:p>
            <a:pPr algn="l">
              <a:defRPr sz="1200" b="1">
                <a:solidFill>
                  <a:srgbClr val="003366"/>
                </a:solidFill>
                <a:latin typeface="Malgun Gothic"/>
              </a:defRPr>
            </a:pPr>
            <a:r>
              <a:t>전략목표</a:t>
            </a:r>
          </a:p>
        </p:txBody>
      </p:sp>
      <p:sp>
        <p:nvSpPr>
          <p:cNvPr id="6" name="TextBox 5"/>
          <p:cNvSpPr txBox="1"/>
          <p:nvPr/>
        </p:nvSpPr>
        <p:spPr>
          <a:xfrm>
            <a:off x="457200" y="2194560"/>
            <a:ext cx="8229600" cy="228600"/>
          </a:xfrm>
          <a:prstGeom prst="rect">
            <a:avLst/>
          </a:prstGeom>
          <a:noFill/>
        </p:spPr>
        <p:txBody>
          <a:bodyPr wrap="square">
            <a:spAutoFit/>
          </a:bodyPr>
          <a:lstStyle/>
          <a:p>
            <a:pPr algn="l">
              <a:defRPr sz="1000" b="0">
                <a:latin typeface="Malgun Gothic"/>
              </a:defRPr>
            </a:pPr>
            <a:r>
              <a:t>국민의 해양 이용·향유 증진</a:t>
            </a:r>
          </a:p>
        </p:txBody>
      </p:sp>
      <p:sp>
        <p:nvSpPr>
          <p:cNvPr id="7" name="TextBox 6"/>
          <p:cNvSpPr txBox="1"/>
          <p:nvPr/>
        </p:nvSpPr>
        <p:spPr>
          <a:xfrm>
            <a:off x="457200" y="2514600"/>
            <a:ext cx="8229600" cy="274320"/>
          </a:xfrm>
          <a:prstGeom prst="rect">
            <a:avLst/>
          </a:prstGeom>
          <a:noFill/>
        </p:spPr>
        <p:txBody>
          <a:bodyPr wrap="square">
            <a:spAutoFit/>
          </a:bodyPr>
          <a:lstStyle/>
          <a:p>
            <a:pPr algn="l">
              <a:defRPr sz="1200" b="1">
                <a:solidFill>
                  <a:srgbClr val="003366"/>
                </a:solidFill>
                <a:latin typeface="Malgun Gothic"/>
              </a:defRPr>
            </a:pPr>
            <a:r>
              <a:t>경영목표</a:t>
            </a:r>
          </a:p>
        </p:txBody>
      </p:sp>
      <p:sp>
        <p:nvSpPr>
          <p:cNvPr id="8" name="TextBox 7"/>
          <p:cNvSpPr txBox="1"/>
          <p:nvPr/>
        </p:nvSpPr>
        <p:spPr>
          <a:xfrm>
            <a:off x="457200" y="2880360"/>
            <a:ext cx="8229600" cy="228600"/>
          </a:xfrm>
          <a:prstGeom prst="rect">
            <a:avLst/>
          </a:prstGeom>
          <a:noFill/>
        </p:spPr>
        <p:txBody>
          <a:bodyPr wrap="square">
            <a:spAutoFit/>
          </a:bodyPr>
          <a:lstStyle/>
          <a:p>
            <a:pPr algn="l">
              <a:defRPr sz="1000" b="0">
                <a:latin typeface="Malgun Gothic"/>
              </a:defRPr>
            </a:pPr>
            <a:r>
              <a:t>미래성장 매출액 비중</a:t>
            </a:r>
          </a:p>
        </p:txBody>
      </p:sp>
      <p:sp>
        <p:nvSpPr>
          <p:cNvPr id="9" name="TextBox 8"/>
          <p:cNvSpPr txBox="1"/>
          <p:nvPr/>
        </p:nvSpPr>
        <p:spPr>
          <a:xfrm>
            <a:off x="457200" y="3200400"/>
            <a:ext cx="8229600" cy="274320"/>
          </a:xfrm>
          <a:prstGeom prst="rect">
            <a:avLst/>
          </a:prstGeom>
          <a:noFill/>
        </p:spPr>
        <p:txBody>
          <a:bodyPr wrap="square">
            <a:spAutoFit/>
          </a:bodyPr>
          <a:lstStyle/>
          <a:p>
            <a:pPr algn="l">
              <a:defRPr sz="1200" b="1">
                <a:solidFill>
                  <a:srgbClr val="003366"/>
                </a:solidFill>
                <a:latin typeface="Malgun Gothic"/>
              </a:defRPr>
            </a:pPr>
            <a:r>
              <a:t>목표설정 유형</a:t>
            </a:r>
          </a:p>
        </p:txBody>
      </p:sp>
      <p:sp>
        <p:nvSpPr>
          <p:cNvPr id="10" name="TextBox 9"/>
          <p:cNvSpPr txBox="1"/>
          <p:nvPr/>
        </p:nvSpPr>
        <p:spPr>
          <a:xfrm>
            <a:off x="457200" y="3566160"/>
            <a:ext cx="8229600" cy="228600"/>
          </a:xfrm>
          <a:prstGeom prst="rect">
            <a:avLst/>
          </a:prstGeom>
          <a:noFill/>
        </p:spPr>
        <p:txBody>
          <a:bodyPr wrap="square">
            <a:spAutoFit/>
          </a:bodyPr>
          <a:lstStyle/>
          <a:p>
            <a:pPr algn="l">
              <a:defRPr sz="1000" b="0">
                <a:latin typeface="Malgun Gothic"/>
              </a:defRPr>
            </a:pPr>
            <a:r>
              <a:t>전략형</a:t>
            </a:r>
          </a:p>
        </p:txBody>
      </p:sp>
      <p:sp>
        <p:nvSpPr>
          <p:cNvPr id="11" name="TextBox 10"/>
          <p:cNvSpPr txBox="1"/>
          <p:nvPr/>
        </p:nvSpPr>
        <p:spPr>
          <a:xfrm>
            <a:off x="457200" y="3886200"/>
            <a:ext cx="8229600" cy="228600"/>
          </a:xfrm>
          <a:prstGeom prst="rect">
            <a:avLst/>
          </a:prstGeom>
          <a:noFill/>
        </p:spPr>
        <p:txBody>
          <a:bodyPr wrap="square">
            <a:spAutoFit/>
          </a:bodyPr>
          <a:lstStyle/>
          <a:p>
            <a:pPr algn="l">
              <a:defRPr sz="1000" b="0">
                <a:latin typeface="Malgun Gothic"/>
              </a:defRPr>
            </a:pPr>
            <a:r>
              <a:t>기술</a:t>
            </a:r>
            <a:br/>
            <a:r>
              <a:t>분석형1</a:t>
            </a:r>
          </a:p>
        </p:txBody>
      </p:sp>
      <p:sp>
        <p:nvSpPr>
          <p:cNvPr id="12" name="TextBox 11"/>
          <p:cNvSpPr txBox="1"/>
          <p:nvPr/>
        </p:nvSpPr>
        <p:spPr>
          <a:xfrm>
            <a:off x="457200" y="4206240"/>
            <a:ext cx="8229600" cy="228600"/>
          </a:xfrm>
          <a:prstGeom prst="rect">
            <a:avLst/>
          </a:prstGeom>
          <a:noFill/>
        </p:spPr>
        <p:txBody>
          <a:bodyPr wrap="square">
            <a:spAutoFit/>
          </a:bodyPr>
          <a:lstStyle/>
          <a:p>
            <a:pPr algn="l">
              <a:defRPr sz="1000" b="0">
                <a:latin typeface="Malgun Gothic"/>
              </a:defRPr>
            </a:pPr>
            <a:r>
              <a:t>기술</a:t>
            </a:r>
            <a:br/>
            <a:r>
              <a:t>분석형2</a:t>
            </a:r>
          </a:p>
        </p:txBody>
      </p:sp>
      <p:sp>
        <p:nvSpPr>
          <p:cNvPr id="13" name="TextBox 12"/>
          <p:cNvSpPr txBox="1"/>
          <p:nvPr/>
        </p:nvSpPr>
        <p:spPr>
          <a:xfrm>
            <a:off x="457200" y="4526280"/>
            <a:ext cx="8229600" cy="228600"/>
          </a:xfrm>
          <a:prstGeom prst="rect">
            <a:avLst/>
          </a:prstGeom>
          <a:noFill/>
        </p:spPr>
        <p:txBody>
          <a:bodyPr wrap="square">
            <a:spAutoFit/>
          </a:bodyPr>
          <a:lstStyle/>
          <a:p>
            <a:pPr algn="l">
              <a:defRPr sz="1000" b="0">
                <a:latin typeface="Malgun Gothic"/>
              </a:defRPr>
            </a:pPr>
            <a:r>
              <a:t>벤치마킹형</a:t>
            </a:r>
          </a:p>
        </p:txBody>
      </p:sp>
      <p:sp>
        <p:nvSpPr>
          <p:cNvPr id="14" name="TextBox 13"/>
          <p:cNvSpPr txBox="1"/>
          <p:nvPr/>
        </p:nvSpPr>
        <p:spPr>
          <a:xfrm>
            <a:off x="457200" y="4846320"/>
            <a:ext cx="8229600" cy="228600"/>
          </a:xfrm>
          <a:prstGeom prst="rect">
            <a:avLst/>
          </a:prstGeom>
          <a:noFill/>
        </p:spPr>
        <p:txBody>
          <a:bodyPr wrap="square">
            <a:spAutoFit/>
          </a:bodyPr>
          <a:lstStyle/>
          <a:p>
            <a:pPr algn="l">
              <a:defRPr sz="1000" b="0">
                <a:latin typeface="Malgun Gothic"/>
              </a:defRPr>
            </a:pPr>
            <a:r>
              <a:t>현업설정형</a:t>
            </a:r>
          </a:p>
        </p:txBody>
      </p:sp>
      <p:sp>
        <p:nvSpPr>
          <p:cNvPr id="15" name="TextBox 14"/>
          <p:cNvSpPr txBox="1"/>
          <p:nvPr/>
        </p:nvSpPr>
        <p:spPr>
          <a:xfrm>
            <a:off x="457200" y="5166360"/>
            <a:ext cx="8229600" cy="228600"/>
          </a:xfrm>
          <a:prstGeom prst="rect">
            <a:avLst/>
          </a:prstGeom>
          <a:noFill/>
        </p:spPr>
        <p:txBody>
          <a:bodyPr wrap="square">
            <a:spAutoFit/>
          </a:bodyPr>
          <a:lstStyle/>
          <a:p>
            <a:pPr algn="l">
              <a:defRPr sz="1000" b="0">
                <a:latin typeface="Malgun Gothic"/>
              </a:defRPr>
            </a:pPr>
            <a:r>
              <a:t>관리</a:t>
            </a:r>
            <a:br/>
            <a:r>
              <a:t>KPI化*</a:t>
            </a:r>
          </a:p>
        </p:txBody>
      </p:sp>
      <p:sp>
        <p:nvSpPr>
          <p:cNvPr id="16" name="TextBox 15"/>
          <p:cNvSpPr txBox="1"/>
          <p:nvPr/>
        </p:nvSpPr>
        <p:spPr>
          <a:xfrm>
            <a:off x="457200" y="5486400"/>
            <a:ext cx="8229600" cy="274320"/>
          </a:xfrm>
          <a:prstGeom prst="rect">
            <a:avLst/>
          </a:prstGeom>
          <a:noFill/>
        </p:spPr>
        <p:txBody>
          <a:bodyPr wrap="square">
            <a:spAutoFit/>
          </a:bodyPr>
          <a:lstStyle/>
          <a:p>
            <a:pPr algn="l">
              <a:defRPr sz="1200" b="1">
                <a:solidFill>
                  <a:srgbClr val="003366"/>
                </a:solidFill>
                <a:latin typeface="Malgun Gothic"/>
              </a:defRPr>
            </a:pPr>
            <a:r>
              <a:t>목표 설정 방식</a:t>
            </a:r>
          </a:p>
        </p:txBody>
      </p:sp>
      <p:sp>
        <p:nvSpPr>
          <p:cNvPr id="17" name="TextBox 16"/>
          <p:cNvSpPr txBox="1"/>
          <p:nvPr/>
        </p:nvSpPr>
        <p:spPr>
          <a:xfrm>
            <a:off x="457200" y="5852160"/>
            <a:ext cx="8229600" cy="1600200"/>
          </a:xfrm>
          <a:prstGeom prst="rect">
            <a:avLst/>
          </a:prstGeom>
          <a:noFill/>
        </p:spPr>
        <p:txBody>
          <a:bodyPr wrap="square">
            <a:spAutoFit/>
          </a:bodyPr>
          <a:lstStyle/>
          <a:p>
            <a:pPr algn="l">
              <a:defRPr sz="1000" b="0">
                <a:latin typeface="Malgun Gothic"/>
              </a:defRPr>
            </a:pPr>
            <a:r>
              <a:t>✓ '21년 매출액 목표는 골재채취단지 매출 증가 등 급격한 변화로 직접 반영하고, '21년 이후는 미래성장사업의 추진계획 및 신규사업 발굴·추진을 반영하고 '28~30년은 '27년 일몰 계획인 사업을 대체하는 미래성장사업 신규 발굴을 통해 추가 매출 목표를 수립하여 목표의 도전성을 확보할 수 있도록 수립</a:t>
            </a:r>
            <a:br/>
            <a:r>
              <a:t>✓ 현재 추진 중인 미래성장사업에 국한되지 않고, 지속적인 사업 발굴과 추진을 통해 미래성장사업 매출을 증가시키는 점증적 성장을 고려하여 목표를 수립함</a:t>
            </a:r>
            <a:br/>
            <a:r>
              <a:t>✓ 대형 신규·미래성장사업의 전략적 추진 의사결정시 목표 조정이 필요할 수 있음</a:t>
            </a:r>
          </a:p>
        </p:txBody>
      </p:sp>
      <p:sp>
        <p:nvSpPr>
          <p:cNvPr id="18" name="TextBox 17"/>
          <p:cNvSpPr txBox="1"/>
          <p:nvPr/>
        </p:nvSpPr>
        <p:spPr>
          <a:xfrm>
            <a:off x="457200" y="7543800"/>
            <a:ext cx="8229600" cy="274320"/>
          </a:xfrm>
          <a:prstGeom prst="rect">
            <a:avLst/>
          </a:prstGeom>
          <a:noFill/>
        </p:spPr>
        <p:txBody>
          <a:bodyPr wrap="square">
            <a:spAutoFit/>
          </a:bodyPr>
          <a:lstStyle/>
          <a:p>
            <a:pPr algn="l">
              <a:defRPr sz="1200" b="1">
                <a:solidFill>
                  <a:srgbClr val="003366"/>
                </a:solidFill>
                <a:latin typeface="Malgun Gothic"/>
              </a:defRPr>
            </a:pPr>
            <a:r>
              <a:t>구성요소</a:t>
            </a:r>
          </a:p>
        </p:txBody>
      </p:sp>
      <p:sp>
        <p:nvSpPr>
          <p:cNvPr id="19" name="TextBox 18"/>
          <p:cNvSpPr txBox="1"/>
          <p:nvPr/>
        </p:nvSpPr>
        <p:spPr>
          <a:xfrm>
            <a:off x="457200" y="7909560"/>
            <a:ext cx="8229600" cy="914400"/>
          </a:xfrm>
          <a:prstGeom prst="rect">
            <a:avLst/>
          </a:prstGeom>
          <a:noFill/>
        </p:spPr>
        <p:txBody>
          <a:bodyPr wrap="square">
            <a:spAutoFit/>
          </a:bodyPr>
          <a:lstStyle/>
          <a:p>
            <a:pPr algn="l">
              <a:defRPr sz="900" b="0">
                <a:latin typeface="Malgun Gothic"/>
              </a:defRPr>
            </a:pPr>
            <a:r>
              <a:t>[TABLE]</a:t>
            </a:r>
            <a:br/>
            <a:r>
              <a:t>구성요소	'19	'20	'21	'22	'23	'24	'25	'26	'27	'28	'29	'30</a:t>
            </a:r>
            <a:br/>
            <a:r>
              <a:t>미래성장 매출액</a:t>
            </a:r>
            <a:br/>
            <a:r>
              <a:t>비중 계획 (%)	24%	23%	39%	46%	48%	49%	50%	54%	55%	57%	58%	60%</a:t>
            </a:r>
            <a:br/>
            <a:r>
              <a:t>미래성장 매출액</a:t>
            </a:r>
            <a:br/>
            <a:r>
              <a:t>(억원)	296	295	650	900	1,000	1,100	1,200	1,400	1,500	1,700	1,850	2,000</a:t>
            </a:r>
          </a:p>
        </p:txBody>
      </p:sp>
      <p:sp>
        <p:nvSpPr>
          <p:cNvPr id="20" name="TextBox 19"/>
          <p:cNvSpPr txBox="1"/>
          <p:nvPr/>
        </p:nvSpPr>
        <p:spPr>
          <a:xfrm>
            <a:off x="457200" y="8915400"/>
            <a:ext cx="8229600" cy="457200"/>
          </a:xfrm>
          <a:prstGeom prst="rect">
            <a:avLst/>
          </a:prstGeom>
          <a:noFill/>
        </p:spPr>
        <p:txBody>
          <a:bodyPr wrap="square">
            <a:spAutoFit/>
          </a:bodyPr>
          <a:lstStyle/>
          <a:p>
            <a:pPr algn="l">
              <a:defRPr sz="1000" b="0">
                <a:latin typeface="Malgun Gothic"/>
              </a:defRPr>
            </a:pPr>
            <a:r>
              <a:t>• 기존사업 : 방제, 예선, 정화</a:t>
            </a:r>
            <a:br/>
            <a:r>
              <a:t>• 미래성장사업 : 조사연구,</a:t>
            </a:r>
            <a:br/>
            <a:r>
              <a:t>교육, 골재채취관리,</a:t>
            </a:r>
            <a:br/>
            <a:r>
              <a:t>국제사업, 기후, 치유 등</a:t>
            </a:r>
            <a:br/>
            <a:r>
              <a:t>기존사업 外 성장사업</a:t>
            </a:r>
          </a:p>
        </p:txBody>
      </p:sp>
      <p:sp>
        <p:nvSpPr>
          <p:cNvPr id="21" name="TextBox 20"/>
          <p:cNvSpPr txBox="1"/>
          <p:nvPr/>
        </p:nvSpPr>
        <p:spPr>
          <a:xfrm>
            <a:off x="457200" y="9464040"/>
            <a:ext cx="8229600" cy="228600"/>
          </a:xfrm>
          <a:prstGeom prst="rect">
            <a:avLst/>
          </a:prstGeom>
          <a:noFill/>
        </p:spPr>
        <p:txBody>
          <a:bodyPr wrap="square">
            <a:spAutoFit/>
          </a:bodyPr>
          <a:lstStyle/>
          <a:p>
            <a:pPr algn="l">
              <a:defRPr sz="1000" b="0">
                <a:latin typeface="Malgun Gothic"/>
              </a:defRPr>
            </a:pPr>
            <a:r>
              <a:t>골재채취단지관리 매출 증가 직접 반영</a:t>
            </a:r>
          </a:p>
        </p:txBody>
      </p:sp>
      <p:sp>
        <p:nvSpPr>
          <p:cNvPr id="22" name="TextBox 21"/>
          <p:cNvSpPr txBox="1"/>
          <p:nvPr/>
        </p:nvSpPr>
        <p:spPr>
          <a:xfrm>
            <a:off x="457200" y="9784080"/>
            <a:ext cx="8229600" cy="457200"/>
          </a:xfrm>
          <a:prstGeom prst="rect">
            <a:avLst/>
          </a:prstGeom>
          <a:noFill/>
        </p:spPr>
        <p:txBody>
          <a:bodyPr wrap="square">
            <a:spAutoFit/>
          </a:bodyPr>
          <a:lstStyle/>
          <a:p>
            <a:pPr algn="l">
              <a:defRPr sz="1000" b="0">
                <a:latin typeface="Malgun Gothic"/>
              </a:defRPr>
            </a:pPr>
            <a:r>
              <a:t>미래성장사업 추진 계획 목표 반영</a:t>
            </a:r>
            <a:br/>
            <a:r>
              <a:t>(부서 사업계획 및 신규 미래성장사업 발굴-추진 계획)</a:t>
            </a:r>
            <a:br/>
            <a:r>
              <a:t>+ '28~'30년 도전적 목표 수립을 위한 사업목표 추가</a:t>
            </a:r>
          </a:p>
        </p:txBody>
      </p:sp>
      <p:sp>
        <p:nvSpPr>
          <p:cNvPr id="23" name="TextBox 22"/>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194 | Page 195</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경영목표 수립 - 경영목표 설정 ⑤ 미래성장 매출액 비중 (2/2)</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미래성장 관련 경영목표로 미래사업의 매출액, 매출액 비중, 투자액 및 투자액 비중, 사업성과 등이 있으며, 공단은 해양환경 영역의 확장에 따른 지속 성장을 적절히 반영할 수 있는 매출비중을 채용하여 목표를 설정함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신성장 지표</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매출액</a:t>
            </a:r>
          </a:p>
        </p:txBody>
      </p:sp>
      <p:sp>
        <p:nvSpPr>
          <p:cNvPr id="6" name="TextBox 5"/>
          <p:cNvSpPr txBox="1"/>
          <p:nvPr/>
        </p:nvSpPr>
        <p:spPr>
          <a:xfrm>
            <a:off x="457200" y="2148840"/>
            <a:ext cx="8229600" cy="274320"/>
          </a:xfrm>
          <a:prstGeom prst="rect">
            <a:avLst/>
          </a:prstGeom>
          <a:noFill/>
        </p:spPr>
        <p:txBody>
          <a:bodyPr wrap="square">
            <a:spAutoFit/>
          </a:bodyPr>
          <a:lstStyle/>
          <a:p>
            <a:pPr algn="l">
              <a:defRPr sz="1200" b="1">
                <a:solidFill>
                  <a:srgbClr val="003366"/>
                </a:solidFill>
                <a:latin typeface="Malgun Gothic"/>
              </a:defRPr>
            </a:pPr>
            <a:r>
              <a:t>지표 형태</a:t>
            </a:r>
          </a:p>
        </p:txBody>
      </p:sp>
      <p:sp>
        <p:nvSpPr>
          <p:cNvPr id="7" name="TextBox 6"/>
          <p:cNvSpPr txBox="1"/>
          <p:nvPr/>
        </p:nvSpPr>
        <p:spPr>
          <a:xfrm>
            <a:off x="457200" y="2514600"/>
            <a:ext cx="8229600" cy="457200"/>
          </a:xfrm>
          <a:prstGeom prst="rect">
            <a:avLst/>
          </a:prstGeom>
          <a:noFill/>
        </p:spPr>
        <p:txBody>
          <a:bodyPr wrap="square">
            <a:spAutoFit/>
          </a:bodyPr>
          <a:lstStyle/>
          <a:p>
            <a:pPr algn="l">
              <a:defRPr sz="1000" b="0">
                <a:latin typeface="Malgun Gothic"/>
              </a:defRPr>
            </a:pPr>
            <a:r>
              <a:t>• 신사업, 미래성장사업, 그린사업, 해외사업, 뉴딜사업 등 신성장 사업 매출 금액 목표</a:t>
            </a:r>
            <a:br/>
            <a:r>
              <a:t>• 억원 또는 조원 단위로 직접 매출액 목표 지정</a:t>
            </a:r>
          </a:p>
        </p:txBody>
      </p:sp>
      <p:sp>
        <p:nvSpPr>
          <p:cNvPr id="8" name="TextBox 7"/>
          <p:cNvSpPr txBox="1"/>
          <p:nvPr/>
        </p:nvSpPr>
        <p:spPr>
          <a:xfrm>
            <a:off x="457200" y="3063240"/>
            <a:ext cx="8229600" cy="274320"/>
          </a:xfrm>
          <a:prstGeom prst="rect">
            <a:avLst/>
          </a:prstGeom>
          <a:noFill/>
        </p:spPr>
        <p:txBody>
          <a:bodyPr wrap="square">
            <a:spAutoFit/>
          </a:bodyPr>
          <a:lstStyle/>
          <a:p>
            <a:pPr algn="l">
              <a:defRPr sz="1200" b="1">
                <a:solidFill>
                  <a:srgbClr val="003366"/>
                </a:solidFill>
                <a:latin typeface="Malgun Gothic"/>
              </a:defRPr>
            </a:pPr>
            <a:r>
              <a:t>미래성장(사업) 목표 유형 및 사례</a:t>
            </a:r>
          </a:p>
        </p:txBody>
      </p:sp>
      <p:sp>
        <p:nvSpPr>
          <p:cNvPr id="9" name="TextBox 8"/>
          <p:cNvSpPr txBox="1"/>
          <p:nvPr/>
        </p:nvSpPr>
        <p:spPr>
          <a:xfrm>
            <a:off x="457200" y="3429000"/>
            <a:ext cx="8229600" cy="457200"/>
          </a:xfrm>
          <a:prstGeom prst="rect">
            <a:avLst/>
          </a:prstGeom>
          <a:noFill/>
        </p:spPr>
        <p:txBody>
          <a:bodyPr wrap="square">
            <a:spAutoFit/>
          </a:bodyPr>
          <a:lstStyle/>
          <a:p>
            <a:pPr algn="l">
              <a:defRPr sz="1000" b="0">
                <a:latin typeface="Malgun Gothic"/>
              </a:defRPr>
            </a:pPr>
            <a:r>
              <a:t>특성 및 장단점</a:t>
            </a:r>
            <a:br/>
            <a:r>
              <a:t>• 목표가 명료하나 기업 규모에 따른 매출 편차로 미래성장사업에 대한 중요도를 판단하기는 어려움</a:t>
            </a:r>
            <a:br/>
            <a:r>
              <a:t>• 사업환경에 따라 매년 목표를 수정해야 함</a:t>
            </a:r>
          </a:p>
        </p:txBody>
      </p:sp>
      <p:sp>
        <p:nvSpPr>
          <p:cNvPr id="10" name="TextBox 9"/>
          <p:cNvSpPr txBox="1"/>
          <p:nvPr/>
        </p:nvSpPr>
        <p:spPr>
          <a:xfrm>
            <a:off x="457200" y="3977640"/>
            <a:ext cx="8229600" cy="685800"/>
          </a:xfrm>
          <a:prstGeom prst="rect">
            <a:avLst/>
          </a:prstGeom>
          <a:noFill/>
        </p:spPr>
        <p:txBody>
          <a:bodyPr wrap="square">
            <a:spAutoFit/>
          </a:bodyPr>
          <a:lstStyle/>
          <a:p>
            <a:pPr algn="l">
              <a:defRPr sz="1000" b="0">
                <a:latin typeface="Malgun Gothic"/>
              </a:defRPr>
            </a:pPr>
            <a:r>
              <a:t>공기업 및 해수부 산하 기관 채용 사례</a:t>
            </a:r>
            <a:br/>
            <a:r>
              <a:t>• 한국지역난방공사 신사업매출 5,000억원</a:t>
            </a:r>
            <a:br/>
            <a:r>
              <a:t>• 강원랜드 리조트및신사업매출 3,000억원</a:t>
            </a:r>
            <a:br/>
            <a:r>
              <a:t>• 한국서부발전 뉴딜신사업매출액 0.5조원</a:t>
            </a:r>
            <a:br/>
            <a:r>
              <a:t>• 한국남부발전 신성장매출 3.3조원</a:t>
            </a:r>
          </a:p>
        </p:txBody>
      </p:sp>
      <p:sp>
        <p:nvSpPr>
          <p:cNvPr id="11" name="TextBox 10"/>
          <p:cNvSpPr txBox="1"/>
          <p:nvPr/>
        </p:nvSpPr>
        <p:spPr>
          <a:xfrm>
            <a:off x="457200" y="4754880"/>
            <a:ext cx="8229600" cy="274320"/>
          </a:xfrm>
          <a:prstGeom prst="rect">
            <a:avLst/>
          </a:prstGeom>
          <a:noFill/>
        </p:spPr>
        <p:txBody>
          <a:bodyPr wrap="square">
            <a:spAutoFit/>
          </a:bodyPr>
          <a:lstStyle/>
          <a:p>
            <a:pPr algn="l">
              <a:defRPr sz="1200" b="1">
                <a:solidFill>
                  <a:srgbClr val="003366"/>
                </a:solidFill>
                <a:latin typeface="Malgun Gothic"/>
              </a:defRPr>
            </a:pPr>
            <a:r>
              <a:t>신성장 지표</a:t>
            </a:r>
          </a:p>
        </p:txBody>
      </p:sp>
      <p:sp>
        <p:nvSpPr>
          <p:cNvPr id="12" name="TextBox 11"/>
          <p:cNvSpPr txBox="1"/>
          <p:nvPr/>
        </p:nvSpPr>
        <p:spPr>
          <a:xfrm>
            <a:off x="457200" y="5120640"/>
            <a:ext cx="8229600" cy="228600"/>
          </a:xfrm>
          <a:prstGeom prst="rect">
            <a:avLst/>
          </a:prstGeom>
          <a:noFill/>
        </p:spPr>
        <p:txBody>
          <a:bodyPr wrap="square">
            <a:spAutoFit/>
          </a:bodyPr>
          <a:lstStyle/>
          <a:p>
            <a:pPr algn="l">
              <a:defRPr sz="1000" b="0">
                <a:latin typeface="Malgun Gothic"/>
              </a:defRPr>
            </a:pPr>
            <a:r>
              <a:t>매출비중</a:t>
            </a:r>
          </a:p>
        </p:txBody>
      </p:sp>
      <p:sp>
        <p:nvSpPr>
          <p:cNvPr id="13" name="TextBox 12"/>
          <p:cNvSpPr txBox="1"/>
          <p:nvPr/>
        </p:nvSpPr>
        <p:spPr>
          <a:xfrm>
            <a:off x="457200" y="5440680"/>
            <a:ext cx="8229600" cy="274320"/>
          </a:xfrm>
          <a:prstGeom prst="rect">
            <a:avLst/>
          </a:prstGeom>
          <a:noFill/>
        </p:spPr>
        <p:txBody>
          <a:bodyPr wrap="square">
            <a:spAutoFit/>
          </a:bodyPr>
          <a:lstStyle/>
          <a:p>
            <a:pPr algn="l">
              <a:defRPr sz="1200" b="1">
                <a:solidFill>
                  <a:srgbClr val="003366"/>
                </a:solidFill>
                <a:latin typeface="Malgun Gothic"/>
              </a:defRPr>
            </a:pPr>
            <a:r>
              <a:t>지표 형태</a:t>
            </a:r>
          </a:p>
        </p:txBody>
      </p:sp>
      <p:sp>
        <p:nvSpPr>
          <p:cNvPr id="14" name="TextBox 13"/>
          <p:cNvSpPr txBox="1"/>
          <p:nvPr/>
        </p:nvSpPr>
        <p:spPr>
          <a:xfrm>
            <a:off x="457200" y="5806440"/>
            <a:ext cx="8229600" cy="457200"/>
          </a:xfrm>
          <a:prstGeom prst="rect">
            <a:avLst/>
          </a:prstGeom>
          <a:noFill/>
        </p:spPr>
        <p:txBody>
          <a:bodyPr wrap="square">
            <a:spAutoFit/>
          </a:bodyPr>
          <a:lstStyle/>
          <a:p>
            <a:pPr algn="l">
              <a:defRPr sz="1000" b="0">
                <a:latin typeface="Malgun Gothic"/>
              </a:defRPr>
            </a:pPr>
            <a:r>
              <a:t>• 신성장·미래사업 비중, 신사업·미래사업 매출비율 등 총매출 대비 신성장 및 미래사업 매출의 비중 목표</a:t>
            </a:r>
            <a:br/>
            <a:r>
              <a:t>• 비중 또는 비율 00%로 설정</a:t>
            </a:r>
          </a:p>
        </p:txBody>
      </p:sp>
      <p:sp>
        <p:nvSpPr>
          <p:cNvPr id="15" name="TextBox 14"/>
          <p:cNvSpPr txBox="1"/>
          <p:nvPr/>
        </p:nvSpPr>
        <p:spPr>
          <a:xfrm>
            <a:off x="457200" y="6355080"/>
            <a:ext cx="8229600" cy="274320"/>
          </a:xfrm>
          <a:prstGeom prst="rect">
            <a:avLst/>
          </a:prstGeom>
          <a:noFill/>
        </p:spPr>
        <p:txBody>
          <a:bodyPr wrap="square">
            <a:spAutoFit/>
          </a:bodyPr>
          <a:lstStyle/>
          <a:p>
            <a:pPr algn="l">
              <a:defRPr sz="1200" b="1">
                <a:solidFill>
                  <a:srgbClr val="003366"/>
                </a:solidFill>
                <a:latin typeface="Malgun Gothic"/>
              </a:defRPr>
            </a:pPr>
            <a:r>
              <a:t>미래성장(사업) 목표 유형 및 사례</a:t>
            </a:r>
          </a:p>
        </p:txBody>
      </p:sp>
      <p:sp>
        <p:nvSpPr>
          <p:cNvPr id="16" name="TextBox 15"/>
          <p:cNvSpPr txBox="1"/>
          <p:nvPr/>
        </p:nvSpPr>
        <p:spPr>
          <a:xfrm>
            <a:off x="457200" y="6720840"/>
            <a:ext cx="8229600" cy="457200"/>
          </a:xfrm>
          <a:prstGeom prst="rect">
            <a:avLst/>
          </a:prstGeom>
          <a:noFill/>
        </p:spPr>
        <p:txBody>
          <a:bodyPr wrap="square">
            <a:spAutoFit/>
          </a:bodyPr>
          <a:lstStyle/>
          <a:p>
            <a:pPr algn="l">
              <a:defRPr sz="1000" b="0">
                <a:latin typeface="Malgun Gothic"/>
              </a:defRPr>
            </a:pPr>
            <a:r>
              <a:t>• 미래성장사업에 대한 중요도 및 비중으로 중요도를 판단해 볼 수 있으나, 신설 또는 성장기 조직과 안정기 조직의 편차 있음</a:t>
            </a:r>
            <a:br/>
            <a:r>
              <a:t>• 미래성장사업에 대한 전략적 추진 반영</a:t>
            </a:r>
          </a:p>
        </p:txBody>
      </p:sp>
      <p:sp>
        <p:nvSpPr>
          <p:cNvPr id="17" name="TextBox 16"/>
          <p:cNvSpPr txBox="1"/>
          <p:nvPr/>
        </p:nvSpPr>
        <p:spPr>
          <a:xfrm>
            <a:off x="457200" y="7269480"/>
            <a:ext cx="8229600" cy="457200"/>
          </a:xfrm>
          <a:prstGeom prst="rect">
            <a:avLst/>
          </a:prstGeom>
          <a:noFill/>
        </p:spPr>
        <p:txBody>
          <a:bodyPr wrap="square">
            <a:spAutoFit/>
          </a:bodyPr>
          <a:lstStyle/>
          <a:p>
            <a:pPr algn="l">
              <a:defRPr sz="1000" b="0">
                <a:latin typeface="Malgun Gothic"/>
              </a:defRPr>
            </a:pPr>
            <a:r>
              <a:t>• 울산항만공사 신사업매출액비중 10%</a:t>
            </a:r>
            <a:br/>
            <a:r>
              <a:t>• 한국어촌어항공단 미래사업매출액비율 80%</a:t>
            </a:r>
            <a:br/>
            <a:r>
              <a:t>• 한국전력기술 신성장·미래사업비중 45%</a:t>
            </a:r>
          </a:p>
        </p:txBody>
      </p:sp>
      <p:sp>
        <p:nvSpPr>
          <p:cNvPr id="18" name="TextBox 17"/>
          <p:cNvSpPr txBox="1"/>
          <p:nvPr/>
        </p:nvSpPr>
        <p:spPr>
          <a:xfrm>
            <a:off x="457200" y="7818120"/>
            <a:ext cx="8229600" cy="274320"/>
          </a:xfrm>
          <a:prstGeom prst="rect">
            <a:avLst/>
          </a:prstGeom>
          <a:noFill/>
        </p:spPr>
        <p:txBody>
          <a:bodyPr wrap="square">
            <a:spAutoFit/>
          </a:bodyPr>
          <a:lstStyle/>
          <a:p>
            <a:pPr algn="l">
              <a:defRPr sz="1200" b="1">
                <a:solidFill>
                  <a:srgbClr val="003366"/>
                </a:solidFill>
                <a:latin typeface="Malgun Gothic"/>
              </a:defRPr>
            </a:pPr>
            <a:r>
              <a:t>신성장 지표</a:t>
            </a:r>
          </a:p>
        </p:txBody>
      </p:sp>
      <p:sp>
        <p:nvSpPr>
          <p:cNvPr id="19" name="TextBox 18"/>
          <p:cNvSpPr txBox="1"/>
          <p:nvPr/>
        </p:nvSpPr>
        <p:spPr>
          <a:xfrm>
            <a:off x="457200" y="8183880"/>
            <a:ext cx="8229600" cy="228600"/>
          </a:xfrm>
          <a:prstGeom prst="rect">
            <a:avLst/>
          </a:prstGeom>
          <a:noFill/>
        </p:spPr>
        <p:txBody>
          <a:bodyPr wrap="square">
            <a:spAutoFit/>
          </a:bodyPr>
          <a:lstStyle/>
          <a:p>
            <a:pPr algn="l">
              <a:defRPr sz="1000" b="0">
                <a:latin typeface="Malgun Gothic"/>
              </a:defRPr>
            </a:pPr>
            <a:r>
              <a:t>투자액</a:t>
            </a:r>
          </a:p>
        </p:txBody>
      </p:sp>
      <p:sp>
        <p:nvSpPr>
          <p:cNvPr id="20" name="TextBox 19"/>
          <p:cNvSpPr txBox="1"/>
          <p:nvPr/>
        </p:nvSpPr>
        <p:spPr>
          <a:xfrm>
            <a:off x="457200" y="8503920"/>
            <a:ext cx="8229600" cy="274320"/>
          </a:xfrm>
          <a:prstGeom prst="rect">
            <a:avLst/>
          </a:prstGeom>
          <a:noFill/>
        </p:spPr>
        <p:txBody>
          <a:bodyPr wrap="square">
            <a:spAutoFit/>
          </a:bodyPr>
          <a:lstStyle/>
          <a:p>
            <a:pPr algn="l">
              <a:defRPr sz="1200" b="1">
                <a:solidFill>
                  <a:srgbClr val="003366"/>
                </a:solidFill>
                <a:latin typeface="Malgun Gothic"/>
              </a:defRPr>
            </a:pPr>
            <a:r>
              <a:t>지표 형태</a:t>
            </a:r>
          </a:p>
        </p:txBody>
      </p:sp>
      <p:sp>
        <p:nvSpPr>
          <p:cNvPr id="21" name="TextBox 20"/>
          <p:cNvSpPr txBox="1"/>
          <p:nvPr/>
        </p:nvSpPr>
        <p:spPr>
          <a:xfrm>
            <a:off x="457200" y="8869680"/>
            <a:ext cx="8229600" cy="457200"/>
          </a:xfrm>
          <a:prstGeom prst="rect">
            <a:avLst/>
          </a:prstGeom>
          <a:noFill/>
        </p:spPr>
        <p:txBody>
          <a:bodyPr wrap="square">
            <a:spAutoFit/>
          </a:bodyPr>
          <a:lstStyle/>
          <a:p>
            <a:pPr algn="l">
              <a:defRPr sz="1000" b="0">
                <a:latin typeface="Malgun Gothic"/>
              </a:defRPr>
            </a:pPr>
            <a:r>
              <a:t>• 신사업, 미래사업 및 인프라 투자규모(투자금액) 목표</a:t>
            </a:r>
            <a:br/>
            <a:r>
              <a:t>• 억원 또는 조원 단위 투자금액 목표 지정</a:t>
            </a:r>
          </a:p>
        </p:txBody>
      </p:sp>
      <p:sp>
        <p:nvSpPr>
          <p:cNvPr id="22" name="TextBox 21"/>
          <p:cNvSpPr txBox="1"/>
          <p:nvPr/>
        </p:nvSpPr>
        <p:spPr>
          <a:xfrm>
            <a:off x="457200" y="9418320"/>
            <a:ext cx="8229600" cy="274320"/>
          </a:xfrm>
          <a:prstGeom prst="rect">
            <a:avLst/>
          </a:prstGeom>
          <a:noFill/>
        </p:spPr>
        <p:txBody>
          <a:bodyPr wrap="square">
            <a:spAutoFit/>
          </a:bodyPr>
          <a:lstStyle/>
          <a:p>
            <a:pPr algn="l">
              <a:defRPr sz="1200" b="1">
                <a:solidFill>
                  <a:srgbClr val="003366"/>
                </a:solidFill>
                <a:latin typeface="Malgun Gothic"/>
              </a:defRPr>
            </a:pPr>
            <a:r>
              <a:t>미래성장(사업) 목표 유형 및 사례</a:t>
            </a:r>
          </a:p>
        </p:txBody>
      </p:sp>
      <p:sp>
        <p:nvSpPr>
          <p:cNvPr id="23" name="TextBox 22"/>
          <p:cNvSpPr txBox="1"/>
          <p:nvPr/>
        </p:nvSpPr>
        <p:spPr>
          <a:xfrm>
            <a:off x="457200" y="9784080"/>
            <a:ext cx="8229600" cy="457200"/>
          </a:xfrm>
          <a:prstGeom prst="rect">
            <a:avLst/>
          </a:prstGeom>
          <a:noFill/>
        </p:spPr>
        <p:txBody>
          <a:bodyPr wrap="square">
            <a:spAutoFit/>
          </a:bodyPr>
          <a:lstStyle/>
          <a:p>
            <a:pPr algn="l">
              <a:defRPr sz="1000" b="0">
                <a:latin typeface="Malgun Gothic"/>
              </a:defRPr>
            </a:pPr>
            <a:r>
              <a:t>• 미래성장 또는 미래성장을 위한 자산과 자원에 대한 투자 금액으로 명료하나, 투입지표 특성을 가짐</a:t>
            </a:r>
          </a:p>
        </p:txBody>
      </p:sp>
      <p:sp>
        <p:nvSpPr>
          <p:cNvPr id="24" name="TextBox 23"/>
          <p:cNvSpPr txBox="1"/>
          <p:nvPr/>
        </p:nvSpPr>
        <p:spPr>
          <a:xfrm>
            <a:off x="457200" y="10332720"/>
            <a:ext cx="8229600" cy="228600"/>
          </a:xfrm>
          <a:prstGeom prst="rect">
            <a:avLst/>
          </a:prstGeom>
          <a:noFill/>
        </p:spPr>
        <p:txBody>
          <a:bodyPr wrap="square">
            <a:spAutoFit/>
          </a:bodyPr>
          <a:lstStyle/>
          <a:p>
            <a:pPr algn="l">
              <a:defRPr sz="1000" b="0">
                <a:latin typeface="Malgun Gothic"/>
              </a:defRPr>
            </a:pPr>
            <a:r>
              <a:t>• 여수광양항만공사 스마트항만투자 1.2조원</a:t>
            </a:r>
          </a:p>
        </p:txBody>
      </p:sp>
      <p:sp>
        <p:nvSpPr>
          <p:cNvPr id="25" name="TextBox 24"/>
          <p:cNvSpPr txBox="1"/>
          <p:nvPr/>
        </p:nvSpPr>
        <p:spPr>
          <a:xfrm>
            <a:off x="457200" y="10652760"/>
            <a:ext cx="8229600" cy="274320"/>
          </a:xfrm>
          <a:prstGeom prst="rect">
            <a:avLst/>
          </a:prstGeom>
          <a:noFill/>
        </p:spPr>
        <p:txBody>
          <a:bodyPr wrap="square">
            <a:spAutoFit/>
          </a:bodyPr>
          <a:lstStyle/>
          <a:p>
            <a:pPr algn="l">
              <a:defRPr sz="1200" b="1">
                <a:solidFill>
                  <a:srgbClr val="003366"/>
                </a:solidFill>
                <a:latin typeface="Malgun Gothic"/>
              </a:defRPr>
            </a:pPr>
            <a:r>
              <a:t>신성장 지표</a:t>
            </a:r>
          </a:p>
        </p:txBody>
      </p:sp>
      <p:sp>
        <p:nvSpPr>
          <p:cNvPr id="26" name="TextBox 25"/>
          <p:cNvSpPr txBox="1"/>
          <p:nvPr/>
        </p:nvSpPr>
        <p:spPr>
          <a:xfrm>
            <a:off x="457200" y="11018520"/>
            <a:ext cx="8229600" cy="228600"/>
          </a:xfrm>
          <a:prstGeom prst="rect">
            <a:avLst/>
          </a:prstGeom>
          <a:noFill/>
        </p:spPr>
        <p:txBody>
          <a:bodyPr wrap="square">
            <a:spAutoFit/>
          </a:bodyPr>
          <a:lstStyle/>
          <a:p>
            <a:pPr algn="l">
              <a:defRPr sz="1000" b="0">
                <a:latin typeface="Malgun Gothic"/>
              </a:defRPr>
            </a:pPr>
            <a:r>
              <a:t>투자비중</a:t>
            </a:r>
          </a:p>
        </p:txBody>
      </p:sp>
      <p:sp>
        <p:nvSpPr>
          <p:cNvPr id="27" name="TextBox 26"/>
          <p:cNvSpPr txBox="1"/>
          <p:nvPr/>
        </p:nvSpPr>
        <p:spPr>
          <a:xfrm>
            <a:off x="457200" y="11338560"/>
            <a:ext cx="8229600" cy="274320"/>
          </a:xfrm>
          <a:prstGeom prst="rect">
            <a:avLst/>
          </a:prstGeom>
          <a:noFill/>
        </p:spPr>
        <p:txBody>
          <a:bodyPr wrap="square">
            <a:spAutoFit/>
          </a:bodyPr>
          <a:lstStyle/>
          <a:p>
            <a:pPr algn="l">
              <a:defRPr sz="1200" b="1">
                <a:solidFill>
                  <a:srgbClr val="003366"/>
                </a:solidFill>
                <a:latin typeface="Malgun Gothic"/>
              </a:defRPr>
            </a:pPr>
            <a:r>
              <a:t>지표 형태</a:t>
            </a:r>
          </a:p>
        </p:txBody>
      </p:sp>
      <p:sp>
        <p:nvSpPr>
          <p:cNvPr id="28" name="TextBox 27"/>
          <p:cNvSpPr txBox="1"/>
          <p:nvPr/>
        </p:nvSpPr>
        <p:spPr>
          <a:xfrm>
            <a:off x="457200" y="11704320"/>
            <a:ext cx="8229600" cy="457200"/>
          </a:xfrm>
          <a:prstGeom prst="rect">
            <a:avLst/>
          </a:prstGeom>
          <a:noFill/>
        </p:spPr>
        <p:txBody>
          <a:bodyPr wrap="square">
            <a:spAutoFit/>
          </a:bodyPr>
          <a:lstStyle/>
          <a:p>
            <a:pPr algn="l">
              <a:defRPr sz="1000" b="0">
                <a:latin typeface="Malgun Gothic"/>
              </a:defRPr>
            </a:pPr>
            <a:r>
              <a:t>• 미래성장사업 투자비중 등 전체 투자규모 중 신성장·미래사업 투자 비중 목표</a:t>
            </a:r>
            <a:br/>
            <a:r>
              <a:t>• 비중 또는 비율 00%로 설정</a:t>
            </a:r>
          </a:p>
        </p:txBody>
      </p:sp>
      <p:sp>
        <p:nvSpPr>
          <p:cNvPr id="29" name="TextBox 28"/>
          <p:cNvSpPr txBox="1"/>
          <p:nvPr/>
        </p:nvSpPr>
        <p:spPr>
          <a:xfrm>
            <a:off x="457200" y="12252960"/>
            <a:ext cx="8229600" cy="274320"/>
          </a:xfrm>
          <a:prstGeom prst="rect">
            <a:avLst/>
          </a:prstGeom>
          <a:noFill/>
        </p:spPr>
        <p:txBody>
          <a:bodyPr wrap="square">
            <a:spAutoFit/>
          </a:bodyPr>
          <a:lstStyle/>
          <a:p>
            <a:pPr algn="l">
              <a:defRPr sz="1200" b="1">
                <a:solidFill>
                  <a:srgbClr val="003366"/>
                </a:solidFill>
                <a:latin typeface="Malgun Gothic"/>
              </a:defRPr>
            </a:pPr>
            <a:r>
              <a:t>미래성장(사업) 목표 유형 및 사례</a:t>
            </a:r>
          </a:p>
        </p:txBody>
      </p:sp>
      <p:sp>
        <p:nvSpPr>
          <p:cNvPr id="30" name="TextBox 29"/>
          <p:cNvSpPr txBox="1"/>
          <p:nvPr/>
        </p:nvSpPr>
        <p:spPr>
          <a:xfrm>
            <a:off x="457200" y="12618720"/>
            <a:ext cx="8229600" cy="457200"/>
          </a:xfrm>
          <a:prstGeom prst="rect">
            <a:avLst/>
          </a:prstGeom>
          <a:noFill/>
        </p:spPr>
        <p:txBody>
          <a:bodyPr wrap="square">
            <a:spAutoFit/>
          </a:bodyPr>
          <a:lstStyle/>
          <a:p>
            <a:pPr algn="l">
              <a:defRPr sz="1000" b="0">
                <a:latin typeface="Malgun Gothic"/>
              </a:defRPr>
            </a:pPr>
            <a:r>
              <a:t>• 미래성장에 대한 중요도를 판단해 볼 수 있는 지표이나, 투입지표 특성을 가짐</a:t>
            </a:r>
            <a:br/>
            <a:r>
              <a:t>• 투자 규모에 따라 변동이 큼</a:t>
            </a:r>
          </a:p>
        </p:txBody>
      </p:sp>
      <p:sp>
        <p:nvSpPr>
          <p:cNvPr id="31" name="TextBox 30"/>
          <p:cNvSpPr txBox="1"/>
          <p:nvPr/>
        </p:nvSpPr>
        <p:spPr>
          <a:xfrm>
            <a:off x="457200" y="13167360"/>
            <a:ext cx="8229600" cy="228600"/>
          </a:xfrm>
          <a:prstGeom prst="rect">
            <a:avLst/>
          </a:prstGeom>
          <a:noFill/>
        </p:spPr>
        <p:txBody>
          <a:bodyPr wrap="square">
            <a:spAutoFit/>
          </a:bodyPr>
          <a:lstStyle/>
          <a:p>
            <a:pPr algn="l">
              <a:defRPr sz="1000" b="0">
                <a:latin typeface="Malgun Gothic"/>
              </a:defRPr>
            </a:pPr>
            <a:r>
              <a:t>• 부산항만공사 미래성장사업 투자비중 5%</a:t>
            </a:r>
            <a:br/>
            <a:r>
              <a:t>• 한국남부발전 미래성장투자비율 60%</a:t>
            </a:r>
          </a:p>
        </p:txBody>
      </p:sp>
      <p:sp>
        <p:nvSpPr>
          <p:cNvPr id="32" name="TextBox 31"/>
          <p:cNvSpPr txBox="1"/>
          <p:nvPr/>
        </p:nvSpPr>
        <p:spPr>
          <a:xfrm>
            <a:off x="457200" y="13487400"/>
            <a:ext cx="8229600" cy="274320"/>
          </a:xfrm>
          <a:prstGeom prst="rect">
            <a:avLst/>
          </a:prstGeom>
          <a:noFill/>
        </p:spPr>
        <p:txBody>
          <a:bodyPr wrap="square">
            <a:spAutoFit/>
          </a:bodyPr>
          <a:lstStyle/>
          <a:p>
            <a:pPr algn="l">
              <a:defRPr sz="1200" b="1">
                <a:solidFill>
                  <a:srgbClr val="003366"/>
                </a:solidFill>
                <a:latin typeface="Malgun Gothic"/>
              </a:defRPr>
            </a:pPr>
            <a:r>
              <a:t>신성장 지표</a:t>
            </a:r>
          </a:p>
        </p:txBody>
      </p:sp>
      <p:sp>
        <p:nvSpPr>
          <p:cNvPr id="33" name="TextBox 32"/>
          <p:cNvSpPr txBox="1"/>
          <p:nvPr/>
        </p:nvSpPr>
        <p:spPr>
          <a:xfrm>
            <a:off x="457200" y="13853160"/>
            <a:ext cx="8229600" cy="228600"/>
          </a:xfrm>
          <a:prstGeom prst="rect">
            <a:avLst/>
          </a:prstGeom>
          <a:noFill/>
        </p:spPr>
        <p:txBody>
          <a:bodyPr wrap="square">
            <a:spAutoFit/>
          </a:bodyPr>
          <a:lstStyle/>
          <a:p>
            <a:pPr algn="l">
              <a:defRPr sz="1000" b="0">
                <a:latin typeface="Malgun Gothic"/>
              </a:defRPr>
            </a:pPr>
            <a:r>
              <a:t>사업성과</a:t>
            </a:r>
          </a:p>
        </p:txBody>
      </p:sp>
      <p:sp>
        <p:nvSpPr>
          <p:cNvPr id="34" name="TextBox 33"/>
          <p:cNvSpPr txBox="1"/>
          <p:nvPr/>
        </p:nvSpPr>
        <p:spPr>
          <a:xfrm>
            <a:off x="457200" y="14173200"/>
            <a:ext cx="8229600" cy="274320"/>
          </a:xfrm>
          <a:prstGeom prst="rect">
            <a:avLst/>
          </a:prstGeom>
          <a:noFill/>
        </p:spPr>
        <p:txBody>
          <a:bodyPr wrap="square">
            <a:spAutoFit/>
          </a:bodyPr>
          <a:lstStyle/>
          <a:p>
            <a:pPr algn="l">
              <a:defRPr sz="1200" b="1">
                <a:solidFill>
                  <a:srgbClr val="003366"/>
                </a:solidFill>
                <a:latin typeface="Malgun Gothic"/>
              </a:defRPr>
            </a:pPr>
            <a:r>
              <a:t>지표 형태</a:t>
            </a:r>
          </a:p>
        </p:txBody>
      </p:sp>
      <p:sp>
        <p:nvSpPr>
          <p:cNvPr id="35" name="TextBox 34"/>
          <p:cNvSpPr txBox="1"/>
          <p:nvPr/>
        </p:nvSpPr>
        <p:spPr>
          <a:xfrm>
            <a:off x="457200" y="14538960"/>
            <a:ext cx="8229600" cy="457200"/>
          </a:xfrm>
          <a:prstGeom prst="rect">
            <a:avLst/>
          </a:prstGeom>
          <a:noFill/>
        </p:spPr>
        <p:txBody>
          <a:bodyPr wrap="square">
            <a:spAutoFit/>
          </a:bodyPr>
          <a:lstStyle/>
          <a:p>
            <a:pPr algn="l">
              <a:defRPr sz="1000" b="0">
                <a:latin typeface="Malgun Gothic"/>
              </a:defRPr>
            </a:pPr>
            <a:r>
              <a:t>• 사업 진행률, 인프라 구축 성과 등 신규 및 미래성장사업 추진 성과목표</a:t>
            </a:r>
            <a:br/>
            <a:r>
              <a:t>• 추진률 %, 인프라 구축 단위 목표 설정</a:t>
            </a:r>
          </a:p>
        </p:txBody>
      </p:sp>
      <p:sp>
        <p:nvSpPr>
          <p:cNvPr id="36" name="TextBox 35"/>
          <p:cNvSpPr txBox="1"/>
          <p:nvPr/>
        </p:nvSpPr>
        <p:spPr>
          <a:xfrm>
            <a:off x="457200" y="15087600"/>
            <a:ext cx="8229600" cy="274320"/>
          </a:xfrm>
          <a:prstGeom prst="rect">
            <a:avLst/>
          </a:prstGeom>
          <a:noFill/>
        </p:spPr>
        <p:txBody>
          <a:bodyPr wrap="square">
            <a:spAutoFit/>
          </a:bodyPr>
          <a:lstStyle/>
          <a:p>
            <a:pPr algn="l">
              <a:defRPr sz="1200" b="1">
                <a:solidFill>
                  <a:srgbClr val="003366"/>
                </a:solidFill>
                <a:latin typeface="Malgun Gothic"/>
              </a:defRPr>
            </a:pPr>
            <a:r>
              <a:t>미래성장(사업) 목표 유형 및 사례</a:t>
            </a:r>
          </a:p>
        </p:txBody>
      </p:sp>
      <p:sp>
        <p:nvSpPr>
          <p:cNvPr id="37" name="TextBox 36"/>
          <p:cNvSpPr txBox="1"/>
          <p:nvPr/>
        </p:nvSpPr>
        <p:spPr>
          <a:xfrm>
            <a:off x="457200" y="15453360"/>
            <a:ext cx="8229600" cy="457200"/>
          </a:xfrm>
          <a:prstGeom prst="rect">
            <a:avLst/>
          </a:prstGeom>
          <a:noFill/>
        </p:spPr>
        <p:txBody>
          <a:bodyPr wrap="square">
            <a:spAutoFit/>
          </a:bodyPr>
          <a:lstStyle/>
          <a:p>
            <a:pPr algn="l">
              <a:defRPr sz="1000" b="0">
                <a:latin typeface="Malgun Gothic"/>
              </a:defRPr>
            </a:pPr>
            <a:r>
              <a:t>• 특정 사업의 추진이나 자산의 구축에 대한 목표로, 핵심자원의 확보 성과를 나타냄</a:t>
            </a:r>
            <a:br/>
            <a:r>
              <a:t>• 특정 지표로 보편적 비교 어려움</a:t>
            </a:r>
          </a:p>
        </p:txBody>
      </p:sp>
      <p:sp>
        <p:nvSpPr>
          <p:cNvPr id="38" name="TextBox 37"/>
          <p:cNvSpPr txBox="1"/>
          <p:nvPr/>
        </p:nvSpPr>
        <p:spPr>
          <a:xfrm>
            <a:off x="457200" y="16002000"/>
            <a:ext cx="8229600" cy="457200"/>
          </a:xfrm>
          <a:prstGeom prst="rect">
            <a:avLst/>
          </a:prstGeom>
          <a:noFill/>
        </p:spPr>
        <p:txBody>
          <a:bodyPr wrap="square">
            <a:spAutoFit/>
          </a:bodyPr>
          <a:lstStyle/>
          <a:p>
            <a:pPr algn="l">
              <a:defRPr sz="1000" b="0">
                <a:latin typeface="Malgun Gothic"/>
              </a:defRPr>
            </a:pPr>
            <a:r>
              <a:t>• 한국도로공사 C-ITS 전국 4,075km 구축</a:t>
            </a:r>
            <a:br/>
            <a:r>
              <a:t>• (주)에스알 SR형 철도뉴딜 추진 43.67%</a:t>
            </a:r>
          </a:p>
        </p:txBody>
      </p:sp>
      <p:sp>
        <p:nvSpPr>
          <p:cNvPr id="39" name="TextBox 38"/>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Ⅲ. 가치체계·전략체계 재정립 | Page 196</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4. 경영목표 수립 - 경영목표 설정 ⑥ 중대재해 “Zero” 달성</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중대재해 발생 “Zero” 목표는 '22년 1월 중대재해 처벌 등에 관한 법률의 시행에 따라 사업주 및 경영책임자 등에 안전 및 보건 확보 의무 부과를 반영하여 중재재해 발생 “0”건을 연간 목표를 설정함</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경영목표 설정 ⑥ 중재재해 "Zero" 달성</a:t>
            </a:r>
          </a:p>
        </p:txBody>
      </p:sp>
      <p:sp>
        <p:nvSpPr>
          <p:cNvPr id="5" name="TextBox 4"/>
          <p:cNvSpPr txBox="1"/>
          <p:nvPr/>
        </p:nvSpPr>
        <p:spPr>
          <a:xfrm>
            <a:off x="457200" y="1828800"/>
            <a:ext cx="4023360" cy="228600"/>
          </a:xfrm>
          <a:prstGeom prst="rect">
            <a:avLst/>
          </a:prstGeom>
          <a:noFill/>
        </p:spPr>
        <p:txBody>
          <a:bodyPr wrap="square">
            <a:spAutoFit/>
          </a:bodyPr>
          <a:lstStyle/>
          <a:p>
            <a:pPr algn="l">
              <a:defRPr sz="1000" b="0">
                <a:latin typeface="Malgun Gothic"/>
              </a:defRPr>
            </a:pPr>
            <a:r>
              <a:t>전략목표</a:t>
            </a:r>
          </a:p>
        </p:txBody>
      </p:sp>
      <p:sp>
        <p:nvSpPr>
          <p:cNvPr id="6" name="TextBox 5"/>
          <p:cNvSpPr txBox="1"/>
          <p:nvPr/>
        </p:nvSpPr>
        <p:spPr>
          <a:xfrm>
            <a:off x="4663440" y="1828800"/>
            <a:ext cx="4023360" cy="228600"/>
          </a:xfrm>
          <a:prstGeom prst="rect">
            <a:avLst/>
          </a:prstGeom>
          <a:noFill/>
        </p:spPr>
        <p:txBody>
          <a:bodyPr wrap="square">
            <a:spAutoFit/>
          </a:bodyPr>
          <a:lstStyle/>
          <a:p>
            <a:pPr algn="l">
              <a:defRPr sz="1000" b="0">
                <a:latin typeface="Malgun Gothic"/>
              </a:defRPr>
            </a:pPr>
            <a:r>
              <a:t>경영목표</a:t>
            </a:r>
          </a:p>
        </p:txBody>
      </p:sp>
      <p:sp>
        <p:nvSpPr>
          <p:cNvPr id="7" name="TextBox 6"/>
          <p:cNvSpPr txBox="1"/>
          <p:nvPr/>
        </p:nvSpPr>
        <p:spPr>
          <a:xfrm>
            <a:off x="457200" y="2148840"/>
            <a:ext cx="4023360" cy="228600"/>
          </a:xfrm>
          <a:prstGeom prst="rect">
            <a:avLst/>
          </a:prstGeom>
          <a:noFill/>
        </p:spPr>
        <p:txBody>
          <a:bodyPr wrap="square">
            <a:spAutoFit/>
          </a:bodyPr>
          <a:lstStyle/>
          <a:p>
            <a:pPr algn="l">
              <a:defRPr sz="1000" b="0">
                <a:latin typeface="Malgun Gothic"/>
              </a:defRPr>
            </a:pPr>
            <a:r>
              <a:t>사람중심 안전·혁신 경영</a:t>
            </a:r>
          </a:p>
        </p:txBody>
      </p:sp>
      <p:sp>
        <p:nvSpPr>
          <p:cNvPr id="8" name="TextBox 7"/>
          <p:cNvSpPr txBox="1"/>
          <p:nvPr/>
        </p:nvSpPr>
        <p:spPr>
          <a:xfrm>
            <a:off x="4663440" y="2148840"/>
            <a:ext cx="4023360" cy="228600"/>
          </a:xfrm>
          <a:prstGeom prst="rect">
            <a:avLst/>
          </a:prstGeom>
          <a:noFill/>
        </p:spPr>
        <p:txBody>
          <a:bodyPr wrap="square">
            <a:spAutoFit/>
          </a:bodyPr>
          <a:lstStyle/>
          <a:p>
            <a:pPr algn="l">
              <a:defRPr sz="1000" b="0">
                <a:latin typeface="Malgun Gothic"/>
              </a:defRPr>
            </a:pPr>
            <a:r>
              <a:t>중재재해 "Zero" 달성</a:t>
            </a:r>
          </a:p>
        </p:txBody>
      </p:sp>
      <p:sp>
        <p:nvSpPr>
          <p:cNvPr id="9" name="TextBox 8"/>
          <p:cNvSpPr txBox="1"/>
          <p:nvPr/>
        </p:nvSpPr>
        <p:spPr>
          <a:xfrm>
            <a:off x="457200" y="2468880"/>
            <a:ext cx="4023360" cy="228600"/>
          </a:xfrm>
          <a:prstGeom prst="rect">
            <a:avLst/>
          </a:prstGeom>
          <a:noFill/>
        </p:spPr>
        <p:txBody>
          <a:bodyPr wrap="square">
            <a:spAutoFit/>
          </a:bodyPr>
          <a:lstStyle/>
          <a:p>
            <a:pPr algn="l">
              <a:defRPr sz="1000" b="0">
                <a:latin typeface="Malgun Gothic"/>
              </a:defRPr>
            </a:pPr>
            <a:r>
              <a:t>목표설정 유형</a:t>
            </a:r>
          </a:p>
        </p:txBody>
      </p:sp>
      <p:sp>
        <p:nvSpPr>
          <p:cNvPr id="10" name="TextBox 9"/>
          <p:cNvSpPr txBox="1"/>
          <p:nvPr/>
        </p:nvSpPr>
        <p:spPr>
          <a:xfrm>
            <a:off x="457200" y="2788920"/>
            <a:ext cx="4023360" cy="228600"/>
          </a:xfrm>
          <a:prstGeom prst="rect">
            <a:avLst/>
          </a:prstGeom>
          <a:noFill/>
        </p:spPr>
        <p:txBody>
          <a:bodyPr wrap="square">
            <a:spAutoFit/>
          </a:bodyPr>
          <a:lstStyle/>
          <a:p>
            <a:pPr algn="l">
              <a:defRPr sz="1000" b="0">
                <a:latin typeface="Malgun Gothic"/>
              </a:defRPr>
            </a:pPr>
            <a:r>
              <a:t>전략형</a:t>
            </a:r>
          </a:p>
        </p:txBody>
      </p:sp>
      <p:sp>
        <p:nvSpPr>
          <p:cNvPr id="11" name="TextBox 10"/>
          <p:cNvSpPr txBox="1"/>
          <p:nvPr/>
        </p:nvSpPr>
        <p:spPr>
          <a:xfrm>
            <a:off x="457200" y="3108960"/>
            <a:ext cx="4023360" cy="228600"/>
          </a:xfrm>
          <a:prstGeom prst="rect">
            <a:avLst/>
          </a:prstGeom>
          <a:noFill/>
        </p:spPr>
        <p:txBody>
          <a:bodyPr wrap="square">
            <a:spAutoFit/>
          </a:bodyPr>
          <a:lstStyle/>
          <a:p>
            <a:pPr algn="l">
              <a:defRPr sz="1000" b="0">
                <a:latin typeface="Malgun Gothic"/>
              </a:defRPr>
            </a:pPr>
            <a:r>
              <a:t>기술</a:t>
            </a:r>
            <a:br/>
            <a:r>
              <a:t>분석형1</a:t>
            </a:r>
          </a:p>
        </p:txBody>
      </p:sp>
      <p:sp>
        <p:nvSpPr>
          <p:cNvPr id="12" name="TextBox 11"/>
          <p:cNvSpPr txBox="1"/>
          <p:nvPr/>
        </p:nvSpPr>
        <p:spPr>
          <a:xfrm>
            <a:off x="457200" y="3429000"/>
            <a:ext cx="4023360" cy="228600"/>
          </a:xfrm>
          <a:prstGeom prst="rect">
            <a:avLst/>
          </a:prstGeom>
          <a:noFill/>
        </p:spPr>
        <p:txBody>
          <a:bodyPr wrap="square">
            <a:spAutoFit/>
          </a:bodyPr>
          <a:lstStyle/>
          <a:p>
            <a:pPr algn="l">
              <a:defRPr sz="1000" b="0">
                <a:latin typeface="Malgun Gothic"/>
              </a:defRPr>
            </a:pPr>
            <a:r>
              <a:t>기술</a:t>
            </a:r>
            <a:br/>
            <a:r>
              <a:t>분석형2</a:t>
            </a:r>
          </a:p>
        </p:txBody>
      </p:sp>
      <p:sp>
        <p:nvSpPr>
          <p:cNvPr id="13" name="TextBox 12"/>
          <p:cNvSpPr txBox="1"/>
          <p:nvPr/>
        </p:nvSpPr>
        <p:spPr>
          <a:xfrm>
            <a:off x="457200" y="3749040"/>
            <a:ext cx="4023360" cy="228600"/>
          </a:xfrm>
          <a:prstGeom prst="rect">
            <a:avLst/>
          </a:prstGeom>
          <a:noFill/>
        </p:spPr>
        <p:txBody>
          <a:bodyPr wrap="square">
            <a:spAutoFit/>
          </a:bodyPr>
          <a:lstStyle/>
          <a:p>
            <a:pPr algn="l">
              <a:defRPr sz="1000" b="0">
                <a:latin typeface="Malgun Gothic"/>
              </a:defRPr>
            </a:pPr>
            <a:r>
              <a:t>벤치마킹형</a:t>
            </a:r>
          </a:p>
        </p:txBody>
      </p:sp>
      <p:sp>
        <p:nvSpPr>
          <p:cNvPr id="14" name="TextBox 13"/>
          <p:cNvSpPr txBox="1"/>
          <p:nvPr/>
        </p:nvSpPr>
        <p:spPr>
          <a:xfrm>
            <a:off x="457200" y="4069080"/>
            <a:ext cx="4023360" cy="228600"/>
          </a:xfrm>
          <a:prstGeom prst="rect">
            <a:avLst/>
          </a:prstGeom>
          <a:noFill/>
        </p:spPr>
        <p:txBody>
          <a:bodyPr wrap="square">
            <a:spAutoFit/>
          </a:bodyPr>
          <a:lstStyle/>
          <a:p>
            <a:pPr algn="l">
              <a:defRPr sz="1000" b="0">
                <a:latin typeface="Malgun Gothic"/>
              </a:defRPr>
            </a:pPr>
            <a:r>
              <a:t>현업설정형</a:t>
            </a:r>
          </a:p>
        </p:txBody>
      </p:sp>
      <p:sp>
        <p:nvSpPr>
          <p:cNvPr id="15" name="TextBox 14"/>
          <p:cNvSpPr txBox="1"/>
          <p:nvPr/>
        </p:nvSpPr>
        <p:spPr>
          <a:xfrm>
            <a:off x="457200" y="4389120"/>
            <a:ext cx="4023360" cy="228600"/>
          </a:xfrm>
          <a:prstGeom prst="rect">
            <a:avLst/>
          </a:prstGeom>
          <a:noFill/>
        </p:spPr>
        <p:txBody>
          <a:bodyPr wrap="square">
            <a:spAutoFit/>
          </a:bodyPr>
          <a:lstStyle/>
          <a:p>
            <a:pPr algn="l">
              <a:defRPr sz="1000" b="0">
                <a:latin typeface="Malgun Gothic"/>
              </a:defRPr>
            </a:pPr>
            <a:r>
              <a:t>관리</a:t>
            </a:r>
            <a:br/>
            <a:r>
              <a:t>KPI化*</a:t>
            </a:r>
          </a:p>
        </p:txBody>
      </p:sp>
      <p:sp>
        <p:nvSpPr>
          <p:cNvPr id="16" name="TextBox 15"/>
          <p:cNvSpPr txBox="1"/>
          <p:nvPr/>
        </p:nvSpPr>
        <p:spPr>
          <a:xfrm>
            <a:off x="457200" y="4709160"/>
            <a:ext cx="8229600" cy="274320"/>
          </a:xfrm>
          <a:prstGeom prst="rect">
            <a:avLst/>
          </a:prstGeom>
          <a:noFill/>
        </p:spPr>
        <p:txBody>
          <a:bodyPr wrap="square">
            <a:spAutoFit/>
          </a:bodyPr>
          <a:lstStyle/>
          <a:p>
            <a:pPr algn="l">
              <a:defRPr sz="1200" b="1">
                <a:solidFill>
                  <a:srgbClr val="003366"/>
                </a:solidFill>
                <a:latin typeface="Malgun Gothic"/>
              </a:defRPr>
            </a:pPr>
            <a:r>
              <a:t>목표 설정 방식</a:t>
            </a:r>
          </a:p>
        </p:txBody>
      </p:sp>
      <p:sp>
        <p:nvSpPr>
          <p:cNvPr id="17" name="TextBox 16"/>
          <p:cNvSpPr txBox="1"/>
          <p:nvPr/>
        </p:nvSpPr>
        <p:spPr>
          <a:xfrm>
            <a:off x="457200" y="5074920"/>
            <a:ext cx="4023360" cy="1143000"/>
          </a:xfrm>
          <a:prstGeom prst="rect">
            <a:avLst/>
          </a:prstGeom>
          <a:noFill/>
        </p:spPr>
        <p:txBody>
          <a:bodyPr wrap="square">
            <a:spAutoFit/>
          </a:bodyPr>
          <a:lstStyle/>
          <a:p>
            <a:pPr algn="l">
              <a:defRPr sz="1000" b="0">
                <a:latin typeface="Malgun Gothic"/>
              </a:defRPr>
            </a:pPr>
            <a:r>
              <a:t>✓ 중대산업재해는 「산업안전보건법」 제2조</a:t>
            </a:r>
            <a:br/>
            <a:r>
              <a:t>제1호에 의거한 다음의 재해를 말함</a:t>
            </a:r>
            <a:br/>
            <a:r>
              <a:t>① 사망자가 1명 이상 발생한 경우</a:t>
            </a:r>
            <a:br/>
            <a:r>
              <a:t>② 동일한 사고로 6개월 이상 치료가</a:t>
            </a:r>
            <a:br/>
            <a:r>
              <a:t>필요한 부상자가 2명 이상 발생한 경우</a:t>
            </a:r>
            <a:br/>
            <a:r>
              <a:t>③ 동일한 유해요인으로 급성중독 등</a:t>
            </a:r>
            <a:br/>
            <a:r>
              <a:t>대통령령으로 정하는 직업성 질병자가</a:t>
            </a:r>
            <a:br/>
            <a:r>
              <a:t>1년 이내에 3명 이상 발생한 경우</a:t>
            </a:r>
            <a:br/>
            <a:br/>
            <a:r>
              <a:t>✓ 공단 및 공단이 관리하는 위수탁 사업장에</a:t>
            </a:r>
            <a:br/>
            <a:r>
              <a:t>대한 포괄적 안전관리 실시를 기준으로,</a:t>
            </a:r>
            <a:br/>
            <a:r>
              <a:t>연간 중대재해사고 발생 "0"건을 목표로</a:t>
            </a:r>
            <a:br/>
            <a:r>
              <a:t>수립하여 추진함</a:t>
            </a:r>
          </a:p>
        </p:txBody>
      </p:sp>
      <p:sp>
        <p:nvSpPr>
          <p:cNvPr id="18" name="TextBox 17"/>
          <p:cNvSpPr txBox="1"/>
          <p:nvPr/>
        </p:nvSpPr>
        <p:spPr>
          <a:xfrm>
            <a:off x="457200" y="6309360"/>
            <a:ext cx="4023360" cy="914400"/>
          </a:xfrm>
          <a:prstGeom prst="rect">
            <a:avLst/>
          </a:prstGeom>
          <a:noFill/>
        </p:spPr>
        <p:txBody>
          <a:bodyPr wrap="square">
            <a:spAutoFit/>
          </a:bodyPr>
          <a:lstStyle/>
          <a:p>
            <a:pPr algn="l">
              <a:defRPr sz="900" b="0">
                <a:latin typeface="Malgun Gothic"/>
              </a:defRPr>
            </a:pPr>
            <a:r>
              <a:t>[TABLE]</a:t>
            </a:r>
            <a:br/>
            <a:r>
              <a:t>{"headers": ["구성요소", "'21", "'22", "'23", "'24", "'25", "'26", "'27", "'28", "'29", "'30"], "rows": [["중대재해 발생 (건 수)", "0", "0", "0", "0", "0", "0", "0", "0", "0", "0"]]}</a:t>
            </a:r>
          </a:p>
        </p:txBody>
      </p:sp>
      <p:sp>
        <p:nvSpPr>
          <p:cNvPr id="19" name="TextBox 18"/>
          <p:cNvSpPr txBox="1"/>
          <p:nvPr/>
        </p:nvSpPr>
        <p:spPr>
          <a:xfrm>
            <a:off x="4663440" y="2834640"/>
            <a:ext cx="4023360" cy="1371600"/>
          </a:xfrm>
          <a:prstGeom prst="rect">
            <a:avLst/>
          </a:prstGeom>
          <a:noFill/>
        </p:spPr>
        <p:txBody>
          <a:bodyPr wrap="square">
            <a:spAutoFit/>
          </a:bodyPr>
          <a:lstStyle/>
          <a:p>
            <a:pPr algn="l">
              <a:defRPr sz="1000" b="0">
                <a:latin typeface="Malgun Gothic"/>
              </a:defRPr>
            </a:pPr>
            <a:r>
              <a:t>✓ '중대재해 처벌 등에 관한 법률 (중대재해처벌법)' '22년 1월 27일 시행 예정</a:t>
            </a:r>
            <a:br/>
            <a:r>
              <a:t>- "사업주 및 경영책임자 등"에 안전 및 보건 확보 의무를 부과함</a:t>
            </a:r>
            <a:br/>
            <a:r>
              <a:t>- "사업주"는 자신의 사업을 영위하는 자, 타인의 노무를 제공받아 사업을 하는 자를 말하고,</a:t>
            </a:r>
            <a:br/>
            <a:r>
              <a:t>"경영책임자 등”은 사업을 대표하고 사업을 총괄하는 권한과 책임이 있는 사람 또는 이에</a:t>
            </a:r>
            <a:br/>
            <a:r>
              <a:t>준하여 안전 보건에 관한 업무를 담당하는 사람을 말함</a:t>
            </a:r>
            <a:br/>
            <a:r>
              <a:t>- 중앙행정기관, 지방자치단체, 지방공기업, 공공기관의 장도 해당됨</a:t>
            </a:r>
          </a:p>
        </p:txBody>
      </p:sp>
      <p:sp>
        <p:nvSpPr>
          <p:cNvPr id="20" name="TextBox 19"/>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196 | Page 197</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[New 미션·비전 전략체계도]</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Strategic alignment across mission, vision, and strategic goals.</a:t>
            </a:r>
          </a:p>
        </p:txBody>
      </p:sp>
      <p:sp>
        <p:nvSpPr>
          <p:cNvPr id="4" name="TextBox 3"/>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 Page 198</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[New 미션, 비전의 의미]</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깨끗하고 안전한 바다로 국민 행복을 증진하고, 해양의 더 나은 미래를 열어간다</a:t>
            </a:r>
          </a:p>
        </p:txBody>
      </p:sp>
      <p:sp>
        <p:nvSpPr>
          <p:cNvPr id="4" name="TextBox 3"/>
          <p:cNvSpPr txBox="1"/>
          <p:nvPr/>
        </p:nvSpPr>
        <p:spPr>
          <a:xfrm>
            <a:off x="457200" y="1463040"/>
            <a:ext cx="8229600" cy="228600"/>
          </a:xfrm>
          <a:prstGeom prst="rect">
            <a:avLst/>
          </a:prstGeom>
          <a:noFill/>
        </p:spPr>
        <p:txBody>
          <a:bodyPr wrap="square">
            <a:spAutoFit/>
          </a:bodyPr>
          <a:lstStyle/>
          <a:p>
            <a:pPr algn="l">
              <a:defRPr sz="1000" b="0">
                <a:latin typeface="Malgun Gothic"/>
              </a:defRPr>
            </a:pPr>
            <a:r>
              <a:t>존재의 이유 1.</a:t>
            </a:r>
          </a:p>
        </p:txBody>
      </p:sp>
      <p:sp>
        <p:nvSpPr>
          <p:cNvPr id="5" name="TextBox 4"/>
          <p:cNvSpPr txBox="1"/>
          <p:nvPr/>
        </p:nvSpPr>
        <p:spPr>
          <a:xfrm>
            <a:off x="457200" y="1783080"/>
            <a:ext cx="8229600" cy="228600"/>
          </a:xfrm>
          <a:prstGeom prst="rect">
            <a:avLst/>
          </a:prstGeom>
          <a:noFill/>
        </p:spPr>
        <p:txBody>
          <a:bodyPr wrap="square">
            <a:spAutoFit/>
          </a:bodyPr>
          <a:lstStyle/>
          <a:p>
            <a:pPr algn="l">
              <a:defRPr sz="1000" b="0">
                <a:latin typeface="Malgun Gothic"/>
              </a:defRPr>
            </a:pPr>
            <a:r>
              <a:t>“해양생태계를 복원하고 해양을 정화하는” 해양환경 보전과</a:t>
            </a:r>
          </a:p>
        </p:txBody>
      </p:sp>
      <p:sp>
        <p:nvSpPr>
          <p:cNvPr id="6" name="TextBox 5"/>
          <p:cNvSpPr txBox="1"/>
          <p:nvPr/>
        </p:nvSpPr>
        <p:spPr>
          <a:xfrm>
            <a:off x="457200" y="2103120"/>
            <a:ext cx="8229600" cy="228600"/>
          </a:xfrm>
          <a:prstGeom prst="rect">
            <a:avLst/>
          </a:prstGeom>
          <a:noFill/>
        </p:spPr>
        <p:txBody>
          <a:bodyPr wrap="square">
            <a:spAutoFit/>
          </a:bodyPr>
          <a:lstStyle/>
          <a:p>
            <a:pPr algn="l">
              <a:defRPr sz="1000" b="0">
                <a:latin typeface="Malgun Gothic"/>
              </a:defRPr>
            </a:pPr>
            <a:r>
              <a:t>존재의 이유 2.</a:t>
            </a:r>
          </a:p>
        </p:txBody>
      </p:sp>
      <p:sp>
        <p:nvSpPr>
          <p:cNvPr id="7" name="TextBox 6"/>
          <p:cNvSpPr txBox="1"/>
          <p:nvPr/>
        </p:nvSpPr>
        <p:spPr>
          <a:xfrm>
            <a:off x="457200" y="2423160"/>
            <a:ext cx="8229600" cy="228600"/>
          </a:xfrm>
          <a:prstGeom prst="rect">
            <a:avLst/>
          </a:prstGeom>
          <a:noFill/>
        </p:spPr>
        <p:txBody>
          <a:bodyPr wrap="square">
            <a:spAutoFit/>
          </a:bodyPr>
          <a:lstStyle/>
          <a:p>
            <a:pPr algn="l">
              <a:defRPr sz="1000" b="0">
                <a:latin typeface="Malgun Gothic"/>
              </a:defRPr>
            </a:pPr>
            <a:r>
              <a:t>“오염의 위해로부터 국민과 해양을 지키고 예방하는” 해양방제로</a:t>
            </a:r>
          </a:p>
        </p:txBody>
      </p:sp>
      <p:sp>
        <p:nvSpPr>
          <p:cNvPr id="8" name="TextBox 7"/>
          <p:cNvSpPr txBox="1"/>
          <p:nvPr/>
        </p:nvSpPr>
        <p:spPr>
          <a:xfrm>
            <a:off x="457200" y="2743200"/>
            <a:ext cx="8229600" cy="228600"/>
          </a:xfrm>
          <a:prstGeom prst="rect">
            <a:avLst/>
          </a:prstGeom>
          <a:noFill/>
        </p:spPr>
        <p:txBody>
          <a:bodyPr wrap="square">
            <a:spAutoFit/>
          </a:bodyPr>
          <a:lstStyle/>
          <a:p>
            <a:pPr algn="l">
              <a:defRPr sz="1000" b="0">
                <a:latin typeface="Malgun Gothic"/>
              </a:defRPr>
            </a:pPr>
            <a:r>
              <a:t>근원적 가치</a:t>
            </a:r>
          </a:p>
        </p:txBody>
      </p:sp>
      <p:sp>
        <p:nvSpPr>
          <p:cNvPr id="9" name="TextBox 8"/>
          <p:cNvSpPr txBox="1"/>
          <p:nvPr/>
        </p:nvSpPr>
        <p:spPr>
          <a:xfrm>
            <a:off x="457200" y="3063240"/>
            <a:ext cx="8229600" cy="228600"/>
          </a:xfrm>
          <a:prstGeom prst="rect">
            <a:avLst/>
          </a:prstGeom>
          <a:noFill/>
        </p:spPr>
        <p:txBody>
          <a:bodyPr wrap="square">
            <a:spAutoFit/>
          </a:bodyPr>
          <a:lstStyle/>
          <a:p>
            <a:pPr algn="l">
              <a:defRPr sz="1000" b="0">
                <a:latin typeface="Malgun Gothic"/>
              </a:defRPr>
            </a:pPr>
            <a:r>
              <a:t>“국민이 해양을 이용하고 향유하며 행복을 키우는” 가치를 창출하며</a:t>
            </a:r>
          </a:p>
        </p:txBody>
      </p:sp>
      <p:sp>
        <p:nvSpPr>
          <p:cNvPr id="10" name="TextBox 9"/>
          <p:cNvSpPr txBox="1"/>
          <p:nvPr/>
        </p:nvSpPr>
        <p:spPr>
          <a:xfrm>
            <a:off x="457200" y="3383280"/>
            <a:ext cx="8229600" cy="228600"/>
          </a:xfrm>
          <a:prstGeom prst="rect">
            <a:avLst/>
          </a:prstGeom>
          <a:noFill/>
        </p:spPr>
        <p:txBody>
          <a:bodyPr wrap="square">
            <a:spAutoFit/>
          </a:bodyPr>
          <a:lstStyle/>
          <a:p>
            <a:pPr algn="l">
              <a:defRPr sz="1000" b="0">
                <a:latin typeface="Malgun Gothic"/>
              </a:defRPr>
            </a:pPr>
            <a:r>
              <a:t>확장된 궁극적 가치</a:t>
            </a:r>
          </a:p>
        </p:txBody>
      </p:sp>
      <p:sp>
        <p:nvSpPr>
          <p:cNvPr id="11" name="TextBox 10"/>
          <p:cNvSpPr txBox="1"/>
          <p:nvPr/>
        </p:nvSpPr>
        <p:spPr>
          <a:xfrm>
            <a:off x="457200" y="3703320"/>
            <a:ext cx="8229600" cy="228600"/>
          </a:xfrm>
          <a:prstGeom prst="rect">
            <a:avLst/>
          </a:prstGeom>
          <a:noFill/>
        </p:spPr>
        <p:txBody>
          <a:bodyPr wrap="square">
            <a:spAutoFit/>
          </a:bodyPr>
          <a:lstStyle/>
          <a:p>
            <a:pPr algn="l">
              <a:defRPr sz="1000" b="0">
                <a:latin typeface="Malgun Gothic"/>
              </a:defRPr>
            </a:pPr>
            <a:r>
              <a:t>“미래를 위해 해양환경을 개선·보전하는” 국가 해양환경 대표기관</a:t>
            </a:r>
          </a:p>
        </p:txBody>
      </p:sp>
      <p:sp>
        <p:nvSpPr>
          <p:cNvPr id="12" name="TextBox 11"/>
          <p:cNvSpPr txBox="1"/>
          <p:nvPr/>
        </p:nvSpPr>
        <p:spPr>
          <a:xfrm>
            <a:off x="457200" y="4023360"/>
            <a:ext cx="8229600" cy="685800"/>
          </a:xfrm>
          <a:prstGeom prst="rect">
            <a:avLst/>
          </a:prstGeom>
          <a:noFill/>
        </p:spPr>
        <p:txBody>
          <a:bodyPr wrap="square">
            <a:spAutoFit/>
          </a:bodyPr>
          <a:lstStyle/>
          <a:p>
            <a:pPr algn="l">
              <a:defRPr sz="1000" b="0">
                <a:latin typeface="Malgun Gothic"/>
              </a:defRPr>
            </a:pPr>
            <a:r>
              <a:t>해양생태계를 복원하고 해양을 정화하며, 오염의 위해로부터 국민과 해양을 지키는 해양환경 보전·방제 전문기관으로, 국민이 해양을 이용하고 향유하는 행복으로 삶의 질을 높이며, 미래 세대를 위해 해양환경을 개선하고 보전하는 국가 해양환경 책임 기관의 소명을 가짐</a:t>
            </a:r>
          </a:p>
        </p:txBody>
      </p:sp>
      <p:sp>
        <p:nvSpPr>
          <p:cNvPr id="13" name="TextBox 12"/>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 | Page 199</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square">
            <a:spAutoFit/>
          </a:bodyPr>
          <a:lstStyle/>
          <a:p>
            <a:pPr algn="l">
              <a:defRPr sz="2400" b="1">
                <a:solidFill>
                  <a:srgbClr val="003366"/>
                </a:solidFill>
                <a:latin typeface="Malgun Gothic"/>
              </a:defRPr>
            </a:pPr>
            <a:r>
              <a:t>[New 미션, 비전의 의미]</a:t>
            </a:r>
          </a:p>
        </p:txBody>
      </p:sp>
      <p:sp>
        <p:nvSpPr>
          <p:cNvPr id="3" name="TextBox 2"/>
          <p:cNvSpPr txBox="1"/>
          <p:nvPr/>
        </p:nvSpPr>
        <p:spPr>
          <a:xfrm>
            <a:off x="457200" y="731520"/>
            <a:ext cx="8229600" cy="548640"/>
          </a:xfrm>
          <a:prstGeom prst="rect">
            <a:avLst/>
          </a:prstGeom>
          <a:noFill/>
        </p:spPr>
        <p:txBody>
          <a:bodyPr wrap="square">
            <a:spAutoFit/>
          </a:bodyPr>
          <a:lstStyle/>
          <a:p>
            <a:pPr algn="l">
              <a:defRPr sz="1400" b="0">
                <a:solidFill>
                  <a:srgbClr val="555555"/>
                </a:solidFill>
                <a:latin typeface="Malgun Gothic"/>
              </a:defRPr>
            </a:pPr>
            <a:r>
              <a:t>해양의 보전과 이용을 선도하는 해양환경 국민 플랫폼 기관</a:t>
            </a:r>
          </a:p>
        </p:txBody>
      </p:sp>
      <p:sp>
        <p:nvSpPr>
          <p:cNvPr id="4" name="TextBox 3"/>
          <p:cNvSpPr txBox="1"/>
          <p:nvPr/>
        </p:nvSpPr>
        <p:spPr>
          <a:xfrm>
            <a:off x="457200" y="1463040"/>
            <a:ext cx="8229600" cy="274320"/>
          </a:xfrm>
          <a:prstGeom prst="rect">
            <a:avLst/>
          </a:prstGeom>
          <a:noFill/>
        </p:spPr>
        <p:txBody>
          <a:bodyPr wrap="square">
            <a:spAutoFit/>
          </a:bodyPr>
          <a:lstStyle/>
          <a:p>
            <a:pPr algn="l">
              <a:defRPr sz="1200" b="1">
                <a:solidFill>
                  <a:srgbClr val="003366"/>
                </a:solidFill>
                <a:latin typeface="Malgun Gothic"/>
              </a:defRPr>
            </a:pPr>
            <a:r>
              <a:t>업의 영역 재정의</a:t>
            </a:r>
          </a:p>
        </p:txBody>
      </p:sp>
      <p:sp>
        <p:nvSpPr>
          <p:cNvPr id="5" name="TextBox 4"/>
          <p:cNvSpPr txBox="1"/>
          <p:nvPr/>
        </p:nvSpPr>
        <p:spPr>
          <a:xfrm>
            <a:off x="457200" y="1828800"/>
            <a:ext cx="8229600" cy="228600"/>
          </a:xfrm>
          <a:prstGeom prst="rect">
            <a:avLst/>
          </a:prstGeom>
          <a:noFill/>
        </p:spPr>
        <p:txBody>
          <a:bodyPr wrap="square">
            <a:spAutoFit/>
          </a:bodyPr>
          <a:lstStyle/>
          <a:p>
            <a:pPr algn="l">
              <a:defRPr sz="1000" b="0">
                <a:latin typeface="Malgun Gothic"/>
              </a:defRPr>
            </a:pPr>
            <a:r>
              <a:t>공단의 업의 영역인 “해양환경”의 범위를 보전과 이용으로 확대</a:t>
            </a:r>
          </a:p>
        </p:txBody>
      </p:sp>
      <p:sp>
        <p:nvSpPr>
          <p:cNvPr id="6" name="TextBox 5"/>
          <p:cNvSpPr txBox="1"/>
          <p:nvPr/>
        </p:nvSpPr>
        <p:spPr>
          <a:xfrm>
            <a:off x="457200" y="2148840"/>
            <a:ext cx="8229600" cy="274320"/>
          </a:xfrm>
          <a:prstGeom prst="rect">
            <a:avLst/>
          </a:prstGeom>
          <a:noFill/>
        </p:spPr>
        <p:txBody>
          <a:bodyPr wrap="square">
            <a:spAutoFit/>
          </a:bodyPr>
          <a:lstStyle/>
          <a:p>
            <a:pPr algn="l">
              <a:defRPr sz="1200" b="1">
                <a:solidFill>
                  <a:srgbClr val="003366"/>
                </a:solidFill>
                <a:latin typeface="Malgun Gothic"/>
              </a:defRPr>
            </a:pPr>
            <a:r>
              <a:t>역할과 기능 재정의</a:t>
            </a:r>
          </a:p>
        </p:txBody>
      </p:sp>
      <p:sp>
        <p:nvSpPr>
          <p:cNvPr id="7" name="TextBox 6"/>
          <p:cNvSpPr txBox="1"/>
          <p:nvPr/>
        </p:nvSpPr>
        <p:spPr>
          <a:xfrm>
            <a:off x="457200" y="2514600"/>
            <a:ext cx="8229600" cy="228600"/>
          </a:xfrm>
          <a:prstGeom prst="rect">
            <a:avLst/>
          </a:prstGeom>
          <a:noFill/>
        </p:spPr>
        <p:txBody>
          <a:bodyPr wrap="square">
            <a:spAutoFit/>
          </a:bodyPr>
          <a:lstStyle/>
          <a:p>
            <a:pPr algn="l">
              <a:defRPr sz="1000" b="0">
                <a:latin typeface="Malgun Gothic"/>
              </a:defRPr>
            </a:pPr>
            <a:r>
              <a:t>공단의 기능과 역할을 해양의 “보전과 이용을 선도하는”으로 재정의</a:t>
            </a:r>
          </a:p>
        </p:txBody>
      </p:sp>
      <p:sp>
        <p:nvSpPr>
          <p:cNvPr id="8" name="TextBox 7"/>
          <p:cNvSpPr txBox="1"/>
          <p:nvPr/>
        </p:nvSpPr>
        <p:spPr>
          <a:xfrm>
            <a:off x="457200" y="2834640"/>
            <a:ext cx="8229600" cy="274320"/>
          </a:xfrm>
          <a:prstGeom prst="rect">
            <a:avLst/>
          </a:prstGeom>
          <a:noFill/>
        </p:spPr>
        <p:txBody>
          <a:bodyPr wrap="square">
            <a:spAutoFit/>
          </a:bodyPr>
          <a:lstStyle/>
          <a:p>
            <a:pPr algn="l">
              <a:defRPr sz="1200" b="1">
                <a:solidFill>
                  <a:srgbClr val="003366"/>
                </a:solidFill>
                <a:latin typeface="Malgun Gothic"/>
              </a:defRPr>
            </a:pPr>
            <a:r>
              <a:t>미래 방향성 재정의</a:t>
            </a:r>
          </a:p>
        </p:txBody>
      </p:sp>
      <p:sp>
        <p:nvSpPr>
          <p:cNvPr id="9" name="TextBox 8"/>
          <p:cNvSpPr txBox="1"/>
          <p:nvPr/>
        </p:nvSpPr>
        <p:spPr>
          <a:xfrm>
            <a:off x="457200" y="3200400"/>
            <a:ext cx="8229600" cy="457200"/>
          </a:xfrm>
          <a:prstGeom prst="rect">
            <a:avLst/>
          </a:prstGeom>
          <a:noFill/>
        </p:spPr>
        <p:txBody>
          <a:bodyPr wrap="square">
            <a:spAutoFit/>
          </a:bodyPr>
          <a:lstStyle/>
          <a:p>
            <a:pPr algn="l">
              <a:defRPr sz="1000" b="0">
                <a:latin typeface="Malgun Gothic"/>
              </a:defRPr>
            </a:pPr>
            <a:r>
              <a:t>공단의 발전 방향성을 해양환경 전문기관으로서 해양환경 네트워크의 중심이 되는 “해양환경 플랫폼 기관”으로 재정의</a:t>
            </a:r>
          </a:p>
        </p:txBody>
      </p:sp>
      <p:sp>
        <p:nvSpPr>
          <p:cNvPr id="10" name="TextBox 9"/>
          <p:cNvSpPr txBox="1"/>
          <p:nvPr/>
        </p:nvSpPr>
        <p:spPr>
          <a:xfrm>
            <a:off x="457200" y="3749040"/>
            <a:ext cx="8229600" cy="274320"/>
          </a:xfrm>
          <a:prstGeom prst="rect">
            <a:avLst/>
          </a:prstGeom>
          <a:noFill/>
        </p:spPr>
        <p:txBody>
          <a:bodyPr wrap="square">
            <a:spAutoFit/>
          </a:bodyPr>
          <a:lstStyle/>
          <a:p>
            <a:pPr algn="l">
              <a:defRPr sz="1200" b="1">
                <a:solidFill>
                  <a:srgbClr val="003366"/>
                </a:solidFill>
                <a:latin typeface="Malgun Gothic"/>
              </a:defRPr>
            </a:pPr>
            <a:r>
              <a:t>이념과 목표 재정의</a:t>
            </a:r>
          </a:p>
        </p:txBody>
      </p:sp>
      <p:sp>
        <p:nvSpPr>
          <p:cNvPr id="11" name="TextBox 10"/>
          <p:cNvSpPr txBox="1"/>
          <p:nvPr/>
        </p:nvSpPr>
        <p:spPr>
          <a:xfrm>
            <a:off x="457200" y="4114800"/>
            <a:ext cx="8229600" cy="228600"/>
          </a:xfrm>
          <a:prstGeom prst="rect">
            <a:avLst/>
          </a:prstGeom>
          <a:noFill/>
        </p:spPr>
        <p:txBody>
          <a:bodyPr wrap="square">
            <a:spAutoFit/>
          </a:bodyPr>
          <a:lstStyle/>
          <a:p>
            <a:pPr algn="l">
              <a:defRPr sz="1000" b="0">
                <a:latin typeface="Malgun Gothic"/>
              </a:defRPr>
            </a:pPr>
            <a:r>
              <a:t>공단의 이념과 목표를 국민의, 국민에 의한 “국민 플랫폼 기관”으로 재정의</a:t>
            </a:r>
          </a:p>
        </p:txBody>
      </p:sp>
      <p:sp>
        <p:nvSpPr>
          <p:cNvPr id="12" name="TextBox 11"/>
          <p:cNvSpPr txBox="1"/>
          <p:nvPr/>
        </p:nvSpPr>
        <p:spPr>
          <a:xfrm>
            <a:off x="457200" y="4434840"/>
            <a:ext cx="8229600" cy="685800"/>
          </a:xfrm>
          <a:prstGeom prst="rect">
            <a:avLst/>
          </a:prstGeom>
          <a:noFill/>
        </p:spPr>
        <p:txBody>
          <a:bodyPr wrap="square">
            <a:spAutoFit/>
          </a:bodyPr>
          <a:lstStyle/>
          <a:p>
            <a:pPr algn="l">
              <a:defRPr sz="1000" b="0">
                <a:latin typeface="Malgun Gothic"/>
              </a:defRPr>
            </a:pPr>
            <a:r>
              <a:t>해양의 보전, 이용·향유의 기반을 제공하는 해양환경을 책임지는 해양환경 전문기관으로서,</a:t>
            </a:r>
            <a:br/>
            <a:r>
              <a:t>해양환경의 보전과 이용을 위한 공공과 민간 협력 네트워크의 중심이며,</a:t>
            </a:r>
            <a:br/>
            <a:r>
              <a:t>국민과 함께하는 해양환경 대표 플랫폼 기관으로 성장하고 발전함</a:t>
            </a:r>
          </a:p>
        </p:txBody>
      </p:sp>
      <p:sp>
        <p:nvSpPr>
          <p:cNvPr id="13" name="TextBox 12"/>
          <p:cNvSpPr txBox="1"/>
          <p:nvPr/>
        </p:nvSpPr>
        <p:spPr>
          <a:xfrm>
            <a:off x="457200" y="6492240"/>
            <a:ext cx="8229600" cy="274320"/>
          </a:xfrm>
          <a:prstGeom prst="rect">
            <a:avLst/>
          </a:prstGeom>
          <a:noFill/>
        </p:spPr>
        <p:txBody>
          <a:bodyPr wrap="square">
            <a:spAutoFit/>
          </a:bodyPr>
          <a:lstStyle/>
          <a:p>
            <a:pPr algn="r">
              <a:defRPr sz="900" b="0">
                <a:solidFill>
                  <a:srgbClr val="999999"/>
                </a:solidFill>
                <a:latin typeface="Malgun Gothic"/>
              </a:defRPr>
            </a:pPr>
            <a:r>
              <a:t>KOEM 해양환경공단 199 | Page 200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