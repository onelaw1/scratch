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Malgun Gothic"/>
              </a:defRPr>
            </a:pPr>
            <a:r>
              <a:t>2030 Strategic Transformation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algun Gothic"/>
              </a:defRPr>
            </a:pPr>
            <a:r>
              <a:t>Achieving market leadership requires a synchronized transformation across three pillars, supported by a robust digital foundation and executed through a phased rollout.</a:t>
            </a:r>
          </a:p>
        </p:txBody>
      </p:sp>
      <p:sp>
        <p:nvSpPr>
          <p:cNvPr id="4" name="Isosceles Triangle 3"/>
          <p:cNvSpPr/>
          <p:nvPr/>
        </p:nvSpPr>
        <p:spPr>
          <a:xfrm>
            <a:off x="457200" y="1371600"/>
            <a:ext cx="8229600" cy="731520"/>
          </a:xfrm>
          <a:prstGeom prst="triangle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0000"/>
                </a:solidFill>
                <a:latin typeface="Malgun Gothic"/>
              </a:defRPr>
            </a:pPr>
            <a:r>
              <a:t>To become the #1 Provider of Sustainable Energy Solutions in APAC by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682240" cy="2286000"/>
          </a:xfrm>
          <a:prstGeom prst="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49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  <a:latin typeface="Malgun Gothic"/>
              </a:defRPr>
            </a:pPr>
            <a:r>
              <a:t>Pillar 1: Operational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49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latin typeface="Malgun Gothic"/>
              </a:defRPr>
            </a:pPr>
            <a:r>
              <a:t>• Reduce OpEx by 15% through automation.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49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latin typeface="Malgun Gothic"/>
              </a:defRPr>
            </a:pPr>
            <a:r>
              <a:t>• Optimize supply chain logistics.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00400"/>
            <a:ext cx="2316480" cy="36576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7BFF"/>
                </a:solidFill>
                <a:latin typeface="Malgun Gothic"/>
              </a:defRPr>
            </a:pPr>
            <a:r>
              <a:t>Target: $50M Savings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0880" y="2194560"/>
            <a:ext cx="2682240" cy="2286000"/>
          </a:xfrm>
          <a:prstGeom prst="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322320" y="2286000"/>
            <a:ext cx="249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  <a:latin typeface="Malgun Gothic"/>
              </a:defRPr>
            </a:pPr>
            <a:r>
              <a:t>Pillar 2: Customer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2320" y="2651760"/>
            <a:ext cx="249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latin typeface="Malgun Gothic"/>
              </a:defRPr>
            </a:pPr>
            <a:r>
              <a:t>• Launch omnichannel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2320" y="2880360"/>
            <a:ext cx="249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latin typeface="Malgun Gothic"/>
              </a:defRPr>
            </a:pPr>
            <a:r>
              <a:t>• Implement AI-driven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3760" y="3200400"/>
            <a:ext cx="2316480" cy="36576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A745"/>
                </a:solidFill>
                <a:latin typeface="Malgun Gothic"/>
              </a:defRPr>
            </a:pPr>
            <a:r>
              <a:t>NPS Score: &gt;70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04560" y="2194560"/>
            <a:ext cx="2682240" cy="2286000"/>
          </a:xfrm>
          <a:prstGeom prst="rect">
            <a:avLst/>
          </a:prstGeom>
          <a:solidFill>
            <a:srgbClr val="F8F9FA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  <a:latin typeface="Malgun Gothi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096000" y="2286000"/>
            <a:ext cx="249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3366"/>
                </a:solidFill>
                <a:latin typeface="Malgun Gothic"/>
              </a:defRPr>
            </a:pPr>
            <a:r>
              <a:t>Pillar 3: Innovation &amp;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2651760"/>
            <a:ext cx="249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latin typeface="Malgun Gothic"/>
              </a:defRPr>
            </a:pPr>
            <a:r>
              <a:t>• Enter 2 new markets (Vietnam, Thailand).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2880360"/>
            <a:ext cx="2499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latin typeface="Malgun Gothic"/>
              </a:defRPr>
            </a:pPr>
            <a:r>
              <a:t>• R&amp;D investment in green tech.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7440" y="3200400"/>
            <a:ext cx="2316480" cy="365760"/>
          </a:xfrm>
          <a:prstGeom prst="round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DC3545"/>
                </a:solidFill>
                <a:latin typeface="Malgun Gothic"/>
              </a:defRPr>
            </a:pPr>
            <a:r>
              <a:t>Revenue: +20% YoY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9ECEF"/>
          </a:solidFill>
          <a:ln>
            <a:solidFill>
              <a:srgbClr val="E9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95057"/>
                </a:solidFill>
                <a:latin typeface="Malgun Gothic"/>
              </a:defRPr>
            </a:pPr>
            <a:r>
              <a:t>Enabler: Digital Core &amp; Talent Transformation</a:t>
            </a:r>
          </a:p>
        </p:txBody>
      </p:sp>
      <p:sp>
        <p:nvSpPr>
          <p:cNvPr id="21" name="Pentagon 20"/>
          <p:cNvSpPr/>
          <p:nvPr/>
        </p:nvSpPr>
        <p:spPr>
          <a:xfrm>
            <a:off x="457200" y="5120640"/>
            <a:ext cx="2103120" cy="457200"/>
          </a:xfrm>
          <a:prstGeom prst="homePlate">
            <a:avLst/>
          </a:prstGeom>
          <a:solidFill>
            <a:srgbClr val="004085"/>
          </a:solidFill>
          <a:ln>
            <a:solidFill>
              <a:srgbClr val="004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Phase 1: Mobilize (Q1-Q2)</a:t>
            </a:r>
          </a:p>
        </p:txBody>
      </p:sp>
      <p:sp>
        <p:nvSpPr>
          <p:cNvPr id="22" name="Chevron 21"/>
          <p:cNvSpPr/>
          <p:nvPr/>
        </p:nvSpPr>
        <p:spPr>
          <a:xfrm>
            <a:off x="2423160" y="5120640"/>
            <a:ext cx="2103120" cy="457200"/>
          </a:xfrm>
          <a:prstGeom prst="chevron">
            <a:avLst/>
          </a:prstGeom>
          <a:solidFill>
            <a:srgbClr val="0056B3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Phase 2: Pilot (Q3-Q4)</a:t>
            </a:r>
          </a:p>
        </p:txBody>
      </p:sp>
      <p:sp>
        <p:nvSpPr>
          <p:cNvPr id="23" name="Chevron 22"/>
          <p:cNvSpPr/>
          <p:nvPr/>
        </p:nvSpPr>
        <p:spPr>
          <a:xfrm>
            <a:off x="4389120" y="5120640"/>
            <a:ext cx="2103120" cy="457200"/>
          </a:xfrm>
          <a:prstGeom prst="chevron">
            <a:avLst/>
          </a:prstGeom>
          <a:solidFill>
            <a:srgbClr val="007BFF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Phase 3: Scale (Year 2)</a:t>
            </a:r>
          </a:p>
        </p:txBody>
      </p:sp>
      <p:sp>
        <p:nvSpPr>
          <p:cNvPr id="24" name="Chevron 23"/>
          <p:cNvSpPr/>
          <p:nvPr/>
        </p:nvSpPr>
        <p:spPr>
          <a:xfrm>
            <a:off x="6355080" y="5120640"/>
            <a:ext cx="2103120" cy="457200"/>
          </a:xfrm>
          <a:prstGeom prst="chevron">
            <a:avLst/>
          </a:prstGeom>
          <a:solidFill>
            <a:srgbClr val="3395FF"/>
          </a:solidFill>
          <a:ln>
            <a:solidFill>
              <a:srgbClr val="33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Phase 4: Sustain (Year 3+)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Malgun Gothic"/>
              </a:defRPr>
            </a:pPr>
            <a:r>
              <a:t>Confidential - 2030 Strategy Document - Draft v4.2 | Page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