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2030 중장기 전략경영계획 수립 용역</a:t>
            </a:r>
          </a:p>
        </p:txBody>
      </p:sp>
      <p:sp>
        <p:nvSpPr>
          <p:cNvPr id="3" name="TextBox 2"/>
          <p:cNvSpPr txBox="1"/>
          <p:nvPr/>
        </p:nvSpPr>
        <p:spPr>
          <a:xfrm>
            <a:off x="457200" y="914400"/>
            <a:ext cx="8229600" cy="457200"/>
          </a:xfrm>
          <a:prstGeom prst="rect">
            <a:avLst/>
          </a:prstGeom>
          <a:noFill/>
        </p:spPr>
        <p:txBody>
          <a:bodyPr wrap="none">
            <a:spAutoFit/>
          </a:bodyPr>
          <a:lstStyle/>
          <a:p>
            <a:pPr>
              <a:defRPr sz="1400" i="1"/>
            </a:pPr>
            <a:r>
              <a:t>Final report on establishing a long-term strategic management plan for 2030.</a:t>
            </a:r>
          </a:p>
        </p:txBody>
      </p:sp>
      <p:sp>
        <p:nvSpPr>
          <p:cNvPr id="4" name="TextBox 3"/>
          <p:cNvSpPr txBox="1"/>
          <p:nvPr/>
        </p:nvSpPr>
        <p:spPr>
          <a:xfrm>
            <a:off x="457200" y="1828800"/>
            <a:ext cx="8229600" cy="365760"/>
          </a:xfrm>
          <a:prstGeom prst="rect">
            <a:avLst/>
          </a:prstGeom>
          <a:noFill/>
        </p:spPr>
        <p:txBody>
          <a:bodyPr wrap="none">
            <a:spAutoFit/>
          </a:bodyPr>
          <a:lstStyle/>
          <a:p>
            <a:pPr>
              <a:defRPr b="1" sz="1200"/>
            </a:pPr>
            <a:r>
              <a:t>Header</a:t>
            </a:r>
          </a:p>
        </p:txBody>
      </p:sp>
      <p:sp>
        <p:nvSpPr>
          <p:cNvPr id="5" name="TextBox 4"/>
          <p:cNvSpPr txBox="1"/>
          <p:nvPr/>
        </p:nvSpPr>
        <p:spPr>
          <a:xfrm>
            <a:off x="457200" y="2194560"/>
            <a:ext cx="8229600" cy="457200"/>
          </a:xfrm>
          <a:prstGeom prst="rect">
            <a:avLst/>
          </a:prstGeom>
          <a:noFill/>
        </p:spPr>
        <p:txBody>
          <a:bodyPr wrap="none">
            <a:spAutoFit/>
          </a:bodyPr>
          <a:lstStyle/>
          <a:p>
            <a:r>
              <a:t>[IMAGE: KOEM 해양환경공단 logo]</a:t>
            </a:r>
          </a:p>
        </p:txBody>
      </p:sp>
      <p:sp>
        <p:nvSpPr>
          <p:cNvPr id="6" name="TextBox 5"/>
          <p:cNvSpPr txBox="1"/>
          <p:nvPr/>
        </p:nvSpPr>
        <p:spPr>
          <a:xfrm>
            <a:off x="457200" y="2743200"/>
            <a:ext cx="8229600" cy="457200"/>
          </a:xfrm>
          <a:prstGeom prst="rect">
            <a:avLst/>
          </a:prstGeom>
          <a:noFill/>
        </p:spPr>
        <p:txBody>
          <a:bodyPr wrap="none">
            <a:spAutoFit/>
          </a:bodyPr>
          <a:lstStyle/>
          <a:p>
            <a:r>
              <a:t>[IMAGE: Ryan &amp; Co. CERTIFIED logo]</a:t>
            </a:r>
          </a:p>
        </p:txBody>
      </p:sp>
      <p:sp>
        <p:nvSpPr>
          <p:cNvPr id="7" name="TextBox 6"/>
          <p:cNvSpPr txBox="1"/>
          <p:nvPr/>
        </p:nvSpPr>
        <p:spPr>
          <a:xfrm>
            <a:off x="457200" y="3291840"/>
            <a:ext cx="8229600" cy="457200"/>
          </a:xfrm>
          <a:prstGeom prst="rect">
            <a:avLst/>
          </a:prstGeom>
          <a:noFill/>
        </p:spPr>
        <p:txBody>
          <a:bodyPr wrap="none">
            <a:spAutoFit/>
          </a:bodyPr>
          <a:lstStyle/>
          <a:p>
            <a:r>
              <a:t>RNC2021-DSC-100507</a:t>
            </a:r>
          </a:p>
        </p:txBody>
      </p:sp>
      <p:sp>
        <p:nvSpPr>
          <p:cNvPr id="8" name="TextBox 7"/>
          <p:cNvSpPr txBox="1"/>
          <p:nvPr/>
        </p:nvSpPr>
        <p:spPr>
          <a:xfrm>
            <a:off x="457200" y="3840480"/>
            <a:ext cx="8229600" cy="457200"/>
          </a:xfrm>
          <a:prstGeom prst="rect">
            <a:avLst/>
          </a:prstGeom>
          <a:noFill/>
        </p:spPr>
        <p:txBody>
          <a:bodyPr wrap="none">
            <a:spAutoFit/>
          </a:bodyPr>
          <a:lstStyle/>
          <a:p>
            <a:r>
              <a:t>Strictly Confidential</a:t>
            </a:r>
          </a:p>
        </p:txBody>
      </p:sp>
      <p:sp>
        <p:nvSpPr>
          <p:cNvPr id="9" name="TextBox 8"/>
          <p:cNvSpPr txBox="1"/>
          <p:nvPr/>
        </p:nvSpPr>
        <p:spPr>
          <a:xfrm>
            <a:off x="457200" y="4389120"/>
            <a:ext cx="8229600" cy="365760"/>
          </a:xfrm>
          <a:prstGeom prst="rect">
            <a:avLst/>
          </a:prstGeom>
          <a:noFill/>
        </p:spPr>
        <p:txBody>
          <a:bodyPr wrap="none">
            <a:spAutoFit/>
          </a:bodyPr>
          <a:lstStyle/>
          <a:p>
            <a:pPr>
              <a:defRPr b="1" sz="1200"/>
            </a:pPr>
            <a:r>
              <a:t>Main Content</a:t>
            </a:r>
          </a:p>
        </p:txBody>
      </p:sp>
      <p:sp>
        <p:nvSpPr>
          <p:cNvPr id="10" name="TextBox 9"/>
          <p:cNvSpPr txBox="1"/>
          <p:nvPr/>
        </p:nvSpPr>
        <p:spPr>
          <a:xfrm>
            <a:off x="457200" y="4754880"/>
            <a:ext cx="8229600" cy="457200"/>
          </a:xfrm>
          <a:prstGeom prst="rect">
            <a:avLst/>
          </a:prstGeom>
          <a:noFill/>
        </p:spPr>
        <p:txBody>
          <a:bodyPr wrap="none">
            <a:spAutoFit/>
          </a:bodyPr>
          <a:lstStyle/>
          <a:p>
            <a:pPr>
              <a:defRPr sz="1800"/>
            </a:pPr>
            <a:r>
              <a:t>2030 중장기 전략경영계획 수립 용역</a:t>
            </a:r>
          </a:p>
        </p:txBody>
      </p:sp>
      <p:sp>
        <p:nvSpPr>
          <p:cNvPr id="11" name="TextBox 10"/>
          <p:cNvSpPr txBox="1"/>
          <p:nvPr/>
        </p:nvSpPr>
        <p:spPr>
          <a:xfrm>
            <a:off x="457200" y="5303520"/>
            <a:ext cx="8229600" cy="457200"/>
          </a:xfrm>
          <a:prstGeom prst="rect">
            <a:avLst/>
          </a:prstGeom>
          <a:noFill/>
        </p:spPr>
        <p:txBody>
          <a:bodyPr wrap="none">
            <a:spAutoFit/>
          </a:bodyPr>
          <a:lstStyle/>
          <a:p>
            <a:pPr>
              <a:defRPr sz="600"/>
            </a:pPr>
            <a:r>
              <a:t>최종보고서 2021.06</a:t>
            </a:r>
          </a:p>
        </p:txBody>
      </p:sp>
      <p:sp>
        <p:nvSpPr>
          <p:cNvPr id="12" name="TextBox 11"/>
          <p:cNvSpPr txBox="1"/>
          <p:nvPr/>
        </p:nvSpPr>
        <p:spPr>
          <a:xfrm>
            <a:off x="457200" y="5852159"/>
            <a:ext cx="8229600" cy="365760"/>
          </a:xfrm>
          <a:prstGeom prst="rect">
            <a:avLst/>
          </a:prstGeom>
          <a:noFill/>
        </p:spPr>
        <p:txBody>
          <a:bodyPr wrap="none">
            <a:spAutoFit/>
          </a:bodyPr>
          <a:lstStyle/>
          <a:p>
            <a:pPr>
              <a:defRPr b="1" sz="1200"/>
            </a:pPr>
            <a:r>
              <a:t>Footer</a:t>
            </a:r>
          </a:p>
        </p:txBody>
      </p:sp>
      <p:sp>
        <p:nvSpPr>
          <p:cNvPr id="13" name="TextBox 12"/>
          <p:cNvSpPr txBox="1"/>
          <p:nvPr/>
        </p:nvSpPr>
        <p:spPr>
          <a:xfrm>
            <a:off x="457200" y="6217920"/>
            <a:ext cx="8229600" cy="457200"/>
          </a:xfrm>
          <a:prstGeom prst="rect">
            <a:avLst/>
          </a:prstGeom>
          <a:noFill/>
        </p:spPr>
        <p:txBody>
          <a:bodyPr wrap="none">
            <a:spAutoFit/>
          </a:bodyPr>
          <a:lstStyle/>
          <a:p>
            <a:r>
              <a:t>[IMAGE: RNC enable Methodology logo]</a:t>
            </a:r>
          </a:p>
        </p:txBody>
      </p:sp>
      <p:sp>
        <p:nvSpPr>
          <p:cNvPr id="14" name="TextBox 13"/>
          <p:cNvSpPr txBox="1"/>
          <p:nvPr/>
        </p:nvSpPr>
        <p:spPr>
          <a:xfrm>
            <a:off x="457200" y="6766559"/>
            <a:ext cx="8229600" cy="457200"/>
          </a:xfrm>
          <a:prstGeom prst="rect">
            <a:avLst/>
          </a:prstGeom>
          <a:noFill/>
        </p:spPr>
        <p:txBody>
          <a:bodyPr wrap="none">
            <a:spAutoFit/>
          </a:bodyPr>
          <a:lstStyle/>
          <a:p>
            <a:r>
              <a:t>[IMAGE: Ryan &amp; Co. logo]</a:t>
            </a:r>
          </a:p>
        </p:txBody>
      </p:sp>
      <p:sp>
        <p:nvSpPr>
          <p:cNvPr id="15" name="TextBox 14"/>
          <p:cNvSpPr txBox="1"/>
          <p:nvPr/>
        </p:nvSpPr>
        <p:spPr>
          <a:xfrm>
            <a:off x="457200" y="7315199"/>
            <a:ext cx="8229600" cy="457200"/>
          </a:xfrm>
          <a:prstGeom prst="rect">
            <a:avLst/>
          </a:prstGeom>
          <a:noFill/>
        </p:spPr>
        <p:txBody>
          <a:bodyPr wrap="none">
            <a:spAutoFit/>
          </a:bodyPr>
          <a:lstStyle/>
          <a:p>
            <a:r>
              <a:t>This report is solely for the use of client personnel. No part of it may be circulated, quoted, or reproduced for distribution outside the client organization without prior written approval from Ryan&amp;Co.</a:t>
            </a:r>
          </a:p>
        </p:txBody>
      </p:sp>
      <p:sp>
        <p:nvSpPr>
          <p:cNvPr id="16" name="TextBox 15"/>
          <p:cNvSpPr txBox="1"/>
          <p:nvPr/>
        </p:nvSpPr>
        <p:spPr>
          <a:xfrm>
            <a:off x="457200" y="6400800"/>
            <a:ext cx="8229600" cy="457200"/>
          </a:xfrm>
          <a:prstGeom prst="rect">
            <a:avLst/>
          </a:prstGeom>
          <a:noFill/>
        </p:spPr>
        <p:txBody>
          <a:bodyPr wrap="none">
            <a:spAutoFit/>
          </a:bodyPr>
          <a:lstStyle/>
          <a:p>
            <a:pPr>
              <a:defRPr sz="800"/>
            </a:pPr>
            <a:r>
              <a:t>This report is solely for the use of client personnel. No part of it may be circulated, quoted, or reproduced for distribution outside the client organization without prior written approval from Ryan&amp;Co.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