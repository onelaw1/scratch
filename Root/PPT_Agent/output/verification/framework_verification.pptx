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3C Analysis</a:t>
            </a:r>
          </a:p>
        </p:txBody>
      </p:sp>
      <p:sp>
        <p:nvSpPr>
          <p:cNvPr id="3" name="Oval 2"/>
          <p:cNvSpPr/>
          <p:nvPr/>
        </p:nvSpPr>
        <p:spPr>
          <a:xfrm>
            <a:off x="3429000" y="685800"/>
            <a:ext cx="2286000" cy="2286000"/>
          </a:xfrm>
          <a:prstGeom prst="ellipse">
            <a:avLst/>
          </a:prstGeom>
          <a:solidFill>
            <a:srgbClr val="2E86A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Customer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• High Growth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• Young Demographic</a:t>
            </a:r>
          </a:p>
        </p:txBody>
      </p:sp>
      <p:sp>
        <p:nvSpPr>
          <p:cNvPr id="4" name="Oval 3"/>
          <p:cNvSpPr/>
          <p:nvPr/>
        </p:nvSpPr>
        <p:spPr>
          <a:xfrm>
            <a:off x="1845259" y="3429000"/>
            <a:ext cx="2286000" cy="2286000"/>
          </a:xfrm>
          <a:prstGeom prst="ellipse">
            <a:avLst/>
          </a:prstGeom>
          <a:solidFill>
            <a:srgbClr val="F18F01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Company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• Strong Brand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• High Quality</a:t>
            </a:r>
          </a:p>
        </p:txBody>
      </p:sp>
      <p:sp>
        <p:nvSpPr>
          <p:cNvPr id="5" name="Oval 4"/>
          <p:cNvSpPr/>
          <p:nvPr/>
        </p:nvSpPr>
        <p:spPr>
          <a:xfrm>
            <a:off x="5012740" y="3429000"/>
            <a:ext cx="2286000" cy="2286000"/>
          </a:xfrm>
          <a:prstGeom prst="ellipse">
            <a:avLst/>
          </a:prstGeom>
          <a:solidFill>
            <a:srgbClr val="6A994E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Competitor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• Low Price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• Fast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3832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23232"/>
                </a:solidFill>
              </a:defRPr>
            </a:pPr>
            <a:r>
              <a:t>Strategic</a:t>
            </a:r>
            <a:br/>
            <a:r>
              <a:t>Fit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Impact/Effort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2011680"/>
          </a:xfrm>
          <a:prstGeom prst="round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Quick Wins</a:t>
            </a:r>
          </a:p>
          <a:p>
            <a:pPr>
              <a:defRPr sz="1000" i="1">
                <a:solidFill>
                  <a:srgbClr val="FFFFFF"/>
                </a:solidFill>
              </a:defRPr>
            </a:pPr>
            <a:r>
              <a:t>High Impact</a:t>
            </a:r>
            <a:br/>
            <a:r>
              <a:t>Low Effort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UI Update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Bug Fixes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828800"/>
            <a:ext cx="3657600" cy="201168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Major Projects</a:t>
            </a:r>
          </a:p>
          <a:p>
            <a:pPr>
              <a:defRPr sz="1000" i="1">
                <a:solidFill>
                  <a:srgbClr val="FFFFFF"/>
                </a:solidFill>
              </a:defRPr>
            </a:pPr>
            <a:r>
              <a:t>High Impact</a:t>
            </a:r>
            <a:br/>
            <a:r>
              <a:t>High Effort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New Backend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AI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3657600" cy="2011680"/>
          </a:xfrm>
          <a:prstGeom prst="roundRect">
            <a:avLst/>
          </a:prstGeom>
          <a:solidFill>
            <a:srgbClr val="969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Fill-ins</a:t>
            </a:r>
          </a:p>
          <a:p>
            <a:pPr>
              <a:defRPr sz="1000" i="1">
                <a:solidFill>
                  <a:srgbClr val="FFFFFF"/>
                </a:solidFill>
              </a:defRPr>
            </a:pPr>
            <a:r>
              <a:t>Low Impact</a:t>
            </a:r>
            <a:br/>
            <a:r>
              <a:t>Low Effort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Icon Refresh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Text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114800"/>
            <a:ext cx="3657600" cy="2011680"/>
          </a:xfrm>
          <a:prstGeom prst="round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Thankless Tasks</a:t>
            </a:r>
          </a:p>
          <a:p>
            <a:pPr>
              <a:defRPr sz="1000" i="1">
                <a:solidFill>
                  <a:srgbClr val="FFFFFF"/>
                </a:solidFill>
              </a:defRPr>
            </a:pPr>
            <a:r>
              <a:t>Low Impact</a:t>
            </a:r>
            <a:br/>
            <a:r>
              <a:t>High Effort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Legacy Refactor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Manual Data Entry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Gantt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/>
            </a:pPr>
            <a:r>
              <a:t>Phase 1: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920240"/>
            <a:ext cx="1280160" cy="365760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/>
            </a:pPr>
            <a:r>
              <a:t>Phase 2: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468880"/>
            <a:ext cx="1920240" cy="365760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/>
            </a:pPr>
            <a:r>
              <a:t>Phase 3: Dev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017520"/>
            <a:ext cx="2560320" cy="365760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/>
            </a:pPr>
            <a:r>
              <a:t>Phase 4: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566160"/>
            <a:ext cx="640080" cy="365760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Fishbone Diagram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3657600"/>
            <a:ext cx="7315200" cy="0"/>
          </a:xfrm>
          <a:prstGeom prst="line">
            <a:avLst/>
          </a:prstGeom>
          <a:ln w="381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Isosceles Triangle 3"/>
          <p:cNvSpPr/>
          <p:nvPr/>
        </p:nvSpPr>
        <p:spPr>
          <a:xfrm rot="5400000">
            <a:off x="7955280" y="3474720"/>
            <a:ext cx="365760" cy="365760"/>
          </a:xfrm>
          <a:prstGeom prst="triangle">
            <a:avLst/>
          </a:prstGeom>
          <a:solidFill>
            <a:srgbClr val="3232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286000" y="3657600"/>
            <a:ext cx="1097280" cy="1371600"/>
          </a:xfrm>
          <a:prstGeom prst="line">
            <a:avLst/>
          </a:prstGeom>
          <a:ln w="25400">
            <a:solidFill>
              <a:srgbClr val="C73E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017520" y="4754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73E1D"/>
                </a:solidFill>
              </a:defRPr>
            </a:pPr>
            <a:r>
              <a:t>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303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Lack of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5029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Low Motivation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657600"/>
            <a:ext cx="1097280" cy="1371600"/>
          </a:xfrm>
          <a:prstGeom prst="line">
            <a:avLst/>
          </a:prstGeom>
          <a:ln w="25400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0" y="4754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18F01"/>
                </a:solidFill>
              </a:defRPr>
            </a:pPr>
            <a:r>
              <a:t>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5303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Outdated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029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Slow Network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0" y="3657600"/>
            <a:ext cx="1097280" cy="1371600"/>
          </a:xfrm>
          <a:prstGeom prst="line">
            <a:avLst/>
          </a:prstGeom>
          <a:ln w="25400">
            <a:solidFill>
              <a:srgbClr val="6A99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9520" y="4754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A994E"/>
                </a:solidFill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303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Inefficient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029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No Standard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286000" y="2286000"/>
            <a:ext cx="1097280" cy="137160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17520" y="20116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AB"/>
                </a:solidFill>
              </a:defRPr>
            </a:pPr>
            <a:r>
              <a:t>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17373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Poor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0116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Shortage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572000" y="2286000"/>
            <a:ext cx="1097280" cy="1371600"/>
          </a:xfrm>
          <a:prstGeom prst="line">
            <a:avLst/>
          </a:prstGeom>
          <a:ln w="25400">
            <a:solidFill>
              <a:srgbClr val="A23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03520" y="20116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23B72"/>
                </a:solidFill>
              </a:defRPr>
            </a:pPr>
            <a:r>
              <a:t>Measurement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7373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Wrong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0116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No Feedback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858000" y="2286000"/>
            <a:ext cx="1097280" cy="137160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89520" y="20116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69696"/>
                </a:solidFill>
              </a:defRPr>
            </a:pPr>
            <a:r>
              <a:t>Environment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17373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High Noise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0116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• Poor Lighting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926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 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Organizational 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371600"/>
            <a:ext cx="1371600" cy="548640"/>
          </a:xfrm>
          <a:prstGeom prst="roundRect">
            <a:avLst/>
          </a:prstGeom>
          <a:solidFill>
            <a:srgbClr val="2E86AB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John Doe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1371600" cy="548640"/>
          </a:xfrm>
          <a:prstGeom prst="roundRect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Jane Smith (CFO)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600200.0" y="1920240"/>
            <a:ext cx="3657600.0" cy="5486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27200" y="2468880"/>
            <a:ext cx="1371600" cy="548640"/>
          </a:xfrm>
          <a:prstGeom prst="roundRect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Bob Wilson (CTO)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413000.0" y="1920240"/>
            <a:ext cx="2844800.0" cy="5486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40000" y="2468880"/>
            <a:ext cx="1371600" cy="548640"/>
          </a:xfrm>
          <a:prstGeom prst="roundRect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Alice Brown (CMO)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225800.0" y="1920240"/>
            <a:ext cx="2032000.0" cy="5486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RACI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301752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PM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QA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377440"/>
            <a:ext cx="1645920" cy="548640"/>
          </a:xfrm>
          <a:prstGeom prst="rect">
            <a:avLst/>
          </a:prstGeom>
          <a:solidFill>
            <a:srgbClr val="C8C8C8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Task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377440"/>
            <a:ext cx="1645920" cy="54864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377440"/>
            <a:ext cx="1645920" cy="548640"/>
          </a:xfrm>
          <a:prstGeom prst="rect">
            <a:avLst/>
          </a:prstGeom>
          <a:solidFill>
            <a:srgbClr val="F18F0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377440"/>
            <a:ext cx="1645920" cy="548640"/>
          </a:xfrm>
          <a:prstGeom prst="rect">
            <a:avLst/>
          </a:prstGeom>
          <a:solidFill>
            <a:srgbClr val="969696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237744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926080"/>
            <a:ext cx="1645920" cy="548640"/>
          </a:xfrm>
          <a:prstGeom prst="rect">
            <a:avLst/>
          </a:prstGeom>
          <a:solidFill>
            <a:srgbClr val="C8C8C8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Task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92608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926080"/>
            <a:ext cx="1645920" cy="54864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1645920" cy="548640"/>
          </a:xfrm>
          <a:prstGeom prst="rect">
            <a:avLst/>
          </a:prstGeom>
          <a:solidFill>
            <a:srgbClr val="F18F0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2926080"/>
            <a:ext cx="1645920" cy="548640"/>
          </a:xfrm>
          <a:prstGeom prst="rect">
            <a:avLst/>
          </a:prstGeom>
          <a:solidFill>
            <a:srgbClr val="969696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474720"/>
            <a:ext cx="1645920" cy="548640"/>
          </a:xfrm>
          <a:prstGeom prst="rect">
            <a:avLst/>
          </a:prstGeom>
          <a:solidFill>
            <a:srgbClr val="C8C8C8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Task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474720"/>
            <a:ext cx="1645920" cy="548640"/>
          </a:xfrm>
          <a:prstGeom prst="rect">
            <a:avLst/>
          </a:prstGeom>
          <a:solidFill>
            <a:srgbClr val="969696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47472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474720"/>
            <a:ext cx="1645920" cy="54864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3474720"/>
            <a:ext cx="1645920" cy="548640"/>
          </a:xfrm>
          <a:prstGeom prst="rect">
            <a:avLst/>
          </a:prstGeom>
          <a:solidFill>
            <a:srgbClr val="F18F0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023360"/>
            <a:ext cx="1645920" cy="548640"/>
          </a:xfrm>
          <a:prstGeom prst="rect">
            <a:avLst/>
          </a:prstGeom>
          <a:solidFill>
            <a:srgbClr val="C8C8C8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Task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4023360"/>
            <a:ext cx="1645920" cy="548640"/>
          </a:xfrm>
          <a:prstGeom prst="rect">
            <a:avLst/>
          </a:prstGeom>
          <a:solidFill>
            <a:srgbClr val="F18F0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4023360"/>
            <a:ext cx="1645920" cy="548640"/>
          </a:xfrm>
          <a:prstGeom prst="rect">
            <a:avLst/>
          </a:prstGeom>
          <a:solidFill>
            <a:srgbClr val="969696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02336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4023360"/>
            <a:ext cx="1645920" cy="54864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0" y="1828800"/>
            <a:ext cx="1463040" cy="548640"/>
          </a:xfrm>
          <a:prstGeom prst="rect">
            <a:avLst/>
          </a:prstGeom>
          <a:solidFill>
            <a:srgbClr val="2E86AB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Launch New Product?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1828800" y="2377440"/>
            <a:ext cx="2743200" cy="12801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280160" y="3657600"/>
            <a:ext cx="1097280" cy="731520"/>
          </a:xfrm>
          <a:prstGeom prst="ellipse">
            <a:avLst/>
          </a:prstGeom>
          <a:solidFill>
            <a:srgbClr val="6A994E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Yes (High Risk)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377440"/>
            <a:ext cx="2743200" cy="12801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766560" y="3657600"/>
            <a:ext cx="1097280" cy="731520"/>
          </a:xfrm>
          <a:prstGeom prst="ellipse">
            <a:avLst/>
          </a:prstGeom>
          <a:solidFill>
            <a:srgbClr val="6A994E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 (Low Growth)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Canvas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2011680"/>
          </a:xfrm>
          <a:prstGeom prst="round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Problem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Problem A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Problem 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474720"/>
            <a:ext cx="2011680" cy="2011680"/>
          </a:xfrm>
          <a:prstGeom prst="round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Solution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Solution A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Solution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371600"/>
            <a:ext cx="2011680" cy="201168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Key Metrics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Metric A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Metric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474720"/>
            <a:ext cx="2011680" cy="2011680"/>
          </a:xfrm>
          <a:prstGeom prst="roundRect">
            <a:avLst/>
          </a:prstGeom>
          <a:solidFill>
            <a:srgbClr val="A23B7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Unfair Advantage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Advantage A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Advantage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2011680" cy="4114800"/>
          </a:xfrm>
          <a:prstGeom prst="round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Unique Value Proposition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UVP A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UVP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371600"/>
            <a:ext cx="2011680" cy="2011680"/>
          </a:xfrm>
          <a:prstGeom prst="round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Channels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Channel A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Channel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474720"/>
            <a:ext cx="2011680" cy="201168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Customer Segments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Segment A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Segment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577840"/>
            <a:ext cx="4206240" cy="1280160"/>
          </a:xfrm>
          <a:prstGeom prst="roundRect">
            <a:avLst/>
          </a:prstGeom>
          <a:solidFill>
            <a:srgbClr val="969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Cost Structure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Cost A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Cost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5577840"/>
            <a:ext cx="4206240" cy="1280160"/>
          </a:xfrm>
          <a:prstGeom prst="round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Revenue Streams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Revenue A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• Revenue 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9-Box 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560320" cy="1645920"/>
          </a:xfrm>
          <a:prstGeom prst="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Enigma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371600"/>
            <a:ext cx="2560320" cy="164592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 Potential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• Emp E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• Emp F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2560320" cy="1645920"/>
          </a:xfrm>
          <a:prstGeom prst="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Stars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• Emp A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• Emp B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2560320" cy="1645920"/>
          </a:xfrm>
          <a:prstGeom prst="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Inconsistent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017520"/>
            <a:ext cx="2560320" cy="1645920"/>
          </a:xfrm>
          <a:prstGeom prst="rect">
            <a:avLst/>
          </a:prstGeom>
          <a:solidFill>
            <a:srgbClr val="969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Solid Performers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3017520"/>
            <a:ext cx="2560320" cy="164592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Core Players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• Emp C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• Emp 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63440"/>
            <a:ext cx="2560320" cy="1645920"/>
          </a:xfrm>
          <a:prstGeom prst="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 Performers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4663440"/>
            <a:ext cx="2560320" cy="1645920"/>
          </a:xfrm>
          <a:prstGeom prst="rect">
            <a:avLst/>
          </a:prstGeom>
          <a:solidFill>
            <a:srgbClr val="969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Effective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663440"/>
            <a:ext cx="2560320" cy="164592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Trusted Professionals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008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Performance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371600"/>
            <a:ext cx="548640" cy="4937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/>
            </a:pPr>
            <a:r>
              <a:t>Potential 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FTE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857500"/>
            <a:ext cx="1097280" cy="171450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831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5.0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2171700"/>
            <a:ext cx="1097280" cy="240030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8973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Dept A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828800"/>
            <a:ext cx="1097280" cy="274320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5544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8.0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514600"/>
            <a:ext cx="1097280" cy="2057400"/>
          </a:xfrm>
          <a:prstGeom prst="rect">
            <a:avLst/>
          </a:prstGeom>
          <a:solidFill>
            <a:srgbClr val="969696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2402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6.0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663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Dept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200400"/>
            <a:ext cx="1097280" cy="137160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4.0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3200400"/>
            <a:ext cx="1097280" cy="1371600"/>
          </a:xfrm>
          <a:prstGeom prst="rect">
            <a:avLst/>
          </a:prstGeom>
          <a:solidFill>
            <a:srgbClr val="6A994E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29260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4.0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663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Dept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914400"/>
            <a:ext cx="274320" cy="27432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914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Current FTE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914400"/>
            <a:ext cx="274320" cy="27432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914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Required FTE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AHP Hierarchy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371600"/>
            <a:ext cx="2743200" cy="731520"/>
          </a:xfrm>
          <a:prstGeom prst="roundRect">
            <a:avLst/>
          </a:prstGeom>
          <a:solidFill>
            <a:srgbClr val="2E86AB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Select Vendor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1389888" cy="548640"/>
          </a:xfrm>
          <a:prstGeom prst="roundRect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Cost</a:t>
            </a:r>
            <a:br/>
            <a:r>
              <a:t>40%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609344.0" y="2103120"/>
            <a:ext cx="2962656.0" cy="10972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52800" y="3200400"/>
            <a:ext cx="1316736" cy="548640"/>
          </a:xfrm>
          <a:prstGeom prst="roundRect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Quality</a:t>
            </a:r>
            <a:br/>
            <a:r>
              <a:t>30%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4011168.0" y="2103120"/>
            <a:ext cx="560832.0" cy="10972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791200" y="3200400"/>
            <a:ext cx="1316736" cy="548640"/>
          </a:xfrm>
          <a:prstGeom prst="roundRect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Speed</a:t>
            </a:r>
            <a:br/>
            <a:r>
              <a:t>30%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2103120"/>
            <a:ext cx="1877568.0" cy="10972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5029200"/>
            <a:ext cx="1810512" cy="548640"/>
          </a:xfrm>
          <a:prstGeom prst="roundRect">
            <a:avLst/>
          </a:prstGeom>
          <a:solidFill>
            <a:srgbClr val="6A994E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Vendor A</a:t>
            </a:r>
            <a:br/>
            <a:r>
              <a:t>60%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5029200"/>
            <a:ext cx="1664208" cy="548640"/>
          </a:xfrm>
          <a:prstGeom prst="roundRect">
            <a:avLst/>
          </a:prstGeom>
          <a:solidFill>
            <a:srgbClr val="6A994E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Vendor B</a:t>
            </a:r>
            <a:br/>
            <a:r>
              <a:t>40%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OCAI Culture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2743200" cy="274320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0972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Clan</a:t>
            </a:r>
            <a:br/>
            <a:r>
              <a:t>30%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914400"/>
            <a:ext cx="2743200" cy="2743200"/>
          </a:xfrm>
          <a:prstGeom prst="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Adhocracy</a:t>
            </a:r>
            <a:br/>
            <a:r>
              <a:t>40%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657600"/>
            <a:ext cx="2743200" cy="2743200"/>
          </a:xfrm>
          <a:prstGeom prst="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3840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Market</a:t>
            </a:r>
            <a:br/>
            <a:r>
              <a:t>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657600"/>
            <a:ext cx="2743200" cy="2743200"/>
          </a:xfrm>
          <a:prstGeom prst="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840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Hierarchy</a:t>
            </a:r>
            <a:br/>
            <a:r>
              <a:t>10%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3200400"/>
            <a:ext cx="914400" cy="914400"/>
          </a:xfrm>
          <a:prstGeom prst="ellipse">
            <a:avLst/>
          </a:prstGeom>
          <a:solidFill>
            <a:srgbClr val="FFFFFF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OCAI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Futures Wheel</a:t>
            </a:r>
          </a:p>
        </p:txBody>
      </p:sp>
      <p:sp>
        <p:nvSpPr>
          <p:cNvPr id="3" name="Oval 2"/>
          <p:cNvSpPr/>
          <p:nvPr/>
        </p:nvSpPr>
        <p:spPr>
          <a:xfrm>
            <a:off x="3840480" y="2697480"/>
            <a:ext cx="1463040" cy="1463040"/>
          </a:xfrm>
          <a:prstGeom prst="ellipse">
            <a:avLst/>
          </a:prstGeom>
          <a:solidFill>
            <a:srgbClr val="2E86AB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Adoption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3429000"/>
            <a:ext cx="2286000.0" cy="0.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309360" y="2880360"/>
            <a:ext cx="1097280" cy="1097280"/>
          </a:xfrm>
          <a:prstGeom prst="ellipse">
            <a:avLst/>
          </a:prstGeom>
          <a:solidFill>
            <a:srgbClr val="F18F0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Efficiency 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3429000"/>
            <a:ext cx="1143000.0" cy="1979734.0730512263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166360" y="4860094"/>
            <a:ext cx="1097280" cy="1097280"/>
          </a:xfrm>
          <a:prstGeom prst="ellipse">
            <a:avLst/>
          </a:prstGeom>
          <a:solidFill>
            <a:srgbClr val="F18F0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Job Changes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429000.0000000005" y="3429000"/>
            <a:ext cx="1142999.9999999995" cy="1979734.0730512273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880360" y="4860094"/>
            <a:ext cx="1097280" cy="1097280"/>
          </a:xfrm>
          <a:prstGeom prst="ellipse">
            <a:avLst/>
          </a:prstGeom>
          <a:solidFill>
            <a:srgbClr val="F18F0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New Risks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286000.0" y="3429000"/>
            <a:ext cx="2286000.0" cy="4.656612873077393e-1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737360" y="2880360"/>
            <a:ext cx="1097280" cy="1097280"/>
          </a:xfrm>
          <a:prstGeom prst="ellipse">
            <a:avLst/>
          </a:prstGeom>
          <a:solidFill>
            <a:srgbClr val="F18F0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 Privacy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3428999.999999999" y="1449265.9269487737"/>
            <a:ext cx="1143000.000000001" cy="1979734.0730512263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880359" y="900625"/>
            <a:ext cx="1097280" cy="1097280"/>
          </a:xfrm>
          <a:prstGeom prst="ellipse">
            <a:avLst/>
          </a:prstGeom>
          <a:solidFill>
            <a:srgbClr val="F18F0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Innovation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572000" y="1449265.9269487734"/>
            <a:ext cx="1143000.0" cy="1979734.0730512266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166360" y="900625"/>
            <a:ext cx="1097280" cy="1097280"/>
          </a:xfrm>
          <a:prstGeom prst="ellipse">
            <a:avLst/>
          </a:prstGeom>
          <a:solidFill>
            <a:srgbClr val="F18F0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Cost Reduction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Kano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0" y="5029200"/>
            <a:ext cx="6400800" cy="0"/>
          </a:xfrm>
          <a:prstGeom prst="line">
            <a:avLst/>
          </a:prstGeom>
          <a:ln w="254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371600" y="1371600"/>
            <a:ext cx="0" cy="3657600"/>
          </a:xfrm>
          <a:prstGeom prst="line">
            <a:avLst/>
          </a:prstGeom>
          <a:ln w="254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0" y="5029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Satisfaction</a:t>
            </a:r>
          </a:p>
        </p:txBody>
      </p:sp>
      <p:sp>
        <p:nvSpPr>
          <p:cNvPr id="7" name="Arc 6"/>
          <p:cNvSpPr/>
          <p:nvPr/>
        </p:nvSpPr>
        <p:spPr>
          <a:xfrm rot="10800000">
            <a:off x="1371600" y="3657600"/>
            <a:ext cx="2743200" cy="1371600"/>
          </a:xfrm>
          <a:prstGeom prst="arc">
            <a:avLst/>
          </a:prstGeom>
          <a:ln w="38100">
            <a:solidFill>
              <a:srgbClr val="C73E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572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Basic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371600" y="2743200"/>
            <a:ext cx="3657600" cy="2286000"/>
          </a:xfrm>
          <a:prstGeom prst="line">
            <a:avLst/>
          </a:prstGeom>
          <a:ln w="381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0" y="3383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Performance</a:t>
            </a:r>
          </a:p>
        </p:txBody>
      </p:sp>
      <p:sp>
        <p:nvSpPr>
          <p:cNvPr id="11" name="Arc 10"/>
          <p:cNvSpPr/>
          <p:nvPr/>
        </p:nvSpPr>
        <p:spPr>
          <a:xfrm rot="16200000">
            <a:off x="1371600" y="1371600"/>
            <a:ext cx="2743200" cy="1371600"/>
          </a:xfrm>
          <a:prstGeom prst="arc">
            <a:avLst/>
          </a:prstGeom>
          <a:ln w="38100">
            <a:solidFill>
              <a:srgbClr val="6A9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45720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•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5720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•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432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•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•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828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• AI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1828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• Voice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