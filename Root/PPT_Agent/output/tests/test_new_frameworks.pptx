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Fishbone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Root Cause Analysis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14400" y="3657600"/>
            <a:ext cx="7315200" cy="0"/>
          </a:xfrm>
          <a:prstGeom prst="line">
            <a:avLst/>
          </a:prstGeom>
          <a:ln w="38100">
            <a:solidFill>
              <a:srgbClr val="323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 rot="5400000">
            <a:off x="7955280" y="3474720"/>
            <a:ext cx="365760" cy="365760"/>
          </a:xfrm>
          <a:prstGeom prst="triangle">
            <a:avLst/>
          </a:prstGeom>
          <a:solidFill>
            <a:srgbClr val="32323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2286000" y="3657600"/>
            <a:ext cx="1097280" cy="1371600"/>
          </a:xfrm>
          <a:prstGeom prst="line">
            <a:avLst/>
          </a:prstGeom>
          <a:ln w="25400">
            <a:solidFill>
              <a:srgbClr val="C73E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017520" y="4754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73E1D"/>
                </a:solidFill>
              </a:defRPr>
            </a:pPr>
            <a:r>
              <a:t>Man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5303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• Lack of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502920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• Low Morale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0" y="3657600"/>
            <a:ext cx="1097280" cy="1371600"/>
          </a:xfrm>
          <a:prstGeom prst="line">
            <a:avLst/>
          </a:prstGeom>
          <a:ln w="25400">
            <a:solidFill>
              <a:srgbClr val="F18F0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303520" y="4754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18F01"/>
                </a:solidFill>
              </a:defRPr>
            </a:pPr>
            <a:r>
              <a:t>Machine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5303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• Legacy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502920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• Slow Network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0" y="3657600"/>
            <a:ext cx="1097280" cy="1371600"/>
          </a:xfrm>
          <a:prstGeom prst="line">
            <a:avLst/>
          </a:prstGeom>
          <a:ln w="25400">
            <a:solidFill>
              <a:srgbClr val="6A99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589520" y="4754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A994E"/>
                </a:solidFill>
              </a:defRPr>
            </a:pPr>
            <a:r>
              <a:t>Method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5303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• Poor Onboarding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502920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• Complex Process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2286000" y="2286000"/>
            <a:ext cx="1097280" cy="1371600"/>
          </a:xfrm>
          <a:prstGeom prst="line">
            <a:avLst/>
          </a:prstGeom>
          <a:ln w="25400">
            <a:solidFill>
              <a:srgbClr val="2E8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017520" y="20116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E86AB"/>
                </a:solidFill>
              </a:defRPr>
            </a:pPr>
            <a:r>
              <a:t>Material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17373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• Outdated Docs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4572000" y="2286000"/>
            <a:ext cx="1097280" cy="1371600"/>
          </a:xfrm>
          <a:prstGeom prst="line">
            <a:avLst/>
          </a:prstGeom>
          <a:ln w="25400">
            <a:solidFill>
              <a:srgbClr val="A23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303520" y="20116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23B72"/>
                </a:solidFill>
              </a:defRPr>
            </a:pPr>
            <a:r>
              <a:t>Measurement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17373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• Wrong KPIs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6858000" y="2286000"/>
            <a:ext cx="1097280" cy="1371600"/>
          </a:xfrm>
          <a:prstGeom prst="line">
            <a:avLst/>
          </a:prstGeom>
          <a:ln w="254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589520" y="20116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69696"/>
                </a:solidFill>
              </a:defRPr>
            </a:pPr>
            <a:r>
              <a:t>Environment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17373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• Remote 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9260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High Churn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Value 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Porter's Value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4114800"/>
            <a:ext cx="1645920" cy="1371600"/>
          </a:xfrm>
          <a:prstGeom prst="roundRect">
            <a:avLst/>
          </a:prstGeom>
          <a:solidFill>
            <a:srgbClr val="2E86A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Inbound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• Raw Materials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03120" y="4114800"/>
            <a:ext cx="1645920" cy="1371600"/>
          </a:xfrm>
          <a:prstGeom prst="roundRect">
            <a:avLst/>
          </a:prstGeom>
          <a:solidFill>
            <a:srgbClr val="2E86A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Operations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• Manufacturing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49040" y="4114800"/>
            <a:ext cx="1645920" cy="1371600"/>
          </a:xfrm>
          <a:prstGeom prst="roundRect">
            <a:avLst/>
          </a:prstGeom>
          <a:solidFill>
            <a:srgbClr val="2E86A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Outbound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• Distribution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0" y="4114800"/>
            <a:ext cx="1645920" cy="1371600"/>
          </a:xfrm>
          <a:prstGeom prst="roundRect">
            <a:avLst/>
          </a:prstGeom>
          <a:solidFill>
            <a:srgbClr val="2E86A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Marketing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• Sales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4114800"/>
            <a:ext cx="1645920" cy="1371600"/>
          </a:xfrm>
          <a:prstGeom prst="roundRect">
            <a:avLst/>
          </a:prstGeom>
          <a:solidFill>
            <a:srgbClr val="2E86A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Service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• Support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8229600" cy="640080"/>
          </a:xfrm>
          <a:prstGeom prst="roundRect">
            <a:avLst/>
          </a:prstGeom>
          <a:solidFill>
            <a:srgbClr val="F18F0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Infrastructure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011680"/>
            <a:ext cx="8229600" cy="640080"/>
          </a:xfrm>
          <a:prstGeom prst="roundRect">
            <a:avLst/>
          </a:prstGeom>
          <a:solidFill>
            <a:srgbClr val="F18F0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HR Management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51760"/>
            <a:ext cx="8229600" cy="640080"/>
          </a:xfrm>
          <a:prstGeom prst="roundRect">
            <a:avLst/>
          </a:prstGeom>
          <a:solidFill>
            <a:srgbClr val="F18F0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Technology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291840"/>
            <a:ext cx="8229600" cy="640080"/>
          </a:xfrm>
          <a:prstGeom prst="roundRect">
            <a:avLst/>
          </a:prstGeom>
          <a:solidFill>
            <a:srgbClr val="F18F0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Procurement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 Canvas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011680" cy="4114800"/>
          </a:xfrm>
          <a:prstGeom prst="roundRect">
            <a:avLst/>
          </a:prstGeom>
          <a:solidFill>
            <a:srgbClr val="F18F0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Key Partners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• Suppliers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1371600"/>
            <a:ext cx="2011680" cy="2011680"/>
          </a:xfrm>
          <a:prstGeom prst="roundRect">
            <a:avLst/>
          </a:prstGeom>
          <a:solidFill>
            <a:srgbClr val="2E86A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Key Activities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• Production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3474720"/>
            <a:ext cx="2011680" cy="2011680"/>
          </a:xfrm>
          <a:prstGeom prst="roundRect">
            <a:avLst/>
          </a:prstGeom>
          <a:solidFill>
            <a:srgbClr val="2E86A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Key Resources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• Factory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371600"/>
            <a:ext cx="2011680" cy="4114800"/>
          </a:xfrm>
          <a:prstGeom prst="roundRect">
            <a:avLst/>
          </a:prstGeom>
          <a:solidFill>
            <a:srgbClr val="C73E1D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Value Propositions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• Quality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1371600"/>
            <a:ext cx="2011680" cy="2011680"/>
          </a:xfrm>
          <a:prstGeom prst="roundRect">
            <a:avLst/>
          </a:prstGeom>
          <a:solidFill>
            <a:srgbClr val="6A994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Customer Relationships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• Personal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3474720"/>
            <a:ext cx="2011680" cy="2011680"/>
          </a:xfrm>
          <a:prstGeom prst="roundRect">
            <a:avLst/>
          </a:prstGeom>
          <a:solidFill>
            <a:srgbClr val="6A994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Channels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• Retail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1371600"/>
            <a:ext cx="2011680" cy="4114800"/>
          </a:xfrm>
          <a:prstGeom prst="roundRect">
            <a:avLst/>
          </a:prstGeom>
          <a:solidFill>
            <a:srgbClr val="A23B7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Customer Segments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• Mass Market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577840"/>
            <a:ext cx="4206240" cy="1280160"/>
          </a:xfrm>
          <a:prstGeom prst="roundRect">
            <a:avLst/>
          </a:prstGeom>
          <a:solidFill>
            <a:srgbClr val="96969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Cost Structure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• Fixed Costs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5577840"/>
            <a:ext cx="6217920" cy="1280160"/>
          </a:xfrm>
          <a:prstGeom prst="roundRect">
            <a:avLst/>
          </a:prstGeom>
          <a:solidFill>
            <a:srgbClr val="6A994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Revenue Streams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• Sales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McKinsey 7S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Organizational Alignment</a:t>
            </a:r>
          </a:p>
        </p:txBody>
      </p:sp>
      <p:sp>
        <p:nvSpPr>
          <p:cNvPr id="4" name="Oval 3"/>
          <p:cNvSpPr/>
          <p:nvPr/>
        </p:nvSpPr>
        <p:spPr>
          <a:xfrm>
            <a:off x="3886200" y="2743200"/>
            <a:ext cx="1371600" cy="1371600"/>
          </a:xfrm>
          <a:prstGeom prst="ellipse">
            <a:avLst/>
          </a:prstGeom>
          <a:solidFill>
            <a:srgbClr val="C73E1D"/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Shared</a:t>
            </a:r>
            <a:br/>
            <a:r>
              <a:t>Values</a:t>
            </a:r>
          </a:p>
        </p:txBody>
      </p:sp>
      <p:sp>
        <p:nvSpPr>
          <p:cNvPr id="5" name="Oval 4"/>
          <p:cNvSpPr/>
          <p:nvPr/>
        </p:nvSpPr>
        <p:spPr>
          <a:xfrm>
            <a:off x="3977640" y="548640"/>
            <a:ext cx="1188720" cy="1188720"/>
          </a:xfrm>
          <a:prstGeom prst="ellipse">
            <a:avLst/>
          </a:prstGeom>
          <a:solidFill>
            <a:srgbClr val="2E86AB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Strategy</a:t>
            </a:r>
          </a:p>
        </p:txBody>
      </p:sp>
      <p:sp>
        <p:nvSpPr>
          <p:cNvPr id="6" name="Oval 5"/>
          <p:cNvSpPr/>
          <p:nvPr/>
        </p:nvSpPr>
        <p:spPr>
          <a:xfrm>
            <a:off x="5957374" y="1691640"/>
            <a:ext cx="1188720" cy="1188720"/>
          </a:xfrm>
          <a:prstGeom prst="ellipse">
            <a:avLst/>
          </a:prstGeom>
          <a:solidFill>
            <a:srgbClr val="F18F01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Structure</a:t>
            </a:r>
          </a:p>
        </p:txBody>
      </p:sp>
      <p:sp>
        <p:nvSpPr>
          <p:cNvPr id="7" name="Oval 6"/>
          <p:cNvSpPr/>
          <p:nvPr/>
        </p:nvSpPr>
        <p:spPr>
          <a:xfrm>
            <a:off x="5957374" y="3977640"/>
            <a:ext cx="1188720" cy="1188720"/>
          </a:xfrm>
          <a:prstGeom prst="ellipse">
            <a:avLst/>
          </a:prstGeom>
          <a:solidFill>
            <a:srgbClr val="6A994E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Systems</a:t>
            </a:r>
          </a:p>
        </p:txBody>
      </p:sp>
      <p:sp>
        <p:nvSpPr>
          <p:cNvPr id="8" name="Oval 7"/>
          <p:cNvSpPr/>
          <p:nvPr/>
        </p:nvSpPr>
        <p:spPr>
          <a:xfrm>
            <a:off x="3977640" y="5120640"/>
            <a:ext cx="1188720" cy="1188720"/>
          </a:xfrm>
          <a:prstGeom prst="ellipse">
            <a:avLst/>
          </a:prstGeom>
          <a:solidFill>
            <a:srgbClr val="A23B72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Style</a:t>
            </a:r>
          </a:p>
        </p:txBody>
      </p:sp>
      <p:sp>
        <p:nvSpPr>
          <p:cNvPr id="9" name="Oval 8"/>
          <p:cNvSpPr/>
          <p:nvPr/>
        </p:nvSpPr>
        <p:spPr>
          <a:xfrm>
            <a:off x="1997905" y="3977640"/>
            <a:ext cx="1188720" cy="1188720"/>
          </a:xfrm>
          <a:prstGeom prst="ellipse">
            <a:avLst/>
          </a:prstGeom>
          <a:solidFill>
            <a:srgbClr val="2E86AB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Staff</a:t>
            </a:r>
          </a:p>
        </p:txBody>
      </p:sp>
      <p:sp>
        <p:nvSpPr>
          <p:cNvPr id="10" name="Oval 9"/>
          <p:cNvSpPr/>
          <p:nvPr/>
        </p:nvSpPr>
        <p:spPr>
          <a:xfrm>
            <a:off x="1997905" y="1691640"/>
            <a:ext cx="1188720" cy="1188720"/>
          </a:xfrm>
          <a:prstGeom prst="ellipse">
            <a:avLst/>
          </a:prstGeom>
          <a:solidFill>
            <a:srgbClr val="F18F01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Skills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Decision Making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0" y="1828800"/>
            <a:ext cx="1463040" cy="548640"/>
          </a:xfrm>
          <a:prstGeom prst="rect">
            <a:avLst/>
          </a:prstGeom>
          <a:solidFill>
            <a:srgbClr val="2E86AB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Launch?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1828800" y="2377440"/>
            <a:ext cx="2743200" cy="128016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280160" y="3657600"/>
            <a:ext cx="1097280" cy="731520"/>
          </a:xfrm>
          <a:prstGeom prst="ellipse">
            <a:avLst/>
          </a:prstGeom>
          <a:solidFill>
            <a:srgbClr val="6A994E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Yes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0" y="2377440"/>
            <a:ext cx="2743200" cy="128016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766560" y="3657600"/>
            <a:ext cx="1097280" cy="731520"/>
          </a:xfrm>
          <a:prstGeom prst="ellipse">
            <a:avLst/>
          </a:prstGeom>
          <a:solidFill>
            <a:srgbClr val="6A994E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Lean Canvas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Lean Startup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011680" cy="2011680"/>
          </a:xfrm>
          <a:prstGeom prst="roundRect">
            <a:avLst/>
          </a:prstGeom>
          <a:solidFill>
            <a:srgbClr val="C73E1D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Problem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• Inefficiency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474720"/>
            <a:ext cx="2011680" cy="2011680"/>
          </a:xfrm>
          <a:prstGeom prst="roundRect">
            <a:avLst/>
          </a:prstGeom>
          <a:solidFill>
            <a:srgbClr val="6A994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Solution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• Automation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1371600"/>
            <a:ext cx="2011680" cy="2011680"/>
          </a:xfrm>
          <a:prstGeom prst="roundRect">
            <a:avLst/>
          </a:prstGeom>
          <a:solidFill>
            <a:srgbClr val="F18F0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Key Metrics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• DAU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3474720"/>
            <a:ext cx="2011680" cy="2011680"/>
          </a:xfrm>
          <a:prstGeom prst="roundRect">
            <a:avLst/>
          </a:prstGeom>
          <a:solidFill>
            <a:srgbClr val="A23B7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Unfair Advantage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• 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371600"/>
            <a:ext cx="2011680" cy="4114800"/>
          </a:xfrm>
          <a:prstGeom prst="roundRect">
            <a:avLst/>
          </a:prstGeom>
          <a:solidFill>
            <a:srgbClr val="2E86A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Unique Value Proposition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• Speed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1371600"/>
            <a:ext cx="2011680" cy="2011680"/>
          </a:xfrm>
          <a:prstGeom prst="roundRect">
            <a:avLst/>
          </a:prstGeom>
          <a:solidFill>
            <a:srgbClr val="6A994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Channels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• Web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3474720"/>
            <a:ext cx="2011680" cy="2011680"/>
          </a:xfrm>
          <a:prstGeom prst="roundRect">
            <a:avLst/>
          </a:prstGeom>
          <a:solidFill>
            <a:srgbClr val="F18F0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Customer Segments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• Startups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577840"/>
            <a:ext cx="4206240" cy="1280160"/>
          </a:xfrm>
          <a:prstGeom prst="roundRect">
            <a:avLst/>
          </a:prstGeom>
          <a:solidFill>
            <a:srgbClr val="96969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Cost Structure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• Hosting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5577840"/>
            <a:ext cx="4206240" cy="1280160"/>
          </a:xfrm>
          <a:prstGeom prst="roundRect">
            <a:avLst/>
          </a:prstGeom>
          <a:solidFill>
            <a:srgbClr val="6A994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Revenue Streams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• Subscription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9-Box Grid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Talent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2560320" cy="1645920"/>
          </a:xfrm>
          <a:prstGeom prst="rect">
            <a:avLst/>
          </a:prstGeom>
          <a:solidFill>
            <a:srgbClr val="F18F0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Enigma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371600"/>
            <a:ext cx="2560320" cy="1645920"/>
          </a:xfrm>
          <a:prstGeom prst="rect">
            <a:avLst/>
          </a:prstGeom>
          <a:solidFill>
            <a:srgbClr val="6A994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High Potential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1371600"/>
            <a:ext cx="2560320" cy="1645920"/>
          </a:xfrm>
          <a:prstGeom prst="rect">
            <a:avLst/>
          </a:prstGeom>
          <a:solidFill>
            <a:srgbClr val="2E86A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Stars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• Alice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017520"/>
            <a:ext cx="2560320" cy="1645920"/>
          </a:xfrm>
          <a:prstGeom prst="rect">
            <a:avLst/>
          </a:prstGeom>
          <a:solidFill>
            <a:srgbClr val="C73E1D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Inconsistent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3017520"/>
            <a:ext cx="2560320" cy="1645920"/>
          </a:xfrm>
          <a:prstGeom prst="rect">
            <a:avLst/>
          </a:prstGeom>
          <a:solidFill>
            <a:srgbClr val="96969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Solid Performers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3017520"/>
            <a:ext cx="2560320" cy="1645920"/>
          </a:xfrm>
          <a:prstGeom prst="rect">
            <a:avLst/>
          </a:prstGeom>
          <a:solidFill>
            <a:srgbClr val="6A994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Core Players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• Bob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663440"/>
            <a:ext cx="2560320" cy="1645920"/>
          </a:xfrm>
          <a:prstGeom prst="rect">
            <a:avLst/>
          </a:prstGeom>
          <a:solidFill>
            <a:srgbClr val="C73E1D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Low Performers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• Charlie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4663440"/>
            <a:ext cx="2560320" cy="1645920"/>
          </a:xfrm>
          <a:prstGeom prst="rect">
            <a:avLst/>
          </a:prstGeom>
          <a:solidFill>
            <a:srgbClr val="96969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Effective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4663440"/>
            <a:ext cx="2560320" cy="1645920"/>
          </a:xfrm>
          <a:prstGeom prst="rect">
            <a:avLst/>
          </a:prstGeom>
          <a:solidFill>
            <a:srgbClr val="6A994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Trusted Professionals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40080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Performance 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" y="1371600"/>
            <a:ext cx="548640" cy="4937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200" b="1"/>
            </a:pPr>
            <a:r>
              <a:t>Potential 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FTE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Workforce Planning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3200400"/>
            <a:ext cx="1097280" cy="1371600"/>
          </a:xfrm>
          <a:prstGeom prst="rect">
            <a:avLst/>
          </a:prstGeom>
          <a:solidFill>
            <a:srgbClr val="2E86AB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5.0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2651760"/>
            <a:ext cx="1097280" cy="1920239"/>
          </a:xfrm>
          <a:prstGeom prst="rect">
            <a:avLst/>
          </a:prstGeom>
          <a:solidFill>
            <a:srgbClr val="C73E1D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237744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7.0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6634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Dept A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1828800"/>
            <a:ext cx="1097280" cy="2743200"/>
          </a:xfrm>
          <a:prstGeom prst="rect">
            <a:avLst/>
          </a:prstGeom>
          <a:solidFill>
            <a:srgbClr val="2E86AB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155448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10.0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2377440"/>
            <a:ext cx="1097280" cy="2194560"/>
          </a:xfrm>
          <a:prstGeom prst="rect">
            <a:avLst/>
          </a:prstGeom>
          <a:solidFill>
            <a:srgbClr val="969696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21031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8.0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46634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Dept 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914400"/>
            <a:ext cx="274320" cy="274320"/>
          </a:xfrm>
          <a:prstGeom prst="rect">
            <a:avLst/>
          </a:prstGeom>
          <a:solidFill>
            <a:srgbClr val="2E86AB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9144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Current FTE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914400"/>
            <a:ext cx="274320" cy="274320"/>
          </a:xfrm>
          <a:prstGeom prst="rect">
            <a:avLst/>
          </a:prstGeom>
          <a:solidFill>
            <a:srgbClr val="C73E1D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9144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Required FTE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AHP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Decision Hierarchy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371600"/>
            <a:ext cx="2743200" cy="731520"/>
          </a:xfrm>
          <a:prstGeom prst="roundRect">
            <a:avLst/>
          </a:prstGeom>
          <a:solidFill>
            <a:srgbClr val="2E86AB"/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Select Vendor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200400"/>
            <a:ext cx="1389888" cy="548640"/>
          </a:xfrm>
          <a:prstGeom prst="roundRect">
            <a:avLst/>
          </a:prstGeom>
          <a:solidFill>
            <a:srgbClr val="F18F01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Cost</a:t>
            </a:r>
            <a:br/>
            <a:r>
              <a:t>40%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609344.0" y="2103120"/>
            <a:ext cx="2962656.0" cy="109728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0" y="3200400"/>
            <a:ext cx="1536192" cy="548640"/>
          </a:xfrm>
          <a:prstGeom prst="roundRect">
            <a:avLst/>
          </a:prstGeom>
          <a:solidFill>
            <a:srgbClr val="F18F01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Quality</a:t>
            </a:r>
            <a:br/>
            <a:r>
              <a:t>60%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0" y="2103120"/>
            <a:ext cx="768096.0" cy="109728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371600" y="5029200"/>
            <a:ext cx="1883664" cy="548640"/>
          </a:xfrm>
          <a:prstGeom prst="roundRect">
            <a:avLst/>
          </a:prstGeom>
          <a:solidFill>
            <a:srgbClr val="6A994E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Vendor A</a:t>
            </a:r>
            <a:br/>
            <a:r>
              <a:t>70%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5029200"/>
            <a:ext cx="1591056" cy="548640"/>
          </a:xfrm>
          <a:prstGeom prst="roundRect">
            <a:avLst/>
          </a:prstGeom>
          <a:solidFill>
            <a:srgbClr val="6A994E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Vendor B</a:t>
            </a:r>
            <a:br/>
            <a:r>
              <a:t>30%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OCAI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Culture Assessment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914400"/>
            <a:ext cx="2743200" cy="2743200"/>
          </a:xfrm>
          <a:prstGeom prst="rect">
            <a:avLst/>
          </a:prstGeom>
          <a:solidFill>
            <a:srgbClr val="6A994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109728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23232"/>
                </a:solidFill>
              </a:defRPr>
            </a:pPr>
            <a:r>
              <a:t>Clan</a:t>
            </a:r>
            <a:br/>
            <a:r>
              <a:t>30%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914400"/>
            <a:ext cx="2743200" cy="2743200"/>
          </a:xfrm>
          <a:prstGeom prst="rect">
            <a:avLst/>
          </a:prstGeom>
          <a:solidFill>
            <a:srgbClr val="F18F0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109728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23232"/>
                </a:solidFill>
              </a:defRPr>
            </a:pPr>
            <a:r>
              <a:t>Adhocracy</a:t>
            </a:r>
            <a:br/>
            <a:r>
              <a:t>40%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3657600"/>
            <a:ext cx="2743200" cy="2743200"/>
          </a:xfrm>
          <a:prstGeom prst="rect">
            <a:avLst/>
          </a:prstGeom>
          <a:solidFill>
            <a:srgbClr val="C73E1D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384048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23232"/>
                </a:solidFill>
              </a:defRPr>
            </a:pPr>
            <a:r>
              <a:t>Market</a:t>
            </a:r>
            <a:br/>
            <a:r>
              <a:t>20%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3657600"/>
            <a:ext cx="2743200" cy="2743200"/>
          </a:xfrm>
          <a:prstGeom prst="rect">
            <a:avLst/>
          </a:prstGeom>
          <a:solidFill>
            <a:srgbClr val="2E86A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384048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23232"/>
                </a:solidFill>
              </a:defRPr>
            </a:pPr>
            <a:r>
              <a:t>Hierarchy</a:t>
            </a:r>
            <a:br/>
            <a:r>
              <a:t>10%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0" y="3200400"/>
            <a:ext cx="914400" cy="914400"/>
          </a:xfrm>
          <a:prstGeom prst="ellipse">
            <a:avLst/>
          </a:prstGeom>
          <a:solidFill>
            <a:srgbClr val="FFFFFF"/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OCAI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