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Welcome to my presentation on the Future of Space Exploration: Reaching for the Stars. </a:t>
            </a:r>
          </a:p>
          <a:p/>
          <a:p>
            <a:r>
              <a:t>*   **A Brief History:** We'll begin with a quick recap of where we've been. Starting with the launch of Sputnik in 1957, which kicked off the space race, to the monumental achievements of the Apollo program, and culminating in the collaborative effort of the International Space Station, a testament to international cooperation. This history provides the foundation for understanding our current trajectory.</a:t>
            </a:r>
          </a:p>
          <a:p/>
          <a:p>
            <a:r>
              <a:t>*   **Why Explore?:** Next, we'll discuss the fundamental motivations behind space exploration. It's not just about adventure; it's about the profound scientific discoveries waiting to be made, the potential for accessing resources that could benefit humanity, and most importantly, inspiring future generations of scientists, engineers, and dreamers to push the boundaries of what's possible. Briefly touch on specific examples like asteroid mining or searching for extraterrestrial life.</a:t>
            </a:r>
          </a:p>
          <a:p/>
          <a:p>
            <a:r>
              <a:t>*   **Today's Landscape:** We'll then examine the current state of space exploration, highlighting the evolving roles of government agencies like NASA and ESA, and the increasingly significant contributions of private companies such as SpaceX, Blue Origin, and Virgin Galactic. This is a dynamic and rapidly changing landscape with both competition and collaboration.</a:t>
            </a:r>
          </a:p>
          <a:p/>
          <a:p>
            <a:r>
              <a:t>*   **Looking Ahead:** Finally, we'll preview what's to come. We will explore the groundbreaking technologies under development, such as advanced propulsion systems and habitat construction. We'll look at potential destinations, like returning to the Moon, establishing a permanent presence on Mars, and even venturing beyond our solar system. And, of course, we'll acknowledge the significant challenges that lie ahead, from funding and technological hurdles to the ethical considerations of space colonization. This presentation aims to give you an overview of where we are and where we might be heading.</a:t>
            </a:r>
          </a:p>
          <a:p/>
          <a:p>
            <a:r>
              <a:t>Let's begin.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the key technologies that will propel us into the future of space exploration. </a:t>
            </a:r>
          </a:p>
          <a:p/>
          <a:p>
            <a:r>
              <a:t>*   **Advanced Propulsion:** Chemical rockets are limiting. Ion drives offer high efficiency but low thrust. Fusion and antimatter propulsion represent the 'holy grail,' offering potentially game-changing speed and range. Briefly mention the challenges involved (e.g., energy requirements, safety, technological hurdles).</a:t>
            </a:r>
          </a:p>
          <a:p/>
          <a:p>
            <a:r>
              <a:t>*   **Robotics &amp; AI:** Human presence in space is costly and risky. Autonomous rovers and AI can explore dangerous environments, build habitats, and maintain infrastructure. Highlight the role of AI in analyzing vast amounts of data collected by space probes and telescopes. Give examples: autonomous asteroid mining, self-repairing habitats, AI-powered mission planning.</a:t>
            </a:r>
          </a:p>
          <a:p/>
          <a:p>
            <a:r>
              <a:t>*   **Advanced Materials:** Space is harsh. We need lightweight, durable materials that can withstand extreme temperatures, radiation, and micrometeoroid impacts. Self-healing materials will extend the lifespan of spacecraft and habitats. Radiation shielding is critical for protecting astronauts. Example: composite materials with embedded sensors for damage detection.</a:t>
            </a:r>
          </a:p>
          <a:p/>
          <a:p>
            <a:r>
              <a:t>*   **In-Situ Resource Utilization (ISRU):** Transporting resources from Earth is expensive. ISRU involves extracting water, oxygen, metals, and other resources from asteroids, the Moon, and Mars. This will be essential for establishing sustainable settlements and fueling deep-space missions. Example: extracting water ice from lunar polar regions and converting it into rocket propellant.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Okay, let's look beyond Earth orbit at some of our potential destinations. </a:t>
            </a:r>
          </a:p>
          <a:p/>
          <a:p>
            <a:r>
              <a:t>First, the **Moon:** Our nearest neighbor is a prime location for establishing a permanent base. This would serve as a hub for research, allowing us to study lunar geology, conduct astronomical observations without atmospheric interference, and develop technologies for living and working in space. Importantly, it also allows us to exploit lunar resources, like water ice which can be used for fuel and life support.</a:t>
            </a:r>
          </a:p>
          <a:p/>
          <a:p>
            <a:r>
              <a:t>Next, **Mars:** The red planet is arguably the most talked-about destination. We're actively searching for signs of past or present life, assessing its potential for terraforming, and planning to establish a permanent human settlement. The challenges are significant, but the potential rewards are immense.</a:t>
            </a:r>
          </a:p>
          <a:p/>
          <a:p>
            <a:r>
              <a:t>Moving further out, **Asteroid Mining** presents a unique opportunity. The asteroid belt is rich in valuable resources, including rare metals and water. Extracting these resources could revolutionize space exploration and even benefit industries on Earth.</a:t>
            </a:r>
          </a:p>
          <a:p/>
          <a:p>
            <a:r>
              <a:t>Looking at the outer solar system, the icy moons **Europa and Enceladus** are compelling targets because of their subsurface oceans. These oceans are thought to harbor conditions suitable for life, making them high-priority targets for future missions.</a:t>
            </a:r>
          </a:p>
          <a:p/>
          <a:p>
            <a:r>
              <a:t>Finally, the ultimate long-term goal is **Interstellar Travel**. Reaching other star systems is an incredibly ambitious undertaking, requiring breakthroughs in propulsion technology and life support systems. However, it represents the pinnacle of human exploration and the continuation of our species beyond our solar system. We're talking about theoretical research now, but it is important to remember that all of these destinations seemed impossible at some point. Space is a journey, and each step prepares us for the next.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the significant challenges we face as we push the boundaries of space exploration. </a:t>
            </a:r>
          </a:p>
          <a:p/>
          <a:p>
            <a:r>
              <a:t>*   **High Costs:** Emphasize that space exploration isn't cheap. Discuss the need for innovative funding models like public-private partnerships and resource utilization from space. Mention the importance of justifying these costs to taxpayers and demonstrating tangible benefits.</a:t>
            </a:r>
          </a:p>
          <a:p/>
          <a:p>
            <a:r>
              <a:t>*   **Technological Hurdles:** Go into detail about specific technological hurdles, such as developing efficient and reliable radiation shielding for long-duration missions, creating closed-loop life support systems to minimize resource dependence, and managing extreme temperature variations in space. Showcase examples of ongoing research and development efforts.</a:t>
            </a:r>
          </a:p>
          <a:p/>
          <a:p>
            <a:r>
              <a:t>*   **Ethical Dilemmas:** Discuss the importance of planetary protection to avoid contaminating other celestial bodies with Earth-based organisms. Debate the ethical considerations surrounding resource extraction on the Moon or Mars. Address the potential impact of human activities on hypothetical extraterrestrial life and the need for responsible exploration.</a:t>
            </a:r>
          </a:p>
          <a:p/>
          <a:p>
            <a:r>
              <a:t>*   **Political &amp; Social Will:** Explain the importance of maintaining public interest and securing long-term political support for space programs. Highlight the benefits of space exploration, such as scientific discoveries, technological advancements, and economic opportunities. Discuss the role of education and outreach in fostering a pro-space culture.</a:t>
            </a:r>
          </a:p>
          <a:p/>
          <a:p>
            <a:r>
              <a:t>*   **International Cooperation:** Emphasize the benefits of international collaboration, such as pooling resources, sharing expertise, and reducing duplication of effort. Provide examples of successful international space missions, such as the International Space Station. Discuss the importance of establishing common standards and protocols to ensure interoperability and compatibility across different space agencies.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conclude, let's reflect on the incredible journey we've discussed today. We've seen how rapid advancements in technology – from reusable rockets to advanced life support systems – are opening up new destinations, but also creating significant challenges in terms of funding, ethics, and planetary protection. (Point 1 elaboration: Emphasize the breakthroughs are what's making the 'Space X' or 'Blue Origin' type of missions possible, and how it differs from Apollo.)</a:t>
            </a:r>
          </a:p>
          <a:p/>
          <a:p>
            <a:r>
              <a:t>More than just reaching new worlds, space exploration has transformative potential. It's a powerful engine for scientific discovery, pushing the boundaries of our understanding of the universe and our place within it. It also spurs economic growth through the development of new technologies and industries. And perhaps most importantly, it inspires future generations to pursue careers in STEM fields and to dream big about what's possible. (Point 2 elaboration: Provide quick examples: Asteroid mining creating rare metal industry, discovering new chemical elements creating new materials, medical breakthroughs by studying effects of space on body.)</a:t>
            </a:r>
          </a:p>
          <a:p/>
          <a:p>
            <a:r>
              <a:t>This journey isn't just for scientists and engineers. It's a collective endeavor. We all have a role to play. I encourage you to support space exploration through education – staying informed about the latest developments. Advocate for policies that prioritize space research and exploration. And participate in citizen science projects or support organizations that are working to make space accessible to everyone. (Point 3 elaboration: provide examples like Zooniverse for citizen science. Encourage involvement from all fields, not just STEM, e.g. artists depicting space exploration).</a:t>
            </a:r>
          </a:p>
          <a:p/>
          <a:p>
            <a:r>
              <a:t>Ultimately, the future of humanity is inextricably linked to our exploration of space. By venturing beyond our planet, we not only expand our knowledge and resources but also gain a deeper understanding of ourselves and our place in the cosmos.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itle 1"/>
          <p:cNvSpPr>
            <a:spLocks noGrp="1"/>
          </p:cNvSpPr>
          <p:nvPr>
            <p:ph type="ctrTitle"/>
          </p:nvPr>
        </p:nvSpPr>
        <p:spPr/>
        <p:txBody>
          <a:bodyPr/>
          <a:lstStyle/>
          <a:p>
            <a:pPr>
              <a:defRPr>
                <a:solidFill>
                  <a:srgbClr val="00FFFF"/>
                </a:solidFill>
                <a:latin typeface="Arial"/>
              </a:defRPr>
            </a:pPr>
            <a:r>
              <a:t>Introduction: Reaching for the Stars</a:t>
            </a:r>
          </a:p>
        </p:txBody>
      </p:sp>
      <p:sp>
        <p:nvSpPr>
          <p:cNvPr id="3" name="Subtitle 2"/>
          <p:cNvSpPr>
            <a:spLocks noGrp="1"/>
          </p:cNvSpPr>
          <p:nvPr>
            <p:ph type="subTitle" idx="1"/>
          </p:nvPr>
        </p:nvSpPr>
        <p:spPr/>
        <p:txBody>
          <a:bodyPr/>
          <a:lstStyle/>
          <a:p>
            <a:pPr>
              <a:defRPr>
                <a:solidFill>
                  <a:srgbClr val="C8C8C8"/>
                </a:solidFill>
                <a:latin typeface="Arial"/>
              </a:defRPr>
            </a:pPr>
            <a:r>
              <a:t>A Brief History: Sputnik ignited the space race, culminating in the International Space Station (ISS).</a:t>
            </a:r>
          </a:p>
          <a:p>
            <a:pPr lvl="1">
              <a:defRPr>
                <a:solidFill>
                  <a:srgbClr val="C8C8C8"/>
                </a:solidFill>
                <a:latin typeface="Arial"/>
              </a:defRPr>
            </a:pPr>
            <a:r>
              <a:t>Why Explore? Unlocking scientific breakthroughs, accessing vital resources, and inspiring innovation.</a:t>
            </a:r>
          </a:p>
          <a:p>
            <a:pPr lvl="1">
              <a:defRPr>
                <a:solidFill>
                  <a:srgbClr val="C8C8C8"/>
                </a:solidFill>
                <a:latin typeface="Arial"/>
              </a:defRPr>
            </a:pPr>
            <a:r>
              <a:t>Today's Landscape: A dynamic blend of government-led programs and rapidly expanding private sector ventures.</a:t>
            </a:r>
          </a:p>
          <a:p>
            <a:pPr lvl="1">
              <a:defRPr>
                <a:solidFill>
                  <a:srgbClr val="C8C8C8"/>
                </a:solidFill>
                <a:latin typeface="Arial"/>
              </a:defRPr>
            </a:pPr>
            <a:r>
              <a:t>Looking Ahead: Future technologies, target destinations, and the hurdles we must overcome.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FFFF"/>
                </a:solidFill>
                <a:latin typeface="Arial"/>
              </a:defRPr>
            </a:pPr>
            <a:r>
              <a:t>Key Technologies Shaping the Future</a:t>
            </a:r>
          </a:p>
        </p:txBody>
      </p:sp>
      <p:sp>
        <p:nvSpPr>
          <p:cNvPr id="3" name="Content Placeholder 2"/>
          <p:cNvSpPr>
            <a:spLocks noGrp="1"/>
          </p:cNvSpPr>
          <p:nvPr>
            <p:ph idx="1"/>
          </p:nvPr>
        </p:nvSpPr>
        <p:spPr/>
        <p:txBody>
          <a:bodyPr/>
          <a:lstStyle/>
          <a:p>
            <a:pPr>
              <a:defRPr>
                <a:solidFill>
                  <a:srgbClr val="C8C8C8"/>
                </a:solidFill>
                <a:latin typeface="Arial"/>
              </a:defRPr>
            </a:pPr>
            <a:r>
              <a:t>**Advanced Propulsion:** Breaking free from chemical rockets – Ion, Fusion, Antimatter.</a:t>
            </a:r>
          </a:p>
          <a:p>
            <a:pPr lvl="1">
              <a:defRPr>
                <a:solidFill>
                  <a:srgbClr val="C8C8C8"/>
                </a:solidFill>
                <a:latin typeface="Arial"/>
              </a:defRPr>
            </a:pPr>
            <a:r>
              <a:t>**Robotics &amp; AI:** Autonomous exploration, in-space construction, intelligent data processing.</a:t>
            </a:r>
          </a:p>
          <a:p>
            <a:pPr lvl="1">
              <a:defRPr>
                <a:solidFill>
                  <a:srgbClr val="C8C8C8"/>
                </a:solidFill>
                <a:latin typeface="Arial"/>
              </a:defRPr>
            </a:pPr>
            <a:r>
              <a:t>**Advanced Materials:** Lightweight, self-healing, and radiation-resistant for extreme environments.</a:t>
            </a:r>
          </a:p>
          <a:p>
            <a:pPr lvl="1">
              <a:defRPr>
                <a:solidFill>
                  <a:srgbClr val="C8C8C8"/>
                </a:solidFill>
                <a:latin typeface="Arial"/>
              </a:defRPr>
            </a:pPr>
            <a:r>
              <a:t>**In-Situ Resource Utilization (ISRU):** Living off the land – extracting resources on other worlds.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0000"/>
                </a:solidFill>
                <a:latin typeface="Calibri"/>
              </a:defRPr>
            </a:pPr>
            <a:r>
              <a:t>Destinations: Beyond Earth Orbit</a:t>
            </a:r>
          </a:p>
        </p:txBody>
      </p:sp>
      <p:sp>
        <p:nvSpPr>
          <p:cNvPr id="3" name="Content Placeholder 2"/>
          <p:cNvSpPr>
            <a:spLocks noGrp="1"/>
          </p:cNvSpPr>
          <p:nvPr>
            <p:ph idx="1"/>
          </p:nvPr>
        </p:nvSpPr>
        <p:spPr/>
        <p:txBody>
          <a:bodyPr/>
          <a:lstStyle/>
          <a:p>
            <a:pPr>
              <a:defRPr>
                <a:solidFill>
                  <a:srgbClr val="595959"/>
                </a:solidFill>
                <a:latin typeface="Calibri"/>
              </a:defRPr>
            </a:pPr>
            <a:r>
              <a:t>**Lunar Base:** Permanent presence for research &amp; resource extraction.</a:t>
            </a:r>
          </a:p>
          <a:p>
            <a:pPr lvl="1">
              <a:defRPr>
                <a:solidFill>
                  <a:srgbClr val="595959"/>
                </a:solidFill>
                <a:latin typeface="Calibri"/>
              </a:defRPr>
            </a:pPr>
            <a:r>
              <a:t>**Mars Colonization:** Search for life, terraforming potential, human settlement.</a:t>
            </a:r>
          </a:p>
          <a:p>
            <a:pPr lvl="1">
              <a:defRPr>
                <a:solidFill>
                  <a:srgbClr val="595959"/>
                </a:solidFill>
                <a:latin typeface="Calibri"/>
              </a:defRPr>
            </a:pPr>
            <a:r>
              <a:t>**Asteroid Mining:** Extracting valuable resources in the asteroid belt.</a:t>
            </a:r>
          </a:p>
          <a:p>
            <a:pPr lvl="1">
              <a:defRPr>
                <a:solidFill>
                  <a:srgbClr val="595959"/>
                </a:solidFill>
                <a:latin typeface="Calibri"/>
              </a:defRPr>
            </a:pPr>
            <a:r>
              <a:t>**Ocean Worlds (Europa/Enceladus):** Investigating subsurface oceans for life.</a:t>
            </a:r>
          </a:p>
          <a:p>
            <a:pPr lvl="1">
              <a:defRPr>
                <a:solidFill>
                  <a:srgbClr val="595959"/>
                </a:solidFill>
                <a:latin typeface="Calibri"/>
              </a:defRPr>
            </a:pPr>
            <a:r>
              <a:t>**Interstellar Ambitions:** Long-term goal: Reaching other star systems.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FFFF"/>
                </a:solidFill>
                <a:latin typeface="Arial"/>
              </a:defRPr>
            </a:pPr>
            <a:r>
              <a:t>Challenges and Considerations</a:t>
            </a:r>
          </a:p>
        </p:txBody>
      </p:sp>
      <p:sp>
        <p:nvSpPr>
          <p:cNvPr id="3" name="Content Placeholder 2"/>
          <p:cNvSpPr>
            <a:spLocks noGrp="1"/>
          </p:cNvSpPr>
          <p:nvPr>
            <p:ph idx="1"/>
          </p:nvPr>
        </p:nvSpPr>
        <p:spPr/>
        <p:txBody>
          <a:bodyPr/>
          <a:lstStyle/>
          <a:p>
            <a:pPr>
              <a:defRPr>
                <a:solidFill>
                  <a:srgbClr val="C8C8C8"/>
                </a:solidFill>
                <a:latin typeface="Arial"/>
              </a:defRPr>
            </a:pPr>
            <a:r>
              <a:t>**High Costs:** Astronomical budgets demand careful prioritization and innovative funding models. Space exploration requires a sustained, significant financial commitment.</a:t>
            </a:r>
          </a:p>
          <a:p>
            <a:pPr lvl="1">
              <a:defRPr>
                <a:solidFill>
                  <a:srgbClr val="C8C8C8"/>
                </a:solidFill>
                <a:latin typeface="Arial"/>
              </a:defRPr>
            </a:pPr>
            <a:r>
              <a:t>**Technological Hurdles:** Radiation shielding, extreme temperature management, and closed-loop life support systems are critical for long-duration missions beyond Earth's protective environment.</a:t>
            </a:r>
          </a:p>
          <a:p>
            <a:pPr lvl="1">
              <a:defRPr>
                <a:solidFill>
                  <a:srgbClr val="C8C8C8"/>
                </a:solidFill>
                <a:latin typeface="Arial"/>
              </a:defRPr>
            </a:pPr>
            <a:r>
              <a:t>**Ethical Dilemmas:** Planetary protection protocols, resource utilization rights on celestial bodies, and potential impacts on hypothetical extraterrestrial life forms require proactive ethical frameworks.</a:t>
            </a:r>
          </a:p>
          <a:p>
            <a:pPr lvl="1">
              <a:defRPr>
                <a:solidFill>
                  <a:srgbClr val="C8C8C8"/>
                </a:solidFill>
                <a:latin typeface="Arial"/>
              </a:defRPr>
            </a:pPr>
            <a:r>
              <a:t>**Political &amp; Social Will:** Sustained public support and long-term political backing are essential for overcoming funding fluctuations and ensuring the continuity of ambitious space programs.</a:t>
            </a:r>
          </a:p>
          <a:p>
            <a:pPr lvl="1">
              <a:defRPr>
                <a:solidFill>
                  <a:srgbClr val="C8C8C8"/>
                </a:solidFill>
                <a:latin typeface="Arial"/>
              </a:defRPr>
            </a:pPr>
            <a:r>
              <a:t>**International Cooperation:** Complex missions necessitate collaborative partnerships, resource sharing, and standardized protocols across nations to maximize efficiency and minimize duplication of effort.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FFFF"/>
                </a:solidFill>
                <a:latin typeface="Arial"/>
              </a:defRPr>
            </a:pPr>
            <a:r>
              <a:t>Conclusion: A Future Among the Stars</a:t>
            </a:r>
          </a:p>
        </p:txBody>
      </p:sp>
      <p:sp>
        <p:nvSpPr>
          <p:cNvPr id="3" name="Content Placeholder 2"/>
          <p:cNvSpPr>
            <a:spLocks noGrp="1"/>
          </p:cNvSpPr>
          <p:nvPr>
            <p:ph idx="1"/>
          </p:nvPr>
        </p:nvSpPr>
        <p:spPr/>
        <p:txBody>
          <a:bodyPr/>
          <a:lstStyle/>
          <a:p>
            <a:pPr>
              <a:defRPr>
                <a:solidFill>
                  <a:srgbClr val="C8C8C8"/>
                </a:solidFill>
                <a:latin typeface="Arial"/>
              </a:defRPr>
            </a:pPr>
            <a:r>
              <a:t>**Advancements, Destinations, Challenges:** We're poised for a space exploration renaissance, facing both immense hurdles and incredible opportunities.</a:t>
            </a:r>
          </a:p>
          <a:p>
            <a:pPr lvl="1">
              <a:defRPr>
                <a:solidFill>
                  <a:srgbClr val="C8C8C8"/>
                </a:solidFill>
                <a:latin typeface="Arial"/>
              </a:defRPr>
            </a:pPr>
            <a:r>
              <a:t>**Transformative Potential:** Space exploration drives scientific breakthroughs, fuels economic growth, and ignites the imagination of future generations.</a:t>
            </a:r>
          </a:p>
          <a:p>
            <a:pPr lvl="1">
              <a:defRPr>
                <a:solidFill>
                  <a:srgbClr val="C8C8C8"/>
                </a:solidFill>
                <a:latin typeface="Arial"/>
              </a:defRPr>
            </a:pPr>
            <a:r>
              <a:t>**Your Role:** Support space exploration through learning, advocacy, and active participation in the journey.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