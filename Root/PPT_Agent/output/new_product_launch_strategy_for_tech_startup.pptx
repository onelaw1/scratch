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thank you for joining us. My name is [Speaker Name], and I'm the [Speaker Title]. Joining me today are [Team Member 1 Name], our [Team Member 1 Title], and [Team Member 2 Name], our [Team Member 2 Title]. We're incredibly excited to share our new product launch strategy with you. </a:t>
            </a:r>
          </a:p>
          <a:p/>
          <a:p>
            <a:r>
              <a:t>This launch is crucial. A successful launch will position us as leaders in the [Industry/Problem] space and set the stage for significant growth. We understand the weight of this moment, and we’re confident in the strategy we’ve developed. </a:t>
            </a:r>
          </a:p>
          <a:p/>
          <a:p>
            <a:r>
              <a:t>Today, we’re thrilled to formally introduce [Product Name] – a revolutionary solution designed to revolutionize [Industry/Problem] by providing [Core Benefit]. This product represents months of dedicated work and we truly believe it fills a critical gap in the market.</a:t>
            </a:r>
          </a:p>
          <a:p/>
          <a:p>
            <a:r>
              <a:t>Over the next [Number] minutes, we’ll walk you through our comprehensive launch strategy. We'll cover everything from execution planning to marketing strategies, sales tactics, and post-launch support. By the end of this presentation, you’ll have a clear understanding of how we plan to achieve a winning launch and secure our position as a market leader.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our market research and defines our target audience. </a:t>
            </a:r>
          </a:p>
          <a:p/>
          <a:p>
            <a:r>
              <a:t>*   **Market Needs &amp; Trends:** We identified a significant demand for AI-powered productivity tools, particularly solutions that are easy to integrate and use. The market is trending towards personalized experiences and data-driven insights. </a:t>
            </a:r>
          </a:p>
          <a:p/>
          <a:p>
            <a:r>
              <a:t>*   **Ideal Customer Profile (ICP):** Our ideal customer is a tech-savvy professional, small business owner, or knowledge worker who's actively looking to improve their efficiency. They prioritize data privacy and value personalized solutions that address their specific needs. We've characterized our ICP by demographics, psychographics, and pain points – this research is available in the appendix.</a:t>
            </a:r>
          </a:p>
          <a:p/>
          <a:p>
            <a:r>
              <a:t>*   **Key Market Segments:** We're initially focusing on early adopters in the SaaS and consulting sectors due to their high adoption rates and willingness to experiment with new technologies. We plan to expand to education and healthcare sectors as we refine our product and messaging. A detailed market segmentation analysis including TAM, SAM and SOM is included in the Appendix.</a:t>
            </a:r>
          </a:p>
          <a:p/>
          <a:p>
            <a:r>
              <a:t>*   **Competitive Landscape:** The competitive landscape is fragmented, presenting an opportunity for us to differentiate ourselves through superior AI algorithms and a focus on targeted feature sets that address unmet needs. We are not trying to boil the ocean; rather, we are addressing a specific set of user pain points exceptionally well.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go-to-market strategy, the roadmap to successfully launching and scaling our product. We are focusing on three core pillars:</a:t>
            </a:r>
          </a:p>
          <a:p/>
          <a:p>
            <a:r>
              <a:t>*   **Content Marketing:** We'll create valuable content, such as blog posts, ebooks, and webinars, to attract and educate potential customers, driving organic leads and establishing thought leadership.</a:t>
            </a:r>
          </a:p>
          <a:p>
            <a:r>
              <a:t>*   **Paid Advertising:** We'll implement targeted advertising campaigns on platforms like Google Ads and social media to reach a wider audience and generate immediate leads. We will closely monitor and optimize our campaigns for maximum ROI.</a:t>
            </a:r>
          </a:p>
          <a:p>
            <a:r>
              <a:t>*   **Strategic Partnerships:** We'll collaborate with complementary businesses and industry influencers to expand our reach and credibility.</a:t>
            </a:r>
          </a:p>
          <a:p/>
          <a:p>
            <a:r>
              <a:t>Beyond these core pillars, our marketing channel strategy involves:</a:t>
            </a:r>
          </a:p>
          <a:p/>
          <a:p>
            <a:r>
              <a:t>*   **Social Media:** We aim to boost brand awareness by 40% in the first quarter through engaging content and targeted social media campaigns.</a:t>
            </a:r>
          </a:p>
          <a:p>
            <a:r>
              <a:t>*   **SEO:** Our SEO efforts will focus on ranking for 10 key terms in the top 3 positions within the search results pages by the second quarter.</a:t>
            </a:r>
          </a:p>
          <a:p>
            <a:r>
              <a:t>*   **Email:** We'll nurture leads through targeted email campaigns, aiming for a 20% conversion rate on these campaigns.</a:t>
            </a:r>
          </a:p>
          <a:p/>
          <a:p>
            <a:r>
              <a:t>Our Sales Strategy involves:</a:t>
            </a:r>
          </a:p>
          <a:p/>
          <a:p>
            <a:r>
              <a:t>* A comprehensive sales training program, enabling our sales team to master the product and confidently sell its value.</a:t>
            </a:r>
          </a:p>
          <a:p>
            <a:r>
              <a:t>* We have streamlined CRM integration via Salesforce to track all leads generated and their conversion status.</a:t>
            </a:r>
          </a:p>
          <a:p>
            <a:r>
              <a:t>* Our dedicated customer support team will provide impeccable service with a target of 95% customer satisfaction.</a:t>
            </a:r>
          </a:p>
          <a:p/>
          <a:p>
            <a:r>
              <a:t>Finally, our Pricing and Packaging Strategy focuses on:</a:t>
            </a:r>
          </a:p>
          <a:p/>
          <a:p>
            <a:r>
              <a:t>* A tiered pricing model with Basic, Pro, and Enterprise plans. This model will enable us to reach a wide customer base and maximize revenue by ensuring that we cater to diverse customer needs.</a:t>
            </a:r>
          </a:p>
          <a:p>
            <a:r>
              <a:t>* We will also concentrate on value-based pricing and will aim for a 60% gross profit margin.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429 You exceeded your current quota, please check your plan and billing details. For more information on this error, head to: https://ai.google.dev/gemini-api/docs/rate-limits. To monitor your current usage, head to: https://ai.dev/usage?tab=rate-limit. </a:t>
            </a:r>
          </a:p>
          <a:p>
            <a:r>
              <a:t>* Quota exceeded for metric: generativelanguage.googleapis.com/generate_content_free_tier_requests, limit: 15, model: gemini-2.0-flash</a:t>
            </a:r>
          </a:p>
          <a:p>
            <a:r>
              <a:t>Please retry in 55.851055041s. [links {</a:t>
            </a:r>
          </a:p>
          <a:p>
            <a:r>
              <a:t>  description: "Learn more about Gemini API quotas"</a:t>
            </a:r>
          </a:p>
          <a:p>
            <a:r>
              <a:t>  url: "https://ai.google.dev/gemini-api/docs/rate-limits"</a:t>
            </a:r>
          </a:p>
          <a:p>
            <a:r>
              <a:t>}</a:t>
            </a:r>
          </a:p>
          <a:p>
            <a:r>
              <a:t>, violations {</a:t>
            </a:r>
          </a:p>
          <a:p>
            <a:r>
              <a:t>  quota_metric: "generativelanguage.googleapis.com/generate_content_free_tier_requests"</a:t>
            </a:r>
          </a:p>
          <a:p>
            <a:r>
              <a:t>  quota_id: "GenerateRequestsPerMinutePerProjectPerModel-FreeTier"</a:t>
            </a:r>
          </a:p>
          <a:p>
            <a:r>
              <a:t>  quota_dimensions {</a:t>
            </a:r>
          </a:p>
          <a:p>
            <a:r>
              <a:t>    key: "model"</a:t>
            </a:r>
          </a:p>
          <a:p>
            <a:r>
              <a:t>    value: "gemini-2.0-flash"</a:t>
            </a:r>
          </a:p>
          <a:p>
            <a:r>
              <a:t>  }</a:t>
            </a:r>
          </a:p>
          <a:p>
            <a:r>
              <a:t>  quota_dimensions {</a:t>
            </a:r>
          </a:p>
          <a:p>
            <a:r>
              <a:t>    key: "location"</a:t>
            </a:r>
          </a:p>
          <a:p>
            <a:r>
              <a:t>    value: "global"</a:t>
            </a:r>
          </a:p>
          <a:p>
            <a:r>
              <a:t>  }</a:t>
            </a:r>
          </a:p>
          <a:p>
            <a:r>
              <a:t>  quota_value: 15</a:t>
            </a:r>
          </a:p>
          <a:p>
            <a:r>
              <a:t>}</a:t>
            </a:r>
          </a:p>
          <a:p>
            <a:r>
              <a:t>, retry_delay {</a:t>
            </a:r>
          </a:p>
          <a:p>
            <a:r>
              <a:t>  seconds: 55</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429 You exceeded your current quota, please check your plan and billing details. For more information on this error, head to: https://ai.google.dev/gemini-api/docs/rate-limits. To monitor your current usage, head to: https://ai.dev/usage?tab=rate-limit. </a:t>
            </a:r>
          </a:p>
          <a:p>
            <a:r>
              <a:t>* Quota exceeded for metric: generativelanguage.googleapis.com/generate_content_free_tier_requests, limit: 15, model: gemini-2.0-flash</a:t>
            </a:r>
          </a:p>
          <a:p>
            <a:r>
              <a:t>Please retry in 54.63274911s. [links {</a:t>
            </a:r>
          </a:p>
          <a:p>
            <a:r>
              <a:t>  description: "Learn more about Gemini API quotas"</a:t>
            </a:r>
          </a:p>
          <a:p>
            <a:r>
              <a:t>  url: "https://ai.google.dev/gemini-api/docs/rate-limits"</a:t>
            </a:r>
          </a:p>
          <a:p>
            <a:r>
              <a:t>}</a:t>
            </a:r>
          </a:p>
          <a:p>
            <a:r>
              <a:t>, violations {</a:t>
            </a:r>
          </a:p>
          <a:p>
            <a:r>
              <a:t>  quota_metric: "generativelanguage.googleapis.com/generate_content_free_tier_requests"</a:t>
            </a:r>
          </a:p>
          <a:p>
            <a:r>
              <a:t>  quota_id: "GenerateRequestsPerMinutePerProjectPerModel-FreeTier"</a:t>
            </a:r>
          </a:p>
          <a:p>
            <a:r>
              <a:t>  quota_dimensions {</a:t>
            </a:r>
          </a:p>
          <a:p>
            <a:r>
              <a:t>    key: "model"</a:t>
            </a:r>
          </a:p>
          <a:p>
            <a:r>
              <a:t>    value: "gemini-2.0-flash"</a:t>
            </a:r>
          </a:p>
          <a:p>
            <a:r>
              <a:t>  }</a:t>
            </a:r>
          </a:p>
          <a:p>
            <a:r>
              <a:t>  quota_dimensions {</a:t>
            </a:r>
          </a:p>
          <a:p>
            <a:r>
              <a:t>    key: "location"</a:t>
            </a:r>
          </a:p>
          <a:p>
            <a:r>
              <a:t>    value: "global"</a:t>
            </a:r>
          </a:p>
          <a:p>
            <a:r>
              <a:t>  }</a:t>
            </a:r>
          </a:p>
          <a:p>
            <a:r>
              <a:t>  quota_value: 15</a:t>
            </a:r>
          </a:p>
          <a:p>
            <a:r>
              <a:t>}</a:t>
            </a:r>
          </a:p>
          <a:p>
            <a:r>
              <a:t>, retry_delay {</a:t>
            </a:r>
          </a:p>
          <a:p>
            <a:r>
              <a:t>  seconds: 54</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Setting the Stage for Success</a:t>
            </a:r>
          </a:p>
        </p:txBody>
      </p:sp>
      <p:sp>
        <p:nvSpPr>
          <p:cNvPr id="3" name="Subtitle 2"/>
          <p:cNvSpPr>
            <a:spLocks noGrp="1"/>
          </p:cNvSpPr>
          <p:nvPr>
            <p:ph type="subTitle" idx="1"/>
          </p:nvPr>
        </p:nvSpPr>
        <p:spPr/>
        <p:txBody>
          <a:bodyPr/>
          <a:lstStyle/>
          <a:p>
            <a:pPr>
              <a:defRPr>
                <a:solidFill>
                  <a:srgbClr val="595959"/>
                </a:solidFill>
                <a:latin typeface="Calibri"/>
              </a:defRPr>
            </a:pPr>
            <a:r>
              <a:t>Welcome &amp; Introductions: Meet the team driving this innovation.</a:t>
            </a:r>
          </a:p>
          <a:p>
            <a:pPr lvl="1">
              <a:defRPr>
                <a:solidFill>
                  <a:srgbClr val="595959"/>
                </a:solidFill>
                <a:latin typeface="Calibri"/>
              </a:defRPr>
            </a:pPr>
            <a:r>
              <a:t>The Stakes Are High: Launch success = market leadership. We're ready to deliver.</a:t>
            </a:r>
          </a:p>
          <a:p>
            <a:pPr lvl="1">
              <a:defRPr>
                <a:solidFill>
                  <a:srgbClr val="595959"/>
                </a:solidFill>
                <a:latin typeface="Calibri"/>
              </a:defRPr>
            </a:pPr>
            <a:r>
              <a:t>Introducing [Product Name]: Revolutionizing [Industry/Problem] with [Core Benefit].</a:t>
            </a:r>
          </a:p>
          <a:p>
            <a:pPr lvl="1">
              <a:defRPr>
                <a:solidFill>
                  <a:srgbClr val="595959"/>
                </a:solidFill>
                <a:latin typeface="Calibri"/>
              </a:defRPr>
            </a:pPr>
            <a:r>
              <a:t>Today's Agenda: Roadmap to a winning launch strategy. (Execution, Marketing, Sales, 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Market Analysis &amp; Target Audience</a:t>
            </a:r>
          </a:p>
        </p:txBody>
      </p:sp>
      <p:sp>
        <p:nvSpPr>
          <p:cNvPr id="3" name="Content Placeholder 2"/>
          <p:cNvSpPr>
            <a:spLocks noGrp="1"/>
          </p:cNvSpPr>
          <p:nvPr>
            <p:ph idx="1"/>
          </p:nvPr>
        </p:nvSpPr>
        <p:spPr/>
        <p:txBody>
          <a:bodyPr/>
          <a:lstStyle/>
          <a:p>
            <a:pPr>
              <a:defRPr>
                <a:solidFill>
                  <a:srgbClr val="C8C8C8"/>
                </a:solidFill>
                <a:latin typeface="Arial"/>
              </a:defRPr>
            </a:pPr>
            <a:r>
              <a:t>Market Needs &amp; Trends: Growing demand for AI-powered productivity tools. Focus on seamless integration and ease of use.</a:t>
            </a:r>
          </a:p>
          <a:p>
            <a:pPr lvl="1">
              <a:defRPr>
                <a:solidFill>
                  <a:srgbClr val="C8C8C8"/>
                </a:solidFill>
                <a:latin typeface="Arial"/>
              </a:defRPr>
            </a:pPr>
            <a:r>
              <a:t>Ideal Customer Profile (ICP): Tech-savvy professionals, small business owners, and knowledge workers seeking efficiency gains. Value data privacy and personalized solutions.</a:t>
            </a:r>
          </a:p>
          <a:p>
            <a:pPr lvl="1">
              <a:defRPr>
                <a:solidFill>
                  <a:srgbClr val="C8C8C8"/>
                </a:solidFill>
                <a:latin typeface="Arial"/>
              </a:defRPr>
            </a:pPr>
            <a:r>
              <a:t>Key Market Segments: Prioritize early adopters in SaaS and consulting; expand to education and healthcare sectors later.</a:t>
            </a:r>
          </a:p>
          <a:p>
            <a:pPr lvl="1">
              <a:defRPr>
                <a:solidFill>
                  <a:srgbClr val="C8C8C8"/>
                </a:solidFill>
                <a:latin typeface="Arial"/>
              </a:defRPr>
            </a:pPr>
            <a:r>
              <a:t>Competitive Landscape: Fragmented market; opportunity to differentiate via superior AI algorithms and targeted feature sets.</a:t>
            </a:r>
          </a:p>
        </p:txBody>
      </p:sp>
      <p:sp>
        <p:nvSpPr>
          <p:cNvPr id="4" name="Rounded Rectangle 3"/>
          <p:cNvSpPr/>
          <p:nvPr/>
        </p:nvSpPr>
        <p:spPr>
          <a:xfrm>
            <a:off x="457200" y="1371600"/>
            <a:ext cx="4114800" cy="228600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Strengths</a:t>
            </a:r>
          </a:p>
          <a:p>
            <a:pPr>
              <a:defRPr sz="1200">
                <a:solidFill>
                  <a:srgbClr val="FFFFFF"/>
                </a:solidFill>
              </a:defRPr>
            </a:pPr>
            <a:r>
              <a:t>• Superior AI algorithms</a:t>
            </a:r>
          </a:p>
          <a:p>
            <a:pPr>
              <a:defRPr sz="1200">
                <a:solidFill>
                  <a:srgbClr val="FFFFFF"/>
                </a:solidFill>
              </a:defRPr>
            </a:pPr>
            <a:r>
              <a:t>• Targeted feature sets</a:t>
            </a:r>
          </a:p>
          <a:p>
            <a:pPr>
              <a:defRPr sz="1200">
                <a:solidFill>
                  <a:srgbClr val="FFFFFF"/>
                </a:solidFill>
              </a:defRPr>
            </a:pPr>
            <a:r>
              <a:t>• Focus on seamless integration and ease of use</a:t>
            </a:r>
          </a:p>
        </p:txBody>
      </p:sp>
      <p:sp>
        <p:nvSpPr>
          <p:cNvPr id="5" name="Rounded Rectangle 4"/>
          <p:cNvSpPr/>
          <p:nvPr/>
        </p:nvSpPr>
        <p:spPr>
          <a:xfrm>
            <a:off x="5029200" y="1371600"/>
            <a:ext cx="4114800" cy="228600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Weaknesses</a:t>
            </a:r>
          </a:p>
          <a:p>
            <a:pPr>
              <a:defRPr sz="1200">
                <a:solidFill>
                  <a:srgbClr val="FFFFFF"/>
                </a:solidFill>
              </a:defRPr>
            </a:pPr>
            <a:r>
              <a:t>• New company; lack of established brand recognition</a:t>
            </a:r>
          </a:p>
          <a:p>
            <a:pPr>
              <a:defRPr sz="1200">
                <a:solidFill>
                  <a:srgbClr val="FFFFFF"/>
                </a:solidFill>
              </a:defRPr>
            </a:pPr>
            <a:r>
              <a:t>• Limited resources compared to larger competitors (assumed)</a:t>
            </a:r>
          </a:p>
        </p:txBody>
      </p:sp>
      <p:sp>
        <p:nvSpPr>
          <p:cNvPr id="6" name="Rounded Rectangle 5"/>
          <p:cNvSpPr/>
          <p:nvPr/>
        </p:nvSpPr>
        <p:spPr>
          <a:xfrm>
            <a:off x="457200" y="3840480"/>
            <a:ext cx="4114800" cy="228600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Opportunities</a:t>
            </a:r>
          </a:p>
          <a:p>
            <a:pPr>
              <a:defRPr sz="1200">
                <a:solidFill>
                  <a:srgbClr val="FFFFFF"/>
                </a:solidFill>
              </a:defRPr>
            </a:pPr>
            <a:r>
              <a:t>• Growing demand for AI-powered productivity tools</a:t>
            </a:r>
          </a:p>
          <a:p>
            <a:pPr>
              <a:defRPr sz="1200">
                <a:solidFill>
                  <a:srgbClr val="FFFFFF"/>
                </a:solidFill>
              </a:defRPr>
            </a:pPr>
            <a:r>
              <a:t>• Fragmented market allows for differentiation</a:t>
            </a:r>
          </a:p>
          <a:p>
            <a:pPr>
              <a:defRPr sz="1200">
                <a:solidFill>
                  <a:srgbClr val="FFFFFF"/>
                </a:solidFill>
              </a:defRPr>
            </a:pPr>
            <a:r>
              <a:t>• Expand to education and healthcare sectors</a:t>
            </a:r>
          </a:p>
        </p:txBody>
      </p:sp>
      <p:sp>
        <p:nvSpPr>
          <p:cNvPr id="7" name="Rounded Rectangle 6"/>
          <p:cNvSpPr/>
          <p:nvPr/>
        </p:nvSpPr>
        <p:spPr>
          <a:xfrm>
            <a:off x="5029200" y="3840480"/>
            <a:ext cx="4114800" cy="228600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Threats</a:t>
            </a:r>
          </a:p>
          <a:p>
            <a:pPr>
              <a:defRPr sz="1200">
                <a:solidFill>
                  <a:srgbClr val="FFFFFF"/>
                </a:solidFill>
              </a:defRPr>
            </a:pPr>
            <a:r>
              <a:t>• Existing competitors with established market share</a:t>
            </a:r>
          </a:p>
          <a:p>
            <a:pPr>
              <a:defRPr sz="1200">
                <a:solidFill>
                  <a:srgbClr val="FFFFFF"/>
                </a:solidFill>
              </a:defRPr>
            </a:pPr>
            <a:r>
              <a:t>• Rapid technological advancements requiring constant innovation</a:t>
            </a:r>
          </a:p>
          <a:p>
            <a:pPr>
              <a:defRPr sz="1200">
                <a:solidFill>
                  <a:srgbClr val="FFFFFF"/>
                </a:solidFill>
              </a:defRPr>
            </a:pPr>
            <a:r>
              <a:t>• Potential data privacy regulations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Go-to-Market (GTM) Strategy &amp; Tactics</a:t>
            </a:r>
          </a:p>
        </p:txBody>
      </p:sp>
      <p:sp>
        <p:nvSpPr>
          <p:cNvPr id="3" name="Content Placeholder 2"/>
          <p:cNvSpPr>
            <a:spLocks noGrp="1"/>
          </p:cNvSpPr>
          <p:nvPr>
            <p:ph idx="1"/>
          </p:nvPr>
        </p:nvSpPr>
        <p:spPr/>
        <p:txBody>
          <a:bodyPr/>
          <a:lstStyle/>
          <a:p>
            <a:pPr>
              <a:defRPr>
                <a:solidFill>
                  <a:srgbClr val="595959"/>
                </a:solidFill>
                <a:latin typeface="Calibri"/>
              </a:defRPr>
            </a:pPr>
            <a:r>
              <a:t>**Core Pillars:** Content Marketing (Driving organic leads with valuable resources), Paid Advertising (Targeted campaigns for immediate reach), Strategic Partnerships (Leveraging existing networks for accelerated growth).</a:t>
            </a:r>
          </a:p>
          <a:p>
            <a:pPr lvl="1">
              <a:defRPr>
                <a:solidFill>
                  <a:srgbClr val="595959"/>
                </a:solidFill>
                <a:latin typeface="Calibri"/>
              </a:defRPr>
            </a:pPr>
            <a:r>
              <a:t>**Marketing Channels:** Social Media (Increase brand awareness by 40% in Q1), SEO (Rank for 10 key terms in top 3 positions by Q2), Email (Achieve 20% conversion rate on lead nurturing campaigns).</a:t>
            </a:r>
          </a:p>
          <a:p>
            <a:pPr lvl="1">
              <a:defRPr>
                <a:solidFill>
                  <a:srgbClr val="595959"/>
                </a:solidFill>
                <a:latin typeface="Calibri"/>
              </a:defRPr>
            </a:pPr>
            <a:r>
              <a:t>**Sales Strategy:** Comprehensive sales training program for product mastery, streamlined CRM integration (Salesforce) for lead tracking, and dedicated customer support team with a 95% customer satisfaction target.</a:t>
            </a:r>
          </a:p>
          <a:p>
            <a:pPr lvl="1">
              <a:defRPr>
                <a:solidFill>
                  <a:srgbClr val="595959"/>
                </a:solidFill>
                <a:latin typeface="Calibri"/>
              </a:defRPr>
            </a:pPr>
            <a:r>
              <a:t>**Pricing &amp; Packaging:** Tiered pricing model (Basic, Pro, Enterprise) to cater to diverse customer needs, focusing on value-based pricing and aiming for a 60% gross profit margin.</a:t>
            </a:r>
          </a:p>
        </p:txBody>
      </p:sp>
      <p:sp>
        <p:nvSpPr>
          <p:cNvPr id="4" name="Oval 3"/>
          <p:cNvSpPr/>
          <p:nvPr/>
        </p:nvSpPr>
        <p:spPr>
          <a:xfrm>
            <a:off x="3886200" y="2514600"/>
            <a:ext cx="1371600" cy="1371600"/>
          </a:xfrm>
          <a:prstGeom prst="ellipse">
            <a:avLst/>
          </a:prstGeom>
          <a:solidFill>
            <a:srgbClr val="2E86A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4P</a:t>
            </a:r>
            <a:br/>
            <a:r>
              <a:t>Marketing</a:t>
            </a:r>
          </a:p>
        </p:txBody>
      </p:sp>
      <p:sp>
        <p:nvSpPr>
          <p:cNvPr id="5" name="Rounded Rectangle 4"/>
          <p:cNvSpPr/>
          <p:nvPr/>
        </p:nvSpPr>
        <p:spPr>
          <a:xfrm>
            <a:off x="914400" y="1371600"/>
            <a:ext cx="1828800" cy="1371600"/>
          </a:xfrm>
          <a:prstGeom prst="roundRect">
            <a:avLst/>
          </a:prstGeom>
          <a:solidFill>
            <a:srgbClr val="F18F01"/>
          </a:solidFill>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600" b="1">
                <a:solidFill>
                  <a:srgbClr val="FFFFFF"/>
                </a:solidFill>
              </a:defRPr>
            </a:pPr>
            <a:r>
              <a:t>Product</a:t>
            </a:r>
          </a:p>
          <a:p>
            <a:pPr>
              <a:defRPr sz="1000">
                <a:solidFill>
                  <a:srgbClr val="FFFFFF"/>
                </a:solidFill>
              </a:defRPr>
            </a:pPr>
            <a:r>
              <a:t>• Focus on core features addressing customer needs</a:t>
            </a:r>
          </a:p>
          <a:p>
            <a:pPr>
              <a:defRPr sz="1000">
                <a:solidFill>
                  <a:srgbClr val="FFFFFF"/>
                </a:solidFill>
              </a:defRPr>
            </a:pPr>
            <a:r>
              <a:t>• Tiered pricing model (Basic, Pro, Enterprise)</a:t>
            </a:r>
          </a:p>
        </p:txBody>
      </p:sp>
      <p:sp>
        <p:nvSpPr>
          <p:cNvPr id="6" name="Rounded Rectangle 5"/>
          <p:cNvSpPr/>
          <p:nvPr/>
        </p:nvSpPr>
        <p:spPr>
          <a:xfrm>
            <a:off x="6858000" y="1371600"/>
            <a:ext cx="1828800" cy="1371600"/>
          </a:xfrm>
          <a:prstGeom prst="roundRect">
            <a:avLst/>
          </a:prstGeom>
          <a:solidFill>
            <a:srgbClr val="A23B72"/>
          </a:solidFill>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600" b="1">
                <a:solidFill>
                  <a:srgbClr val="FFFFFF"/>
                </a:solidFill>
              </a:defRPr>
            </a:pPr>
            <a:r>
              <a:t>Price</a:t>
            </a:r>
          </a:p>
          <a:p>
            <a:pPr>
              <a:defRPr sz="1000">
                <a:solidFill>
                  <a:srgbClr val="FFFFFF"/>
                </a:solidFill>
              </a:defRPr>
            </a:pPr>
            <a:r>
              <a:t>• Tiered pricing model</a:t>
            </a:r>
          </a:p>
          <a:p>
            <a:pPr>
              <a:defRPr sz="1000">
                <a:solidFill>
                  <a:srgbClr val="FFFFFF"/>
                </a:solidFill>
              </a:defRPr>
            </a:pPr>
            <a:r>
              <a:t>• Value-based pricing</a:t>
            </a:r>
          </a:p>
        </p:txBody>
      </p:sp>
      <p:sp>
        <p:nvSpPr>
          <p:cNvPr id="7" name="Rounded Rectangle 6"/>
          <p:cNvSpPr/>
          <p:nvPr/>
        </p:nvSpPr>
        <p:spPr>
          <a:xfrm>
            <a:off x="914400" y="4572000"/>
            <a:ext cx="1828800" cy="1371600"/>
          </a:xfrm>
          <a:prstGeom prst="roundRect">
            <a:avLst/>
          </a:prstGeom>
          <a:solidFill>
            <a:srgbClr val="6A994E"/>
          </a:solidFill>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600" b="1">
                <a:solidFill>
                  <a:srgbClr val="FFFFFF"/>
                </a:solidFill>
              </a:defRPr>
            </a:pPr>
            <a:r>
              <a:t>Place</a:t>
            </a:r>
          </a:p>
          <a:p>
            <a:pPr>
              <a:defRPr sz="1000">
                <a:solidFill>
                  <a:srgbClr val="FFFFFF"/>
                </a:solidFill>
              </a:defRPr>
            </a:pPr>
            <a:r>
              <a:t>• Content Marketing</a:t>
            </a:r>
          </a:p>
          <a:p>
            <a:pPr>
              <a:defRPr sz="1000">
                <a:solidFill>
                  <a:srgbClr val="FFFFFF"/>
                </a:solidFill>
              </a:defRPr>
            </a:pPr>
            <a:r>
              <a:t>• Paid Advertising</a:t>
            </a:r>
          </a:p>
        </p:txBody>
      </p:sp>
      <p:sp>
        <p:nvSpPr>
          <p:cNvPr id="8" name="Rounded Rectangle 7"/>
          <p:cNvSpPr/>
          <p:nvPr/>
        </p:nvSpPr>
        <p:spPr>
          <a:xfrm>
            <a:off x="6858000" y="4572000"/>
            <a:ext cx="1828800" cy="1371600"/>
          </a:xfrm>
          <a:prstGeom prst="roundRect">
            <a:avLst/>
          </a:prstGeom>
          <a:solidFill>
            <a:srgbClr val="C73E1D"/>
          </a:solidFill>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600" b="1">
                <a:solidFill>
                  <a:srgbClr val="FFFFFF"/>
                </a:solidFill>
              </a:defRPr>
            </a:pPr>
            <a:r>
              <a:t>Promotion</a:t>
            </a:r>
          </a:p>
          <a:p>
            <a:pPr>
              <a:defRPr sz="1000">
                <a:solidFill>
                  <a:srgbClr val="FFFFFF"/>
                </a:solidFill>
              </a:defRPr>
            </a:pPr>
            <a:r>
              <a:t>• Content Marketing (Driving organic leads with valuable resources)</a:t>
            </a:r>
          </a:p>
          <a:p>
            <a:pPr>
              <a:defRPr sz="1000">
                <a:solidFill>
                  <a:srgbClr val="FFFFFF"/>
                </a:solidFill>
              </a:defRPr>
            </a:pPr>
            <a:r>
              <a:t>• Paid Advertising (Targeted campaigns for immediate reach)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Key Performance Indicators (KPIs) &amp; Metrics</a:t>
            </a:r>
          </a:p>
        </p:txBody>
      </p:sp>
      <p:sp>
        <p:nvSpPr>
          <p:cNvPr id="3" name="Content Placeholder 2"/>
          <p:cNvSpPr>
            <a:spLocks noGrp="1"/>
          </p:cNvSpPr>
          <p:nvPr>
            <p:ph idx="1"/>
          </p:nvPr>
        </p:nvSpPr>
        <p:spPr/>
        <p:txBody>
          <a:bodyPr/>
          <a:lstStyle/>
          <a:p>
            <a:pPr>
              <a:defRPr>
                <a:solidFill>
                  <a:srgbClr val="595959"/>
                </a:solidFill>
                <a:latin typeface="Calibri"/>
              </a:defRPr>
            </a:pPr>
            <a:r>
              <a:t>Error generating content.</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Pre-Launch KPI Tracking Setup</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Launch Day Monitoring</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Post-Launch Performance Analysis</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Iterate &amp; Optimize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Conclusion: Launching for Impact</a:t>
            </a:r>
          </a:p>
        </p:txBody>
      </p:sp>
      <p:sp>
        <p:nvSpPr>
          <p:cNvPr id="3" name="Content Placeholder 2"/>
          <p:cNvSpPr>
            <a:spLocks noGrp="1"/>
          </p:cNvSpPr>
          <p:nvPr>
            <p:ph idx="1"/>
          </p:nvPr>
        </p:nvSpPr>
        <p:spPr/>
        <p:txBody>
          <a:bodyPr/>
          <a:lstStyle/>
          <a:p>
            <a:pPr>
              <a:defRPr>
                <a:solidFill>
                  <a:srgbClr val="595959"/>
                </a:solidFill>
                <a:latin typeface="Calibri"/>
              </a:defRPr>
            </a:pPr>
            <a:r>
              <a:t>Error generating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