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My name is [Your Name], and I'm [Your Title/Expertise]. I'm thrilled to be here today to discuss a critical aspect of successful global expansion: Strategic Portfolio Analysis, or SPA. </a:t>
            </a:r>
          </a:p>
          <a:p/>
          <a:p>
            <a:r>
              <a:t>Global expansion presents a fascinating array of opportunities, but also significant complexities and potential pitfalls. Without a strategic approach, ventures can easily become overwhelmed by unexpected challenges. </a:t>
            </a:r>
          </a:p>
          <a:p/>
          <a:p>
            <a:r>
              <a:t>Strategic Portfolio Analysis acts as a compass, guiding businesses to make informed, data-driven decisions about where, when, and how to expand internationally. SPA is not just about assessing individual markets; it's about evaluating your entire portfolio of potential global ventures, considering the interconnectedness and dependencies between them. </a:t>
            </a:r>
          </a:p>
          <a:p/>
          <a:p>
            <a:r>
              <a:t>At its core, SPA involves a thorough examination of three key components: Market Attractiveness - how appealing is the market based on factors like size, growth rate, and stability?; Competitive Position - how strong is our competitive advantage in this market?; and Risk Assessment - what are the potential risks and how can we mitigate them?</a:t>
            </a:r>
          </a:p>
          <a:p/>
          <a:p>
            <a:r>
              <a:t>Over the next [Time Allotment] minutes, our objective is to demonstrate how Strategic Portfolio Analysis can be leveraged to formulate robust global expansion strategies. We will explore various future scenarios and demonstrate how SPA enables proactive planning and adaptability in the face of uncertainty. By the end of this presentation, you will have a clear understanding of how SPA can transform your global expansion efforts from a risky gamble into a calculated and potentially highly rewarding strategic endeavor.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the stage for our global expansion strategy. We need to ground our ambitions in a clear-eyed understanding of where we stand today. </a:t>
            </a:r>
          </a:p>
          <a:p/>
          <a:p>
            <a:r>
              <a:t>*   **Portfolio Assessment:** This means going beyond a simple inventory. We must rigorously analyze the strengths and weaknesses of each product or service in our portfolio. What are we truly good at? What needs improvement? Which products are best positioned for international markets? </a:t>
            </a:r>
          </a:p>
          <a:p/>
          <a:p>
            <a:r>
              <a:t>*   **Market Attractiveness:** Not all markets are created equal. We need to prioritize potential target markets based on objective factors such as market size, growth rate, disposable income, and political and economic stability. This isn't just about finding the biggest market; it's about finding the *right* market for our offerings. We will use a weighted scoring model to compare the markets.</a:t>
            </a:r>
          </a:p>
          <a:p/>
          <a:p>
            <a:r>
              <a:t>*   **Competitive Position:** A strong portfolio and a promising market are not enough. We need to understand our competitive landscape in each target market. What advantages do we have? What are our disadvantages? What are the barriers to entry? Are we prepared to compete effectively? We will employ a Porter's Five Forces framework to analyze competitive intensity in each market.</a:t>
            </a:r>
          </a:p>
          <a:p/>
          <a:p>
            <a:r>
              <a:t>*   **Risk Assessment:** Finally, we need to be realistic about the risks involved in global expansion. These can include economic fluctuations, political instability, regulatory changes, and cultural differences. We must identify and quantify these risks and develop mitigation strategies. We need to consider currency risk, supply chain disruption risk and IP protection risk. Without a thorough risk assessment, we are flying blind. This foundational analysis is critical for making informed decisions about our global expansion strategy.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Scenario planning is vital for successful global expansion because the future is inherently uncertain. We can't predict exactly what will happen, but we *can* prepare for a range of possibilities. First, we need to identify the key uncertainties that will significantly impact our expansion efforts. These factors typically fall into categories like technological advancements (e.g., the pace of AI adoption), geopolitical shifts (e.g., trade wars, political instability), and economic trends (e.g., inflation, recession). </a:t>
            </a:r>
          </a:p>
          <a:p/>
          <a:p>
            <a:r>
              <a:t>Next, we use these key uncertainties to develop distinct scenarios. Instead of trying to predict one specific future, we create several plausible future scenarios. A typical approach involves developing a 'best-case' or optimistic scenario, a 'worst-case' or pessimistic scenario, and a 'most likely' scenario. Each scenario represents a different combination of how these key uncertainties might play out.</a:t>
            </a:r>
          </a:p>
          <a:p/>
          <a:p>
            <a:r>
              <a:t>Finally, and most importantly, we develop scenario-based strategies. For each scenario, we create a specific strategic plan outlining how our company will adapt and respond to those particular future conditions. This allows us to be flexible and resilient, ready to capitalize on opportunities and mitigate risks, regardless of which future unfolds. This proactive approach minimizes the potential for being caught off guard and maximizes our chances for successful global expansion.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how we're aligning strategic portfolio analysis (SPA) with future scenario planning to make data-driven decisions about global expansion.</a:t>
            </a:r>
          </a:p>
          <a:p/>
          <a:p>
            <a:r>
              <a:t>*   **Integrate Portfolio Analysis &amp; Scenario Planning:** We're not treating these as separate exercises. We're combining the data-driven rigor of SPA with the forward-looking perspective of scenario planning to gain a comprehensive understanding of our strategic options. Use the portfolio matrix to help visualize what future scenario will most likely impact a business unit or product line.</a:t>
            </a:r>
          </a:p>
          <a:p/>
          <a:p>
            <a:r>
              <a:t>*   **Identify Scenario-Specific Opportunities:** Each scenario presents unique opportunities. We'll analyze the market attractiveness and our competitive advantages within each scenario to pinpoint the most promising growth areas. For example, in a high-growth, low-regulation scenario, aggressive market penetration might be optimal, while a slow-growth, high-regulation scenario might favor strategic partnerships and niche market focus.</a:t>
            </a:r>
          </a:p>
          <a:p/>
          <a:p>
            <a:r>
              <a:t>*   **Mitigate Scenario-Based Risks:** We're proactively developing risk mitigation strategies for each potential future. This ensures our resilience in the face of uncertainty. What potential headwinds could affect our success?</a:t>
            </a:r>
          </a:p>
          <a:p/>
          <a:p>
            <a:r>
              <a:t>*   **Prioritize Strategic Investments:** Resource allocation will be based on the likelihood and potential impact of each scenario. This allows us to optimize our investments and maximize our returns. Make sure to focus on investments that are likely to be effective in multiple scenarios, a hedge.</a:t>
            </a:r>
          </a:p>
          <a:p/>
          <a:p>
            <a:r>
              <a:t>*   **Case Study: [Company Name] - Successful Global Expansion using SPA &amp; Scenario Planning:** We'll delve into a real-world example of a company that successfully used SPA and scenario planning to navigate global expansion, highlighting the key lessons learned and demonstrating the power of this integrated approach. This is particularly effective in demonstrating that the plan works, but is not necessary if confidentiality is a concern.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 429 You exceeded your current quota, please check your plan and billing details. For more information on this error, head to: https://ai.google.dev/gemini-api/docs/rate-limits. To monitor your current usage, head to: https://ai.dev/usage?tab=rate-limit. </a:t>
            </a:r>
          </a:p>
          <a:p>
            <a:r>
              <a:t>* Quota exceeded for metric: generativelanguage.googleapis.com/generate_content_free_tier_requests, limit: 15, model: gemini-2.0-flash</a:t>
            </a:r>
          </a:p>
          <a:p>
            <a:r>
              <a:t>Please retry in 33.231211925s. [links {</a:t>
            </a:r>
          </a:p>
          <a:p>
            <a:r>
              <a:t>  description: "Learn more about Gemini API quotas"</a:t>
            </a:r>
          </a:p>
          <a:p>
            <a:r>
              <a:t>  url: "https://ai.google.dev/gemini-api/docs/rate-limits"</a:t>
            </a:r>
          </a:p>
          <a:p>
            <a:r>
              <a:t>}</a:t>
            </a:r>
          </a:p>
          <a:p>
            <a:r>
              <a:t>, violations {</a:t>
            </a:r>
          </a:p>
          <a:p>
            <a:r>
              <a:t>  quota_metric: "generativelanguage.googleapis.com/generate_content_free_tier_requests"</a:t>
            </a:r>
          </a:p>
          <a:p>
            <a:r>
              <a:t>  quota_id: "GenerateRequestsPerMinutePerProjectPerModel-FreeTier"</a:t>
            </a:r>
          </a:p>
          <a:p>
            <a:r>
              <a:t>  quota_dimensions {</a:t>
            </a:r>
          </a:p>
          <a:p>
            <a:r>
              <a:t>    key: "model"</a:t>
            </a:r>
          </a:p>
          <a:p>
            <a:r>
              <a:t>    value: "gemini-2.0-flash"</a:t>
            </a:r>
          </a:p>
          <a:p>
            <a:r>
              <a:t>  }</a:t>
            </a:r>
          </a:p>
          <a:p>
            <a:r>
              <a:t>  quota_dimensions {</a:t>
            </a:r>
          </a:p>
          <a:p>
            <a:r>
              <a:t>    key: "location"</a:t>
            </a:r>
          </a:p>
          <a:p>
            <a:r>
              <a:t>    value: "global"</a:t>
            </a:r>
          </a:p>
          <a:p>
            <a:r>
              <a:t>  }</a:t>
            </a:r>
          </a:p>
          <a:p>
            <a:r>
              <a:t>  quota_value: 15</a:t>
            </a:r>
          </a:p>
          <a:p>
            <a:r>
              <a:t>}</a:t>
            </a:r>
          </a:p>
          <a:p>
            <a:r>
              <a:t>, retry_delay {</a:t>
            </a:r>
          </a:p>
          <a:p>
            <a:r>
              <a:t>  seconds: 33</a:t>
            </a:r>
          </a:p>
          <a:p>
            <a:r>
              <a:t>}</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ctrTitle"/>
          </p:nvPr>
        </p:nvSpPr>
        <p:spPr/>
        <p:txBody>
          <a:bodyPr/>
          <a:lstStyle/>
          <a:p>
            <a:pPr>
              <a:defRPr>
                <a:solidFill>
                  <a:srgbClr val="00FFFF"/>
                </a:solidFill>
                <a:latin typeface="Arial"/>
              </a:defRPr>
            </a:pPr>
            <a:r>
              <a:t>Introduction: Navigating Global Expansion with Strategic Portfolio Analysis</a:t>
            </a:r>
          </a:p>
        </p:txBody>
      </p:sp>
      <p:sp>
        <p:nvSpPr>
          <p:cNvPr id="3" name="Subtitle 2"/>
          <p:cNvSpPr>
            <a:spLocks noGrp="1"/>
          </p:cNvSpPr>
          <p:nvPr>
            <p:ph type="subTitle" idx="1"/>
          </p:nvPr>
        </p:nvSpPr>
        <p:spPr/>
        <p:txBody>
          <a:bodyPr/>
          <a:lstStyle/>
          <a:p>
            <a:pPr>
              <a:defRPr>
                <a:solidFill>
                  <a:srgbClr val="C8C8C8"/>
                </a:solidFill>
                <a:latin typeface="Arial"/>
              </a:defRPr>
            </a:pPr>
            <a:r>
              <a:t>Global Expansion: A Complex Landscape of Opportunities and Risks.</a:t>
            </a:r>
          </a:p>
          <a:p>
            <a:pPr lvl="1">
              <a:defRPr>
                <a:solidFill>
                  <a:srgbClr val="C8C8C8"/>
                </a:solidFill>
                <a:latin typeface="Arial"/>
              </a:defRPr>
            </a:pPr>
            <a:r>
              <a:t>Strategic Portfolio Analysis (SPA): Your Compass for Informed Decisions.</a:t>
            </a:r>
          </a:p>
          <a:p>
            <a:pPr lvl="1">
              <a:defRPr>
                <a:solidFill>
                  <a:srgbClr val="C8C8C8"/>
                </a:solidFill>
                <a:latin typeface="Arial"/>
              </a:defRPr>
            </a:pPr>
            <a:r>
              <a:t>SPA Defined: Market Attractiveness, Competitive Advantage, Risk Mitigation.</a:t>
            </a:r>
          </a:p>
          <a:p>
            <a:pPr lvl="1">
              <a:defRPr>
                <a:solidFill>
                  <a:srgbClr val="C8C8C8"/>
                </a:solidFill>
                <a:latin typeface="Arial"/>
              </a:defRPr>
            </a:pPr>
            <a:r>
              <a:t>Objective: To Chart Successful Global Expansion Strategies Through SPA and Future Scenario Planning.</a:t>
            </a:r>
          </a:p>
        </p:txBody>
      </p:sp>
      <p:sp>
        <p:nvSpPr>
          <p:cNvPr id="4" name="Rounded Rectangle 3"/>
          <p:cNvSpPr/>
          <p:nvPr/>
        </p:nvSpPr>
        <p:spPr>
          <a:xfrm>
            <a:off x="45720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1. Define Market Attractiveness Criteria</a:t>
            </a:r>
          </a:p>
        </p:txBody>
      </p:sp>
      <p:sp>
        <p:nvSpPr>
          <p:cNvPr id="5" name="Right Arrow 4"/>
          <p:cNvSpPr/>
          <p:nvPr/>
        </p:nvSpPr>
        <p:spPr>
          <a:xfrm>
            <a:off x="210312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2. Assess Competitive Advantage</a:t>
            </a:r>
          </a:p>
        </p:txBody>
      </p:sp>
      <p:sp>
        <p:nvSpPr>
          <p:cNvPr id="7" name="Right Arrow 6"/>
          <p:cNvSpPr/>
          <p:nvPr/>
        </p:nvSpPr>
        <p:spPr>
          <a:xfrm>
            <a:off x="402336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3. Identify and Mitigate Risks</a:t>
            </a:r>
          </a:p>
        </p:txBody>
      </p:sp>
      <p:sp>
        <p:nvSpPr>
          <p:cNvPr id="9" name="Right Arrow 8"/>
          <p:cNvSpPr/>
          <p:nvPr/>
        </p:nvSpPr>
        <p:spPr>
          <a:xfrm>
            <a:off x="594360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4. Analyze Portfolio Options</a:t>
            </a:r>
          </a:p>
        </p:txBody>
      </p:sp>
      <p:sp>
        <p:nvSpPr>
          <p:cNvPr id="11" name="Right Arrow 10"/>
          <p:cNvSpPr/>
          <p:nvPr/>
        </p:nvSpPr>
        <p:spPr>
          <a:xfrm>
            <a:off x="786384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5. Develop Global Expansion Strategies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Understanding Your Current Portfolio: A Foundation for Global Strategy</a:t>
            </a:r>
          </a:p>
        </p:txBody>
      </p:sp>
      <p:sp>
        <p:nvSpPr>
          <p:cNvPr id="3" name="Content Placeholder 2"/>
          <p:cNvSpPr>
            <a:spLocks noGrp="1"/>
          </p:cNvSpPr>
          <p:nvPr>
            <p:ph idx="1"/>
          </p:nvPr>
        </p:nvSpPr>
        <p:spPr/>
        <p:txBody>
          <a:bodyPr/>
          <a:lstStyle/>
          <a:p>
            <a:pPr>
              <a:defRPr>
                <a:solidFill>
                  <a:srgbClr val="595959"/>
                </a:solidFill>
                <a:latin typeface="Calibri"/>
              </a:defRPr>
            </a:pPr>
            <a:r>
              <a:t>**Portfolio Assessment:** Identify core strengths &amp; weaknesses of current offerings.</a:t>
            </a:r>
          </a:p>
          <a:p>
            <a:pPr lvl="1">
              <a:defRPr>
                <a:solidFill>
                  <a:srgbClr val="595959"/>
                </a:solidFill>
                <a:latin typeface="Calibri"/>
              </a:defRPr>
            </a:pPr>
            <a:r>
              <a:t>**Market Attractiveness:** Prioritize markets based on size, growth, and stability.</a:t>
            </a:r>
          </a:p>
          <a:p>
            <a:pPr lvl="1">
              <a:defRPr>
                <a:solidFill>
                  <a:srgbClr val="595959"/>
                </a:solidFill>
                <a:latin typeface="Calibri"/>
              </a:defRPr>
            </a:pPr>
            <a:r>
              <a:t>**Competitive Position:** Analyze our advantages &amp; disadvantages in target markets.</a:t>
            </a:r>
          </a:p>
          <a:p>
            <a:pPr lvl="1">
              <a:defRPr>
                <a:solidFill>
                  <a:srgbClr val="595959"/>
                </a:solidFill>
                <a:latin typeface="Calibri"/>
              </a:defRPr>
            </a:pPr>
            <a:r>
              <a:t>**Risk Assessment:** Quantify potential economic, political, and cultural risks.</a:t>
            </a:r>
          </a:p>
        </p:txBody>
      </p:sp>
      <p:sp>
        <p:nvSpPr>
          <p:cNvPr id="4" name="Rounded Rectangle 3"/>
          <p:cNvSpPr/>
          <p:nvPr/>
        </p:nvSpPr>
        <p:spPr>
          <a:xfrm>
            <a:off x="457200" y="1371600"/>
            <a:ext cx="4114800" cy="2286000"/>
          </a:xfrm>
          <a:prstGeom prst="roundRect">
            <a:avLst/>
          </a:prstGeom>
          <a:solidFill>
            <a:srgbClr val="2E86AB"/>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82880"/>
          <a:lstStyle/>
          <a:p>
            <a:pPr algn="ctr">
              <a:defRPr sz="1800" b="1">
                <a:solidFill>
                  <a:srgbClr val="FFFFFF"/>
                </a:solidFill>
              </a:defRPr>
            </a:pPr>
            <a:r>
              <a:t>Strengths</a:t>
            </a:r>
          </a:p>
          <a:p>
            <a:pPr>
              <a:defRPr sz="1200">
                <a:solidFill>
                  <a:srgbClr val="FFFFFF"/>
                </a:solidFill>
              </a:defRPr>
            </a:pPr>
            <a:r>
              <a:t>• Core strengths of current offerings (identified in Portfolio Assessment)</a:t>
            </a:r>
          </a:p>
          <a:p>
            <a:pPr>
              <a:defRPr sz="1200">
                <a:solidFill>
                  <a:srgbClr val="FFFFFF"/>
                </a:solidFill>
              </a:defRPr>
            </a:pPr>
            <a:r>
              <a:t>• Competitive advantages in target markets (identified in Competitive Position)</a:t>
            </a:r>
          </a:p>
        </p:txBody>
      </p:sp>
      <p:sp>
        <p:nvSpPr>
          <p:cNvPr id="5" name="Rounded Rectangle 4"/>
          <p:cNvSpPr/>
          <p:nvPr/>
        </p:nvSpPr>
        <p:spPr>
          <a:xfrm>
            <a:off x="5029200" y="1371600"/>
            <a:ext cx="4114800" cy="2286000"/>
          </a:xfrm>
          <a:prstGeom prst="roundRect">
            <a:avLst/>
          </a:prstGeom>
          <a:solidFill>
            <a:srgbClr val="A23B7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82880"/>
          <a:lstStyle/>
          <a:p>
            <a:pPr algn="ctr">
              <a:defRPr sz="1800" b="1">
                <a:solidFill>
                  <a:srgbClr val="FFFFFF"/>
                </a:solidFill>
              </a:defRPr>
            </a:pPr>
            <a:r>
              <a:t>Weaknesses</a:t>
            </a:r>
          </a:p>
          <a:p>
            <a:pPr>
              <a:defRPr sz="1200">
                <a:solidFill>
                  <a:srgbClr val="FFFFFF"/>
                </a:solidFill>
              </a:defRPr>
            </a:pPr>
            <a:r>
              <a:t>• Weaknesses of current offerings (identified in Portfolio Assessment)</a:t>
            </a:r>
          </a:p>
          <a:p>
            <a:pPr>
              <a:defRPr sz="1200">
                <a:solidFill>
                  <a:srgbClr val="FFFFFF"/>
                </a:solidFill>
              </a:defRPr>
            </a:pPr>
            <a:r>
              <a:t>• Competitive disadvantages in target markets (identified in Competitive Position)</a:t>
            </a:r>
          </a:p>
        </p:txBody>
      </p:sp>
      <p:sp>
        <p:nvSpPr>
          <p:cNvPr id="6" name="Rounded Rectangle 5"/>
          <p:cNvSpPr/>
          <p:nvPr/>
        </p:nvSpPr>
        <p:spPr>
          <a:xfrm>
            <a:off x="457200" y="3840480"/>
            <a:ext cx="4114800" cy="228600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82880"/>
          <a:lstStyle/>
          <a:p>
            <a:pPr algn="ctr">
              <a:defRPr sz="1800" b="1">
                <a:solidFill>
                  <a:srgbClr val="FFFFFF"/>
                </a:solidFill>
              </a:defRPr>
            </a:pPr>
            <a:r>
              <a:t>Opportunities</a:t>
            </a:r>
          </a:p>
          <a:p>
            <a:pPr>
              <a:defRPr sz="1200">
                <a:solidFill>
                  <a:srgbClr val="FFFFFF"/>
                </a:solidFill>
              </a:defRPr>
            </a:pPr>
            <a:r>
              <a:t>• Market size and growth potential (from Market Attractiveness analysis)</a:t>
            </a:r>
          </a:p>
          <a:p>
            <a:pPr>
              <a:defRPr sz="1200">
                <a:solidFill>
                  <a:srgbClr val="FFFFFF"/>
                </a:solidFill>
              </a:defRPr>
            </a:pPr>
            <a:r>
              <a:t>• Stable market conditions (from Market Attractiveness analysis)</a:t>
            </a:r>
          </a:p>
        </p:txBody>
      </p:sp>
      <p:sp>
        <p:nvSpPr>
          <p:cNvPr id="7" name="Rounded Rectangle 6"/>
          <p:cNvSpPr/>
          <p:nvPr/>
        </p:nvSpPr>
        <p:spPr>
          <a:xfrm>
            <a:off x="5029200" y="3840480"/>
            <a:ext cx="4114800" cy="2286000"/>
          </a:xfrm>
          <a:prstGeom prst="roundRect">
            <a:avLst/>
          </a:prstGeom>
          <a:solidFill>
            <a:srgbClr val="C73E1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82880"/>
          <a:lstStyle/>
          <a:p>
            <a:pPr algn="ctr">
              <a:defRPr sz="1800" b="1">
                <a:solidFill>
                  <a:srgbClr val="FFFFFF"/>
                </a:solidFill>
              </a:defRPr>
            </a:pPr>
            <a:r>
              <a:t>Threats</a:t>
            </a:r>
          </a:p>
          <a:p>
            <a:pPr>
              <a:defRPr sz="1200">
                <a:solidFill>
                  <a:srgbClr val="FFFFFF"/>
                </a:solidFill>
              </a:defRPr>
            </a:pPr>
            <a:r>
              <a:t>• Economic risks (from Risk Assessment)</a:t>
            </a:r>
          </a:p>
          <a:p>
            <a:pPr>
              <a:defRPr sz="1200">
                <a:solidFill>
                  <a:srgbClr val="FFFFFF"/>
                </a:solidFill>
              </a:defRPr>
            </a:pPr>
            <a:r>
              <a:t>• Political risks (from Risk Assessment)</a:t>
            </a:r>
          </a:p>
          <a:p>
            <a:pPr>
              <a:defRPr sz="1200">
                <a:solidFill>
                  <a:srgbClr val="FFFFFF"/>
                </a:solidFill>
              </a:defRPr>
            </a:pPr>
            <a:r>
              <a:t>• Cultural risks (from Risk Assessment)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Scenario Planning: Anticipating Future Global Landscapes</a:t>
            </a:r>
          </a:p>
        </p:txBody>
      </p:sp>
      <p:sp>
        <p:nvSpPr>
          <p:cNvPr id="3" name="Content Placeholder 2"/>
          <p:cNvSpPr>
            <a:spLocks noGrp="1"/>
          </p:cNvSpPr>
          <p:nvPr>
            <p:ph idx="1"/>
          </p:nvPr>
        </p:nvSpPr>
        <p:spPr/>
        <p:txBody>
          <a:bodyPr/>
          <a:lstStyle/>
          <a:p>
            <a:pPr>
              <a:defRPr>
                <a:solidFill>
                  <a:srgbClr val="C8C8C8"/>
                </a:solidFill>
                <a:latin typeface="Arial"/>
              </a:defRPr>
            </a:pPr>
            <a:r>
              <a:t>**Navigate Uncertainty:** Proactively prepare for unpredictable global events by developing flexible strategies.</a:t>
            </a:r>
          </a:p>
          <a:p>
            <a:pPr lvl="1">
              <a:defRPr>
                <a:solidFill>
                  <a:srgbClr val="C8C8C8"/>
                </a:solidFill>
                <a:latin typeface="Arial"/>
              </a:defRPr>
            </a:pPr>
            <a:r>
              <a:t>**Identify Key Drivers:** Pinpoint critical uncertainties like technology, geopolitics, and economics impacting global expansion.</a:t>
            </a:r>
          </a:p>
          <a:p>
            <a:pPr lvl="1">
              <a:defRPr>
                <a:solidFill>
                  <a:srgbClr val="C8C8C8"/>
                </a:solidFill>
                <a:latin typeface="Arial"/>
              </a:defRPr>
            </a:pPr>
            <a:r>
              <a:t>**Develop Distinct Scenarios:** Craft plausible 'best-case,' 'worst-case,' and 'most likely' future scenarios based on key uncertainties.</a:t>
            </a:r>
          </a:p>
          <a:p>
            <a:pPr lvl="1">
              <a:defRPr>
                <a:solidFill>
                  <a:srgbClr val="C8C8C8"/>
                </a:solidFill>
                <a:latin typeface="Arial"/>
              </a:defRPr>
            </a:pPr>
            <a:r>
              <a:t>**Scenario-Based Strategies:** Create tailored strategic responses for each scenario, ensuring adaptability and resilience.</a:t>
            </a:r>
          </a:p>
        </p:txBody>
      </p:sp>
      <p:sp>
        <p:nvSpPr>
          <p:cNvPr id="4" name="Rounded Rectangle 3"/>
          <p:cNvSpPr/>
          <p:nvPr/>
        </p:nvSpPr>
        <p:spPr>
          <a:xfrm>
            <a:off x="5029200" y="1828800"/>
            <a:ext cx="3657600" cy="201168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Best Case</a:t>
            </a:r>
          </a:p>
          <a:p>
            <a:pPr>
              <a:defRPr sz="1000">
                <a:solidFill>
                  <a:srgbClr val="FFFFFF"/>
                </a:solidFill>
              </a:defRPr>
            </a:pPr>
            <a:r>
              <a:t>Optimistic global growth, favorable trade policies, rapid technological adoption.</a:t>
            </a:r>
          </a:p>
          <a:p>
            <a:pPr>
              <a:defRPr sz="900">
                <a:solidFill>
                  <a:srgbClr val="FFFFFF"/>
                </a:solidFill>
              </a:defRPr>
            </a:pPr>
            <a:r>
              <a:t>• Strong economic growth in key markets</a:t>
            </a:r>
          </a:p>
          <a:p>
            <a:pPr>
              <a:defRPr sz="900">
                <a:solidFill>
                  <a:srgbClr val="FFFFFF"/>
                </a:solidFill>
              </a:defRPr>
            </a:pPr>
            <a:r>
              <a:t>• Reduced trade barriers</a:t>
            </a:r>
          </a:p>
        </p:txBody>
      </p:sp>
      <p:sp>
        <p:nvSpPr>
          <p:cNvPr id="5" name="Rounded Rectangle 4"/>
          <p:cNvSpPr/>
          <p:nvPr/>
        </p:nvSpPr>
        <p:spPr>
          <a:xfrm>
            <a:off x="914400" y="1828800"/>
            <a:ext cx="3657600" cy="201168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Worst Case</a:t>
            </a:r>
          </a:p>
          <a:p>
            <a:pPr>
              <a:defRPr sz="1000">
                <a:solidFill>
                  <a:srgbClr val="FFFFFF"/>
                </a:solidFill>
              </a:defRPr>
            </a:pPr>
            <a:r>
              <a:t>Global recession, trade wars, geopolitical instability, technological disruption.</a:t>
            </a:r>
          </a:p>
          <a:p>
            <a:pPr>
              <a:defRPr sz="900">
                <a:solidFill>
                  <a:srgbClr val="FFFFFF"/>
                </a:solidFill>
              </a:defRPr>
            </a:pPr>
            <a:r>
              <a:t>• Global economic downturn</a:t>
            </a:r>
          </a:p>
          <a:p>
            <a:pPr>
              <a:defRPr sz="900">
                <a:solidFill>
                  <a:srgbClr val="FFFFFF"/>
                </a:solidFill>
              </a:defRPr>
            </a:pPr>
            <a:r>
              <a:t>• Increased protectionism and trade wars</a:t>
            </a:r>
          </a:p>
        </p:txBody>
      </p:sp>
      <p:sp>
        <p:nvSpPr>
          <p:cNvPr id="6" name="Rounded Rectangle 5"/>
          <p:cNvSpPr/>
          <p:nvPr/>
        </p:nvSpPr>
        <p:spPr>
          <a:xfrm>
            <a:off x="5029200" y="4114800"/>
            <a:ext cx="3657600" cy="2011680"/>
          </a:xfrm>
          <a:prstGeom prst="roundRect">
            <a:avLst/>
          </a:prstGeom>
          <a:solidFill>
            <a:srgbClr val="A23B72"/>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Most Likely</a:t>
            </a:r>
          </a:p>
          <a:p>
            <a:pPr>
              <a:defRPr sz="1000">
                <a:solidFill>
                  <a:srgbClr val="FFFFFF"/>
                </a:solidFill>
              </a:defRPr>
            </a:pPr>
            <a:r>
              <a:t>Moderate economic growth, evolving trade policies, gradual technological adoption.</a:t>
            </a:r>
          </a:p>
          <a:p>
            <a:pPr>
              <a:defRPr sz="900">
                <a:solidFill>
                  <a:srgbClr val="FFFFFF"/>
                </a:solidFill>
              </a:defRPr>
            </a:pPr>
            <a:r>
              <a:t>• Moderate economic growth in developing markets</a:t>
            </a:r>
          </a:p>
          <a:p>
            <a:pPr>
              <a:defRPr sz="900">
                <a:solidFill>
                  <a:srgbClr val="FFFFFF"/>
                </a:solidFill>
              </a:defRPr>
            </a:pPr>
            <a:r>
              <a:t>• Continued trade tensions</a:t>
            </a:r>
          </a:p>
        </p:txBody>
      </p:sp>
      <p:sp>
        <p:nvSpPr>
          <p:cNvPr id="7" name="Rounded Rectangle 6"/>
          <p:cNvSpPr/>
          <p:nvPr/>
        </p:nvSpPr>
        <p:spPr>
          <a:xfrm>
            <a:off x="914400" y="4114800"/>
            <a:ext cx="3657600" cy="2011680"/>
          </a:xfrm>
          <a:prstGeom prst="roundRect">
            <a:avLst/>
          </a:prstGeom>
          <a:solidFill>
            <a:srgbClr val="C73E1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Disruptive</a:t>
            </a:r>
          </a:p>
          <a:p>
            <a:pPr>
              <a:defRPr sz="1000">
                <a:solidFill>
                  <a:srgbClr val="FFFFFF"/>
                </a:solidFill>
              </a:defRPr>
            </a:pPr>
            <a:r>
              <a:t>Unforeseen events such as pandemics, major technological shifts, or political upheaval.</a:t>
            </a:r>
          </a:p>
          <a:p>
            <a:pPr>
              <a:defRPr sz="900">
                <a:solidFill>
                  <a:srgbClr val="FFFFFF"/>
                </a:solidFill>
              </a:defRPr>
            </a:pPr>
            <a:r>
              <a:t>• Pandemic or similar global health crisis</a:t>
            </a:r>
          </a:p>
          <a:p>
            <a:pPr>
              <a:defRPr sz="900">
                <a:solidFill>
                  <a:srgbClr val="FFFFFF"/>
                </a:solidFill>
              </a:defRPr>
            </a:pPr>
            <a:r>
              <a:t>• Radical technological breakthrough (e.g., AI, quantum computing)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Aligning Portfolio Analysis with Future Scenarios: Making Informed Decisions</a:t>
            </a:r>
          </a:p>
        </p:txBody>
      </p:sp>
      <p:sp>
        <p:nvSpPr>
          <p:cNvPr id="3" name="Content Placeholder 2"/>
          <p:cNvSpPr>
            <a:spLocks noGrp="1"/>
          </p:cNvSpPr>
          <p:nvPr>
            <p:ph idx="1"/>
          </p:nvPr>
        </p:nvSpPr>
        <p:spPr/>
        <p:txBody>
          <a:bodyPr/>
          <a:lstStyle/>
          <a:p>
            <a:pPr>
              <a:defRPr>
                <a:solidFill>
                  <a:srgbClr val="C8C8C8"/>
                </a:solidFill>
                <a:latin typeface="Arial"/>
              </a:defRPr>
            </a:pPr>
            <a:r>
              <a:t>Integrate Portfolio Analysis &amp; Scenario Planning: Drive strategic decisions through combined insights.</a:t>
            </a:r>
          </a:p>
          <a:p>
            <a:pPr lvl="1">
              <a:defRPr>
                <a:solidFill>
                  <a:srgbClr val="C8C8C8"/>
                </a:solidFill>
                <a:latin typeface="Arial"/>
              </a:defRPr>
            </a:pPr>
            <a:r>
              <a:t>Identify Scenario-Specific Opportunities: Uncover growth potential considering market dynamics and competitive edge.</a:t>
            </a:r>
          </a:p>
          <a:p>
            <a:pPr lvl="1">
              <a:defRPr>
                <a:solidFill>
                  <a:srgbClr val="C8C8C8"/>
                </a:solidFill>
                <a:latin typeface="Arial"/>
              </a:defRPr>
            </a:pPr>
            <a:r>
              <a:t>Mitigate Scenario-Based Risks: Build resilience by developing proactive risk management strategies.</a:t>
            </a:r>
          </a:p>
          <a:p>
            <a:pPr lvl="1">
              <a:defRPr>
                <a:solidFill>
                  <a:srgbClr val="C8C8C8"/>
                </a:solidFill>
                <a:latin typeface="Arial"/>
              </a:defRPr>
            </a:pPr>
            <a:r>
              <a:t>Prioritize Strategic Investments: Optimize resource allocation based on scenario likelihood and potential impact.</a:t>
            </a:r>
          </a:p>
          <a:p>
            <a:pPr lvl="1">
              <a:defRPr>
                <a:solidFill>
                  <a:srgbClr val="C8C8C8"/>
                </a:solidFill>
                <a:latin typeface="Arial"/>
              </a:defRPr>
            </a:pPr>
            <a:r>
              <a:t>Case Study: [Company Name] - Successful Global Expansion using SPA &amp; Scenario Planning</a:t>
            </a:r>
          </a:p>
        </p:txBody>
      </p:sp>
      <p:sp>
        <p:nvSpPr>
          <p:cNvPr id="4" name="Rounded Rectangle 3"/>
          <p:cNvSpPr/>
          <p:nvPr/>
        </p:nvSpPr>
        <p:spPr>
          <a:xfrm>
            <a:off x="45720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1. Define Future Scenarios (Economic, Political, Technological, Social)</a:t>
            </a:r>
          </a:p>
        </p:txBody>
      </p:sp>
      <p:sp>
        <p:nvSpPr>
          <p:cNvPr id="5" name="Right Arrow 4"/>
          <p:cNvSpPr/>
          <p:nvPr/>
        </p:nvSpPr>
        <p:spPr>
          <a:xfrm>
            <a:off x="210312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2. Conduct Portfolio Analysis (Identify Strengths, Weaknesses, Opportunities, Threats for each product/market)</a:t>
            </a:r>
          </a:p>
        </p:txBody>
      </p:sp>
      <p:sp>
        <p:nvSpPr>
          <p:cNvPr id="7" name="Right Arrow 6"/>
          <p:cNvSpPr/>
          <p:nvPr/>
        </p:nvSpPr>
        <p:spPr>
          <a:xfrm>
            <a:off x="402336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3. Assess Portfolio Performance Under Each Scenario (Map impact of each scenario on each element of the portfolio)</a:t>
            </a:r>
          </a:p>
        </p:txBody>
      </p:sp>
      <p:sp>
        <p:nvSpPr>
          <p:cNvPr id="9" name="Right Arrow 8"/>
          <p:cNvSpPr/>
          <p:nvPr/>
        </p:nvSpPr>
        <p:spPr>
          <a:xfrm>
            <a:off x="594360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4. Identify Scenario-Specific Opportunities and Risks</a:t>
            </a:r>
          </a:p>
        </p:txBody>
      </p:sp>
      <p:sp>
        <p:nvSpPr>
          <p:cNvPr id="11" name="Right Arrow 10"/>
          <p:cNvSpPr/>
          <p:nvPr/>
        </p:nvSpPr>
        <p:spPr>
          <a:xfrm>
            <a:off x="786384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5. Prioritize Strategic Investments Based on Scenario Likelihood and Impact (Resource Allocation)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Conclusion: Charting a Course for Successful Global Expansion</a:t>
            </a:r>
          </a:p>
        </p:txBody>
      </p:sp>
      <p:sp>
        <p:nvSpPr>
          <p:cNvPr id="3" name="Content Placeholder 2"/>
          <p:cNvSpPr>
            <a:spLocks noGrp="1"/>
          </p:cNvSpPr>
          <p:nvPr>
            <p:ph idx="1"/>
          </p:nvPr>
        </p:nvSpPr>
        <p:spPr/>
        <p:txBody>
          <a:bodyPr/>
          <a:lstStyle/>
          <a:p>
            <a:pPr>
              <a:defRPr>
                <a:solidFill>
                  <a:srgbClr val="595959"/>
                </a:solidFill>
                <a:latin typeface="Calibri"/>
              </a:defRPr>
            </a:pPr>
            <a:r>
              <a:t>Error generating content.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