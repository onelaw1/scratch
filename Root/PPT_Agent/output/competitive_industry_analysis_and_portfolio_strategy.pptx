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and welcome. My name is [Your Name], and I'm [Your Title]. We're here today to discuss a crucial aspect of successful investing: understanding the competitive landscape and aligning our portfolio strategy accordingly. </a:t>
            </a:r>
          </a:p>
          <a:p/>
          <a:p>
            <a:r>
              <a:t>First, a quick round of introductions to ensure we're all acquainted. </a:t>
            </a:r>
          </a:p>
          <a:p/>
          <a:p>
            <a:r>
              <a:t>Now, why is competitive industry analysis so vital? Simply put, it allows us to identify both opportunities and threats. Without a clear understanding of the competitive forces at play – such as the bargaining power of suppliers and buyers, the threat of new entrants, the threat of substitute products, and the intensity of rivalry among existing competitors – we risk making investment decisions based on incomplete or inaccurate information. We'll explore how to use frameworks like Porter's Five Forces to gain these insights. </a:t>
            </a:r>
          </a:p>
          <a:p/>
          <a:p>
            <a:r>
              <a:t>Crucially, this analysis is not just an academic exercise. It's a direct input into our portfolio strategy. Our findings will inform our decisions about asset allocation, sector diversification, and individual investment choices. We'll demonstrate how a deep understanding of the competitive environment leads to more informed and potentially profitable investment outcomes. </a:t>
            </a:r>
          </a:p>
          <a:p/>
          <a:p>
            <a:r>
              <a:t>Finally, let's preview what we will be covering today. We'll begin by delving into specific methodologies for competitive industry analysis. Then, we will apply these methodologies to analyze the relevant industries for our portfolio. We will conclude by outlining concrete, actionable recommendations for optimizing our portfolio strategy based on our findings. This is going to be a comprehensive and, I believe, a very valuable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sets the stage for developing a robust portfolio strategy by emphasizing the importance of understanding the competitive environment. Let's break down each component:</a:t>
            </a:r>
          </a:p>
          <a:p/>
          <a:p>
            <a:r>
              <a:t>*   **Porter's Five Forces:** This framework is fundamental for evaluating the inherent profitability and attractiveness of an industry. We need to carefully analyze the power dynamics between suppliers, buyers, potential new entrants, substitute products or services, and the existing competitive rivalry. For each force, ask: How much power do they wield? How easily can they influence prices or terms? What are the barriers to entry? Understanding these dynamics will reveal the opportunities and threats facing our portfolio.</a:t>
            </a:r>
          </a:p>
          <a:p/>
          <a:p>
            <a:r>
              <a:t>*   **PESTLE Analysis:** This analysis goes beyond the immediate industry and examines broader macro-environmental factors. Political and legal changes, economic trends, social shifts, technological advancements, and environmental regulations can all significantly impact the industry's landscape and our portfolio's performance. By identifying these trends early, we can anticipate challenges and capitalize on emerging opportunities. Consider specific examples relevant to the industry being discussed.</a:t>
            </a:r>
          </a:p>
          <a:p/>
          <a:p>
            <a:r>
              <a:t>*   **Key Success Factors (KSFs):** KSFs are the 'must-haves' for succeeding in a particular industry. They represent the critical activities or capabilities that companies need to possess to outperform their rivals. What are the key drivers of customer satisfaction? What operational efficiencies are crucial? What are the key innovations required? Identifying these factors will help us align our portfolio's resources and capabilities to achieve competitive advantage.</a:t>
            </a:r>
          </a:p>
          <a:p/>
          <a:p>
            <a:r>
              <a:t>*   **Competitor SWOT Analysis:** A thorough SWOT analysis for each key competitor is vital. By understanding their strengths and weaknesses, we can identify opportunities to exploit their vulnerabilities and defend against their threats. This analysis helps us anticipate competitor moves and develop proactive strategies to maintain or improve our portfolio's competitive position. Remember to focus on actionable insights, not just generic descriptions. What specific actions can we take based on our competitor analysis?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This slide focuses on portfolio strategy – how we align our resources with the best opportunities available. First, it's crucial to clearly define the objectives and scope of our portfolio. What are we hoping to accomplish? What market segments are we targeting? This provides a clear framework for decision-making.</a:t>
            </a:r>
          </a:p>
          <a:p/>
          <a:p>
            <a:r>
              <a:t>Next, we need to prioritize our investments. Frameworks like the BCG Matrix (Stars, Cash Cows, Question Marks, Dogs) and the Ansoff Matrix (Market Penetration, Market Development, Product Development, Diversification) are valuable tools here. The BCG Matrix helps us understand the current position of our products or business units within the market, informing resource allocation. The Ansoff Matrix guides us in choosing growth strategies based on current and new products in existing and new markets. For instance, 'Cash Cows' generate revenue that can be reinvested into 'Stars' or promising 'Question Marks'.</a:t>
            </a:r>
          </a:p>
          <a:p/>
          <a:p>
            <a:r>
              <a:t>Crucially, we must actively manage risk within the portfolio. This involves identifying potential threats to each asset and implementing strategies to mitigate those risks. This might involve diversification, hedging, or insurance. Finally, optimizing resource allocation means making informed investment decisions based on our market analysis, competitive landscape, and risk assessment. We need to continuously evaluate the performance of our portfolio and adapt our strategy as needed to capitalize on new opportunities and address emerging challenges. This is a dynamic process, not a one-time activity.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crucial link between industry analysis and portfolio strategy. </a:t>
            </a:r>
          </a:p>
          <a:p/>
          <a:p>
            <a:r>
              <a:t>*   **Industry Analysis Drives Portfolio Adjustments:** Begin by emphasizing that a thorough understanding of the industry – through frameworks like Porter’s Five Forces and PESTLE analysis – is foundational. Explain that identifying industry opportunities and threats dictates where capital should be invested and where it should be withdrawn.</a:t>
            </a:r>
          </a:p>
          <a:p/>
          <a:p>
            <a:r>
              <a:t>*   **Adapt to Disruptions, Capitalize on Trends:** Expand on the need for proactive adaptation. Give examples of disruptive technologies or emerging trends. Illustrate how a company should divest from declining sectors and reallocate resources to innovative areas with high growth potential. Focus on building resilience and agility within the portfolio.</a:t>
            </a:r>
          </a:p>
          <a:p/>
          <a:p>
            <a:r>
              <a:t>*   **Case Study: Netflix - From DVDs to Streaming Dominance:** This provides a concrete example. Discuss how Netflix successfully transitioned from a DVD rental service to a streaming giant. Highlight their early recognition of the internet's potential, their willingness to cannibalize their existing business, and their continuous investment in original content to stay ahead of the competition. Use specific metrics or anecdotes to demonstrate the impact of their strategic decisions.</a:t>
            </a:r>
          </a:p>
          <a:p/>
          <a:p>
            <a:r>
              <a:t>*   **Synergies and Competitive Advantages Within the Portfolio:** Explain that a well-constructed portfolio isn't just a collection of independent businesses; it's a system. Discuss how different business units can leverage each other's strengths to create a stronger overall competitive position. Give examples of how shared resources, technologies, or customer bases can enhance portfolio value.</a:t>
            </a:r>
          </a:p>
          <a:p/>
          <a:p>
            <a:r>
              <a:t>*   **Dynamic Portfolio Strategy: Agility is Key:** Conclude by stressing the importance of having a flexible portfolio strategy. Explain that the business landscape is constantly changing, so companies must be prepared to adapt quickly. Emphasize the need for regular monitoring of industry trends and competitor actions, and a willingness to make bold moves when necessary. The portfolio strategy should be a living document that is continuously updated and refined.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429 You exceeded your current quota, please check your plan and billing details. For more information on this error, head to: https://ai.google.dev/gemini-api/docs/rate-limits. To monitor your current usage, head to: https://ai.dev/usage?tab=rate-limit. </a:t>
            </a:r>
          </a:p>
          <a:p>
            <a:r>
              <a:t>* Quota exceeded for metric: generativelanguage.googleapis.com/generate_content_free_tier_requests, limit: 15, model: gemini-2.0-flash</a:t>
            </a:r>
          </a:p>
          <a:p>
            <a:r>
              <a:t>Please retry in 9.451324768s. [links {</a:t>
            </a:r>
          </a:p>
          <a:p>
            <a:r>
              <a:t>  description: "Learn more about Gemini API quotas"</a:t>
            </a:r>
          </a:p>
          <a:p>
            <a:r>
              <a:t>  url: "https://ai.google.dev/gemini-api/docs/rate-limits"</a:t>
            </a:r>
          </a:p>
          <a:p>
            <a:r>
              <a:t>}</a:t>
            </a:r>
          </a:p>
          <a:p>
            <a:r>
              <a:t>, violations {</a:t>
            </a:r>
          </a:p>
          <a:p>
            <a:r>
              <a:t>  quota_metric: "generativelanguage.googleapis.com/generate_content_free_tier_requests"</a:t>
            </a:r>
          </a:p>
          <a:p>
            <a:r>
              <a:t>  quota_id: "GenerateRequestsPerMinutePerProjectPerModel-FreeTier"</a:t>
            </a:r>
          </a:p>
          <a:p>
            <a:r>
              <a:t>  quota_dimensions {</a:t>
            </a:r>
          </a:p>
          <a:p>
            <a:r>
              <a:t>    key: "model"</a:t>
            </a:r>
          </a:p>
          <a:p>
            <a:r>
              <a:t>    value: "gemini-2.0-flash"</a:t>
            </a:r>
          </a:p>
          <a:p>
            <a:r>
              <a:t>  }</a:t>
            </a:r>
          </a:p>
          <a:p>
            <a:r>
              <a:t>  quota_dimensions {</a:t>
            </a:r>
          </a:p>
          <a:p>
            <a:r>
              <a:t>    key: "location"</a:t>
            </a:r>
          </a:p>
          <a:p>
            <a:r>
              <a:t>    value: "global"</a:t>
            </a:r>
          </a:p>
          <a:p>
            <a:r>
              <a:t>  }</a:t>
            </a:r>
          </a:p>
          <a:p>
            <a:r>
              <a:t>  quota_value: 15</a:t>
            </a:r>
          </a:p>
          <a:p>
            <a:r>
              <a:t>}</a:t>
            </a:r>
          </a:p>
          <a:p>
            <a:r>
              <a:t>, retry_delay {</a:t>
            </a:r>
          </a:p>
          <a:p>
            <a:r>
              <a:t>  seconds: 9</a:t>
            </a:r>
          </a:p>
          <a:p>
            <a:r>
              <a:t>}</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a:pPr>
              <a:defRPr>
                <a:solidFill>
                  <a:srgbClr val="000000"/>
                </a:solidFill>
                <a:latin typeface="Calibri"/>
              </a:defRPr>
            </a:pPr>
            <a:r>
              <a:t>Introduction: Navigating the Competitive Landscape</a:t>
            </a:r>
          </a:p>
        </p:txBody>
      </p:sp>
      <p:sp>
        <p:nvSpPr>
          <p:cNvPr id="3" name="Subtitle 2"/>
          <p:cNvSpPr>
            <a:spLocks noGrp="1"/>
          </p:cNvSpPr>
          <p:nvPr>
            <p:ph type="subTitle" idx="1"/>
          </p:nvPr>
        </p:nvSpPr>
        <p:spPr/>
        <p:txBody>
          <a:bodyPr/>
          <a:lstStyle/>
          <a:p>
            <a:pPr>
              <a:defRPr>
                <a:solidFill>
                  <a:srgbClr val="595959"/>
                </a:solidFill>
                <a:latin typeface="Calibri"/>
              </a:defRPr>
            </a:pPr>
            <a:r>
              <a:t>Welcome &amp; Introductions: Setting the Stage for Strategic Growth.</a:t>
            </a:r>
          </a:p>
          <a:p>
            <a:pPr lvl="1">
              <a:defRPr>
                <a:solidFill>
                  <a:srgbClr val="595959"/>
                </a:solidFill>
                <a:latin typeface="Calibri"/>
              </a:defRPr>
            </a:pPr>
            <a:r>
              <a:t>Why Competitive Industry Analysis Matters: Identifying Opportunities and Threats.</a:t>
            </a:r>
          </a:p>
          <a:p>
            <a:pPr lvl="1">
              <a:defRPr>
                <a:solidFill>
                  <a:srgbClr val="595959"/>
                </a:solidFill>
                <a:latin typeface="Calibri"/>
              </a:defRPr>
            </a:pPr>
            <a:r>
              <a:t>Portfolio Strategy Alignment: Connecting Insights to Actionable Investment Decisions.</a:t>
            </a:r>
          </a:p>
          <a:p>
            <a:pPr lvl="1">
              <a:defRPr>
                <a:solidFill>
                  <a:srgbClr val="595959"/>
                </a:solidFill>
                <a:latin typeface="Calibri"/>
              </a:defRPr>
            </a:pPr>
            <a:r>
              <a:t>Presentation Roadmap: A Guided Tour of Our Analysis and Recommendations.</a:t>
            </a:r>
          </a:p>
        </p:txBody>
      </p:sp>
      <p:sp>
        <p:nvSpPr>
          <p:cNvPr id="4" name="Rounded Rectangle 3"/>
          <p:cNvSpPr/>
          <p:nvPr/>
        </p:nvSpPr>
        <p:spPr>
          <a:xfrm>
            <a:off x="3200400" y="3200400"/>
            <a:ext cx="2743200" cy="1371600"/>
          </a:xfrm>
          <a:prstGeom prst="roundRect">
            <a:avLst/>
          </a:prstGeom>
          <a:solidFill>
            <a:srgbClr val="2E86AB"/>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Industry</a:t>
            </a:r>
            <a:br/>
            <a:r>
              <a:t>Rivalry</a:t>
            </a:r>
          </a:p>
        </p:txBody>
      </p:sp>
      <p:sp>
        <p:nvSpPr>
          <p:cNvPr id="5" name="Rounded Rectangle 4"/>
          <p:cNvSpPr/>
          <p:nvPr/>
        </p:nvSpPr>
        <p:spPr>
          <a:xfrm>
            <a:off x="3200400" y="45720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New Entrants</a:t>
            </a:r>
          </a:p>
          <a:p>
            <a:pPr algn="ctr">
              <a:defRPr sz="900">
                <a:solidFill>
                  <a:srgbClr val="FFFFFF"/>
                </a:solidFill>
              </a:defRPr>
            </a:pPr>
            <a:r>
              <a:t>Low to High (depending on barriers to entry)</a:t>
            </a:r>
          </a:p>
        </p:txBody>
      </p:sp>
      <p:sp>
        <p:nvSpPr>
          <p:cNvPr id="6" name="Rounded Rectangle 5"/>
          <p:cNvSpPr/>
          <p:nvPr/>
        </p:nvSpPr>
        <p:spPr>
          <a:xfrm>
            <a:off x="274320" y="320040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Suppliers</a:t>
            </a:r>
          </a:p>
          <a:p>
            <a:pPr algn="ctr">
              <a:defRPr sz="900">
                <a:solidFill>
                  <a:srgbClr val="FFFFFF"/>
                </a:solidFill>
              </a:defRPr>
            </a:pPr>
            <a:r>
              <a:t>Moderate (can influence input costs)</a:t>
            </a:r>
          </a:p>
        </p:txBody>
      </p:sp>
      <p:sp>
        <p:nvSpPr>
          <p:cNvPr id="7" name="Rounded Rectangle 6"/>
          <p:cNvSpPr/>
          <p:nvPr/>
        </p:nvSpPr>
        <p:spPr>
          <a:xfrm>
            <a:off x="6126480" y="320040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Buyers</a:t>
            </a:r>
          </a:p>
          <a:p>
            <a:pPr algn="ctr">
              <a:defRPr sz="900">
                <a:solidFill>
                  <a:srgbClr val="FFFFFF"/>
                </a:solidFill>
              </a:defRPr>
            </a:pPr>
            <a:r>
              <a:t>Moderate to High (depending on switching costs and buyer power)</a:t>
            </a:r>
          </a:p>
        </p:txBody>
      </p:sp>
      <p:sp>
        <p:nvSpPr>
          <p:cNvPr id="8" name="Rounded Rectangle 7"/>
          <p:cNvSpPr/>
          <p:nvPr/>
        </p:nvSpPr>
        <p:spPr>
          <a:xfrm>
            <a:off x="3200400" y="566928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Substitutes</a:t>
            </a:r>
          </a:p>
          <a:p>
            <a:pPr algn="ctr">
              <a:defRPr sz="900">
                <a:solidFill>
                  <a:srgbClr val="FFFFFF"/>
                </a:solidFill>
              </a:defRPr>
            </a:pPr>
            <a:r>
              <a:t>Moderate (depending on availability and price of alternatives)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Competitive Industry Analysis: Understanding the Playing Field</a:t>
            </a:r>
          </a:p>
        </p:txBody>
      </p:sp>
      <p:sp>
        <p:nvSpPr>
          <p:cNvPr id="3" name="Content Placeholder 2"/>
          <p:cNvSpPr>
            <a:spLocks noGrp="1"/>
          </p:cNvSpPr>
          <p:nvPr>
            <p:ph idx="1"/>
          </p:nvPr>
        </p:nvSpPr>
        <p:spPr/>
        <p:txBody>
          <a:bodyPr/>
          <a:lstStyle/>
          <a:p>
            <a:pPr>
              <a:defRPr>
                <a:solidFill>
                  <a:srgbClr val="C8C8C8"/>
                </a:solidFill>
                <a:latin typeface="Arial"/>
              </a:defRPr>
            </a:pPr>
            <a:r>
              <a:t>**Porter's Five Forces:** Assess industry attractiveness by analyzing the power of suppliers, buyers, new entrants, substitutes, and competitive rivalry.</a:t>
            </a:r>
          </a:p>
          <a:p>
            <a:pPr lvl="1">
              <a:defRPr>
                <a:solidFill>
                  <a:srgbClr val="C8C8C8"/>
                </a:solidFill>
                <a:latin typeface="Arial"/>
              </a:defRPr>
            </a:pPr>
            <a:r>
              <a:t>**PESTLE Analysis:** Understand macro-environmental factors (Political, Economic, Social, Technological, Legal, Environmental) impacting industry dynamics and future trends.</a:t>
            </a:r>
          </a:p>
          <a:p>
            <a:pPr lvl="1">
              <a:defRPr>
                <a:solidFill>
                  <a:srgbClr val="C8C8C8"/>
                </a:solidFill>
                <a:latin typeface="Arial"/>
              </a:defRPr>
            </a:pPr>
            <a:r>
              <a:t>**Key Success Factors (KSFs):** Pinpoint the critical activities and capabilities needed to thrive and outperform competitors in the industry.</a:t>
            </a:r>
          </a:p>
          <a:p>
            <a:pPr lvl="1">
              <a:defRPr>
                <a:solidFill>
                  <a:srgbClr val="C8C8C8"/>
                </a:solidFill>
                <a:latin typeface="Arial"/>
              </a:defRPr>
            </a:pPr>
            <a:r>
              <a:t>**Competitor SWOT Analysis:** Deep dive into competitor strengths, weaknesses, opportunities, and threats to identify strategic advantages and vulnerabilities.</a:t>
            </a:r>
          </a:p>
        </p:txBody>
      </p:sp>
      <p:sp>
        <p:nvSpPr>
          <p:cNvPr id="4" name="Rounded Rectangle 3"/>
          <p:cNvSpPr/>
          <p:nvPr/>
        </p:nvSpPr>
        <p:spPr>
          <a:xfrm>
            <a:off x="3200400" y="3200400"/>
            <a:ext cx="2743200" cy="1371600"/>
          </a:xfrm>
          <a:prstGeom prst="roundRect">
            <a:avLst/>
          </a:prstGeom>
          <a:solidFill>
            <a:srgbClr val="2E86AB"/>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Industry</a:t>
            </a:r>
            <a:br/>
            <a:r>
              <a:t>Rivalry</a:t>
            </a:r>
          </a:p>
        </p:txBody>
      </p:sp>
      <p:sp>
        <p:nvSpPr>
          <p:cNvPr id="5" name="Rounded Rectangle 4"/>
          <p:cNvSpPr/>
          <p:nvPr/>
        </p:nvSpPr>
        <p:spPr>
          <a:xfrm>
            <a:off x="3200400" y="45720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New Entrants</a:t>
            </a:r>
          </a:p>
          <a:p>
            <a:pPr algn="ctr">
              <a:defRPr sz="900">
                <a:solidFill>
                  <a:srgbClr val="FFFFFF"/>
                </a:solidFill>
              </a:defRPr>
            </a:pPr>
            <a:r>
              <a:t>threat level</a:t>
            </a:r>
          </a:p>
        </p:txBody>
      </p:sp>
      <p:sp>
        <p:nvSpPr>
          <p:cNvPr id="6" name="Rounded Rectangle 5"/>
          <p:cNvSpPr/>
          <p:nvPr/>
        </p:nvSpPr>
        <p:spPr>
          <a:xfrm>
            <a:off x="274320" y="320040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Suppliers</a:t>
            </a:r>
          </a:p>
          <a:p>
            <a:pPr algn="ctr">
              <a:defRPr sz="900">
                <a:solidFill>
                  <a:srgbClr val="FFFFFF"/>
                </a:solidFill>
              </a:defRPr>
            </a:pPr>
            <a:r>
              <a:t>power level</a:t>
            </a:r>
          </a:p>
        </p:txBody>
      </p:sp>
      <p:sp>
        <p:nvSpPr>
          <p:cNvPr id="7" name="Rounded Rectangle 6"/>
          <p:cNvSpPr/>
          <p:nvPr/>
        </p:nvSpPr>
        <p:spPr>
          <a:xfrm>
            <a:off x="6126480" y="320040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Buyers</a:t>
            </a:r>
          </a:p>
          <a:p>
            <a:pPr algn="ctr">
              <a:defRPr sz="900">
                <a:solidFill>
                  <a:srgbClr val="FFFFFF"/>
                </a:solidFill>
              </a:defRPr>
            </a:pPr>
            <a:r>
              <a:t>power level</a:t>
            </a:r>
          </a:p>
        </p:txBody>
      </p:sp>
      <p:sp>
        <p:nvSpPr>
          <p:cNvPr id="8" name="Rounded Rectangle 7"/>
          <p:cNvSpPr/>
          <p:nvPr/>
        </p:nvSpPr>
        <p:spPr>
          <a:xfrm>
            <a:off x="3200400" y="566928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Substitutes</a:t>
            </a:r>
          </a:p>
          <a:p>
            <a:pPr algn="ctr">
              <a:defRPr sz="900">
                <a:solidFill>
                  <a:srgbClr val="FFFFFF"/>
                </a:solidFill>
              </a:defRPr>
            </a:pPr>
            <a:r>
              <a:t>threat level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Portfolio Strategy: Aligning Resources with Opportunities</a:t>
            </a:r>
          </a:p>
        </p:txBody>
      </p:sp>
      <p:sp>
        <p:nvSpPr>
          <p:cNvPr id="3" name="Content Placeholder 2"/>
          <p:cNvSpPr>
            <a:spLocks noGrp="1"/>
          </p:cNvSpPr>
          <p:nvPr>
            <p:ph idx="1"/>
          </p:nvPr>
        </p:nvSpPr>
        <p:spPr/>
        <p:txBody>
          <a:bodyPr/>
          <a:lstStyle/>
          <a:p>
            <a:pPr>
              <a:defRPr>
                <a:solidFill>
                  <a:srgbClr val="595959"/>
                </a:solidFill>
                <a:latin typeface="Calibri"/>
              </a:defRPr>
            </a:pPr>
            <a:r>
              <a:t>**Define Your Portfolio:** Clearly articulate objectives and scope. What are we trying to achieve, and where will we focus?</a:t>
            </a:r>
          </a:p>
          <a:p>
            <a:pPr lvl="1">
              <a:defRPr>
                <a:solidFill>
                  <a:srgbClr val="595959"/>
                </a:solidFill>
                <a:latin typeface="Calibri"/>
              </a:defRPr>
            </a:pPr>
            <a:r>
              <a:t>**Prioritize Investments:** Utilize frameworks like the BCG &amp; Ansoff matrices to identify high-potential growth areas and allocate resources effectively.</a:t>
            </a:r>
          </a:p>
          <a:p>
            <a:pPr lvl="1">
              <a:defRPr>
                <a:solidFill>
                  <a:srgbClr val="595959"/>
                </a:solidFill>
                <a:latin typeface="Calibri"/>
              </a:defRPr>
            </a:pPr>
            <a:r>
              <a:t>**Manage Portfolio Risk:** Implement strategies to mitigate risks across the portfolio and protect overall value.</a:t>
            </a:r>
          </a:p>
          <a:p>
            <a:pPr lvl="1">
              <a:defRPr>
                <a:solidFill>
                  <a:srgbClr val="595959"/>
                </a:solidFill>
                <a:latin typeface="Calibri"/>
              </a:defRPr>
            </a:pPr>
            <a:r>
              <a:t>**Optimize Resource Allocation:** Make informed investment decisions based on market analysis and competitive dynamics.</a:t>
            </a:r>
          </a:p>
          <a:p>
            <a:pPr lvl="1">
              <a:defRPr>
                <a:solidFill>
                  <a:srgbClr val="595959"/>
                </a:solidFill>
                <a:latin typeface="Calibri"/>
              </a:defRPr>
            </a:pPr>
            <a:r>
              <a:t>**Continuously Evaluate &amp; Adapt:** Regularly review portfolio performance and adjust strategy to capitalize on emerging opportunities.</a:t>
            </a:r>
          </a:p>
        </p:txBody>
      </p:sp>
      <p:sp>
        <p:nvSpPr>
          <p:cNvPr id="4" name="Rounded Rectangle 3"/>
          <p:cNvSpPr/>
          <p:nvPr/>
        </p:nvSpPr>
        <p:spPr>
          <a:xfrm>
            <a:off x="5029200" y="1828800"/>
            <a:ext cx="3657600" cy="2011680"/>
          </a:xfrm>
          <a:prstGeom prst="roundRect">
            <a:avLst/>
          </a:prstGeom>
          <a:solidFill>
            <a:srgbClr val="F18F0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600" b="1">
                <a:solidFill>
                  <a:srgbClr val="FFFFFF"/>
                </a:solidFill>
              </a:defRPr>
            </a:pPr>
            <a:r>
              <a:t>Stars</a:t>
            </a:r>
          </a:p>
          <a:p>
            <a:pPr>
              <a:defRPr sz="1000" i="1">
                <a:solidFill>
                  <a:srgbClr val="FFFFFF"/>
                </a:solidFill>
              </a:defRPr>
            </a:pPr>
            <a:r>
              <a:t>High Growth</a:t>
            </a:r>
            <a:br/>
            <a:r>
              <a:t>High Share</a:t>
            </a:r>
          </a:p>
        </p:txBody>
      </p:sp>
      <p:sp>
        <p:nvSpPr>
          <p:cNvPr id="5" name="Rounded Rectangle 4"/>
          <p:cNvSpPr/>
          <p:nvPr/>
        </p:nvSpPr>
        <p:spPr>
          <a:xfrm>
            <a:off x="914400" y="1828800"/>
            <a:ext cx="3657600" cy="2011680"/>
          </a:xfrm>
          <a:prstGeom prst="roundRect">
            <a:avLst/>
          </a:prstGeom>
          <a:solidFill>
            <a:srgbClr val="A23B7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600" b="1">
                <a:solidFill>
                  <a:srgbClr val="FFFFFF"/>
                </a:solidFill>
              </a:defRPr>
            </a:pPr>
            <a:r>
              <a:t>Question Marks</a:t>
            </a:r>
          </a:p>
          <a:p>
            <a:pPr>
              <a:defRPr sz="1000" i="1">
                <a:solidFill>
                  <a:srgbClr val="FFFFFF"/>
                </a:solidFill>
              </a:defRPr>
            </a:pPr>
            <a:r>
              <a:t>High Growth</a:t>
            </a:r>
            <a:br/>
            <a:r>
              <a:t>Low Share</a:t>
            </a:r>
          </a:p>
        </p:txBody>
      </p:sp>
      <p:sp>
        <p:nvSpPr>
          <p:cNvPr id="6" name="Rounded Rectangle 5"/>
          <p:cNvSpPr/>
          <p:nvPr/>
        </p:nvSpPr>
        <p:spPr>
          <a:xfrm>
            <a:off x="5029200" y="4114800"/>
            <a:ext cx="3657600" cy="201168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600" b="1">
                <a:solidFill>
                  <a:srgbClr val="FFFFFF"/>
                </a:solidFill>
              </a:defRPr>
            </a:pPr>
            <a:r>
              <a:t>Cash Cows</a:t>
            </a:r>
          </a:p>
          <a:p>
            <a:pPr>
              <a:defRPr sz="1000" i="1">
                <a:solidFill>
                  <a:srgbClr val="FFFFFF"/>
                </a:solidFill>
              </a:defRPr>
            </a:pPr>
            <a:r>
              <a:t>Low Growth</a:t>
            </a:r>
            <a:br/>
            <a:r>
              <a:t>High Share</a:t>
            </a:r>
          </a:p>
        </p:txBody>
      </p:sp>
      <p:sp>
        <p:nvSpPr>
          <p:cNvPr id="7" name="Rounded Rectangle 6"/>
          <p:cNvSpPr/>
          <p:nvPr/>
        </p:nvSpPr>
        <p:spPr>
          <a:xfrm>
            <a:off x="914400" y="4114800"/>
            <a:ext cx="3657600" cy="2011680"/>
          </a:xfrm>
          <a:prstGeom prst="roundRect">
            <a:avLst/>
          </a:prstGeom>
          <a:solidFill>
            <a:srgbClr val="96969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600" b="1">
                <a:solidFill>
                  <a:srgbClr val="FFFFFF"/>
                </a:solidFill>
              </a:defRPr>
            </a:pPr>
            <a:r>
              <a:t>Dogs</a:t>
            </a:r>
          </a:p>
          <a:p>
            <a:pPr>
              <a:defRPr sz="1000" i="1">
                <a:solidFill>
                  <a:srgbClr val="FFFFFF"/>
                </a:solidFill>
              </a:defRPr>
            </a:pPr>
            <a:r>
              <a:t>Low Growth</a:t>
            </a:r>
            <a:br/>
            <a:r>
              <a:t>Low Share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Linking Industry Analysis and Portfolio Strategy: Making Strategic Choices</a:t>
            </a:r>
          </a:p>
        </p:txBody>
      </p:sp>
      <p:sp>
        <p:nvSpPr>
          <p:cNvPr id="3" name="Content Placeholder 2"/>
          <p:cNvSpPr>
            <a:spLocks noGrp="1"/>
          </p:cNvSpPr>
          <p:nvPr>
            <p:ph idx="1"/>
          </p:nvPr>
        </p:nvSpPr>
        <p:spPr/>
        <p:txBody>
          <a:bodyPr/>
          <a:lstStyle/>
          <a:p>
            <a:pPr>
              <a:defRPr>
                <a:solidFill>
                  <a:srgbClr val="595959"/>
                </a:solidFill>
                <a:latin typeface="Calibri"/>
              </a:defRPr>
            </a:pPr>
            <a:r>
              <a:t>**Industry Analysis Drives Portfolio Adjustments:** Understanding industry forces (Porter's 5 Forces, PESTLE) reveals opportunities and threats, influencing resource allocation across the portfolio.</a:t>
            </a:r>
          </a:p>
          <a:p>
            <a:pPr lvl="1">
              <a:defRPr>
                <a:solidFill>
                  <a:srgbClr val="595959"/>
                </a:solidFill>
                <a:latin typeface="Calibri"/>
              </a:defRPr>
            </a:pPr>
            <a:r>
              <a:t>**Adapt to Disruptions, Capitalize on Trends:** Portfolio strategy must evolve based on industry shifts. Divest from declining sectors, invest in emerging technologies, and build resilience against disruption.</a:t>
            </a:r>
          </a:p>
          <a:p>
            <a:pPr lvl="1">
              <a:defRPr>
                <a:solidFill>
                  <a:srgbClr val="595959"/>
                </a:solidFill>
                <a:latin typeface="Calibri"/>
              </a:defRPr>
            </a:pPr>
            <a:r>
              <a:t>**Case Study: Netflix - From DVDs to Streaming Dominance:** Demonstrates a successful adaptation to technological disruption. Illustrates proactive portfolio adjustments based on changing consumer preferences and competitive landscape.</a:t>
            </a:r>
          </a:p>
          <a:p>
            <a:pPr lvl="1">
              <a:defRPr>
                <a:solidFill>
                  <a:srgbClr val="595959"/>
                </a:solidFill>
                <a:latin typeface="Calibri"/>
              </a:defRPr>
            </a:pPr>
            <a:r>
              <a:t>**Synergies and Competitive Advantages Within the Portfolio:** Identify how different business units can complement each other, creating a stronger overall competitive position and enhancing portfolio value.</a:t>
            </a:r>
          </a:p>
          <a:p>
            <a:pPr lvl="1">
              <a:defRPr>
                <a:solidFill>
                  <a:srgbClr val="595959"/>
                </a:solidFill>
                <a:latin typeface="Calibri"/>
              </a:defRPr>
            </a:pPr>
            <a:r>
              <a:t>**Dynamic Portfolio Strategy: Agility is Key:** Develop a flexible portfolio strategy that can be rapidly adjusted in response to unforeseen events, competitor actions, and evolving market dynamics.</a:t>
            </a:r>
          </a:p>
        </p:txBody>
      </p:sp>
      <p:sp>
        <p:nvSpPr>
          <p:cNvPr id="4" name="Rounded Rectangle 3"/>
          <p:cNvSpPr/>
          <p:nvPr/>
        </p:nvSpPr>
        <p:spPr>
          <a:xfrm>
            <a:off x="3200400" y="3200400"/>
            <a:ext cx="2743200" cy="1371600"/>
          </a:xfrm>
          <a:prstGeom prst="roundRect">
            <a:avLst/>
          </a:prstGeom>
          <a:solidFill>
            <a:srgbClr val="2E86AB"/>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Industry</a:t>
            </a:r>
            <a:br/>
            <a:r>
              <a:t>Rivalry</a:t>
            </a:r>
          </a:p>
        </p:txBody>
      </p:sp>
      <p:sp>
        <p:nvSpPr>
          <p:cNvPr id="5" name="Rounded Rectangle 4"/>
          <p:cNvSpPr/>
          <p:nvPr/>
        </p:nvSpPr>
        <p:spPr>
          <a:xfrm>
            <a:off x="3200400" y="45720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New Entrants</a:t>
            </a:r>
          </a:p>
          <a:p>
            <a:pPr algn="ctr">
              <a:defRPr sz="900">
                <a:solidFill>
                  <a:srgbClr val="FFFFFF"/>
                </a:solidFill>
              </a:defRPr>
            </a:pPr>
            <a:r>
              <a:t>Low/High (depending on barriers to entry)</a:t>
            </a:r>
          </a:p>
        </p:txBody>
      </p:sp>
      <p:sp>
        <p:nvSpPr>
          <p:cNvPr id="6" name="Rounded Rectangle 5"/>
          <p:cNvSpPr/>
          <p:nvPr/>
        </p:nvSpPr>
        <p:spPr>
          <a:xfrm>
            <a:off x="274320" y="320040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Suppliers</a:t>
            </a:r>
          </a:p>
          <a:p>
            <a:pPr algn="ctr">
              <a:defRPr sz="900">
                <a:solidFill>
                  <a:srgbClr val="FFFFFF"/>
                </a:solidFill>
              </a:defRPr>
            </a:pPr>
            <a:r>
              <a:t>Low/High (depending on supplier concentration)</a:t>
            </a:r>
          </a:p>
        </p:txBody>
      </p:sp>
      <p:sp>
        <p:nvSpPr>
          <p:cNvPr id="7" name="Rounded Rectangle 6"/>
          <p:cNvSpPr/>
          <p:nvPr/>
        </p:nvSpPr>
        <p:spPr>
          <a:xfrm>
            <a:off x="6126480" y="320040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Buyers</a:t>
            </a:r>
          </a:p>
          <a:p>
            <a:pPr algn="ctr">
              <a:defRPr sz="900">
                <a:solidFill>
                  <a:srgbClr val="FFFFFF"/>
                </a:solidFill>
              </a:defRPr>
            </a:pPr>
            <a:r>
              <a:t>Low/High (depending on buyer power/price sensitivity)</a:t>
            </a:r>
          </a:p>
        </p:txBody>
      </p:sp>
      <p:sp>
        <p:nvSpPr>
          <p:cNvPr id="8" name="Rounded Rectangle 7"/>
          <p:cNvSpPr/>
          <p:nvPr/>
        </p:nvSpPr>
        <p:spPr>
          <a:xfrm>
            <a:off x="3200400" y="5669280"/>
            <a:ext cx="2286000" cy="1097280"/>
          </a:xfrm>
          <a:prstGeom prst="roundRect">
            <a:avLst/>
          </a:prstGeom>
          <a:solidFill>
            <a:srgbClr val="F18F01"/>
          </a:solidFill>
          <a:ln w="25400"/>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Substitutes</a:t>
            </a:r>
          </a:p>
          <a:p>
            <a:pPr algn="ctr">
              <a:defRPr sz="900">
                <a:solidFill>
                  <a:srgbClr val="FFFFFF"/>
                </a:solidFill>
              </a:defRPr>
            </a:pPr>
            <a:r>
              <a:t>Low/High (depending on availability and attractiveness of alternatives)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Conclusion: Building a Resilient and Competitive Portfolio</a:t>
            </a:r>
          </a:p>
        </p:txBody>
      </p:sp>
      <p:sp>
        <p:nvSpPr>
          <p:cNvPr id="3" name="Content Placeholder 2"/>
          <p:cNvSpPr>
            <a:spLocks noGrp="1"/>
          </p:cNvSpPr>
          <p:nvPr>
            <p:ph idx="1"/>
          </p:nvPr>
        </p:nvSpPr>
        <p:spPr/>
        <p:txBody>
          <a:bodyPr/>
          <a:lstStyle/>
          <a:p>
            <a:pPr>
              <a:defRPr>
                <a:solidFill>
                  <a:srgbClr val="595959"/>
                </a:solidFill>
                <a:latin typeface="Calibri"/>
              </a:defRPr>
            </a:pPr>
            <a:r>
              <a:t>Error generating content.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