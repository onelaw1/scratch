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Invalid \escape: line 5 column 48 (char 123)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the right business model is paramount to your SaaS platform's success. It's not just about picking a random option; it's about aligning your pricing strategy with your target audience, the complexity of your product, and the competitive landscape. Let's break down some key models:</a:t>
            </a:r>
          </a:p>
          <a:p/>
          <a:p>
            <a:r>
              <a:t>*   **Freemium:** This model focuses on attracting a large user base by offering a basic version of your product for free. The goal is to convert a percentage of these free users into paying customers who need more features or higher usage limits. It’s excellent for widespread adoption but requires careful feature gating.</a:t>
            </a:r>
          </a:p>
          <a:p/>
          <a:p>
            <a:r>
              <a:t>*   **Subscription (Tiered):** This is a common and versatile model. You offer different levels of features, support, or usage capacity at varying price points. This caters to diverse customer needs and budgets, allowing you to capture different segments of the market. Think Bronze, Silver, and Gold packages. It requires thoughtful tier design to avoid cannibalization or confusion.</a:t>
            </a:r>
          </a:p>
          <a:p/>
          <a:p>
            <a:r>
              <a:t>*   **Usage-Based Pricing:** Also known as pay-as-you-go, this model charges customers based on their consumption of your product – for example, the number of API calls, the amount of storage used, or the number of transactions processed. This is ideal for products with variable usage patterns and allows customers to scale their costs in line with their business needs. However, it can be difficult to predict revenue and manage cost projections.</a:t>
            </a:r>
          </a:p>
          <a:p/>
          <a:p>
            <a:r>
              <a:t>*   **Value-Based Pricing:** This model determines the price based on the perceived value that your product provides to the customer. This requires a deep understanding of your customers' needs and willingness to pay. It often leads to higher profit margins but can be challenging to implement without strong market research and customer communication. Example: saving them x amount of money or x amount of time.</a:t>
            </a:r>
          </a:p>
          <a:p/>
          <a:p>
            <a:r>
              <a:t>*   **Hybrid Models:** Don't be afraid to combine elements of different pricing strategies. For example, you might offer a freemium plan with limited features and then tiered subscription plans with usage-based add-ons. This can create a more flexible and attractive offering.</a:t>
            </a:r>
          </a:p>
          <a:p/>
          <a:p>
            <a:r>
              <a:t>*   **Strategic Alignment:** The most important takeaway is to consider your target audience, product complexity, and the competitive landscape when making your decision. A model that works for one SaaS platform may not work for another. Thoroughly research and test different approaches to find the best fit for your business.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focuses on the key acquisition strategies vital for the SaaS platform's growth. </a:t>
            </a:r>
          </a:p>
          <a:p/>
          <a:p>
            <a:r>
              <a:t>*   **Content Marketing:** Explain that creating high-quality, relevant content is essential for attracting potential customers and establishing the platform as a thought leader. Mention the importance of a content calendar and tracking content performance.</a:t>
            </a:r>
          </a:p>
          <a:p/>
          <a:p>
            <a:r>
              <a:t>*   **SEO:** Emphasize the need for both on-page and off-page SEO to improve search engine rankings. Highlight the importance of keyword research and technical SEO audits.</a:t>
            </a:r>
          </a:p>
          <a:p/>
          <a:p>
            <a:r>
              <a:t>*   **Paid Advertising (PPC):** Discuss the benefits of targeted advertising campaigns on platforms like Google Ads and social media. Explain how to optimize campaigns for conversions and track ROI.</a:t>
            </a:r>
          </a:p>
          <a:p/>
          <a:p>
            <a:r>
              <a:t>*   **Social Media Marketing:** Explain the importance of building a strong social media presence and engaging with potential customers. Mention different social media strategies for different platforms.</a:t>
            </a:r>
          </a:p>
          <a:p/>
          <a:p>
            <a:r>
              <a:t>*   **Affiliate Marketing:** Highlight the potential for expanding reach and acquiring new customers through affiliate partnerships. Discuss how to identify and manage affiliate relationships.</a:t>
            </a:r>
          </a:p>
          <a:p/>
          <a:p>
            <a:r>
              <a:t>*   **Strategic Partnerships:** Emphasize the importance of finding complementary businesses to partner with and offer mutually beneficial solutions to each other's customer bases. Provide examples of potential strategic partners for the SaaS platform. By focusing on these six key acquisition strategies, the platform can achieve sustainable growth and increase its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focuses on strategies to retain existing customers and expand their usage, ultimately turning them into advocates for our platform. Let's break down each point: </a:t>
            </a:r>
          </a:p>
          <a:p/>
          <a:p>
            <a:r>
              <a:t>*   **Onboarding Excellence:** A smooth and intuitive onboarding process is critical. It sets the stage for user adoption and long-term engagement. We need to minimize friction and ensure users quickly realize the value of our platform. Discuss specific onboarding improvements planned or implemented.</a:t>
            </a:r>
          </a:p>
          <a:p/>
          <a:p>
            <a:r>
              <a:t>*   **Proactive Customer Success:** Don't wait for customers to struggle. Proactively reach out to offer assistance, training, and guidance. Customer success is about helping them achieve their business objectives through our platform. Showcase examples of proactive customer success initiatives.</a:t>
            </a:r>
          </a:p>
          <a:p/>
          <a:p>
            <a:r>
              <a:t>*   **Thriving Community:** Building a community around our platform allows users to connect, share best practices, and learn from each other. This sense of belonging increases loyalty and reduces churn. Mention community platforms or initiatives you have in place (forums, webinars, etc.).</a:t>
            </a:r>
          </a:p>
          <a:p/>
          <a:p>
            <a:r>
              <a:t>*   **Constant Improvement (Feedback):** Regularly collect user feedback through surveys, interviews, and usage data. Act on this feedback to improve the platform and demonstrate that we value their input. Discuss your feedback mechanisms and how the company iterates based on customer input.</a:t>
            </a:r>
          </a:p>
          <a:p/>
          <a:p>
            <a:r>
              <a:t>*   **Strategic Upselling/Cross-selling:** Identify opportunities to offer additional features or products that enhance the value of our platform for existing customers. Make sure these offerings are relevant to their needs and usage patterns. Highlight success stories related to upselling/cross-selling.</a:t>
            </a:r>
          </a:p>
          <a:p/>
          <a:p>
            <a:r>
              <a:t>*   **Advocate-Powered Growth (Referrals):** Encourage satisfied customers to refer new users through a referral program. Referrals are a powerful form of social proof and can significantly drive growth. Detail the structure and incentives of the referral program.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Okay, let's wrap up. Building a truly sustainable SaaS business hinges on three key pillars.</a:t>
            </a:r>
          </a:p>
          <a:p/>
          <a:p>
            <a:r>
              <a:t>First, **Data-Driven Decisions are Paramount.** We've discussed different business model options and growth strategies, but none of them will work without data. We need to continuously track crucial metrics like churn rate, customer acquisition cost (CAC), and lifetime value (LTV). These metrics are not just numbers; they are stories. They tell us what's working, what's not, and where we need to focus our efforts. Use these insights to refine your pricing, improve your marketing efforts, and enhance your product.</a:t>
            </a:r>
          </a:p>
          <a:p/>
          <a:p>
            <a:r>
              <a:t>Second, **Embrace Iteration and Adaptation.** The SaaS market is constantly evolving. New technologies emerge, customer expectations shift, and competitors enter the arena. Your initial business model and growth strategy are just starting points. You need to regularly review your performance, gather customer feedback, and be willing to adapt to the changing landscape. Don't be afraid to experiment and try new approaches.</a:t>
            </a:r>
          </a:p>
          <a:p/>
          <a:p>
            <a:r>
              <a:t>Finally, and most importantly, **Customer Value is King.** At the end of the day, the success of your SaaS business depends on the value you provide to your customers. Focus on solving their problems, exceeding their expectations, and building strong, lasting relationships. Happy customers are the best advocates for your product and will drive long-term growth and profitability. Remember, retention is often more cost-effective than acquisition. Prioritize excellent customer support, proactive engagement, and continuous product improvement based on customer needs.</a:t>
            </a:r>
          </a:p>
          <a:p/>
          <a:p>
            <a:r>
              <a:t>Now, let's open the floor for questions. What's on your mind?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0000"/>
                </a:solidFill>
                <a:latin typeface="Calibri"/>
              </a:defRPr>
            </a:pPr>
            <a:r>
              <a:t>Introduction: Scaling Your SaaS Dream</a:t>
            </a:r>
          </a:p>
        </p:txBody>
      </p:sp>
      <p:sp>
        <p:nvSpPr>
          <p:cNvPr id="3" name="Subtitle 2"/>
          <p:cNvSpPr>
            <a:spLocks noGrp="1"/>
          </p:cNvSpPr>
          <p:nvPr>
            <p:ph type="subTitle" idx="1"/>
          </p:nvPr>
        </p:nvSpPr>
        <p:spPr/>
        <p:txBody>
          <a:bodyPr/>
          <a:lstStyle/>
          <a:p>
            <a:pPr>
              <a:defRPr>
                <a:solidFill>
                  <a:srgbClr val="595959"/>
                </a:solidFill>
                <a:latin typeface="Calibri"/>
              </a:defRPr>
            </a:pPr>
            <a:r>
              <a:t>Error generating content.</a:t>
            </a:r>
          </a:p>
        </p:txBody>
      </p:sp>
      <p:sp>
        <p:nvSpPr>
          <p:cNvPr id="4" name="Rounded Rectangle 3"/>
          <p:cNvSpPr/>
          <p:nvPr/>
        </p:nvSpPr>
        <p:spPr>
          <a:xfrm>
            <a:off x="457200" y="1371600"/>
            <a:ext cx="2011680" cy="411480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Key Partners</a:t>
            </a:r>
          </a:p>
        </p:txBody>
      </p:sp>
      <p:sp>
        <p:nvSpPr>
          <p:cNvPr id="5" name="Rounded Rectangle 4"/>
          <p:cNvSpPr/>
          <p:nvPr/>
        </p:nvSpPr>
        <p:spPr>
          <a:xfrm>
            <a:off x="2560320" y="1371600"/>
            <a:ext cx="2011680" cy="2011680"/>
          </a:xfrm>
          <a:prstGeom prst="roundRect">
            <a:avLst/>
          </a:prstGeom>
          <a:solidFill>
            <a:srgbClr val="2E86A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Key Activities</a:t>
            </a:r>
          </a:p>
        </p:txBody>
      </p:sp>
      <p:sp>
        <p:nvSpPr>
          <p:cNvPr id="6" name="Rounded Rectangle 5"/>
          <p:cNvSpPr/>
          <p:nvPr/>
        </p:nvSpPr>
        <p:spPr>
          <a:xfrm>
            <a:off x="2560320" y="3474720"/>
            <a:ext cx="2011680" cy="2011680"/>
          </a:xfrm>
          <a:prstGeom prst="roundRect">
            <a:avLst/>
          </a:prstGeom>
          <a:solidFill>
            <a:srgbClr val="2E86A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Key Resources</a:t>
            </a:r>
          </a:p>
        </p:txBody>
      </p:sp>
      <p:sp>
        <p:nvSpPr>
          <p:cNvPr id="7" name="Rounded Rectangle 6"/>
          <p:cNvSpPr/>
          <p:nvPr/>
        </p:nvSpPr>
        <p:spPr>
          <a:xfrm>
            <a:off x="4663440" y="1371600"/>
            <a:ext cx="2011680" cy="411480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Value Propositions</a:t>
            </a:r>
          </a:p>
        </p:txBody>
      </p:sp>
      <p:sp>
        <p:nvSpPr>
          <p:cNvPr id="8" name="Rounded Rectangle 7"/>
          <p:cNvSpPr/>
          <p:nvPr/>
        </p:nvSpPr>
        <p:spPr>
          <a:xfrm>
            <a:off x="6766560" y="1371600"/>
            <a:ext cx="201168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Customer Relationships</a:t>
            </a:r>
          </a:p>
        </p:txBody>
      </p:sp>
      <p:sp>
        <p:nvSpPr>
          <p:cNvPr id="9" name="Rounded Rectangle 8"/>
          <p:cNvSpPr/>
          <p:nvPr/>
        </p:nvSpPr>
        <p:spPr>
          <a:xfrm>
            <a:off x="6766560" y="3474720"/>
            <a:ext cx="201168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Channels</a:t>
            </a:r>
          </a:p>
        </p:txBody>
      </p:sp>
      <p:sp>
        <p:nvSpPr>
          <p:cNvPr id="10" name="Rounded Rectangle 9"/>
          <p:cNvSpPr/>
          <p:nvPr/>
        </p:nvSpPr>
        <p:spPr>
          <a:xfrm>
            <a:off x="8869680" y="1371600"/>
            <a:ext cx="2011680" cy="4114800"/>
          </a:xfrm>
          <a:prstGeom prst="roundRect">
            <a:avLst/>
          </a:prstGeom>
          <a:solidFill>
            <a:srgbClr val="A23B7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Customer Segments</a:t>
            </a:r>
          </a:p>
        </p:txBody>
      </p:sp>
      <p:sp>
        <p:nvSpPr>
          <p:cNvPr id="11" name="Rounded Rectangle 10"/>
          <p:cNvSpPr/>
          <p:nvPr/>
        </p:nvSpPr>
        <p:spPr>
          <a:xfrm>
            <a:off x="457200" y="5577840"/>
            <a:ext cx="4206240" cy="1280160"/>
          </a:xfrm>
          <a:prstGeom prst="roundRect">
            <a:avLst/>
          </a:prstGeom>
          <a:solidFill>
            <a:srgbClr val="96969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Cost Structure</a:t>
            </a:r>
          </a:p>
        </p:txBody>
      </p:sp>
      <p:sp>
        <p:nvSpPr>
          <p:cNvPr id="12" name="Rounded Rectangle 11"/>
          <p:cNvSpPr/>
          <p:nvPr/>
        </p:nvSpPr>
        <p:spPr>
          <a:xfrm>
            <a:off x="4663440" y="5577840"/>
            <a:ext cx="6217920" cy="128016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Revenue Streams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Choosing the Right Business Model: Foundations for Success</a:t>
            </a:r>
          </a:p>
        </p:txBody>
      </p:sp>
      <p:sp>
        <p:nvSpPr>
          <p:cNvPr id="3" name="Content Placeholder 2"/>
          <p:cNvSpPr>
            <a:spLocks noGrp="1"/>
          </p:cNvSpPr>
          <p:nvPr>
            <p:ph idx="1"/>
          </p:nvPr>
        </p:nvSpPr>
        <p:spPr/>
        <p:txBody>
          <a:bodyPr/>
          <a:lstStyle/>
          <a:p>
            <a:pPr>
              <a:defRPr>
                <a:solidFill>
                  <a:srgbClr val="595959"/>
                </a:solidFill>
                <a:latin typeface="Calibri"/>
              </a:defRPr>
            </a:pPr>
            <a:r>
              <a:t>**Freemium:** Broad reach, conversion to paid.</a:t>
            </a:r>
          </a:p>
          <a:p>
            <a:pPr lvl="1">
              <a:defRPr>
                <a:solidFill>
                  <a:srgbClr val="595959"/>
                </a:solidFill>
                <a:latin typeface="Calibri"/>
              </a:defRPr>
            </a:pPr>
            <a:r>
              <a:t>**Subscription (Tiered):** Varied features, flexible pricing.</a:t>
            </a:r>
          </a:p>
          <a:p>
            <a:pPr lvl="1">
              <a:defRPr>
                <a:solidFill>
                  <a:srgbClr val="595959"/>
                </a:solidFill>
                <a:latin typeface="Calibri"/>
              </a:defRPr>
            </a:pPr>
            <a:r>
              <a:t>**Usage-Based:** Pay-as-you-go, scalable costs.</a:t>
            </a:r>
          </a:p>
          <a:p>
            <a:pPr lvl="1">
              <a:defRPr>
                <a:solidFill>
                  <a:srgbClr val="595959"/>
                </a:solidFill>
                <a:latin typeface="Calibri"/>
              </a:defRPr>
            </a:pPr>
            <a:r>
              <a:t>**Value-Based:** Price reflects perceived benefit.</a:t>
            </a:r>
          </a:p>
          <a:p>
            <a:pPr lvl="1">
              <a:defRPr>
                <a:solidFill>
                  <a:srgbClr val="595959"/>
                </a:solidFill>
                <a:latin typeface="Calibri"/>
              </a:defRPr>
            </a:pPr>
            <a:r>
              <a:t>**Hybrid Models:** Combine strategies for optimal fit.</a:t>
            </a:r>
          </a:p>
          <a:p>
            <a:pPr lvl="1">
              <a:defRPr>
                <a:solidFill>
                  <a:srgbClr val="595959"/>
                </a:solidFill>
                <a:latin typeface="Calibri"/>
              </a:defRPr>
            </a:pPr>
            <a:r>
              <a:t>**Strategic Alignment:** Match model to audience, product, &amp; competition.</a:t>
            </a:r>
          </a:p>
        </p:txBody>
      </p:sp>
      <p:sp>
        <p:nvSpPr>
          <p:cNvPr id="4" name="Rounded Rectangle 3"/>
          <p:cNvSpPr/>
          <p:nvPr/>
        </p:nvSpPr>
        <p:spPr>
          <a:xfrm>
            <a:off x="457200" y="1371600"/>
            <a:ext cx="2011680" cy="411480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Key Partners</a:t>
            </a:r>
          </a:p>
        </p:txBody>
      </p:sp>
      <p:sp>
        <p:nvSpPr>
          <p:cNvPr id="5" name="Rounded Rectangle 4"/>
          <p:cNvSpPr/>
          <p:nvPr/>
        </p:nvSpPr>
        <p:spPr>
          <a:xfrm>
            <a:off x="2560320" y="1371600"/>
            <a:ext cx="2011680" cy="2011680"/>
          </a:xfrm>
          <a:prstGeom prst="roundRect">
            <a:avLst/>
          </a:prstGeom>
          <a:solidFill>
            <a:srgbClr val="2E86A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Key Activities</a:t>
            </a:r>
          </a:p>
        </p:txBody>
      </p:sp>
      <p:sp>
        <p:nvSpPr>
          <p:cNvPr id="6" name="Rounded Rectangle 5"/>
          <p:cNvSpPr/>
          <p:nvPr/>
        </p:nvSpPr>
        <p:spPr>
          <a:xfrm>
            <a:off x="2560320" y="3474720"/>
            <a:ext cx="2011680" cy="2011680"/>
          </a:xfrm>
          <a:prstGeom prst="roundRect">
            <a:avLst/>
          </a:prstGeom>
          <a:solidFill>
            <a:srgbClr val="2E86A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Key Resources</a:t>
            </a:r>
          </a:p>
        </p:txBody>
      </p:sp>
      <p:sp>
        <p:nvSpPr>
          <p:cNvPr id="7" name="Rounded Rectangle 6"/>
          <p:cNvSpPr/>
          <p:nvPr/>
        </p:nvSpPr>
        <p:spPr>
          <a:xfrm>
            <a:off x="4663440" y="1371600"/>
            <a:ext cx="2011680" cy="411480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Value Propositions</a:t>
            </a:r>
          </a:p>
        </p:txBody>
      </p:sp>
      <p:sp>
        <p:nvSpPr>
          <p:cNvPr id="8" name="Rounded Rectangle 7"/>
          <p:cNvSpPr/>
          <p:nvPr/>
        </p:nvSpPr>
        <p:spPr>
          <a:xfrm>
            <a:off x="6766560" y="1371600"/>
            <a:ext cx="201168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Customer Relationships</a:t>
            </a:r>
          </a:p>
        </p:txBody>
      </p:sp>
      <p:sp>
        <p:nvSpPr>
          <p:cNvPr id="9" name="Rounded Rectangle 8"/>
          <p:cNvSpPr/>
          <p:nvPr/>
        </p:nvSpPr>
        <p:spPr>
          <a:xfrm>
            <a:off x="6766560" y="3474720"/>
            <a:ext cx="201168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Channels</a:t>
            </a:r>
          </a:p>
        </p:txBody>
      </p:sp>
      <p:sp>
        <p:nvSpPr>
          <p:cNvPr id="10" name="Rounded Rectangle 9"/>
          <p:cNvSpPr/>
          <p:nvPr/>
        </p:nvSpPr>
        <p:spPr>
          <a:xfrm>
            <a:off x="8869680" y="1371600"/>
            <a:ext cx="2011680" cy="4114800"/>
          </a:xfrm>
          <a:prstGeom prst="roundRect">
            <a:avLst/>
          </a:prstGeom>
          <a:solidFill>
            <a:srgbClr val="A23B7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Customer Segments</a:t>
            </a:r>
          </a:p>
        </p:txBody>
      </p:sp>
      <p:sp>
        <p:nvSpPr>
          <p:cNvPr id="11" name="Rounded Rectangle 10"/>
          <p:cNvSpPr/>
          <p:nvPr/>
        </p:nvSpPr>
        <p:spPr>
          <a:xfrm>
            <a:off x="457200" y="5577840"/>
            <a:ext cx="4206240" cy="1280160"/>
          </a:xfrm>
          <a:prstGeom prst="roundRect">
            <a:avLst/>
          </a:prstGeom>
          <a:solidFill>
            <a:srgbClr val="96969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Cost Structure</a:t>
            </a:r>
          </a:p>
        </p:txBody>
      </p:sp>
      <p:sp>
        <p:nvSpPr>
          <p:cNvPr id="12" name="Rounded Rectangle 11"/>
          <p:cNvSpPr/>
          <p:nvPr/>
        </p:nvSpPr>
        <p:spPr>
          <a:xfrm>
            <a:off x="4663440" y="5577840"/>
            <a:ext cx="6217920" cy="128016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Revenue Streams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Fueling Growth: Key Acquisition Strategies</a:t>
            </a:r>
          </a:p>
        </p:txBody>
      </p:sp>
      <p:sp>
        <p:nvSpPr>
          <p:cNvPr id="3" name="Content Placeholder 2"/>
          <p:cNvSpPr>
            <a:spLocks noGrp="1"/>
          </p:cNvSpPr>
          <p:nvPr>
            <p:ph idx="1"/>
          </p:nvPr>
        </p:nvSpPr>
        <p:spPr/>
        <p:txBody>
          <a:bodyPr/>
          <a:lstStyle/>
          <a:p>
            <a:pPr>
              <a:defRPr>
                <a:solidFill>
                  <a:srgbClr val="595959"/>
                </a:solidFill>
                <a:latin typeface="Calibri"/>
              </a:defRPr>
            </a:pPr>
            <a:r>
              <a:t>**Content Marketing:** Attract &amp; educate leads with valuable, targeted content (blogs, ebooks, webinars).</a:t>
            </a:r>
          </a:p>
          <a:p>
            <a:pPr lvl="1">
              <a:defRPr>
                <a:solidFill>
                  <a:srgbClr val="595959"/>
                </a:solidFill>
                <a:latin typeface="Calibri"/>
              </a:defRPr>
            </a:pPr>
            <a:r>
              <a:t>**SEO:** Optimize platform &amp; content for high search engine rankings on relevant keywords.</a:t>
            </a:r>
          </a:p>
          <a:p>
            <a:pPr lvl="1">
              <a:defRPr>
                <a:solidFill>
                  <a:srgbClr val="595959"/>
                </a:solidFill>
                <a:latin typeface="Calibri"/>
              </a:defRPr>
            </a:pPr>
            <a:r>
              <a:t>**Paid Advertising (PPC):** Drive targeted traffic via Google Ads and social media platforms for quick wins.</a:t>
            </a:r>
          </a:p>
          <a:p>
            <a:pPr lvl="1">
              <a:defRPr>
                <a:solidFill>
                  <a:srgbClr val="595959"/>
                </a:solidFill>
                <a:latin typeface="Calibri"/>
              </a:defRPr>
            </a:pPr>
            <a:r>
              <a:t>**Social Media Marketing:** Build community, engagement &amp; brand awareness on relevant social channels.</a:t>
            </a:r>
          </a:p>
          <a:p>
            <a:pPr lvl="1">
              <a:defRPr>
                <a:solidFill>
                  <a:srgbClr val="595959"/>
                </a:solidFill>
                <a:latin typeface="Calibri"/>
              </a:defRPr>
            </a:pPr>
            <a:r>
              <a:t>**Affiliate Marketing:** Leverage partnerships to expand reach and acquire customers through trusted sources.</a:t>
            </a:r>
          </a:p>
          <a:p>
            <a:pPr lvl="1">
              <a:defRPr>
                <a:solidFill>
                  <a:srgbClr val="595959"/>
                </a:solidFill>
                <a:latin typeface="Calibri"/>
              </a:defRPr>
            </a:pPr>
            <a:r>
              <a:t>**Strategic Partnerships:** Collaborate with complementary businesses for mutual customer acquisition opportunities.</a:t>
            </a:r>
          </a:p>
        </p:txBody>
      </p:sp>
      <p:sp>
        <p:nvSpPr>
          <p:cNvPr id="4" name="Rounded Rectangle 3"/>
          <p:cNvSpPr/>
          <p:nvPr/>
        </p:nvSpPr>
        <p:spPr>
          <a:xfrm>
            <a:off x="914400" y="1828800"/>
            <a:ext cx="365760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Market Penetration</a:t>
            </a:r>
          </a:p>
          <a:p>
            <a:pPr>
              <a:defRPr sz="1000" i="1">
                <a:solidFill>
                  <a:srgbClr val="FFFFFF"/>
                </a:solidFill>
              </a:defRPr>
            </a:pPr>
            <a:r>
              <a:t>Existing Market</a:t>
            </a:r>
            <a:br/>
            <a:r>
              <a:t>Existing Product</a:t>
            </a:r>
          </a:p>
          <a:p>
            <a:pPr>
              <a:defRPr sz="1000">
                <a:solidFill>
                  <a:srgbClr val="FFFFFF"/>
                </a:solidFill>
              </a:defRPr>
            </a:pPr>
            <a:r>
              <a:t>• Content Marketing</a:t>
            </a:r>
          </a:p>
          <a:p>
            <a:pPr>
              <a:defRPr sz="1000">
                <a:solidFill>
                  <a:srgbClr val="FFFFFF"/>
                </a:solidFill>
              </a:defRPr>
            </a:pPr>
            <a:r>
              <a:t>• SEO</a:t>
            </a:r>
          </a:p>
        </p:txBody>
      </p:sp>
      <p:sp>
        <p:nvSpPr>
          <p:cNvPr id="5" name="Rounded Rectangle 4"/>
          <p:cNvSpPr/>
          <p:nvPr/>
        </p:nvSpPr>
        <p:spPr>
          <a:xfrm>
            <a:off x="5029200" y="1828800"/>
            <a:ext cx="3657600" cy="201168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Product Development</a:t>
            </a:r>
          </a:p>
          <a:p>
            <a:pPr>
              <a:defRPr sz="1000" i="1">
                <a:solidFill>
                  <a:srgbClr val="FFFFFF"/>
                </a:solidFill>
              </a:defRPr>
            </a:pPr>
            <a:r>
              <a:t>Existing Market</a:t>
            </a:r>
            <a:br/>
            <a:r>
              <a:t>New Product</a:t>
            </a:r>
          </a:p>
        </p:txBody>
      </p:sp>
      <p:sp>
        <p:nvSpPr>
          <p:cNvPr id="6" name="Rounded Rectangle 5"/>
          <p:cNvSpPr/>
          <p:nvPr/>
        </p:nvSpPr>
        <p:spPr>
          <a:xfrm>
            <a:off x="914400" y="4114800"/>
            <a:ext cx="3657600" cy="201168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Market Development</a:t>
            </a:r>
          </a:p>
          <a:p>
            <a:pPr>
              <a:defRPr sz="1000" i="1">
                <a:solidFill>
                  <a:srgbClr val="FFFFFF"/>
                </a:solidFill>
              </a:defRPr>
            </a:pPr>
            <a:r>
              <a:t>New Market</a:t>
            </a:r>
            <a:br/>
            <a:r>
              <a:t>Existing Product</a:t>
            </a:r>
          </a:p>
          <a:p>
            <a:pPr>
              <a:defRPr sz="1000">
                <a:solidFill>
                  <a:srgbClr val="FFFFFF"/>
                </a:solidFill>
              </a:defRPr>
            </a:pPr>
            <a:r>
              <a:t>• Strategic Partnerships</a:t>
            </a:r>
          </a:p>
          <a:p>
            <a:pPr>
              <a:defRPr sz="1000">
                <a:solidFill>
                  <a:srgbClr val="FFFFFF"/>
                </a:solidFill>
              </a:defRPr>
            </a:pPr>
            <a:r>
              <a:t>• Affiliate Marketing</a:t>
            </a:r>
          </a:p>
        </p:txBody>
      </p:sp>
      <p:sp>
        <p:nvSpPr>
          <p:cNvPr id="7" name="Rounded Rectangle 6"/>
          <p:cNvSpPr/>
          <p:nvPr/>
        </p:nvSpPr>
        <p:spPr>
          <a:xfrm>
            <a:off x="5029200" y="4114800"/>
            <a:ext cx="3657600" cy="201168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Diversification</a:t>
            </a:r>
          </a:p>
          <a:p>
            <a:pPr>
              <a:defRPr sz="1000" i="1">
                <a:solidFill>
                  <a:srgbClr val="FFFFFF"/>
                </a:solidFill>
              </a:defRPr>
            </a:pPr>
            <a:r>
              <a:t>New Market</a:t>
            </a:r>
            <a:br/>
            <a:r>
              <a:t>New Product</a:t>
            </a:r>
          </a:p>
          <a:p>
            <a:pPr>
              <a:defRPr sz="1000">
                <a:solidFill>
                  <a:srgbClr val="FFFFFF"/>
                </a:solidFill>
              </a:defRPr>
            </a:pPr>
            <a:r>
              <a:t>• Paid Advertising (PPC)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Retention &amp; Expansion: Turning Users into Advocates</a:t>
            </a:r>
          </a:p>
        </p:txBody>
      </p:sp>
      <p:sp>
        <p:nvSpPr>
          <p:cNvPr id="3" name="Content Placeholder 2"/>
          <p:cNvSpPr>
            <a:spLocks noGrp="1"/>
          </p:cNvSpPr>
          <p:nvPr>
            <p:ph idx="1"/>
          </p:nvPr>
        </p:nvSpPr>
        <p:spPr/>
        <p:txBody>
          <a:bodyPr/>
          <a:lstStyle/>
          <a:p>
            <a:pPr>
              <a:defRPr>
                <a:solidFill>
                  <a:srgbClr val="595959"/>
                </a:solidFill>
                <a:latin typeface="Calibri"/>
              </a:defRPr>
            </a:pPr>
            <a:r>
              <a:t>**Onboarding Excellence:** Frictionless first experience drives lasting value.</a:t>
            </a:r>
          </a:p>
          <a:p>
            <a:pPr lvl="1">
              <a:defRPr>
                <a:solidFill>
                  <a:srgbClr val="595959"/>
                </a:solidFill>
                <a:latin typeface="Calibri"/>
              </a:defRPr>
            </a:pPr>
            <a:r>
              <a:t>**Proactive Customer Success:** Empower users to achieve their goals faster.</a:t>
            </a:r>
          </a:p>
          <a:p>
            <a:pPr lvl="1">
              <a:defRPr>
                <a:solidFill>
                  <a:srgbClr val="595959"/>
                </a:solidFill>
                <a:latin typeface="Calibri"/>
              </a:defRPr>
            </a:pPr>
            <a:r>
              <a:t>**Thriving Community:** Connect users, foster loyalty, and reduce churn.</a:t>
            </a:r>
          </a:p>
          <a:p>
            <a:pPr lvl="1">
              <a:defRPr>
                <a:solidFill>
                  <a:srgbClr val="595959"/>
                </a:solidFill>
                <a:latin typeface="Calibri"/>
              </a:defRPr>
            </a:pPr>
            <a:r>
              <a:t>**Constant Improvement (Feedback):** Listen, adapt, and deliver what users truly need.</a:t>
            </a:r>
          </a:p>
          <a:p>
            <a:pPr lvl="1">
              <a:defRPr>
                <a:solidFill>
                  <a:srgbClr val="595959"/>
                </a:solidFill>
                <a:latin typeface="Calibri"/>
              </a:defRPr>
            </a:pPr>
            <a:r>
              <a:t>**Strategic Upselling/Cross-selling:** Offer relevant upgrades and expand value.</a:t>
            </a:r>
          </a:p>
          <a:p>
            <a:pPr lvl="1">
              <a:defRPr>
                <a:solidFill>
                  <a:srgbClr val="595959"/>
                </a:solidFill>
                <a:latin typeface="Calibri"/>
              </a:defRPr>
            </a:pPr>
            <a:r>
              <a:t>**Advocate-Powered Growth (Referrals):** Turn happy customers into your best marketers.</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Onboarding Excellence: Frictionless first experience drives lasting value.</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Proactive Customer Success: Empower users to achieve their goals faster.</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Thriving Community: Connect users, foster loyalty, and reduce churn.</a:t>
            </a:r>
          </a:p>
        </p:txBody>
      </p:sp>
      <p:sp>
        <p:nvSpPr>
          <p:cNvPr id="9" name="Right Arrow 8"/>
          <p:cNvSpPr/>
          <p:nvPr/>
        </p:nvSpPr>
        <p:spPr>
          <a:xfrm>
            <a:off x="594360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4. Constant Improvement (Feedback): Listen, adapt, and deliver what users truly need.</a:t>
            </a:r>
          </a:p>
        </p:txBody>
      </p:sp>
      <p:sp>
        <p:nvSpPr>
          <p:cNvPr id="11" name="Right Arrow 10"/>
          <p:cNvSpPr/>
          <p:nvPr/>
        </p:nvSpPr>
        <p:spPr>
          <a:xfrm>
            <a:off x="786384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5. Strategic Upselling/Cross-selling: Offer relevant upgrades and expand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Conclusion: Building a Sustainable SaaS Business</a:t>
            </a:r>
          </a:p>
        </p:txBody>
      </p:sp>
      <p:sp>
        <p:nvSpPr>
          <p:cNvPr id="3" name="Content Placeholder 2"/>
          <p:cNvSpPr>
            <a:spLocks noGrp="1"/>
          </p:cNvSpPr>
          <p:nvPr>
            <p:ph idx="1"/>
          </p:nvPr>
        </p:nvSpPr>
        <p:spPr/>
        <p:txBody>
          <a:bodyPr/>
          <a:lstStyle/>
          <a:p>
            <a:pPr>
              <a:defRPr>
                <a:solidFill>
                  <a:srgbClr val="595959"/>
                </a:solidFill>
                <a:latin typeface="Calibri"/>
              </a:defRPr>
            </a:pPr>
            <a:r>
              <a:t>**Data-Driven Decisions are Paramount:** Continuously track key SaaS metrics (Churn, CAC, LTV) to inform strategy and optimize performance.</a:t>
            </a:r>
          </a:p>
          <a:p>
            <a:pPr lvl="1">
              <a:defRPr>
                <a:solidFill>
                  <a:srgbClr val="595959"/>
                </a:solidFill>
                <a:latin typeface="Calibri"/>
              </a:defRPr>
            </a:pPr>
            <a:r>
              <a:t>**Embrace Iteration and Adaptation:** The SaaS landscape is dynamic. Regularly review your model and growth strategies, adapting to market changes and customer feedback.</a:t>
            </a:r>
          </a:p>
          <a:p>
            <a:pPr lvl="1">
              <a:defRPr>
                <a:solidFill>
                  <a:srgbClr val="595959"/>
                </a:solidFill>
                <a:latin typeface="Calibri"/>
              </a:defRPr>
            </a:pPr>
            <a:r>
              <a:t>**Customer Value is King:** Prioritize delivering exceptional value and building strong customer relationships to drive retention and advocacy.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