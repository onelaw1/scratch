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Welcome. I'm [Your Name], [Your Title], and I'm thrilled to be leading this session on Project Management and Strategic Prioritization. Let's take a quick moment for introductions. Please share your name, role, and what you hope to gain from this presentation. </a:t>
            </a:r>
          </a:p>
          <a:p/>
          <a:p>
            <a:r>
              <a:t>Project Management, at its core, is about getting things done effectively. It's about managing resources, timelines, and risks to deliver successful outcomes. However, simply executing projects isn't enough. </a:t>
            </a:r>
          </a:p>
          <a:p/>
          <a:p>
            <a:r>
              <a:t>That's where Strategic Prioritization comes in. It's about making the crucial decisions about *which* projects to undertake in the first place. It's about ensuring that our efforts are laser-focused on initiatives that directly contribute to our overall strategic goals. Without it, we risk spreading our resources thin, wasting time on low-impact activities, and ultimately, failing to achieve our desired outcomes. This presentation will give you the tools you need to prioritize projects for maximum impact. </a:t>
            </a:r>
          </a:p>
          <a:p/>
          <a:p>
            <a:r>
              <a:t>By the end of this session, you'll have a solid understanding of a practical framework for aligning projects with your organization's strategic goals. You'll be equipped to make informed decisions about project selection, resource allocation, and performance measurement.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This slide introduces the core concept of strategic prioritization. It's about making informed choices regarding which projects and initiatives we pursue. It’s not just about doing *more*, it's about doing *the right things*. </a:t>
            </a:r>
          </a:p>
          <a:p/>
          <a:p>
            <a:r>
              <a:t>Firstly, we need to ensure that we are focusing on initiatives that are directly linked to our overarching strategic goals. Every project should clearly contribute to achieving our mission and vision. </a:t>
            </a:r>
          </a:p>
          <a:p/>
          <a:p>
            <a:r>
              <a:t>Secondly, Alignment with Organizational Strategy means evaluating whether a project directly supports overall company objectives. This ensures that resources are used in a way that generates the most value for the organization.</a:t>
            </a:r>
          </a:p>
          <a:p/>
          <a:p>
            <a:r>
              <a:t>Thirdly, Value Maximization. We need to prioritize projects with the greatest potential return on investment. This includes factors like increased revenue, improved efficiency, and enhanced customer satisfaction. How can we maximize the value derived from each potential project?</a:t>
            </a:r>
          </a:p>
          <a:p/>
          <a:p>
            <a:r>
              <a:t>Fourthly, we must always consider Risk Assessment and Mitigation. Every project carries some degree of risk. We need to identify, assess, and develop mitigation strategies for those risks before committing resources.</a:t>
            </a:r>
          </a:p>
          <a:p/>
          <a:p>
            <a:r>
              <a:t>Finally, Resource Optimization. Prioritization is also about efficient allocation. We need to ensure that our resources – time, money, and personnel – are allocated strategically to maximize impact while minimizing waste. What are the resource implications of each project, and how can we utilize them most effectively? By thoughtfully considering these principles, we can effectively prioritize our efforts and drive the success of 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core Project Management Framework, emphasizing its structured approach and, critically, the integration of strategic prioritization at each phase. We're not just running projects; we're ensuring they directly contribute to our overarching strategic goals. Let's break down each stage and how prioritization fits in:</a:t>
            </a:r>
          </a:p>
          <a:p/>
          <a:p>
            <a:r>
              <a:t>*   **Standard Project Management Lifecycle:** We adhere to the well-established phases of project management: Initiation, Planning, Execution, Monitoring &amp; Controlling, and Closure. This provides a solid foundation for all our projects.</a:t>
            </a:r>
          </a:p>
          <a:p/>
          <a:p>
            <a:r>
              <a:t>*   **Strategic Alignment is Key:** The crucial point here is that prioritization isn't an afterthought. It's woven into the fabric of the entire project lifecycle. We need to ensure our projects align with strategic priorities. If they don't, we re-evaluate. This means constantly asking: Does this project truly support our business objectives?</a:t>
            </a:r>
          </a:p>
          <a:p/>
          <a:p>
            <a:r>
              <a:t>*   **Prioritization in Action:** Let's dive deeper into specific actions:</a:t>
            </a:r>
          </a:p>
          <a:p>
            <a:r>
              <a:t>    *   **Initiation (Strategic Assessment):** Before we even start planning, we conduct a strategic alignment assessment. This involves evaluating the project's potential impact on key strategic objectives and confirming its alignment with organizational priorities. We ask: Does this project fit within our strategic roadmap?</a:t>
            </a:r>
          </a:p>
          <a:p>
            <a:r>
              <a:t>    *   **Planning (Value/Risk Evaluation):** During planning, we rigorously evaluate the value the project will deliver and the risks associated with it. This helps us prioritize projects with the highest potential return and manageable risks. We use tools like cost-benefit analysis and risk matrices to make informed decisions. Is the potential benefit worth the risk involved?</a:t>
            </a:r>
          </a:p>
          <a:p>
            <a:r>
              <a:t>    *   **Execution (Prioritized Resource Allocation):** In the execution phase, resource allocation is guided by our established priorities. Projects deemed strategically vital receive the necessary resources to ensure their success. This may mean reallocating resources from lower-priority projects. Are we allocating resources to the projects that will have the biggest impact?</a:t>
            </a:r>
          </a:p>
          <a:p>
            <a:r>
              <a:t>    *   **Monitoring &amp; Controlling (Strategic Goal Tracking):** Throughout the project, we continuously monitor progress against our strategic goals. This ensures that the project remains aligned with our objectives and that any deviations are addressed promptly. We use key performance indicators (KPIs) that directly reflect our strategic goals. Are we on track to achieve our strategic objectives?</a:t>
            </a:r>
          </a:p>
          <a:p/>
          <a:p>
            <a:r>
              <a:t>By integrating prioritization into each phase, we ensure that our project portfolio contributes directly to our strategic success. This framework provides a roadmap for making informed decisions and maximizing the value of our project investments. This isn't just about efficiency; it's about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common techniques and tools for prioritizing projects strategically. </a:t>
            </a:r>
          </a:p>
          <a:p/>
          <a:p>
            <a:r>
              <a:t>*   **Cost-Benefit Analysis:** This is a fundamental method. It involves calculating the total expected costs of a project and comparing it to the total expected benefits, expressed often as Return on Investment (ROI). Projects with higher ROI generally receive higher priority.</a:t>
            </a:r>
          </a:p>
          <a:p/>
          <a:p>
            <a:r>
              <a:t>*   **Scoring Models (Weighted Scoring):** Scoring models provide a more granular approach. You define key criteria relevant to your organization's strategic goals (e.g., market impact, strategic alignment, technical feasibility, risk). Each criterion is assigned a weight reflecting its importance. Each project is then scored against each criterion. The weighted scores are summed to provide a final project score. Projects with higher scores are prioritized.</a:t>
            </a:r>
          </a:p>
          <a:p/>
          <a:p>
            <a:r>
              <a:t>*   **MoSCoW Prioritization:** A simple and effective method for feature prioritization, particularly useful in Agile environments.  'Must have' features are critical for success, 'Should have' features are important but not essential, 'Could have' features are desirable but can be deferred, and 'Won't have' features are not planned for the current iteration/release. Focus initial efforts on 'Must have' items.</a:t>
            </a:r>
          </a:p>
          <a:p/>
          <a:p>
            <a:r>
              <a:t>*   **Tools and Technologies:** Project management software offers features like resource allocation, dependency tracking, and prioritization views. Spreadsheets, while simpler, can be effective for basic scoring models and cost-benefit analysis. Dedicated prioritization applications offer advanced features such as stakeholder voting and scenario planning. Selecting the right tool depends on the complexity of your projects and the needs of your team.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embracing strategic project management is paramount for organizational success. Let's recap the key takeaways. First, remember that projects must be strategically aligned. Each project undertaken should demonstrably contribute to achieving overarching organizational goals. Second, a well-defined prioritization framework is essential. It ensures that resources are allocated efficiently, maximizing your return on investment. Third, the application of appropriate tools and techniques is crucial for making informed, data-driven decisions throughout the project lifecycle. With a solid framework, the right tools, and a focus on strategic alignment, you can transform your project portfolio from a collection of activities into a powerful engine driving organizational success. Now, let's move on to implementing and continuously refining your project prioritization framework. Regularly review and adapt your framework based on changing market conditions, organizational priorities, and performance data. Finally, let’s open the floor for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Calibri"/>
              </a:defRPr>
            </a:pPr>
            <a:r>
              <a:t>Introduction: Aligning Projects with Strategic Goals</a:t>
            </a:r>
          </a:p>
        </p:txBody>
      </p:sp>
      <p:sp>
        <p:nvSpPr>
          <p:cNvPr id="3" name="Subtitle 2"/>
          <p:cNvSpPr>
            <a:spLocks noGrp="1"/>
          </p:cNvSpPr>
          <p:nvPr>
            <p:ph type="subTitle" idx="1"/>
          </p:nvPr>
        </p:nvSpPr>
        <p:spPr/>
        <p:txBody>
          <a:bodyPr/>
          <a:lstStyle/>
          <a:p>
            <a:pPr>
              <a:defRPr>
                <a:solidFill>
                  <a:srgbClr val="595959"/>
                </a:solidFill>
                <a:latin typeface="Calibri"/>
              </a:defRPr>
            </a:pPr>
            <a:r>
              <a:t>Welcome! Let's connect: Introductions &amp; Objectives</a:t>
            </a:r>
          </a:p>
          <a:p>
            <a:pPr lvl="1">
              <a:defRPr>
                <a:solidFill>
                  <a:srgbClr val="595959"/>
                </a:solidFill>
                <a:latin typeface="Calibri"/>
              </a:defRPr>
            </a:pPr>
            <a:r>
              <a:t>Project Management: Driving Execution &amp; Achieving Results</a:t>
            </a:r>
          </a:p>
          <a:p>
            <a:pPr lvl="1">
              <a:defRPr>
                <a:solidFill>
                  <a:srgbClr val="595959"/>
                </a:solidFill>
                <a:latin typeface="Calibri"/>
              </a:defRPr>
            </a:pPr>
            <a:r>
              <a:t>Strategic Prioritization: Focusing on What Truly Matters</a:t>
            </a:r>
          </a:p>
          <a:p>
            <a:pPr lvl="1">
              <a:defRPr>
                <a:solidFill>
                  <a:srgbClr val="595959"/>
                </a:solidFill>
                <a:latin typeface="Calibri"/>
              </a:defRPr>
            </a:pPr>
            <a:r>
              <a:t>Presentation Goal: Equip you with a practical framework</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Define Strategic Goals</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Identify Potential Projects</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Prioritize Projects Based on Alignment</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Project Execution &amp; Monitoring</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Achieve Strategic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Understanding Strategic Prioritization</a:t>
            </a:r>
          </a:p>
        </p:txBody>
      </p:sp>
      <p:sp>
        <p:nvSpPr>
          <p:cNvPr id="3" name="Content Placeholder 2"/>
          <p:cNvSpPr>
            <a:spLocks noGrp="1"/>
          </p:cNvSpPr>
          <p:nvPr>
            <p:ph idx="1"/>
          </p:nvPr>
        </p:nvSpPr>
        <p:spPr/>
        <p:txBody>
          <a:bodyPr/>
          <a:lstStyle/>
          <a:p>
            <a:pPr>
              <a:defRPr>
                <a:solidFill>
                  <a:srgbClr val="595959"/>
                </a:solidFill>
                <a:latin typeface="Calibri"/>
              </a:defRPr>
            </a:pPr>
            <a:r>
              <a:t>Making Informed Choices: Focus on initiatives that drive strategic goals.</a:t>
            </a:r>
          </a:p>
          <a:p>
            <a:pPr lvl="1">
              <a:defRPr>
                <a:solidFill>
                  <a:srgbClr val="595959"/>
                </a:solidFill>
                <a:latin typeface="Calibri"/>
              </a:defRPr>
            </a:pPr>
            <a:r>
              <a:t>Alignment with Organizational Strategy: Ensure projects directly support overall company objectives.</a:t>
            </a:r>
          </a:p>
          <a:p>
            <a:pPr lvl="1">
              <a:defRPr>
                <a:solidFill>
                  <a:srgbClr val="595959"/>
                </a:solidFill>
                <a:latin typeface="Calibri"/>
              </a:defRPr>
            </a:pPr>
            <a:r>
              <a:t>Value Maximization: Prioritize projects that deliver the greatest return on investment (ROI).</a:t>
            </a:r>
          </a:p>
          <a:p>
            <a:pPr lvl="1">
              <a:defRPr>
                <a:solidFill>
                  <a:srgbClr val="595959"/>
                </a:solidFill>
                <a:latin typeface="Calibri"/>
              </a:defRPr>
            </a:pPr>
            <a:r>
              <a:t>Risk Assessment and Mitigation: Evaluate and address potential risks associated with each project.</a:t>
            </a:r>
          </a:p>
          <a:p>
            <a:pPr lvl="1">
              <a:defRPr>
                <a:solidFill>
                  <a:srgbClr val="595959"/>
                </a:solidFill>
                <a:latin typeface="Calibri"/>
              </a:defRPr>
            </a:pPr>
            <a:r>
              <a:t>Resource Optimization: Allocate resources effectively to maximize impact and minimize waste.</a:t>
            </a:r>
          </a:p>
        </p:txBody>
      </p:sp>
      <p:sp>
        <p:nvSpPr>
          <p:cNvPr id="4" name="Rounded Rectangle 3"/>
          <p:cNvSpPr/>
          <p:nvPr/>
        </p:nvSpPr>
        <p:spPr>
          <a:xfrm>
            <a:off x="914400" y="1828800"/>
            <a:ext cx="365760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Quick Wins</a:t>
            </a:r>
          </a:p>
          <a:p>
            <a:pPr>
              <a:defRPr sz="1000" i="1">
                <a:solidFill>
                  <a:srgbClr val="FFFFFF"/>
                </a:solidFill>
              </a:defRPr>
            </a:pPr>
            <a:r>
              <a:t>High Impact</a:t>
            </a:r>
            <a:br/>
            <a:r>
              <a:t>Low Effort</a:t>
            </a:r>
          </a:p>
        </p:txBody>
      </p:sp>
      <p:sp>
        <p:nvSpPr>
          <p:cNvPr id="5" name="Rounded Rectangle 4"/>
          <p:cNvSpPr/>
          <p:nvPr/>
        </p:nvSpPr>
        <p:spPr>
          <a:xfrm>
            <a:off x="5029200" y="1828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Major Projects</a:t>
            </a:r>
          </a:p>
          <a:p>
            <a:pPr>
              <a:defRPr sz="1000" i="1">
                <a:solidFill>
                  <a:srgbClr val="FFFFFF"/>
                </a:solidFill>
              </a:defRPr>
            </a:pPr>
            <a:r>
              <a:t>High Impact</a:t>
            </a:r>
            <a:br/>
            <a:r>
              <a:t>High Effort</a:t>
            </a:r>
          </a:p>
        </p:txBody>
      </p:sp>
      <p:sp>
        <p:nvSpPr>
          <p:cNvPr id="6" name="Rounded Rectangle 5"/>
          <p:cNvSpPr/>
          <p:nvPr/>
        </p:nvSpPr>
        <p:spPr>
          <a:xfrm>
            <a:off x="914400" y="4114800"/>
            <a:ext cx="3657600" cy="2011680"/>
          </a:xfrm>
          <a:prstGeom prst="roundRect">
            <a:avLst/>
          </a:prstGeom>
          <a:solidFill>
            <a:srgbClr val="96969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Fill-ins</a:t>
            </a:r>
          </a:p>
          <a:p>
            <a:pPr>
              <a:defRPr sz="1000" i="1">
                <a:solidFill>
                  <a:srgbClr val="FFFFFF"/>
                </a:solidFill>
              </a:defRPr>
            </a:pPr>
            <a:r>
              <a:t>Low Impact</a:t>
            </a:r>
            <a:br/>
            <a:r>
              <a:t>Low Effort</a:t>
            </a:r>
          </a:p>
        </p:txBody>
      </p:sp>
      <p:sp>
        <p:nvSpPr>
          <p:cNvPr id="7" name="Rounded Rectangle 6"/>
          <p:cNvSpPr/>
          <p:nvPr/>
        </p:nvSpPr>
        <p:spPr>
          <a:xfrm>
            <a:off x="5029200" y="4114800"/>
            <a:ext cx="3657600" cy="201168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Thankless Tasks</a:t>
            </a:r>
          </a:p>
          <a:p>
            <a:pPr>
              <a:defRPr sz="1000" i="1">
                <a:solidFill>
                  <a:srgbClr val="FFFFFF"/>
                </a:solidFill>
              </a:defRPr>
            </a:pPr>
            <a:r>
              <a:t>Low Impact</a:t>
            </a:r>
            <a:br/>
            <a:r>
              <a:t>High Effort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The Project Management Framework: A Structured Approach</a:t>
            </a:r>
          </a:p>
        </p:txBody>
      </p:sp>
      <p:sp>
        <p:nvSpPr>
          <p:cNvPr id="3" name="Content Placeholder 2"/>
          <p:cNvSpPr>
            <a:spLocks noGrp="1"/>
          </p:cNvSpPr>
          <p:nvPr>
            <p:ph idx="1"/>
          </p:nvPr>
        </p:nvSpPr>
        <p:spPr/>
        <p:txBody>
          <a:bodyPr/>
          <a:lstStyle/>
          <a:p>
            <a:pPr>
              <a:defRPr>
                <a:solidFill>
                  <a:srgbClr val="595959"/>
                </a:solidFill>
                <a:latin typeface="Calibri"/>
              </a:defRPr>
            </a:pPr>
            <a:r>
              <a:t>Standard Project Management Lifecycle: Initiation, Planning, Execution, Monitoring &amp; Controlling, Closure.</a:t>
            </a:r>
          </a:p>
          <a:p>
            <a:pPr lvl="1">
              <a:defRPr>
                <a:solidFill>
                  <a:srgbClr val="595959"/>
                </a:solidFill>
                <a:latin typeface="Calibri"/>
              </a:defRPr>
            </a:pPr>
            <a:r>
              <a:t>Strategic Alignment is Key: Integrate prioritization at every stage of the project lifecycle.</a:t>
            </a:r>
          </a:p>
          <a:p>
            <a:pPr lvl="1">
              <a:defRPr>
                <a:solidFill>
                  <a:srgbClr val="595959"/>
                </a:solidFill>
                <a:latin typeface="Calibri"/>
              </a:defRPr>
            </a:pPr>
            <a:r>
              <a:t>Prioritization in Action: Strategic Assessment (Initiation), Value/Risk Evaluation (Planning), Prioritized Resource Allocation (Execution), Strategic Goal Tracking (Monitoring).</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Initiation: Strategic Assessment</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Planning: Value/Risk Evaluation</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Execution: Prioritized Resource Allocation</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Monitoring &amp; Controlling: Strategic Goal Tracking</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Closure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Prioritization Techniques and Tools</a:t>
            </a:r>
          </a:p>
        </p:txBody>
      </p:sp>
      <p:sp>
        <p:nvSpPr>
          <p:cNvPr id="3" name="Content Placeholder 2"/>
          <p:cNvSpPr>
            <a:spLocks noGrp="1"/>
          </p:cNvSpPr>
          <p:nvPr>
            <p:ph idx="1"/>
          </p:nvPr>
        </p:nvSpPr>
        <p:spPr/>
        <p:txBody>
          <a:bodyPr/>
          <a:lstStyle/>
          <a:p>
            <a:pPr>
              <a:defRPr>
                <a:solidFill>
                  <a:srgbClr val="C8C8C8"/>
                </a:solidFill>
                <a:latin typeface="Arial"/>
              </a:defRPr>
            </a:pPr>
            <a:r>
              <a:t>**Cost-Benefit Analysis:** Weigh project costs against expected benefits (ROI).</a:t>
            </a:r>
          </a:p>
          <a:p>
            <a:pPr lvl="1">
              <a:defRPr>
                <a:solidFill>
                  <a:srgbClr val="C8C8C8"/>
                </a:solidFill>
                <a:latin typeface="Arial"/>
              </a:defRPr>
            </a:pPr>
            <a:r>
              <a:t>**Scoring Models:** Use weighted criteria to objectively rank projects (e.g., impact, risk, alignment).</a:t>
            </a:r>
          </a:p>
          <a:p>
            <a:pPr lvl="1">
              <a:defRPr>
                <a:solidFill>
                  <a:srgbClr val="C8C8C8"/>
                </a:solidFill>
                <a:latin typeface="Arial"/>
              </a:defRPr>
            </a:pPr>
            <a:r>
              <a:t>**MoSCoW Prioritization:** Categorize features: Must have, Should have, Could have, Won't have.</a:t>
            </a:r>
          </a:p>
          <a:p>
            <a:pPr lvl="1">
              <a:defRPr>
                <a:solidFill>
                  <a:srgbClr val="C8C8C8"/>
                </a:solidFill>
                <a:latin typeface="Arial"/>
              </a:defRPr>
            </a:pPr>
            <a:r>
              <a:t>**Tools:** Leverage project management software (Asana, Jira), spreadsheets, or dedicated prioritization apps.</a:t>
            </a:r>
          </a:p>
        </p:txBody>
      </p:sp>
      <p:sp>
        <p:nvSpPr>
          <p:cNvPr id="4" name="Rounded Rectangle 3"/>
          <p:cNvSpPr/>
          <p:nvPr/>
        </p:nvSpPr>
        <p:spPr>
          <a:xfrm>
            <a:off x="914400" y="1828800"/>
            <a:ext cx="365760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Quick Wins</a:t>
            </a:r>
          </a:p>
          <a:p>
            <a:pPr>
              <a:defRPr sz="1000" i="1">
                <a:solidFill>
                  <a:srgbClr val="FFFFFF"/>
                </a:solidFill>
              </a:defRPr>
            </a:pPr>
            <a:r>
              <a:t>High Impact</a:t>
            </a:r>
            <a:br/>
            <a:r>
              <a:t>Low Effort</a:t>
            </a:r>
          </a:p>
        </p:txBody>
      </p:sp>
      <p:sp>
        <p:nvSpPr>
          <p:cNvPr id="5" name="Rounded Rectangle 4"/>
          <p:cNvSpPr/>
          <p:nvPr/>
        </p:nvSpPr>
        <p:spPr>
          <a:xfrm>
            <a:off x="5029200" y="1828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Major Projects</a:t>
            </a:r>
          </a:p>
          <a:p>
            <a:pPr>
              <a:defRPr sz="1000" i="1">
                <a:solidFill>
                  <a:srgbClr val="FFFFFF"/>
                </a:solidFill>
              </a:defRPr>
            </a:pPr>
            <a:r>
              <a:t>High Impact</a:t>
            </a:r>
            <a:br/>
            <a:r>
              <a:t>High Effort</a:t>
            </a:r>
          </a:p>
        </p:txBody>
      </p:sp>
      <p:sp>
        <p:nvSpPr>
          <p:cNvPr id="6" name="Rounded Rectangle 5"/>
          <p:cNvSpPr/>
          <p:nvPr/>
        </p:nvSpPr>
        <p:spPr>
          <a:xfrm>
            <a:off x="914400" y="4114800"/>
            <a:ext cx="3657600" cy="2011680"/>
          </a:xfrm>
          <a:prstGeom prst="roundRect">
            <a:avLst/>
          </a:prstGeom>
          <a:solidFill>
            <a:srgbClr val="96969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Fill-ins</a:t>
            </a:r>
          </a:p>
          <a:p>
            <a:pPr>
              <a:defRPr sz="1000" i="1">
                <a:solidFill>
                  <a:srgbClr val="FFFFFF"/>
                </a:solidFill>
              </a:defRPr>
            </a:pPr>
            <a:r>
              <a:t>Low Impact</a:t>
            </a:r>
            <a:br/>
            <a:r>
              <a:t>Low Effort</a:t>
            </a:r>
          </a:p>
        </p:txBody>
      </p:sp>
      <p:sp>
        <p:nvSpPr>
          <p:cNvPr id="7" name="Rounded Rectangle 6"/>
          <p:cNvSpPr/>
          <p:nvPr/>
        </p:nvSpPr>
        <p:spPr>
          <a:xfrm>
            <a:off x="5029200" y="4114800"/>
            <a:ext cx="3657600" cy="201168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Thankless Tasks</a:t>
            </a:r>
          </a:p>
          <a:p>
            <a:pPr>
              <a:defRPr sz="1000" i="1">
                <a:solidFill>
                  <a:srgbClr val="FFFFFF"/>
                </a:solidFill>
              </a:defRPr>
            </a:pPr>
            <a:r>
              <a:t>Low Impact</a:t>
            </a:r>
            <a:br/>
            <a:r>
              <a:t>High Effort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Conclusion: Embracing Strategic Project Management</a:t>
            </a:r>
          </a:p>
        </p:txBody>
      </p:sp>
      <p:sp>
        <p:nvSpPr>
          <p:cNvPr id="3" name="Content Placeholder 2"/>
          <p:cNvSpPr>
            <a:spLocks noGrp="1"/>
          </p:cNvSpPr>
          <p:nvPr>
            <p:ph idx="1"/>
          </p:nvPr>
        </p:nvSpPr>
        <p:spPr/>
        <p:txBody>
          <a:bodyPr/>
          <a:lstStyle/>
          <a:p>
            <a:pPr>
              <a:defRPr>
                <a:solidFill>
                  <a:srgbClr val="C8C8C8"/>
                </a:solidFill>
                <a:latin typeface="Arial"/>
              </a:defRPr>
            </a:pPr>
            <a:r>
              <a:t>Strategic Alignment: Projects MUST drive strategic goals.</a:t>
            </a:r>
          </a:p>
          <a:p>
            <a:pPr lvl="1">
              <a:defRPr>
                <a:solidFill>
                  <a:srgbClr val="C8C8C8"/>
                </a:solidFill>
                <a:latin typeface="Arial"/>
              </a:defRPr>
            </a:pPr>
            <a:r>
              <a:t>Prioritization Framework: Delivers focus and maximizes ROI.</a:t>
            </a:r>
          </a:p>
          <a:p>
            <a:pPr lvl="1">
              <a:defRPr>
                <a:solidFill>
                  <a:srgbClr val="C8C8C8"/>
                </a:solidFill>
                <a:latin typeface="Arial"/>
              </a:defRPr>
            </a:pPr>
            <a:r>
              <a:t>Tools &amp; Techniques: Empower informed, data-driven decisions.</a:t>
            </a:r>
          </a:p>
        </p:txBody>
      </p:sp>
      <p:sp>
        <p:nvSpPr>
          <p:cNvPr id="4" name="Rounded Rectangle 3"/>
          <p:cNvSpPr/>
          <p:nvPr/>
        </p:nvSpPr>
        <p:spPr>
          <a:xfrm>
            <a:off x="914400" y="1828800"/>
            <a:ext cx="3657600" cy="2011680"/>
          </a:xfrm>
          <a:prstGeom prst="roundRect">
            <a:avLst/>
          </a:prstGeom>
          <a:solidFill>
            <a:srgbClr val="6A994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Quick Wins</a:t>
            </a:r>
          </a:p>
          <a:p>
            <a:pPr>
              <a:defRPr sz="1000" i="1">
                <a:solidFill>
                  <a:srgbClr val="FFFFFF"/>
                </a:solidFill>
              </a:defRPr>
            </a:pPr>
            <a:r>
              <a:t>High Impact</a:t>
            </a:r>
            <a:br/>
            <a:r>
              <a:t>Low Effort</a:t>
            </a:r>
          </a:p>
        </p:txBody>
      </p:sp>
      <p:sp>
        <p:nvSpPr>
          <p:cNvPr id="5" name="Rounded Rectangle 4"/>
          <p:cNvSpPr/>
          <p:nvPr/>
        </p:nvSpPr>
        <p:spPr>
          <a:xfrm>
            <a:off x="5029200" y="1828800"/>
            <a:ext cx="3657600" cy="2011680"/>
          </a:xfrm>
          <a:prstGeom prst="roundRect">
            <a:avLst/>
          </a:prstGeom>
          <a:solidFill>
            <a:srgbClr val="F18F01"/>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Major Projects</a:t>
            </a:r>
          </a:p>
          <a:p>
            <a:pPr>
              <a:defRPr sz="1000" i="1">
                <a:solidFill>
                  <a:srgbClr val="FFFFFF"/>
                </a:solidFill>
              </a:defRPr>
            </a:pPr>
            <a:r>
              <a:t>High Impact</a:t>
            </a:r>
            <a:br/>
            <a:r>
              <a:t>High Effort</a:t>
            </a:r>
          </a:p>
        </p:txBody>
      </p:sp>
      <p:sp>
        <p:nvSpPr>
          <p:cNvPr id="6" name="Rounded Rectangle 5"/>
          <p:cNvSpPr/>
          <p:nvPr/>
        </p:nvSpPr>
        <p:spPr>
          <a:xfrm>
            <a:off x="914400" y="4114800"/>
            <a:ext cx="3657600" cy="2011680"/>
          </a:xfrm>
          <a:prstGeom prst="roundRect">
            <a:avLst/>
          </a:prstGeom>
          <a:solidFill>
            <a:srgbClr val="969696"/>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Fill-ins</a:t>
            </a:r>
          </a:p>
          <a:p>
            <a:pPr>
              <a:defRPr sz="1000" i="1">
                <a:solidFill>
                  <a:srgbClr val="FFFFFF"/>
                </a:solidFill>
              </a:defRPr>
            </a:pPr>
            <a:r>
              <a:t>Low Impact</a:t>
            </a:r>
            <a:br/>
            <a:r>
              <a:t>Low Effort</a:t>
            </a:r>
          </a:p>
        </p:txBody>
      </p:sp>
      <p:sp>
        <p:nvSpPr>
          <p:cNvPr id="7" name="Rounded Rectangle 6"/>
          <p:cNvSpPr/>
          <p:nvPr/>
        </p:nvSpPr>
        <p:spPr>
          <a:xfrm>
            <a:off x="5029200" y="4114800"/>
            <a:ext cx="3657600" cy="2011680"/>
          </a:xfrm>
          <a:prstGeom prst="roundRect">
            <a:avLst/>
          </a:prstGeom>
          <a:solidFill>
            <a:srgbClr val="C73E1D"/>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91440" lIns="137160"/>
          <a:lstStyle/>
          <a:p>
            <a:pPr algn="ctr">
              <a:defRPr sz="1400" b="1">
                <a:solidFill>
                  <a:srgbClr val="FFFFFF"/>
                </a:solidFill>
              </a:defRPr>
            </a:pPr>
            <a:r>
              <a:t>Thankless Tasks</a:t>
            </a:r>
          </a:p>
          <a:p>
            <a:pPr>
              <a:defRPr sz="1000" i="1">
                <a:solidFill>
                  <a:srgbClr val="FFFFFF"/>
                </a:solidFill>
              </a:defRPr>
            </a:pPr>
            <a:r>
              <a:t>Low Impact</a:t>
            </a:r>
            <a:br/>
            <a:r>
              <a:t>High Effort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